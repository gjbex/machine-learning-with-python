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26"/>
    <p:sldId id="276" r:id="rId27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session as a selection problem, not a catalogue of techniques.</a:t>
            </a:r>
          </a:p>
          <a:p>
            <a:r>
              <a:t>The goal is to choose the smallest parallelism degree that solves the measured bottleneck.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participants to name the choices that disappear with only one GPU.</a:t>
            </a:r>
          </a:p>
          <a:p>
            <a:r>
              <a:t>Emphasize that NVLink, PCIe, and the network affect cost; they are not parallelism strategies.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vocabulary anchor for the rest of the sequence.</a:t>
            </a:r>
          </a:p>
          <a:p>
            <a:r>
              <a:t>Do not describe all methods as generic sharding; their communication patterns differ.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Reveal the three batches first, then the identical model stacks, then the gradient synchronization line.</a:t>
            </a:r>
          </a:p>
          <a:p>
            <a:r>
              <a:t>Data parallelism increases aggregate throughput; it does not reduce the memory needed by one model replica.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at-rest state with the temporary full layer used during compute.</a:t>
            </a:r>
          </a:p>
          <a:p>
            <a:r>
              <a:t>FSDP and ZeRO stages differ in exactly which persistent states are sharded; this slide depicts full sharding at a high level.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split matrix to distinguish tensor parallelism from placing whole layers on different GPUs.</a:t>
            </a:r>
          </a:p>
          <a:p>
            <a:r>
              <a:t>The exact split may be column-wise or row-wise and normally introduces collectives inside each layer.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each stage stores whole layers, unlike tensor parallelism, which splits work inside a layer.</a:t>
            </a:r>
          </a:p>
          <a:p>
            <a:r>
              <a:t>Microbatching improves utilization but cannot eliminate bubbles completely.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grid from left to right. During fill, later stages wait; at full occupancy all four stages work; during drain, earlier stages become idle.</a:t>
            </a:r>
          </a:p>
          <a:p>
            <a:r>
              <a:t>This forward-only schedule isolates the bubble concept. Training schedules add backward work; 1F1B and interleaving change the pattern but do not remove imbalance or fill/drain costs automatically.</a:t>
            </a:r>
          </a:p>
          <a:p>
            <a:r>
              <a:t>The practical goal is to make useful work dominate stage-time slots by using enough microbatches and balancing stage runtimes.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- https://docs.nvidia.com/megatron-core/developer-guide/latest/api-guide/core/pipeline_parallel.html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left to right. A single microbatch performs forward work down the stages, then backward work returns in reverse. Grey cells are idle stage-time slots.</a:t>
            </a:r>
          </a:p>
          <a:p>
            <a:r>
              <a:t>The 25% utilization is an instructional calculation: 8 useful forward/backward cells divided by 32 stage-time cells for four equal-duration stages.</a:t>
            </a:r>
          </a:p>
          <a:p>
            <a:r>
              <a:t>Real forward and backward costs differ, and stage imbalance or communication can create additional idle time.</a:t>
            </a:r>
          </a:p>
          <a:p>
            <a:r>
              <a:t>[Sources]</a:t>
            </a:r>
          </a:p>
          <a:p>
            <a:r>
              <a:t>- https://arxiv.org/abs/2104.04473</a:t>
            </a:r>
          </a:p>
          <a:p>
            <a:r>
              <a:t>- https://docs.nvidia.com/megatron-core/developer-guide/latest/api-guide/core/pipeline_parallel.html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same four-stage pipeline with four microbatches. Later forward passes and earlier backward passes occupy slots that were idle in the one-microbatch schedule.</a:t>
            </a:r>
          </a:p>
          <a:p>
            <a:r>
              <a:t>The idealized utilization is m/(m+p-1): 4/(4+4-1), or about 57%. The bubble-to-compute ratio for the default schedule behaves as (p-1)/m.</a:t>
            </a:r>
          </a:p>
          <a:p>
            <a:r>
              <a:t>For a fixed global batch, increasing the number of microbatches makes each microbatch smaller. That can reduce arithmetic intensity and kernel efficiency, so the best microbatch size must be measured.</a:t>
            </a:r>
          </a:p>
          <a:p>
            <a:r>
              <a:t>[Sources]</a:t>
            </a:r>
          </a:p>
          <a:p>
            <a:r>
              <a:t>- https://arxiv.org/abs/2104.04473</a:t>
            </a:r>
          </a:p>
          <a:p>
            <a:r>
              <a:t>- https://docs.nvidia.com/megatron-core/developer-guide/latest/api-guide/core/pipeline_parallel.html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out that context parallelism reduces activation memory by splitting the sequence, not the weights.</a:t>
            </a:r>
          </a:p>
          <a:p>
            <a:r>
              <a:t>Attention still requires information from the full context, which creates the K/V exchange shown here.</a:t>
            </a:r>
          </a:p>
          <a:p>
            <a:r>
              <a:t>[Sources]</a:t>
            </a:r>
          </a:p>
          <a:p>
            <a:r>
              <a:t>- https://docs.nvidia.com/megatron-core/developer-guide/latest/user-guide/features/context_parallel.html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highlighted routes to show that sparse MoE does not execute every expert for every token.</a:t>
            </a:r>
          </a:p>
          <a:p>
            <a:r>
              <a:t>Expert parallelism distributes expert weights and computation; the router introduces communication and load-balancing concerns.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Begin with feasibility, then identify the dominant memory category using a memory snapshot or profiler.</a:t>
            </a:r>
          </a:p>
          <a:p>
            <a:r>
              <a:t>FSDP/ZeRO lowers persistent model-state memory; it does not directly solve activation memory.</a:t>
            </a:r>
          </a:p>
          <a:p>
            <a:r>
              <a:t>Use the smallest model-parallel degree that fits, then spend remaining GPUs on data parallelism.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throughput from latency. Replicas improve aggregate throughput but do not reduce one request's model latency.</a:t>
            </a:r>
          </a:p>
          <a:p>
            <a:r>
              <a:t>Tensor parallelism can reduce latency, but communication can make a single GPU faster for smaller models.</a:t>
            </a:r>
          </a:p>
          <a:p>
            <a:r>
              <a:t>Distinguish static CPU layer execution from weight streaming; both trade speed for capacity.</a:t>
            </a:r>
          </a:p>
          <a:p>
            <a:r>
              <a:t>[Sources]</a:t>
            </a:r>
          </a:p>
          <a:p>
            <a:r>
              <a:t>- https://docs.vllm.ai/en/latest/serving/parallelism_scaling/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after the scenario and ask for the bottleneck before revealing the method.</a:t>
            </a:r>
          </a:p>
          <a:p>
            <a:r>
              <a:t>The parameters fitting does not imply full training fits because gradients and optimizer state also occupy memory.</a:t>
            </a:r>
          </a:p>
          <a:p>
            <a:r>
              <a:t>Ask why TP and CPU offload are technically possible but unjustified here.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arithmetic explicit: equal TP shards make degree 4 the minimum feasible choice when the weights require 2.5 device memories.</a:t>
            </a:r>
          </a:p>
          <a:p>
            <a:r>
              <a:t>Do not promise a latency win from TP. Collective overhead and kernel size still matter.</a:t>
            </a:r>
          </a:p>
          <a:p>
            <a:r>
              <a:t>Discuss PP as a multi-node or capacity option, not the default for low-batch latency.</a:t>
            </a:r>
          </a:p>
          <a:p>
            <a:r>
              <a:t>[Sources]</a:t>
            </a:r>
          </a:p>
          <a:p>
            <a:r>
              <a:t>- https://docs.vllm.ai/en/latest/serving/parallelism_scaling/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pairs three minutes, then require one group to defend a choice and another to challenge it.</a:t>
            </a:r>
          </a:p>
          <a:p>
            <a:r>
              <a:t>Likely answer: FSDP/ZeRO for persistent state, plus context parallelism or activation checkpointing for long-sequence activations.</a:t>
            </a:r>
          </a:p>
          <a:p>
            <a:r>
              <a:t>Reject plain DDP because a full state replica does not fit. Reject TP because one block fits and TP would add frequent collectives.</a:t>
            </a:r>
          </a:p>
          <a:p>
            <a:r>
              <a:t>Accept hybrid sharded data parallelism as an alternative: one node-local sharded replica per node with an outer data-parallel replication dimension, provided the FSDP and CP degrees fit within eight GPUs.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https://docs.nvidia.com/megatron-core/developer-guide/latest/user-guide/features/context_parallel.html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only as a recap or handout reference.</a:t>
            </a:r>
          </a:p>
          <a:p>
            <a:r>
              <a:t>The rows are diagnostic prompts, not a claim that every workload follows one strict order.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- https://docs.pytorch.org/docs/stable/fsdp.html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this as a reference table. The engine, model architecture, request distribution, and interconnect determine the benchmark winner.</a:t>
            </a:r>
          </a:p>
          <a:p>
            <a:r>
              <a:t>CPU offload may mean CPU layer execution or repeated weight streaming; make the distinction explicit.</a:t>
            </a:r>
          </a:p>
          <a:p>
            <a:r>
              <a:t>[Sources]</a:t>
            </a:r>
          </a:p>
          <a:p>
            <a:r>
              <a:t>- https://docs.vllm.ai/en/latest/serving/parallelism_scaling/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648" y="392643"/>
            <a:ext cx="1844351" cy="718699"/>
          </a:xfrm>
          <a:prstGeom prst="rect">
            <a:avLst/>
          </a:prstGeom>
        </p:spPr>
      </p:pic>
      <p:pic>
        <p:nvPicPr>
          <p:cNvPr id="25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75985" y="-3456972"/>
            <a:ext cx="3833929" cy="12198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CC0286-FB4C-4608-9B1A-3553BB9ED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DC364-3731-4E51-9824-FA7C1AA3B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EF962-06DE-41F6-AD91-17D2F512632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452396" y="6352792"/>
            <a:ext cx="2743200" cy="365125"/>
          </a:xfrm>
          <a:prstGeom prst="rect">
            <a:avLst/>
          </a:prstGeom>
        </p:spPr>
        <p:txBody>
          <a:bodyPr/>
          <a:lstStyle/>
          <a:p>
            <a:fld id="{12D417FB-DB75-4510-8AD7-5416595AADD8}" type="datetime1">
              <a:t>09/01/2026</a:t>
            </a:fld>
            <a:endParaRPr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CDD2BAC8-4590-4845-BE11-B0AA9900DC7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610599" y="6356350"/>
            <a:ext cx="2121243" cy="365125"/>
          </a:xfrm>
          <a:prstGeom prst="rect">
            <a:avLst/>
          </a:prstGeom>
        </p:spPr>
        <p:txBody>
          <a:bodyPr/>
          <a:lstStyle/>
          <a:p>
            <a:r>
              <a:t>vscentrum.be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B18F31-2333-4F5F-8848-D33D3077A6BC}"/>
              </a:ext>
            </a:extLst>
          </p:cNvPr>
          <p:cNvSpPr>
            <a:spLocks noGrp="1"/>
          </p:cNvSpPr>
          <p:nvPr/>
        </p:nvSpPr>
        <p:spPr>
          <a:xfrm flipH="1">
            <a:off x="0" y="4725859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/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47F75A-A293-42E2-A56F-5170241D0F52}"/>
              </a:ext>
            </a:extLst>
          </p:cNvPr>
          <p:cNvSpPr>
            <a:spLocks noGrp="1"/>
          </p:cNvSpPr>
          <p:nvPr/>
        </p:nvSpPr>
        <p:spPr>
          <a:xfrm>
            <a:off x="0" y="4695568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/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rgbClr val="DB6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4" y="5970673"/>
            <a:ext cx="3997596" cy="7107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B707BF-8340-4848-A628-613CC2112D04}"/>
              </a:ext>
            </a:extLst>
          </p:cNvPr>
          <p:cNvSpPr>
            <a:spLocks noGrp="1"/>
          </p:cNvSpPr>
          <p:nvPr/>
        </p:nvSpPr>
        <p:spPr>
          <a:xfrm>
            <a:off x="10347648" y="6245614"/>
            <a:ext cx="1791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2"/>
                </a:solidFill>
                <a:latin typeface="FlandersArtSans-Medium"/>
                <a:ea typeface="FlandersArtSans-Medium"/>
                <a:cs typeface="FlandersArtSans-Medium"/>
              </a:rPr>
              <a:t>vscentrum</a:t>
            </a:r>
            <a:r>
              <a:rPr>
                <a:solidFill>
                  <a:schemeClr val="bg2"/>
                </a:solidFill>
              </a:rPr>
              <a:t>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897E3-FBA7-4EEC-9223-9545DEC86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2126-7615-4D89-AE2A-296F4253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F2119-9B85-46F0-B20A-47F89D495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CCEC5-FCA8-4B4F-B04F-B3F6EB44B61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A8611-2CB4-4204-A30A-732A25E1D9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5079-7D68-4924-8067-06770065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2E23F-2E41-4C7E-A102-D16335C14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56EB1-DDD6-40E6-99D1-10BDEA7E2C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AB644-FF12-4015-97C6-F7469A7F5C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062E-3D39-4B98-B959-099A7289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354D8-9528-47EB-A08A-FE22E216F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B24DA-EDAA-42E8-96BA-CDD725D6C7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474D1-4F0A-4B95-A4AC-0886178661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D3D38-1313-4078-81FC-97065D0784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4F322-52C1-4DDA-BA5C-35EB69735DE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8072B-1D94-4357-97CE-5E15529973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B022B-84EE-4DB5-8A89-EFF15FF9C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64156-92B2-4881-82B6-84C1D96B971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1BF92-93A9-4489-9E86-3C8879F950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5AC03-4AD3-4BC8-861D-D45B790C75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C8BBF-4CAC-4984-8135-0FC7F7EFFF1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F036-F768-4760-B2CC-C40BDE8B22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A9E6-0127-4F3E-9FA2-E80C01990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335A3-14FE-48A5-BC19-5C412E255F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05CF9-89EB-4AB4-BEE1-A75EDEC316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D9AF5E3-CD08-48A0-97D6-8D71CF04024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D35C848-016E-462A-B546-CF61A68CCC9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9CE4517-7006-478F-B2ED-2BF6A8A1E39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D307D5B-C641-4937-B1F7-40345E8CA4B6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8E10E80-67EA-47CB-A161-3B28355670AA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63C37-A7FF-49AA-BCF0-05E00C5E09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A8E15-0AD5-4E4B-A095-BA4C510010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A7594B-F321-49E5-8B50-91F6AD449B80}"/>
              </a:ext>
            </a:extLst>
          </p:cNvPr>
          <p:cNvSpPr>
            <a:spLocks noGrp="1"/>
          </p:cNvSpPr>
          <p:nvPr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21122A-36C1-4389-A0C7-64E6B9FA0B7E}"/>
              </a:ext>
            </a:extLst>
          </p:cNvPr>
          <p:cNvSpPr>
            <a:spLocks noGrp="1"/>
          </p:cNvSpPr>
          <p:nvPr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8B4153C-7F24-4A5D-8603-432DB5B5E034}"/>
              </a:ext>
            </a:extLst>
          </p:cNvPr>
          <p:cNvSpPr>
            <a:spLocks noGrp="1"/>
          </p:cNvSpPr>
          <p:nvPr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48C052-4DBC-4D90-8732-270E2FCBCCBE}"/>
              </a:ext>
            </a:extLst>
          </p:cNvPr>
          <p:cNvSpPr>
            <a:spLocks noGrp="1"/>
          </p:cNvSpPr>
          <p:nvPr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F0C0D43-76C9-442B-AABC-2F21CB61736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F24AF83-6D49-40D2-8520-D35EA7070F6E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8F731AA-5C5B-4411-B599-2EF0388F1A4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A9DF323D-F442-45E3-A722-CA7E6A4203A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E57D3F-2678-4CD7-A451-A57B5D27B5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F539B-F5E7-4393-B3C2-C8F9136E39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6A1A8-B190-4D6D-92CB-E348CFAA4C9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B69B6A2-3C0D-4642-947A-873C7305DF2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28961C8-27DB-47A1-A81E-289D4ACDDAAA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58844D2-9EF4-421A-B51D-1EFF1B9364F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4788D-BD24-4C18-AE59-F5931D4F27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968B6-326B-4EFB-BACC-39E9E9660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58B816-B74A-4DE9-BD3A-A4CAD68D2833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52AAE90-B57C-4413-AA94-285A81B9F691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08AE0-F686-433D-9620-4291067252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B375A-8760-46E9-BCA8-CB45E5686C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4C04DB5-8AF6-429B-B483-3C42D4F7C842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3E8F23A-C8A3-4A19-9C8C-790D49C6F7B2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090FA-616D-4C13-981F-BD623162A7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5CDCE-EFF4-42C1-A749-D73FC37D78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052D08D-C21B-48F6-B390-EB6CDE8D80B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CFE85CA-F9AE-43FB-A057-0076F7C360E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C7736569-C093-42F5-88CE-EBF643AB324C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4F50ABA-40A3-4D91-8B35-35DC07CAA7D3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B3B0C-9CA4-44BA-B017-5970A543DF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32AFE-DEA4-488A-AB4C-C5EC181DF2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FD01E22-7764-4FEE-85A8-4D61242C5B3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6D3B3-C999-40EC-85A4-CDF1AFE583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46526-75B7-4B80-91F9-519FC06F7D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0410F0A-36A3-490F-94AA-DCFA63EA543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068DB-0A9D-4FB8-8BBF-A0B98E3F43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23AB5-B8C2-424E-992F-31363EE792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62D1CD-D4FC-4588-BB98-2A901F7D4A9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7BE57-C608-4722-BD69-CF8273378F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D80D7-CCBE-42A9-9030-078E80A010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4E259B2-CF77-436F-B9B2-BD45B15252A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1E30-AB1D-465C-BF22-2AD96073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8FB7C-79BC-4B3C-BD9C-C925DB92F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45558-323B-44FE-895B-4B24AA0C48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448E59-F64F-416B-85C7-F58EA54BAF31}" type="datetime1">
              <a:t>09/01/2026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A2658-1B46-4CE7-8B98-0FBB331B86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8E6D8-34FB-4645-AC0F-035C65C591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209D72-2E9D-49B0-8977-41DCCC66C0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2C0A-2868-46C8-B3C1-902C2726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E4959-1078-43F8-BC9F-7A159C3E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5C20E-CFCA-42CE-A5E5-D7D0EB2F1BD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F0E3A-1789-4BAA-913E-5D6A6059AD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F0EF99-E673-4972-A23A-EB3FD1F7D254}" type="datetime1">
              <a:t>09/01/2026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15FA0-BF21-491B-93B7-A036E60CA8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C0DD0-AF30-40F5-BAA0-4725B3DF9D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209D72-2E9D-49B0-8977-41DCCC66C0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796A06-3C4D-4D45-8911-FDCA24E41183}"/>
              </a:ext>
            </a:extLst>
          </p:cNvPr>
          <p:cNvSpPr>
            <a:spLocks noGrp="1"/>
          </p:cNvSpPr>
          <p:nvPr/>
        </p:nvSpPr>
        <p:spPr>
          <a:xfrm>
            <a:off x="3720" y="6130213"/>
            <a:ext cx="12188280" cy="727788"/>
          </a:xfrm>
          <a:custGeom>
            <a:avLst/>
            <a:gdLst>
              <a:gd name="connsiteX0" fmla="*/ 0 w 12192000"/>
              <a:gd name="connsiteY0" fmla="*/ 0 h 1268963"/>
              <a:gd name="connsiteX1" fmla="*/ 12192000 w 12192000"/>
              <a:gd name="connsiteY1" fmla="*/ 0 h 1268963"/>
              <a:gd name="connsiteX2" fmla="*/ 12192000 w 12192000"/>
              <a:gd name="connsiteY2" fmla="*/ 1268963 h 1268963"/>
              <a:gd name="connsiteX3" fmla="*/ 0 w 12192000"/>
              <a:gd name="connsiteY3" fmla="*/ 1268963 h 1268963"/>
              <a:gd name="connsiteX4" fmla="*/ 0 w 12192000"/>
              <a:gd name="connsiteY4" fmla="*/ 0 h 1268963"/>
              <a:gd name="connsiteX0" fmla="*/ 0 w 12210662"/>
              <a:gd name="connsiteY0" fmla="*/ 877077 h 1268963"/>
              <a:gd name="connsiteX1" fmla="*/ 12210662 w 12210662"/>
              <a:gd name="connsiteY1" fmla="*/ 0 h 1268963"/>
              <a:gd name="connsiteX2" fmla="*/ 12210662 w 12210662"/>
              <a:gd name="connsiteY2" fmla="*/ 1268963 h 1268963"/>
              <a:gd name="connsiteX3" fmla="*/ 18662 w 12210662"/>
              <a:gd name="connsiteY3" fmla="*/ 1268963 h 1268963"/>
              <a:gd name="connsiteX4" fmla="*/ 0 w 12210662"/>
              <a:gd name="connsiteY4" fmla="*/ 877077 h 1268963"/>
              <a:gd name="connsiteX0" fmla="*/ 0 w 12210662"/>
              <a:gd name="connsiteY0" fmla="*/ 335902 h 727788"/>
              <a:gd name="connsiteX1" fmla="*/ 12210662 w 12210662"/>
              <a:gd name="connsiteY1" fmla="*/ 0 h 727788"/>
              <a:gd name="connsiteX2" fmla="*/ 12210662 w 12210662"/>
              <a:gd name="connsiteY2" fmla="*/ 727788 h 727788"/>
              <a:gd name="connsiteX3" fmla="*/ 18662 w 12210662"/>
              <a:gd name="connsiteY3" fmla="*/ 727788 h 727788"/>
              <a:gd name="connsiteX4" fmla="*/ 0 w 12210662"/>
              <a:gd name="connsiteY4" fmla="*/ 335902 h 727788"/>
              <a:gd name="connsiteX0" fmla="*/ 933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9330 w 12192000"/>
              <a:gd name="connsiteY4" fmla="*/ 335902 h 727788"/>
              <a:gd name="connsiteX0" fmla="*/ 372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3720 w 12192000"/>
              <a:gd name="connsiteY4" fmla="*/ 335902 h 727788"/>
              <a:gd name="connsiteX0" fmla="*/ 0 w 12188280"/>
              <a:gd name="connsiteY0" fmla="*/ 335902 h 727788"/>
              <a:gd name="connsiteX1" fmla="*/ 12188280 w 12188280"/>
              <a:gd name="connsiteY1" fmla="*/ 0 h 727788"/>
              <a:gd name="connsiteX2" fmla="*/ 12188280 w 12188280"/>
              <a:gd name="connsiteY2" fmla="*/ 727788 h 727788"/>
              <a:gd name="connsiteX3" fmla="*/ 1890 w 12188280"/>
              <a:gd name="connsiteY3" fmla="*/ 727788 h 727788"/>
              <a:gd name="connsiteX4" fmla="*/ 0 w 12188280"/>
              <a:gd name="connsiteY4" fmla="*/ 335902 h 727788"/>
            </a:gdLst>
            <a:ahLst/>
            <a:cxnLst/>
            <a:rect l="l" t="t" r="r" b="b"/>
            <a:pathLst>
              <a:path w="12188280" h="727788">
                <a:moveTo>
                  <a:pt x="0" y="335902"/>
                </a:moveTo>
                <a:lnTo>
                  <a:pt x="12188280" y="0"/>
                </a:lnTo>
                <a:lnTo>
                  <a:pt x="12188280" y="727788"/>
                </a:lnTo>
                <a:lnTo>
                  <a:pt x="1890" y="727788"/>
                </a:lnTo>
                <a:lnTo>
                  <a:pt x="0" y="33590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AA610-DF99-4342-8C2F-ED7BAB4C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7B00A-C7FC-4B45-AED4-D6BF5D93A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83816-A271-4FD0-86CC-285E48F9D21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5844850" y="6384344"/>
            <a:ext cx="5023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fld id="{CF5A1C33-475D-474A-A037-DDAF3DC7AF09}" type="slidenum">
              <a:t>‹#›</a:t>
            </a:fld>
            <a:endParaRPr/>
          </a:p>
        </p:txBody>
      </p:sp>
      <p:pic>
        <p:nvPicPr>
          <p:cNvPr id="14" name="Picture 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17239" y="6229445"/>
            <a:ext cx="1426467" cy="576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2F8C8-413D-4AB7-B547-91547E416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/>
              <a:t>Choosing parallelism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93925-DC07-4A3B-8EC5-AA7F5CC4F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/>
          <a:p>
            <a:pPr algn="l">
              <a:buNone/>
              <a:defRPr sz="250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250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Use the smallest method that removes the measured bottleneck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785B8-8E3C-4512-97FD-25CAA594590E}"/>
              </a:ext>
            </a:extLst>
          </p:cNvPr>
          <p:cNvSpPr>
            <a:spLocks noGrp="1"/>
          </p:cNvSpPr>
          <p:nvPr/>
        </p:nvSpPr>
        <p:spPr>
          <a:xfrm>
            <a:off x="467169" y="4502383"/>
            <a:ext cx="74242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License</a:t>
            </a:r>
            <a:r>
              <a:t>: this presentation is released under the Creative Commons CC BY 4.0,</a:t>
            </a:r>
            <a:br/>
            <a:r>
              <a:t>see </a:t>
            </a:r>
            <a:r>
              <a:rPr>
                <a:hlinkClick r:id="rId3"/>
              </a:rPr>
              <a:t>https://creativecommons.org/licenses/by/4.0/deed.ast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3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determines which choices exist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66759D1-CC37-4D3F-8283-9843F679E2CC}"/>
              </a:ext>
            </a:extLst>
          </p:cNvPr>
          <p:cNvSpPr>
            <a:spLocks noGrp="1"/>
          </p:cNvSpPr>
          <p:nvPr/>
        </p:nvSpPr>
        <p:spPr>
          <a:xfrm>
            <a:off x="6096000" y="2085975"/>
            <a:ext cx="9525" cy="34290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2BCC067-91DE-40E4-BF3A-2049E1784033}"/>
              </a:ext>
            </a:extLst>
          </p:cNvPr>
          <p:cNvSpPr>
            <a:spLocks noGrp="1"/>
          </p:cNvSpPr>
          <p:nvPr/>
        </p:nvSpPr>
        <p:spPr>
          <a:xfrm>
            <a:off x="2190750" y="2428875"/>
            <a:ext cx="781050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50A6895-AD89-4A12-B529-C95E1A1E7F76}"/>
              </a:ext>
            </a:extLst>
          </p:cNvPr>
          <p:cNvSpPr>
            <a:spLocks noGrp="1"/>
          </p:cNvSpPr>
          <p:nvPr/>
        </p:nvSpPr>
        <p:spPr>
          <a:xfrm>
            <a:off x="2190750" y="2428875"/>
            <a:ext cx="9525" cy="3714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4CE2100-00C5-4885-A1F8-F8C096B7F424}"/>
              </a:ext>
            </a:extLst>
          </p:cNvPr>
          <p:cNvSpPr>
            <a:spLocks noGrp="1"/>
          </p:cNvSpPr>
          <p:nvPr/>
        </p:nvSpPr>
        <p:spPr>
          <a:xfrm>
            <a:off x="6096000" y="2428875"/>
            <a:ext cx="9525" cy="3714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FB1D377-7D40-4B74-9E34-CD41BC44650F}"/>
              </a:ext>
            </a:extLst>
          </p:cNvPr>
          <p:cNvSpPr>
            <a:spLocks noGrp="1"/>
          </p:cNvSpPr>
          <p:nvPr/>
        </p:nvSpPr>
        <p:spPr>
          <a:xfrm>
            <a:off x="10001250" y="2428875"/>
            <a:ext cx="9525" cy="3714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3BC76-64C1-4A85-96A7-553C373A5D94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9525" cy="2095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20CA63-4F21-499E-9305-F419ED69795E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9525" cy="2095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F04353-443D-4968-A0CC-7C571E2F646D}"/>
              </a:ext>
            </a:extLst>
          </p:cNvPr>
          <p:cNvSpPr>
            <a:spLocks noGrp="1"/>
          </p:cNvSpPr>
          <p:nvPr/>
        </p:nvSpPr>
        <p:spPr>
          <a:xfrm>
            <a:off x="3429000" y="1476375"/>
            <a:ext cx="533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3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3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How many usable GPUs can cooperate?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BB5D68-6FD6-4146-A106-686D772543C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1 GPU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C66AA4-503F-481D-9B6B-6F1FB0704670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666750" cy="38100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6F616C-6480-4D30-A3CE-EA6C31EBDDC9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23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Multi-GPU methods are excluded.</a:t>
            </a:r>
          </a:p>
          <a:p>
            <a:endParaRPr sz="1600" b="0">
              <a:solidFill>
                <a:srgbClr val="68717C"/>
              </a:solidFill>
              <a:latin typeface="FlandersArtSans-Regular"/>
              <a:ea typeface="FlandersArtSans-Regular"/>
              <a:cs typeface="FlandersArtSans-Regular"/>
            </a:endParaRPr>
          </a:p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If the model does not fit, use quantization, activation reduction, or CPU/NVMe offload.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82B2C-665F-4810-935C-151DD1071764}"/>
              </a:ext>
            </a:extLst>
          </p:cNvPr>
          <p:cNvSpPr>
            <a:spLocks noGrp="1"/>
          </p:cNvSpPr>
          <p:nvPr/>
        </p:nvSpPr>
        <p:spPr>
          <a:xfrm>
            <a:off x="4286250" y="28575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2+ GPUs, one node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EFBD1A-0C68-4EA7-86EF-B94F814A0207}"/>
              </a:ext>
            </a:extLst>
          </p:cNvPr>
          <p:cNvSpPr>
            <a:spLocks noGrp="1"/>
          </p:cNvSpPr>
          <p:nvPr/>
        </p:nvSpPr>
        <p:spPr>
          <a:xfrm>
            <a:off x="4286250" y="3333750"/>
            <a:ext cx="666750" cy="38100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CAD355-7941-46E3-AD90-D8F111BA195F}"/>
              </a:ext>
            </a:extLst>
          </p:cNvPr>
          <p:cNvSpPr>
            <a:spLocks noGrp="1"/>
          </p:cNvSpPr>
          <p:nvPr/>
        </p:nvSpPr>
        <p:spPr>
          <a:xfrm>
            <a:off x="4286250" y="3476625"/>
            <a:ext cx="323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Replicate complete models when each copy fits.</a:t>
            </a:r>
          </a:p>
          <a:p>
            <a:endParaRPr sz="1600" b="0">
              <a:solidFill>
                <a:srgbClr val="68717C"/>
              </a:solidFill>
              <a:latin typeface="FlandersArtSans-Regular"/>
              <a:ea typeface="FlandersArtSans-Regular"/>
              <a:cs typeface="FlandersArtSans-Regular"/>
            </a:endParaRPr>
          </a:p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Shard only the object that causes the capacity or latency limit.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FE9FD7-D0C0-48D6-9DDD-FD03493E937D}"/>
              </a:ext>
            </a:extLst>
          </p:cNvPr>
          <p:cNvSpPr>
            <a:spLocks noGrp="1"/>
          </p:cNvSpPr>
          <p:nvPr/>
        </p:nvSpPr>
        <p:spPr>
          <a:xfrm>
            <a:off x="8286750" y="28575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Multiple nodes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4DA98-D2F8-4742-98D6-112800733DA9}"/>
              </a:ext>
            </a:extLst>
          </p:cNvPr>
          <p:cNvSpPr>
            <a:spLocks noGrp="1"/>
          </p:cNvSpPr>
          <p:nvPr/>
        </p:nvSpPr>
        <p:spPr>
          <a:xfrm>
            <a:off x="8286750" y="3333750"/>
            <a:ext cx="666750" cy="38100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7EF0CB-7100-4E97-9542-182F8889440A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323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Keep frequent collectives inside fast domains.</a:t>
            </a:r>
          </a:p>
          <a:p>
            <a:endParaRPr sz="1600" b="0">
              <a:solidFill>
                <a:srgbClr val="68717C"/>
              </a:solidFill>
              <a:latin typeface="FlandersArtSans-Regular"/>
              <a:ea typeface="FlandersArtSans-Regular"/>
              <a:cs typeface="FlandersArtSans-Regular"/>
            </a:endParaRPr>
          </a:p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depth-oriented methods across slower boundaries when appropriate.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0D7787-1FD9-4052-976B-9D75249B56CA}"/>
              </a:ext>
            </a:extLst>
          </p:cNvPr>
          <p:cNvSpPr>
            <a:spLocks noGrp="1"/>
          </p:cNvSpPr>
          <p:nvPr/>
        </p:nvSpPr>
        <p:spPr>
          <a:xfrm>
            <a:off x="2857500" y="521970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Topology constrains the answer; it does not choose the method.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Parallelism methods divide different objects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4DF73-9AEB-4345-B6F3-95FF89DBFDCA}"/>
              </a:ext>
            </a:extLst>
          </p:cNvPr>
          <p:cNvSpPr>
            <a:spLocks noGrp="1"/>
          </p:cNvSpPr>
          <p:nvPr/>
        </p:nvSpPr>
        <p:spPr>
          <a:xfrm>
            <a:off x="742950" y="1862906"/>
            <a:ext cx="10706100" cy="400050"/>
          </a:xfrm>
          <a:prstGeom prst="rect">
            <a:avLst/>
          </a:prstGeom>
          <a:solidFill>
            <a:srgbClr val="333639"/>
          </a:solidFill>
          <a:ln w="0">
            <a:solidFill>
              <a:srgbClr val="333639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B2CEF4-6B99-4E9B-B158-2FF2634BA166}"/>
              </a:ext>
            </a:extLst>
          </p:cNvPr>
          <p:cNvSpPr>
            <a:spLocks noGrp="1"/>
          </p:cNvSpPr>
          <p:nvPr/>
        </p:nvSpPr>
        <p:spPr>
          <a:xfrm>
            <a:off x="876300" y="1862906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METHOD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7578AD-0995-436B-949F-6CABEE450921}"/>
              </a:ext>
            </a:extLst>
          </p:cNvPr>
          <p:cNvSpPr>
            <a:spLocks noGrp="1"/>
          </p:cNvSpPr>
          <p:nvPr/>
        </p:nvSpPr>
        <p:spPr>
          <a:xfrm>
            <a:off x="2705100" y="1862906"/>
            <a:ext cx="3067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WHAT IT DIVIDES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88C5F-D12C-47C5-8BAF-94EB918B43BC}"/>
              </a:ext>
            </a:extLst>
          </p:cNvPr>
          <p:cNvSpPr>
            <a:spLocks noGrp="1"/>
          </p:cNvSpPr>
          <p:nvPr/>
        </p:nvSpPr>
        <p:spPr>
          <a:xfrm>
            <a:off x="6038850" y="1862906"/>
            <a:ext cx="527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WHEN IT EARNS ITS 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015CD-CD00-489B-AAC0-6D7C0743E90F}"/>
              </a:ext>
            </a:extLst>
          </p:cNvPr>
          <p:cNvSpPr>
            <a:spLocks noGrp="1"/>
          </p:cNvSpPr>
          <p:nvPr/>
        </p:nvSpPr>
        <p:spPr>
          <a:xfrm>
            <a:off x="2571750" y="1862906"/>
            <a:ext cx="9525" cy="4000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679EBD-A860-45CF-B5D4-32372C8EEE5B}"/>
              </a:ext>
            </a:extLst>
          </p:cNvPr>
          <p:cNvSpPr>
            <a:spLocks noGrp="1"/>
          </p:cNvSpPr>
          <p:nvPr/>
        </p:nvSpPr>
        <p:spPr>
          <a:xfrm>
            <a:off x="5905500" y="1862906"/>
            <a:ext cx="9525" cy="4000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10421D-4D48-4DBF-9B09-64253E1568FB}"/>
              </a:ext>
            </a:extLst>
          </p:cNvPr>
          <p:cNvSpPr>
            <a:spLocks noGrp="1"/>
          </p:cNvSpPr>
          <p:nvPr/>
        </p:nvSpPr>
        <p:spPr>
          <a:xfrm>
            <a:off x="742950" y="2863031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5A4D0F-DEE2-49A2-A8FB-6ED9474F2C34}"/>
              </a:ext>
            </a:extLst>
          </p:cNvPr>
          <p:cNvSpPr>
            <a:spLocks noGrp="1"/>
          </p:cNvSpPr>
          <p:nvPr/>
        </p:nvSpPr>
        <p:spPr>
          <a:xfrm>
            <a:off x="876300" y="2262956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3A9AF3-81A6-45E9-93A3-1EE71F4E55A5}"/>
              </a:ext>
            </a:extLst>
          </p:cNvPr>
          <p:cNvSpPr>
            <a:spLocks noGrp="1"/>
          </p:cNvSpPr>
          <p:nvPr/>
        </p:nvSpPr>
        <p:spPr>
          <a:xfrm>
            <a:off x="2705100" y="2262956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4EC312-7DE7-4640-A906-21BCA019E426}"/>
              </a:ext>
            </a:extLst>
          </p:cNvPr>
          <p:cNvSpPr>
            <a:spLocks noGrp="1"/>
          </p:cNvSpPr>
          <p:nvPr/>
        </p:nvSpPr>
        <p:spPr>
          <a:xfrm>
            <a:off x="6038850" y="2262956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complete model copy fits; more throughput is useful.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EF9BD4-5732-42B8-8C66-08E3B1A603BC}"/>
              </a:ext>
            </a:extLst>
          </p:cNvPr>
          <p:cNvSpPr>
            <a:spLocks noGrp="1"/>
          </p:cNvSpPr>
          <p:nvPr/>
        </p:nvSpPr>
        <p:spPr>
          <a:xfrm>
            <a:off x="742950" y="3463106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97D3D-2611-4593-8AB0-E6A0E4C250E3}"/>
              </a:ext>
            </a:extLst>
          </p:cNvPr>
          <p:cNvSpPr>
            <a:spLocks noGrp="1"/>
          </p:cNvSpPr>
          <p:nvPr/>
        </p:nvSpPr>
        <p:spPr>
          <a:xfrm>
            <a:off x="876300" y="2863031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BDD8C5-CBDC-440F-96E8-AE98EF8A5B71}"/>
              </a:ext>
            </a:extLst>
          </p:cNvPr>
          <p:cNvSpPr>
            <a:spLocks noGrp="1"/>
          </p:cNvSpPr>
          <p:nvPr/>
        </p:nvSpPr>
        <p:spPr>
          <a:xfrm>
            <a:off x="2705100" y="2863031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Persistent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E00A7F-9056-49A2-B8DA-F3FE34C6EF5C}"/>
              </a:ext>
            </a:extLst>
          </p:cNvPr>
          <p:cNvSpPr>
            <a:spLocks noGrp="1"/>
          </p:cNvSpPr>
          <p:nvPr/>
        </p:nvSpPr>
        <p:spPr>
          <a:xfrm>
            <a:off x="6038850" y="2863031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Parameters, gradients, or optimizer state cannot remain replicated.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AB1B66-0F9F-4EC2-8725-109341286F26}"/>
              </a:ext>
            </a:extLst>
          </p:cNvPr>
          <p:cNvSpPr>
            <a:spLocks noGrp="1"/>
          </p:cNvSpPr>
          <p:nvPr/>
        </p:nvSpPr>
        <p:spPr>
          <a:xfrm>
            <a:off x="742950" y="4063181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784A5E-5977-4153-9476-4EFDEBEE4B36}"/>
              </a:ext>
            </a:extLst>
          </p:cNvPr>
          <p:cNvSpPr>
            <a:spLocks noGrp="1"/>
          </p:cNvSpPr>
          <p:nvPr/>
        </p:nvSpPr>
        <p:spPr>
          <a:xfrm>
            <a:off x="876300" y="3463106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926276-1313-4FC8-A6D5-8D7068454C47}"/>
              </a:ext>
            </a:extLst>
          </p:cNvPr>
          <p:cNvSpPr>
            <a:spLocks noGrp="1"/>
          </p:cNvSpPr>
          <p:nvPr/>
        </p:nvSpPr>
        <p:spPr>
          <a:xfrm>
            <a:off x="2705100" y="3463106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Layer / tensor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41FF1A-40DA-4C66-BD43-CC6E04222A17}"/>
              </a:ext>
            </a:extLst>
          </p:cNvPr>
          <p:cNvSpPr>
            <a:spLocks noGrp="1"/>
          </p:cNvSpPr>
          <p:nvPr/>
        </p:nvSpPr>
        <p:spPr>
          <a:xfrm>
            <a:off x="6038850" y="3463106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layer does not fit, or per-token compute needs several GPUs.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35F421-25A3-4504-BA19-4BF034E38ECD}"/>
              </a:ext>
            </a:extLst>
          </p:cNvPr>
          <p:cNvSpPr>
            <a:spLocks noGrp="1"/>
          </p:cNvSpPr>
          <p:nvPr/>
        </p:nvSpPr>
        <p:spPr>
          <a:xfrm>
            <a:off x="742950" y="4663256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4E9FB6-F1E2-4140-AF59-5C203BD649B2}"/>
              </a:ext>
            </a:extLst>
          </p:cNvPr>
          <p:cNvSpPr>
            <a:spLocks noGrp="1"/>
          </p:cNvSpPr>
          <p:nvPr/>
        </p:nvSpPr>
        <p:spPr>
          <a:xfrm>
            <a:off x="876300" y="4063181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4C56C3-BDD3-4A8D-95DC-D7D2E8352E3F}"/>
              </a:ext>
            </a:extLst>
          </p:cNvPr>
          <p:cNvSpPr>
            <a:spLocks noGrp="1"/>
          </p:cNvSpPr>
          <p:nvPr/>
        </p:nvSpPr>
        <p:spPr>
          <a:xfrm>
            <a:off x="2705100" y="4063181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Model depth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DE8E58-1438-4734-94AF-478EEDAF597C}"/>
              </a:ext>
            </a:extLst>
          </p:cNvPr>
          <p:cNvSpPr>
            <a:spLocks noGrp="1"/>
          </p:cNvSpPr>
          <p:nvPr/>
        </p:nvSpPr>
        <p:spPr>
          <a:xfrm>
            <a:off x="6038850" y="4063181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Deep models or slower node boundaries favor stage-wise placement.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787FBF-4931-417D-8F4A-E6BC7619C29F}"/>
              </a:ext>
            </a:extLst>
          </p:cNvPr>
          <p:cNvSpPr>
            <a:spLocks noGrp="1"/>
          </p:cNvSpPr>
          <p:nvPr/>
        </p:nvSpPr>
        <p:spPr>
          <a:xfrm>
            <a:off x="742950" y="5263331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657F09-E534-4D63-9D0C-9566E822A060}"/>
              </a:ext>
            </a:extLst>
          </p:cNvPr>
          <p:cNvSpPr>
            <a:spLocks noGrp="1"/>
          </p:cNvSpPr>
          <p:nvPr/>
        </p:nvSpPr>
        <p:spPr>
          <a:xfrm>
            <a:off x="876300" y="4663256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519C-A466-4CE2-9C8E-233A4F433AC6}"/>
              </a:ext>
            </a:extLst>
          </p:cNvPr>
          <p:cNvSpPr>
            <a:spLocks noGrp="1"/>
          </p:cNvSpPr>
          <p:nvPr/>
        </p:nvSpPr>
        <p:spPr>
          <a:xfrm>
            <a:off x="2705100" y="4663256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Sequence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A5496B-88A3-48B5-BCDA-9D6C37EC0ADB}"/>
              </a:ext>
            </a:extLst>
          </p:cNvPr>
          <p:cNvSpPr>
            <a:spLocks noGrp="1"/>
          </p:cNvSpPr>
          <p:nvPr/>
        </p:nvSpPr>
        <p:spPr>
          <a:xfrm>
            <a:off x="6038850" y="4663256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Long-context activations or KV cache dominate memory.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18E923-A4E1-47CB-BE81-465A53ED9A7F}"/>
              </a:ext>
            </a:extLst>
          </p:cNvPr>
          <p:cNvSpPr>
            <a:spLocks noGrp="1"/>
          </p:cNvSpPr>
          <p:nvPr/>
        </p:nvSpPr>
        <p:spPr>
          <a:xfrm>
            <a:off x="742950" y="5863406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91F36C-3F88-44B5-933E-F8CDC18B7878}"/>
              </a:ext>
            </a:extLst>
          </p:cNvPr>
          <p:cNvSpPr>
            <a:spLocks noGrp="1"/>
          </p:cNvSpPr>
          <p:nvPr/>
        </p:nvSpPr>
        <p:spPr>
          <a:xfrm>
            <a:off x="876300" y="5263331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EP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469775-D4B4-483A-BE70-ADBA86C46534}"/>
              </a:ext>
            </a:extLst>
          </p:cNvPr>
          <p:cNvSpPr>
            <a:spLocks noGrp="1"/>
          </p:cNvSpPr>
          <p:nvPr/>
        </p:nvSpPr>
        <p:spPr>
          <a:xfrm>
            <a:off x="2705100" y="5263331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B62964-18D8-48D8-9CA6-3D7386AB126A}"/>
              </a:ext>
            </a:extLst>
          </p:cNvPr>
          <p:cNvSpPr>
            <a:spLocks noGrp="1"/>
          </p:cNvSpPr>
          <p:nvPr/>
        </p:nvSpPr>
        <p:spPr>
          <a:xfrm>
            <a:off x="6038850" y="5263331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Sparse MoE weights and routed computation need distribution.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AF396F-789E-4DAB-972A-F41918F606EF}"/>
              </a:ext>
            </a:extLst>
          </p:cNvPr>
          <p:cNvSpPr>
            <a:spLocks noGrp="1"/>
          </p:cNvSpPr>
          <p:nvPr/>
        </p:nvSpPr>
        <p:spPr>
          <a:xfrm>
            <a:off x="3524250" y="5939606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Parameter count alone is not a selection rule.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 splits batches across model replicas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CF174-23AD-4BA7-9446-73555AD31582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B84078-4BB2-41BE-B78E-9FF5CE83B87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The batch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A8855-956B-494C-8885-32665A4023C0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E77A0-B038-4520-8EE3-AFB0FECB8C3D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E7EE8-68C2-4EC0-A6FF-A0D9158A62E7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Every worker holds a complete model copy and processes different samples.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E928D-0341-41A2-B402-77C833BF1795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F898A6-0F38-4648-828C-507B5B183BDD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063F60-D6EC-4CDD-9355-F520AF26F41F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Gradient synchronization after backward.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8D6E63-EE28-43AC-91FA-142189362B2E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one complete training copy fits and throughput matters.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D13974-43D1-46D8-8F47-0B299FE93AAE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B52B923-9CAC-4512-9E0F-68C52ECB1989}"/>
              </a:ext>
            </a:extLst>
          </p:cNvPr>
          <p:cNvSpPr>
            <a:spLocks noGrp="1"/>
          </p:cNvSpPr>
          <p:nvPr/>
        </p:nvSpPr>
        <p:spPr>
          <a:xfrm>
            <a:off x="5572125" y="2324100"/>
            <a:ext cx="9525" cy="390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B3ECA95-EEB6-49F3-A0D7-5B325203592A}"/>
              </a:ext>
            </a:extLst>
          </p:cNvPr>
          <p:cNvSpPr>
            <a:spLocks noGrp="1"/>
          </p:cNvSpPr>
          <p:nvPr/>
        </p:nvSpPr>
        <p:spPr>
          <a:xfrm>
            <a:off x="7953375" y="2324100"/>
            <a:ext cx="9525" cy="390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A64B4C8-E67C-4A2F-9485-8BBB0138C46F}"/>
              </a:ext>
            </a:extLst>
          </p:cNvPr>
          <p:cNvSpPr>
            <a:spLocks noGrp="1"/>
          </p:cNvSpPr>
          <p:nvPr/>
        </p:nvSpPr>
        <p:spPr>
          <a:xfrm>
            <a:off x="10334625" y="2324100"/>
            <a:ext cx="9525" cy="390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2E65D10-A3E3-49C7-A838-3754F3C7DB4D}"/>
              </a:ext>
            </a:extLst>
          </p:cNvPr>
          <p:cNvSpPr>
            <a:spLocks noGrp="1"/>
          </p:cNvSpPr>
          <p:nvPr/>
        </p:nvSpPr>
        <p:spPr>
          <a:xfrm>
            <a:off x="5572125" y="4429125"/>
            <a:ext cx="9525" cy="3333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482CC2B-263F-477A-B109-2EB5EDA0AEE2}"/>
              </a:ext>
            </a:extLst>
          </p:cNvPr>
          <p:cNvSpPr>
            <a:spLocks noGrp="1"/>
          </p:cNvSpPr>
          <p:nvPr/>
        </p:nvSpPr>
        <p:spPr>
          <a:xfrm>
            <a:off x="7953375" y="4429125"/>
            <a:ext cx="9525" cy="3333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0FDADE92-9AC6-4241-9F49-3A83BE5CDE7F}"/>
              </a:ext>
            </a:extLst>
          </p:cNvPr>
          <p:cNvSpPr>
            <a:spLocks noGrp="1"/>
          </p:cNvSpPr>
          <p:nvPr/>
        </p:nvSpPr>
        <p:spPr>
          <a:xfrm>
            <a:off x="10334625" y="4429125"/>
            <a:ext cx="9525" cy="3333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A6219587-57C2-4E47-AD96-FADDEC16576E}"/>
              </a:ext>
            </a:extLst>
          </p:cNvPr>
          <p:cNvSpPr>
            <a:spLocks noGrp="1"/>
          </p:cNvSpPr>
          <p:nvPr/>
        </p:nvSpPr>
        <p:spPr>
          <a:xfrm>
            <a:off x="5572125" y="4762500"/>
            <a:ext cx="476250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B1C24F-AE13-4215-8E50-85DD87427C78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DIFFERENT MINI-BATCHES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5B0328-7007-4020-909F-9B7E0EFE317A}"/>
              </a:ext>
            </a:extLst>
          </p:cNvPr>
          <p:cNvSpPr>
            <a:spLocks noGrp="1"/>
          </p:cNvSpPr>
          <p:nvPr/>
        </p:nvSpPr>
        <p:spPr>
          <a:xfrm>
            <a:off x="4762500" y="1885950"/>
            <a:ext cx="1619250" cy="4381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 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E7FDE-1CE6-4656-89D1-5481D5ADD92C}"/>
              </a:ext>
            </a:extLst>
          </p:cNvPr>
          <p:cNvSpPr>
            <a:spLocks noGrp="1"/>
          </p:cNvSpPr>
          <p:nvPr/>
        </p:nvSpPr>
        <p:spPr>
          <a:xfrm>
            <a:off x="7143750" y="1885950"/>
            <a:ext cx="1619250" cy="4381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41C020-9646-4580-8231-DCA0D47F21BF}"/>
              </a:ext>
            </a:extLst>
          </p:cNvPr>
          <p:cNvSpPr>
            <a:spLocks noGrp="1"/>
          </p:cNvSpPr>
          <p:nvPr/>
        </p:nvSpPr>
        <p:spPr>
          <a:xfrm>
            <a:off x="9525000" y="1885950"/>
            <a:ext cx="1619250" cy="4381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 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611D80-30E1-459F-9182-9DBF1EAE1F17}"/>
              </a:ext>
            </a:extLst>
          </p:cNvPr>
          <p:cNvSpPr>
            <a:spLocks noGrp="1"/>
          </p:cNvSpPr>
          <p:nvPr/>
        </p:nvSpPr>
        <p:spPr>
          <a:xfrm>
            <a:off x="4762500" y="2714625"/>
            <a:ext cx="1619250" cy="1714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0B91BC-0281-4254-BA3B-80CA3B5870BD}"/>
              </a:ext>
            </a:extLst>
          </p:cNvPr>
          <p:cNvSpPr>
            <a:spLocks noGrp="1"/>
          </p:cNvSpPr>
          <p:nvPr/>
        </p:nvSpPr>
        <p:spPr>
          <a:xfrm>
            <a:off x="4857750" y="2771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0: full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FF3AAA-1C19-40A9-8928-5B3D21135D4A}"/>
              </a:ext>
            </a:extLst>
          </p:cNvPr>
          <p:cNvSpPr>
            <a:spLocks noGrp="1"/>
          </p:cNvSpPr>
          <p:nvPr/>
        </p:nvSpPr>
        <p:spPr>
          <a:xfrm>
            <a:off x="4953000" y="32099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D47D21-6AE3-40DA-9078-8D693850F3EC}"/>
              </a:ext>
            </a:extLst>
          </p:cNvPr>
          <p:cNvSpPr>
            <a:spLocks noGrp="1"/>
          </p:cNvSpPr>
          <p:nvPr/>
        </p:nvSpPr>
        <p:spPr>
          <a:xfrm>
            <a:off x="4953000" y="34575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1215F4-1CCC-4DB9-8271-862130C4BDB2}"/>
              </a:ext>
            </a:extLst>
          </p:cNvPr>
          <p:cNvSpPr>
            <a:spLocks noGrp="1"/>
          </p:cNvSpPr>
          <p:nvPr/>
        </p:nvSpPr>
        <p:spPr>
          <a:xfrm>
            <a:off x="4953000" y="37052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90523F-0E1B-419B-9CD2-7C9061F0C3BF}"/>
              </a:ext>
            </a:extLst>
          </p:cNvPr>
          <p:cNvSpPr>
            <a:spLocks noGrp="1"/>
          </p:cNvSpPr>
          <p:nvPr/>
        </p:nvSpPr>
        <p:spPr>
          <a:xfrm>
            <a:off x="4953000" y="39528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A940EA-2BD9-4677-B462-31F1D4CC0663}"/>
              </a:ext>
            </a:extLst>
          </p:cNvPr>
          <p:cNvSpPr>
            <a:spLocks noGrp="1"/>
          </p:cNvSpPr>
          <p:nvPr/>
        </p:nvSpPr>
        <p:spPr>
          <a:xfrm>
            <a:off x="7143750" y="2714625"/>
            <a:ext cx="1619250" cy="1714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AE78C0-B99A-4199-BA03-F03A0E82480B}"/>
              </a:ext>
            </a:extLst>
          </p:cNvPr>
          <p:cNvSpPr>
            <a:spLocks noGrp="1"/>
          </p:cNvSpPr>
          <p:nvPr/>
        </p:nvSpPr>
        <p:spPr>
          <a:xfrm>
            <a:off x="7239000" y="2771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1: full 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24ED02-10A4-4200-92EA-1F651CA7A430}"/>
              </a:ext>
            </a:extLst>
          </p:cNvPr>
          <p:cNvSpPr>
            <a:spLocks noGrp="1"/>
          </p:cNvSpPr>
          <p:nvPr/>
        </p:nvSpPr>
        <p:spPr>
          <a:xfrm>
            <a:off x="7334250" y="32099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CD023B-23E4-4CFD-94F8-7C89FED8BB21}"/>
              </a:ext>
            </a:extLst>
          </p:cNvPr>
          <p:cNvSpPr>
            <a:spLocks noGrp="1"/>
          </p:cNvSpPr>
          <p:nvPr/>
        </p:nvSpPr>
        <p:spPr>
          <a:xfrm>
            <a:off x="7334250" y="34575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F0B8F4-AB08-4DAF-8D51-6787928267D6}"/>
              </a:ext>
            </a:extLst>
          </p:cNvPr>
          <p:cNvSpPr>
            <a:spLocks noGrp="1"/>
          </p:cNvSpPr>
          <p:nvPr/>
        </p:nvSpPr>
        <p:spPr>
          <a:xfrm>
            <a:off x="7334250" y="37052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9175B6-8B05-4041-AC54-FB927A808F05}"/>
              </a:ext>
            </a:extLst>
          </p:cNvPr>
          <p:cNvSpPr>
            <a:spLocks noGrp="1"/>
          </p:cNvSpPr>
          <p:nvPr/>
        </p:nvSpPr>
        <p:spPr>
          <a:xfrm>
            <a:off x="7334250" y="39528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107D0C-6519-4156-808E-AFC1BD2497A7}"/>
              </a:ext>
            </a:extLst>
          </p:cNvPr>
          <p:cNvSpPr>
            <a:spLocks noGrp="1"/>
          </p:cNvSpPr>
          <p:nvPr/>
        </p:nvSpPr>
        <p:spPr>
          <a:xfrm>
            <a:off x="9525000" y="2714625"/>
            <a:ext cx="1619250" cy="1714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BC8A78-BE07-4A8E-BCC4-B9714DF92F7C}"/>
              </a:ext>
            </a:extLst>
          </p:cNvPr>
          <p:cNvSpPr>
            <a:spLocks noGrp="1"/>
          </p:cNvSpPr>
          <p:nvPr/>
        </p:nvSpPr>
        <p:spPr>
          <a:xfrm>
            <a:off x="9620250" y="2771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2: full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4A1E20-2736-4A76-B816-2351CC3E25BE}"/>
              </a:ext>
            </a:extLst>
          </p:cNvPr>
          <p:cNvSpPr>
            <a:spLocks noGrp="1"/>
          </p:cNvSpPr>
          <p:nvPr/>
        </p:nvSpPr>
        <p:spPr>
          <a:xfrm>
            <a:off x="9715500" y="32099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B1ACF8-BB05-47C1-A721-102D63ED5CF6}"/>
              </a:ext>
            </a:extLst>
          </p:cNvPr>
          <p:cNvSpPr>
            <a:spLocks noGrp="1"/>
          </p:cNvSpPr>
          <p:nvPr/>
        </p:nvSpPr>
        <p:spPr>
          <a:xfrm>
            <a:off x="9715500" y="34575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0FC3B0-4BE7-458D-935D-22AB6DA6FCAC}"/>
              </a:ext>
            </a:extLst>
          </p:cNvPr>
          <p:cNvSpPr>
            <a:spLocks noGrp="1"/>
          </p:cNvSpPr>
          <p:nvPr/>
        </p:nvSpPr>
        <p:spPr>
          <a:xfrm>
            <a:off x="9715500" y="37052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94B87C-0DE4-4961-B43B-D8BC0D3D2F45}"/>
              </a:ext>
            </a:extLst>
          </p:cNvPr>
          <p:cNvSpPr>
            <a:spLocks noGrp="1"/>
          </p:cNvSpPr>
          <p:nvPr/>
        </p:nvSpPr>
        <p:spPr>
          <a:xfrm>
            <a:off x="9715500" y="39528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3A30D6-616E-4506-A046-CD65FD05B5AF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Gradient all-reduce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6C48E5-DAFA-4A89-89E2-BE3C19A8682F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All replicas apply the same update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FSDP shards persistent state across workers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/>
              <a:t>5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60E59-812E-4CC3-8D52-84893D36997D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72571-C060-42A6-8A4F-9CFB3124258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Parameters, gradients, and optimizer state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BB3DE1-9306-4F67-AD4C-4B18BB754C63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6D13EF-7916-427E-974B-59D4BD0AE445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015BBA-7A22-4E2B-AC82-A10E7F503739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Each worker stores a shard. A layer is gathered for compute; gradients are reduce-scattered afterward.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3646BE-A5F3-4474-8C9D-A61E37F9927A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CAE7B2-DEF3-42EB-B9EC-3DCD3FC37425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559778-CA11-4008-B077-06E39E10B6DF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State communication and temporary layer materialization.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12C537-5101-4A02-87AF-3B5BA7AD3AAB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persistent state prevents a full training replica from fitting.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5DB2B-227C-4E56-A987-C3B5C43E5F69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78257C6-C69E-41CF-AB6F-420BB57FF2B8}"/>
              </a:ext>
            </a:extLst>
          </p:cNvPr>
          <p:cNvSpPr>
            <a:spLocks noGrp="1"/>
          </p:cNvSpPr>
          <p:nvPr/>
        </p:nvSpPr>
        <p:spPr>
          <a:xfrm>
            <a:off x="5572125" y="3238500"/>
            <a:ext cx="9525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4FFABA4-24EB-4C5C-8E34-B93236E45E1F}"/>
              </a:ext>
            </a:extLst>
          </p:cNvPr>
          <p:cNvSpPr>
            <a:spLocks noGrp="1"/>
          </p:cNvSpPr>
          <p:nvPr/>
        </p:nvSpPr>
        <p:spPr>
          <a:xfrm>
            <a:off x="7953375" y="3238500"/>
            <a:ext cx="9525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DD9C12C-D751-4537-8846-7EEF1CDF94DC}"/>
              </a:ext>
            </a:extLst>
          </p:cNvPr>
          <p:cNvSpPr>
            <a:spLocks noGrp="1"/>
          </p:cNvSpPr>
          <p:nvPr/>
        </p:nvSpPr>
        <p:spPr>
          <a:xfrm>
            <a:off x="10334625" y="3238500"/>
            <a:ext cx="9525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42FFD2-509D-4BEA-9C12-4AC49F7D501C}"/>
              </a:ext>
            </a:extLst>
          </p:cNvPr>
          <p:cNvSpPr>
            <a:spLocks noGrp="1"/>
          </p:cNvSpPr>
          <p:nvPr/>
        </p:nvSpPr>
        <p:spPr>
          <a:xfrm>
            <a:off x="5810250" y="147637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AT REST: EACH GPU OWNS A STATE SHARD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4DED45-4E0B-4A93-B45A-9518F3B63CF8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1619250" cy="1333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513EB5-38B2-49AC-B62B-29403D7F87C2}"/>
              </a:ext>
            </a:extLst>
          </p:cNvPr>
          <p:cNvSpPr>
            <a:spLocks noGrp="1"/>
          </p:cNvSpPr>
          <p:nvPr/>
        </p:nvSpPr>
        <p:spPr>
          <a:xfrm>
            <a:off x="4857750" y="2009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6DC42A-C529-43BD-8581-711E4E789F39}"/>
              </a:ext>
            </a:extLst>
          </p:cNvPr>
          <p:cNvSpPr>
            <a:spLocks noGrp="1"/>
          </p:cNvSpPr>
          <p:nvPr/>
        </p:nvSpPr>
        <p:spPr>
          <a:xfrm>
            <a:off x="4953000" y="24288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B24892-D933-455A-ABC3-F17A5D12B03B}"/>
              </a:ext>
            </a:extLst>
          </p:cNvPr>
          <p:cNvSpPr>
            <a:spLocks noGrp="1"/>
          </p:cNvSpPr>
          <p:nvPr/>
        </p:nvSpPr>
        <p:spPr>
          <a:xfrm>
            <a:off x="4953000" y="26765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FFAB7E-396F-49E7-AD84-85F3B4A08FBF}"/>
              </a:ext>
            </a:extLst>
          </p:cNvPr>
          <p:cNvSpPr>
            <a:spLocks noGrp="1"/>
          </p:cNvSpPr>
          <p:nvPr/>
        </p:nvSpPr>
        <p:spPr>
          <a:xfrm>
            <a:off x="4953000" y="29241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36C880-2BB1-4624-B762-BC4048F6E182}"/>
              </a:ext>
            </a:extLst>
          </p:cNvPr>
          <p:cNvSpPr>
            <a:spLocks noGrp="1"/>
          </p:cNvSpPr>
          <p:nvPr/>
        </p:nvSpPr>
        <p:spPr>
          <a:xfrm>
            <a:off x="7143750" y="1952625"/>
            <a:ext cx="1619250" cy="1333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E775F4-A6AF-4D57-B1E4-886D3941BEEC}"/>
              </a:ext>
            </a:extLst>
          </p:cNvPr>
          <p:cNvSpPr>
            <a:spLocks noGrp="1"/>
          </p:cNvSpPr>
          <p:nvPr/>
        </p:nvSpPr>
        <p:spPr>
          <a:xfrm>
            <a:off x="7239000" y="2009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FA1813-AA0D-4613-BAAB-C59EB6CDDE94}"/>
              </a:ext>
            </a:extLst>
          </p:cNvPr>
          <p:cNvSpPr>
            <a:spLocks noGrp="1"/>
          </p:cNvSpPr>
          <p:nvPr/>
        </p:nvSpPr>
        <p:spPr>
          <a:xfrm>
            <a:off x="7334250" y="2428875"/>
            <a:ext cx="1238250" cy="171450"/>
          </a:xfrm>
          <a:prstGeom prst="rect">
            <a:avLst/>
          </a:prstGeom>
          <a:solidFill>
            <a:schemeClr val="accent2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F0D951-E632-4A27-9D09-7DC2A4120EB1}"/>
              </a:ext>
            </a:extLst>
          </p:cNvPr>
          <p:cNvSpPr>
            <a:spLocks noGrp="1"/>
          </p:cNvSpPr>
          <p:nvPr/>
        </p:nvSpPr>
        <p:spPr>
          <a:xfrm>
            <a:off x="7334250" y="2676525"/>
            <a:ext cx="1238250" cy="17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86EB98-E0A0-4E78-97F5-E2664EBE683C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85ECF9-0B13-4C5F-AAF3-57056D227883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1619250" cy="1333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A8F72B-AC3B-4C08-87AE-FC4354C8C589}"/>
              </a:ext>
            </a:extLst>
          </p:cNvPr>
          <p:cNvSpPr>
            <a:spLocks noGrp="1"/>
          </p:cNvSpPr>
          <p:nvPr/>
        </p:nvSpPr>
        <p:spPr>
          <a:xfrm>
            <a:off x="9620250" y="2009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35AC37-07BD-4E49-9EC4-01E877D9E1E0}"/>
              </a:ext>
            </a:extLst>
          </p:cNvPr>
          <p:cNvSpPr>
            <a:spLocks noGrp="1"/>
          </p:cNvSpPr>
          <p:nvPr/>
        </p:nvSpPr>
        <p:spPr>
          <a:xfrm>
            <a:off x="9715500" y="2428875"/>
            <a:ext cx="1238250" cy="171450"/>
          </a:xfrm>
          <a:prstGeom prst="rect">
            <a:avLst/>
          </a:prstGeom>
          <a:solidFill>
            <a:schemeClr val="accent2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BB33E7-1435-4B40-A907-EC5AA16F1D00}"/>
              </a:ext>
            </a:extLst>
          </p:cNvPr>
          <p:cNvSpPr>
            <a:spLocks noGrp="1"/>
          </p:cNvSpPr>
          <p:nvPr/>
        </p:nvSpPr>
        <p:spPr>
          <a:xfrm>
            <a:off x="9715500" y="26765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239333-69C0-4C58-AEA8-4E31CFB12542}"/>
              </a:ext>
            </a:extLst>
          </p:cNvPr>
          <p:cNvSpPr>
            <a:spLocks noGrp="1"/>
          </p:cNvSpPr>
          <p:nvPr/>
        </p:nvSpPr>
        <p:spPr>
          <a:xfrm>
            <a:off x="9715500" y="2924175"/>
            <a:ext cx="1238250" cy="17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2D454F-0D7E-49EF-A5E3-7499E5850B48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3524250" cy="3238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All-gather before layer compute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BD8D37-BB24-4BC0-B130-EA9FED96C404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1619250" cy="7429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Full layer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(temporary)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E7499D-A0A6-48F0-9326-4066D190307B}"/>
              </a:ext>
            </a:extLst>
          </p:cNvPr>
          <p:cNvSpPr>
            <a:spLocks noGrp="1"/>
          </p:cNvSpPr>
          <p:nvPr/>
        </p:nvSpPr>
        <p:spPr>
          <a:xfrm>
            <a:off x="7143750" y="4095750"/>
            <a:ext cx="1619250" cy="7429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Full layer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(temporary)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67C201-AA9C-4372-BC83-0BAF320E0B33}"/>
              </a:ext>
            </a:extLst>
          </p:cNvPr>
          <p:cNvSpPr>
            <a:spLocks noGrp="1"/>
          </p:cNvSpPr>
          <p:nvPr/>
        </p:nvSpPr>
        <p:spPr>
          <a:xfrm>
            <a:off x="9525000" y="4095750"/>
            <a:ext cx="1619250" cy="7429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Full layer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(temporary)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D79930-E1A0-415E-A708-B3F84E77A818}"/>
              </a:ext>
            </a:extLst>
          </p:cNvPr>
          <p:cNvSpPr>
            <a:spLocks noGrp="1"/>
          </p:cNvSpPr>
          <p:nvPr/>
        </p:nvSpPr>
        <p:spPr>
          <a:xfrm>
            <a:off x="5905500" y="50673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Reduce-scatter gradients back to shards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6814A-2E12-AAE7-F4EA-72D5D73527C0}"/>
              </a:ext>
            </a:extLst>
          </p:cNvPr>
          <p:cNvSpPr>
            <a:spLocks noGrp="1"/>
          </p:cNvSpPr>
          <p:nvPr/>
        </p:nvSpPr>
        <p:spPr>
          <a:xfrm>
            <a:off x="5388077" y="2426725"/>
            <a:ext cx="803173" cy="202175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34153D-6E84-4B1D-AE8D-4860A9DB3637}"/>
              </a:ext>
            </a:extLst>
          </p:cNvPr>
          <p:cNvSpPr>
            <a:spLocks noGrp="1"/>
          </p:cNvSpPr>
          <p:nvPr/>
        </p:nvSpPr>
        <p:spPr>
          <a:xfrm>
            <a:off x="9715500" y="2420443"/>
            <a:ext cx="803173" cy="202175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DB744D-B59D-0EAB-B207-E0F04A920700}"/>
              </a:ext>
            </a:extLst>
          </p:cNvPr>
          <p:cNvSpPr>
            <a:spLocks noGrp="1"/>
          </p:cNvSpPr>
          <p:nvPr/>
        </p:nvSpPr>
        <p:spPr>
          <a:xfrm>
            <a:off x="7756729" y="2421807"/>
            <a:ext cx="430776" cy="175137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 divides the work inside each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6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1B9A1-6556-491A-A004-5C6371D051B1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0205D3-6919-4CF2-BFF2-FF4EE9A8089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 layer's tensors and matrix operations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78687D-6614-472D-B832-1F579BF55196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A3AA5B-FDD9-4C9F-A8A5-D17EB47C72B6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E043F3-94E3-42E5-B78B-91ADD2D61946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Workers compute complementary shards of the same layer and combine partial results.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6B9094-1127-4663-A7A6-58ED77BC9C61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847DEC-E4ED-4BC1-B0AE-A6A6130BB716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8AEC6-13E7-4B37-9838-59CC5A9072AC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Frequent collectives inside every parallelized layer.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7A1D7A-9914-4F00-B9D7-0449DD3B4A70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a layer does not fit, or measured compute benefits exceed communication.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9E30D8-8C27-40E3-9447-D23FE9A429BF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1A192D0-1367-40FC-AB44-F0E3C9D37963}"/>
              </a:ext>
            </a:extLst>
          </p:cNvPr>
          <p:cNvSpPr>
            <a:spLocks noGrp="1"/>
          </p:cNvSpPr>
          <p:nvPr/>
        </p:nvSpPr>
        <p:spPr>
          <a:xfrm flipV="1">
            <a:off x="6057897" y="2547938"/>
            <a:ext cx="1133477" cy="881062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56F6253-422B-4E91-B2EB-DC2D89B39B91}"/>
              </a:ext>
            </a:extLst>
          </p:cNvPr>
          <p:cNvSpPr>
            <a:spLocks noGrp="1"/>
          </p:cNvSpPr>
          <p:nvPr/>
        </p:nvSpPr>
        <p:spPr>
          <a:xfrm>
            <a:off x="6048375" y="3429000"/>
            <a:ext cx="1143000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858741C-598E-4E89-929C-76E329D83E3B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0" cy="857250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457B40E-B418-486B-A18C-89BD194E3B69}"/>
              </a:ext>
            </a:extLst>
          </p:cNvPr>
          <p:cNvSpPr>
            <a:spLocks noGrp="1"/>
          </p:cNvSpPr>
          <p:nvPr/>
        </p:nvSpPr>
        <p:spPr>
          <a:xfrm flipV="1">
            <a:off x="9382125" y="3438522"/>
            <a:ext cx="952500" cy="857251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A7F89C-CE7B-4FD7-B18A-4CA0737A8754}"/>
              </a:ext>
            </a:extLst>
          </p:cNvPr>
          <p:cNvSpPr>
            <a:spLocks noGrp="1"/>
          </p:cNvSpPr>
          <p:nvPr/>
        </p:nvSpPr>
        <p:spPr>
          <a:xfrm>
            <a:off x="6762750" y="15240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ONE LAYER SPLIT ACROSS GPUS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04565-85A6-48F8-ADD1-9A240BD6E0A4}"/>
              </a:ext>
            </a:extLst>
          </p:cNvPr>
          <p:cNvSpPr>
            <a:spLocks noGrp="1"/>
          </p:cNvSpPr>
          <p:nvPr/>
        </p:nvSpPr>
        <p:spPr>
          <a:xfrm>
            <a:off x="4667250" y="3067050"/>
            <a:ext cx="1381125" cy="723900"/>
          </a:xfrm>
          <a:prstGeom prst="rect">
            <a:avLst/>
          </a:prstGeom>
          <a:solidFill>
            <a:srgbClr val="FFFFFF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Input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activations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BCA036-C52B-40E8-B859-E699F488ADAF}"/>
              </a:ext>
            </a:extLst>
          </p:cNvPr>
          <p:cNvSpPr>
            <a:spLocks noGrp="1"/>
          </p:cNvSpPr>
          <p:nvPr/>
        </p:nvSpPr>
        <p:spPr>
          <a:xfrm>
            <a:off x="7191375" y="1952625"/>
            <a:ext cx="2190750" cy="12382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Matrix shard 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2C881C-AC2E-4B94-BA33-7030006A1B62}"/>
              </a:ext>
            </a:extLst>
          </p:cNvPr>
          <p:cNvSpPr>
            <a:spLocks noGrp="1"/>
          </p:cNvSpPr>
          <p:nvPr/>
        </p:nvSpPr>
        <p:spPr>
          <a:xfrm>
            <a:off x="7191375" y="3667125"/>
            <a:ext cx="2190750" cy="123825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Matrix shard 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A45E5F-F55B-4220-8350-324221832453}"/>
              </a:ext>
            </a:extLst>
          </p:cNvPr>
          <p:cNvSpPr>
            <a:spLocks noGrp="1"/>
          </p:cNvSpPr>
          <p:nvPr/>
        </p:nvSpPr>
        <p:spPr>
          <a:xfrm>
            <a:off x="10334625" y="3067050"/>
            <a:ext cx="1336265" cy="723900"/>
          </a:xfrm>
          <a:prstGeom prst="rect">
            <a:avLst/>
          </a:prstGeom>
          <a:solidFill>
            <a:srgbClr val="FFFFFF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Combined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output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C5594F-B8AC-4EFD-A656-B9F2707C2FFE}"/>
              </a:ext>
            </a:extLst>
          </p:cNvPr>
          <p:cNvSpPr>
            <a:spLocks noGrp="1"/>
          </p:cNvSpPr>
          <p:nvPr/>
        </p:nvSpPr>
        <p:spPr>
          <a:xfrm>
            <a:off x="7096125" y="51435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Collective combines partial results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 divides model depth into stages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7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Groups of consecutive layers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Each stage owns part of the model. Microbatches move forward and backward through the stages.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Pipeline bubbles, scheduling complexity, and stage imbalance.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model depth or node boundaries make stage placement attractive.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0836D8B-B17A-4F3C-8B79-D20003E6B364}"/>
              </a:ext>
            </a:extLst>
          </p:cNvPr>
          <p:cNvSpPr>
            <a:spLocks noGrp="1"/>
          </p:cNvSpPr>
          <p:nvPr/>
        </p:nvSpPr>
        <p:spPr>
          <a:xfrm>
            <a:off x="6238876" y="2774369"/>
            <a:ext cx="238124" cy="30480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6275DCC-E2C3-46B7-B33D-4D6F3C8356DD}"/>
              </a:ext>
            </a:extLst>
          </p:cNvPr>
          <p:cNvSpPr>
            <a:spLocks noGrp="1"/>
          </p:cNvSpPr>
          <p:nvPr/>
        </p:nvSpPr>
        <p:spPr>
          <a:xfrm>
            <a:off x="7953375" y="3086101"/>
            <a:ext cx="238125" cy="30480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80A169E-9D6F-46C9-BA5C-0B66E2C6D3E2}"/>
              </a:ext>
            </a:extLst>
          </p:cNvPr>
          <p:cNvSpPr>
            <a:spLocks noGrp="1"/>
          </p:cNvSpPr>
          <p:nvPr/>
        </p:nvSpPr>
        <p:spPr>
          <a:xfrm>
            <a:off x="9677707" y="3587852"/>
            <a:ext cx="228293" cy="231673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MICROBATCHES FLOW THROUGH LAYER STAGES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176931-474D-44F9-85DE-F9A989B46A45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B6DC17-C7C8-4C42-97B2-88E162F37CC9}"/>
              </a:ext>
            </a:extLst>
          </p:cNvPr>
          <p:cNvSpPr>
            <a:spLocks noGrp="1"/>
          </p:cNvSpPr>
          <p:nvPr/>
        </p:nvSpPr>
        <p:spPr>
          <a:xfrm>
            <a:off x="48577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1 / GPU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AFA32B-EB44-42CC-ABA9-5B90687D7644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133475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FD6841-EFE7-49A6-96DA-7AAA3A2D8919}"/>
              </a:ext>
            </a:extLst>
          </p:cNvPr>
          <p:cNvSpPr>
            <a:spLocks noGrp="1"/>
          </p:cNvSpPr>
          <p:nvPr/>
        </p:nvSpPr>
        <p:spPr>
          <a:xfrm>
            <a:off x="4933950" y="30099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CDCF7B-FE34-461A-B695-33BEFBCDE6E9}"/>
              </a:ext>
            </a:extLst>
          </p:cNvPr>
          <p:cNvSpPr>
            <a:spLocks noGrp="1"/>
          </p:cNvSpPr>
          <p:nvPr/>
        </p:nvSpPr>
        <p:spPr>
          <a:xfrm>
            <a:off x="4933950" y="32575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970B49-FDFD-4272-9417-1EAC56F701B3}"/>
              </a:ext>
            </a:extLst>
          </p:cNvPr>
          <p:cNvSpPr>
            <a:spLocks noGrp="1"/>
          </p:cNvSpPr>
          <p:nvPr/>
        </p:nvSpPr>
        <p:spPr>
          <a:xfrm>
            <a:off x="4933950" y="35052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5291B0-1301-4479-9C19-F5FB9BD28710}"/>
              </a:ext>
            </a:extLst>
          </p:cNvPr>
          <p:cNvSpPr>
            <a:spLocks noGrp="1"/>
          </p:cNvSpPr>
          <p:nvPr/>
        </p:nvSpPr>
        <p:spPr>
          <a:xfrm>
            <a:off x="4933950" y="37528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F46950-809B-4257-BAD8-01B428DA4678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139224-F339-41C3-9EB9-3A0D4BB522E2}"/>
              </a:ext>
            </a:extLst>
          </p:cNvPr>
          <p:cNvSpPr>
            <a:spLocks noGrp="1"/>
          </p:cNvSpPr>
          <p:nvPr/>
        </p:nvSpPr>
        <p:spPr>
          <a:xfrm>
            <a:off x="65722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2 / GPU 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F7E740-799D-4C59-A92E-E2E11F57FC7C}"/>
              </a:ext>
            </a:extLst>
          </p:cNvPr>
          <p:cNvSpPr>
            <a:spLocks noGrp="1"/>
          </p:cNvSpPr>
          <p:nvPr/>
        </p:nvSpPr>
        <p:spPr>
          <a:xfrm>
            <a:off x="6648450" y="27622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216C2E-AAAE-453C-B518-A23B23AC8C86}"/>
              </a:ext>
            </a:extLst>
          </p:cNvPr>
          <p:cNvSpPr>
            <a:spLocks noGrp="1"/>
          </p:cNvSpPr>
          <p:nvPr/>
        </p:nvSpPr>
        <p:spPr>
          <a:xfrm>
            <a:off x="6648450" y="3009900"/>
            <a:ext cx="1133475" cy="171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3CCFF0-5F76-4AC6-B369-C9D9A5797FD3}"/>
              </a:ext>
            </a:extLst>
          </p:cNvPr>
          <p:cNvSpPr>
            <a:spLocks noGrp="1"/>
          </p:cNvSpPr>
          <p:nvPr/>
        </p:nvSpPr>
        <p:spPr>
          <a:xfrm>
            <a:off x="6648450" y="32575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299935-A264-4B2F-BE30-3348272D4337}"/>
              </a:ext>
            </a:extLst>
          </p:cNvPr>
          <p:cNvSpPr>
            <a:spLocks noGrp="1"/>
          </p:cNvSpPr>
          <p:nvPr/>
        </p:nvSpPr>
        <p:spPr>
          <a:xfrm>
            <a:off x="6648450" y="35052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F898C2-052C-4C49-9E39-5C05DBC2C03A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53DD9D-9217-4278-84F2-823AB6C3A6B8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560410-F9BE-4C0B-8D65-60302AC35796}"/>
              </a:ext>
            </a:extLst>
          </p:cNvPr>
          <p:cNvSpPr>
            <a:spLocks noGrp="1"/>
          </p:cNvSpPr>
          <p:nvPr/>
        </p:nvSpPr>
        <p:spPr>
          <a:xfrm>
            <a:off x="82867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3 / GPU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781107-2E74-4AAA-81C6-675982412A79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5E5CF3-9E9B-4EC2-AAA2-FABACC36826F}"/>
              </a:ext>
            </a:extLst>
          </p:cNvPr>
          <p:cNvSpPr>
            <a:spLocks noGrp="1"/>
          </p:cNvSpPr>
          <p:nvPr/>
        </p:nvSpPr>
        <p:spPr>
          <a:xfrm>
            <a:off x="8362950" y="30099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50914B-5508-4E0D-ADFF-7CDBB06D9F6B}"/>
              </a:ext>
            </a:extLst>
          </p:cNvPr>
          <p:cNvSpPr>
            <a:spLocks noGrp="1"/>
          </p:cNvSpPr>
          <p:nvPr/>
        </p:nvSpPr>
        <p:spPr>
          <a:xfrm>
            <a:off x="8362950" y="3257550"/>
            <a:ext cx="1133475" cy="1714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7EC079-E362-4563-914A-7073EFF368A6}"/>
              </a:ext>
            </a:extLst>
          </p:cNvPr>
          <p:cNvSpPr>
            <a:spLocks noGrp="1"/>
          </p:cNvSpPr>
          <p:nvPr/>
        </p:nvSpPr>
        <p:spPr>
          <a:xfrm>
            <a:off x="8362950" y="3505200"/>
            <a:ext cx="1133475" cy="1714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759199-64BB-4A6A-AFBA-A9F828EB9AE6}"/>
              </a:ext>
            </a:extLst>
          </p:cNvPr>
          <p:cNvSpPr>
            <a:spLocks noGrp="1"/>
          </p:cNvSpPr>
          <p:nvPr/>
        </p:nvSpPr>
        <p:spPr>
          <a:xfrm>
            <a:off x="8362950" y="37528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6D0DDC-7933-401F-883A-2B42430B6534}"/>
              </a:ext>
            </a:extLst>
          </p:cNvPr>
          <p:cNvSpPr>
            <a:spLocks noGrp="1"/>
          </p:cNvSpPr>
          <p:nvPr/>
        </p:nvSpPr>
        <p:spPr>
          <a:xfrm>
            <a:off x="99060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F7412F-96B9-49EE-BE52-C09E14B9DC4D}"/>
              </a:ext>
            </a:extLst>
          </p:cNvPr>
          <p:cNvSpPr>
            <a:spLocks noGrp="1"/>
          </p:cNvSpPr>
          <p:nvPr/>
        </p:nvSpPr>
        <p:spPr>
          <a:xfrm>
            <a:off x="100012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4 / GPU 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F5D229-4EAE-4164-9E48-3A45066156D4}"/>
              </a:ext>
            </a:extLst>
          </p:cNvPr>
          <p:cNvSpPr>
            <a:spLocks noGrp="1"/>
          </p:cNvSpPr>
          <p:nvPr/>
        </p:nvSpPr>
        <p:spPr>
          <a:xfrm>
            <a:off x="10077450" y="27622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2DA4DA-A365-4951-8E6D-307A76082B7E}"/>
              </a:ext>
            </a:extLst>
          </p:cNvPr>
          <p:cNvSpPr>
            <a:spLocks noGrp="1"/>
          </p:cNvSpPr>
          <p:nvPr/>
        </p:nvSpPr>
        <p:spPr>
          <a:xfrm>
            <a:off x="10077450" y="30099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AFAB7A-21CB-4B00-8254-C764E57DB685}"/>
              </a:ext>
            </a:extLst>
          </p:cNvPr>
          <p:cNvSpPr>
            <a:spLocks noGrp="1"/>
          </p:cNvSpPr>
          <p:nvPr/>
        </p:nvSpPr>
        <p:spPr>
          <a:xfrm>
            <a:off x="10077450" y="32575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DC8B4A-35D1-49E4-A796-B06A678047A8}"/>
              </a:ext>
            </a:extLst>
          </p:cNvPr>
          <p:cNvSpPr>
            <a:spLocks noGrp="1"/>
          </p:cNvSpPr>
          <p:nvPr/>
        </p:nvSpPr>
        <p:spPr>
          <a:xfrm>
            <a:off x="10077450" y="35052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2AA1CF-C516-40B9-9DE6-24E0A08BFCF9}"/>
              </a:ext>
            </a:extLst>
          </p:cNvPr>
          <p:cNvSpPr>
            <a:spLocks noGrp="1"/>
          </p:cNvSpPr>
          <p:nvPr/>
        </p:nvSpPr>
        <p:spPr>
          <a:xfrm>
            <a:off x="10077450" y="3752850"/>
            <a:ext cx="1133475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2C7E46-A8A9-45A9-B5A9-A34CAE280003}"/>
              </a:ext>
            </a:extLst>
          </p:cNvPr>
          <p:cNvSpPr>
            <a:spLocks noGrp="1"/>
          </p:cNvSpPr>
          <p:nvPr/>
        </p:nvSpPr>
        <p:spPr>
          <a:xfrm>
            <a:off x="47625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Microbatch 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40CAB1-1938-4FA4-937B-B2CF961D537F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AB903D-F84F-44B8-9AD7-2588B089EE77}"/>
              </a:ext>
            </a:extLst>
          </p:cNvPr>
          <p:cNvSpPr>
            <a:spLocks noGrp="1"/>
          </p:cNvSpPr>
          <p:nvPr/>
        </p:nvSpPr>
        <p:spPr>
          <a:xfrm>
            <a:off x="81915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664A01-5662-45DB-9F1A-26148C6D30D1}"/>
              </a:ext>
            </a:extLst>
          </p:cNvPr>
          <p:cNvSpPr>
            <a:spLocks noGrp="1"/>
          </p:cNvSpPr>
          <p:nvPr/>
        </p:nvSpPr>
        <p:spPr>
          <a:xfrm>
            <a:off x="99060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AD35AE-4742-4303-8B8B-298476A315C2}"/>
              </a:ext>
            </a:extLst>
          </p:cNvPr>
          <p:cNvSpPr>
            <a:spLocks noGrp="1"/>
          </p:cNvSpPr>
          <p:nvPr/>
        </p:nvSpPr>
        <p:spPr>
          <a:xfrm>
            <a:off x="6191250" y="52387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Multiple microbatches keep stages occupied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bubbles are idle stage-time slots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702518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BUBBLE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2035893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 stage has no 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626443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778843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IT HAPPENS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3112218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Fill: later stages wait for the first microbatch. Drain: earlier stages run out of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4036143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4188543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REDUCE 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521918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more microbatches, balance stage work, or use an interleaved schedule.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322018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Bubbles waste time, not model memory.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702518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FORWARD PIPELINE: STAGE BY 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3AE883-3172-47DE-9327-3A8F06F11C0E}"/>
              </a:ext>
            </a:extLst>
          </p:cNvPr>
          <p:cNvSpPr>
            <a:spLocks noGrp="1"/>
          </p:cNvSpPr>
          <p:nvPr/>
        </p:nvSpPr>
        <p:spPr>
          <a:xfrm>
            <a:off x="5857875" y="19240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CAA48C-7124-4D0C-A854-21FE002660EB}"/>
              </a:ext>
            </a:extLst>
          </p:cNvPr>
          <p:cNvSpPr>
            <a:spLocks noGrp="1"/>
          </p:cNvSpPr>
          <p:nvPr/>
        </p:nvSpPr>
        <p:spPr>
          <a:xfrm>
            <a:off x="6562725" y="18954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A3E228-C035-4900-A712-B3F70F19BFF3}"/>
              </a:ext>
            </a:extLst>
          </p:cNvPr>
          <p:cNvSpPr>
            <a:spLocks noGrp="1"/>
          </p:cNvSpPr>
          <p:nvPr/>
        </p:nvSpPr>
        <p:spPr>
          <a:xfrm>
            <a:off x="5857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E9C07E-E002-45DA-9AF5-E40B3E936651}"/>
              </a:ext>
            </a:extLst>
          </p:cNvPr>
          <p:cNvSpPr>
            <a:spLocks noGrp="1"/>
          </p:cNvSpPr>
          <p:nvPr/>
        </p:nvSpPr>
        <p:spPr>
          <a:xfrm>
            <a:off x="6619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E4D266-65B4-4238-915E-86BCB3B04DEC}"/>
              </a:ext>
            </a:extLst>
          </p:cNvPr>
          <p:cNvSpPr>
            <a:spLocks noGrp="1"/>
          </p:cNvSpPr>
          <p:nvPr/>
        </p:nvSpPr>
        <p:spPr>
          <a:xfrm>
            <a:off x="7381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8D396A-97A6-49DF-915E-6CA30D9E7E5E}"/>
              </a:ext>
            </a:extLst>
          </p:cNvPr>
          <p:cNvSpPr>
            <a:spLocks noGrp="1"/>
          </p:cNvSpPr>
          <p:nvPr/>
        </p:nvSpPr>
        <p:spPr>
          <a:xfrm>
            <a:off x="8143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FC0A4-728B-4C7F-BF91-E2A33CF27050}"/>
              </a:ext>
            </a:extLst>
          </p:cNvPr>
          <p:cNvSpPr>
            <a:spLocks noGrp="1"/>
          </p:cNvSpPr>
          <p:nvPr/>
        </p:nvSpPr>
        <p:spPr>
          <a:xfrm>
            <a:off x="8905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4411B7-0FC4-47DA-BD94-A0A588B42DFB}"/>
              </a:ext>
            </a:extLst>
          </p:cNvPr>
          <p:cNvSpPr>
            <a:spLocks noGrp="1"/>
          </p:cNvSpPr>
          <p:nvPr/>
        </p:nvSpPr>
        <p:spPr>
          <a:xfrm>
            <a:off x="9667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6FE594-21AD-4BE0-97C3-9F5DE19206A2}"/>
              </a:ext>
            </a:extLst>
          </p:cNvPr>
          <p:cNvSpPr>
            <a:spLocks noGrp="1"/>
          </p:cNvSpPr>
          <p:nvPr/>
        </p:nvSpPr>
        <p:spPr>
          <a:xfrm>
            <a:off x="10429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D19028-ADB3-4FA7-9081-759CECD4F85F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31" name="bubble-grid-r1-c1">
            <a:extLst>
              <a:ext uri="{FF2B5EF4-FFF2-40B4-BE49-F238E27FC236}">
                <a16:creationId xmlns:a16="http://schemas.microsoft.com/office/drawing/2014/main" id="{9DB927A7-4CD8-4F04-BB8F-AA89046A38DC}"/>
              </a:ext>
            </a:extLst>
          </p:cNvPr>
          <p:cNvSpPr>
            <a:spLocks noGrp="1"/>
          </p:cNvSpPr>
          <p:nvPr/>
        </p:nvSpPr>
        <p:spPr>
          <a:xfrm>
            <a:off x="5857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32" name="bubble-grid-r1-c2">
            <a:extLst>
              <a:ext uri="{FF2B5EF4-FFF2-40B4-BE49-F238E27FC236}">
                <a16:creationId xmlns:a16="http://schemas.microsoft.com/office/drawing/2014/main" id="{3622B25A-06C3-4F02-9E94-C0246FB50772}"/>
              </a:ext>
            </a:extLst>
          </p:cNvPr>
          <p:cNvSpPr>
            <a:spLocks noGrp="1"/>
          </p:cNvSpPr>
          <p:nvPr/>
        </p:nvSpPr>
        <p:spPr>
          <a:xfrm>
            <a:off x="6619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33" name="bubble-grid-r1-c3">
            <a:extLst>
              <a:ext uri="{FF2B5EF4-FFF2-40B4-BE49-F238E27FC236}">
                <a16:creationId xmlns:a16="http://schemas.microsoft.com/office/drawing/2014/main" id="{1741C981-E70E-4D71-9CFC-B52F00361C20}"/>
              </a:ext>
            </a:extLst>
          </p:cNvPr>
          <p:cNvSpPr>
            <a:spLocks noGrp="1"/>
          </p:cNvSpPr>
          <p:nvPr/>
        </p:nvSpPr>
        <p:spPr>
          <a:xfrm>
            <a:off x="7381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34" name="bubble-grid-r1-c4">
            <a:extLst>
              <a:ext uri="{FF2B5EF4-FFF2-40B4-BE49-F238E27FC236}">
                <a16:creationId xmlns:a16="http://schemas.microsoft.com/office/drawing/2014/main" id="{B886D1DD-4009-42D5-A5ED-798745FBEB66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35" name="bubble-grid-r1-c5">
            <a:extLst>
              <a:ext uri="{FF2B5EF4-FFF2-40B4-BE49-F238E27FC236}">
                <a16:creationId xmlns:a16="http://schemas.microsoft.com/office/drawing/2014/main" id="{354374E3-D878-48A8-826E-389F004E118C}"/>
              </a:ext>
            </a:extLst>
          </p:cNvPr>
          <p:cNvSpPr>
            <a:spLocks noGrp="1"/>
          </p:cNvSpPr>
          <p:nvPr/>
        </p:nvSpPr>
        <p:spPr>
          <a:xfrm>
            <a:off x="8905875" y="24765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36" name="bubble-grid-r1-c6">
            <a:extLst>
              <a:ext uri="{FF2B5EF4-FFF2-40B4-BE49-F238E27FC236}">
                <a16:creationId xmlns:a16="http://schemas.microsoft.com/office/drawing/2014/main" id="{C45D1E27-C502-4CB7-8B2F-90B365A7F73C}"/>
              </a:ext>
            </a:extLst>
          </p:cNvPr>
          <p:cNvSpPr>
            <a:spLocks noGrp="1"/>
          </p:cNvSpPr>
          <p:nvPr/>
        </p:nvSpPr>
        <p:spPr>
          <a:xfrm>
            <a:off x="9667875" y="24765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37" name="bubble-grid-r1-c7">
            <a:extLst>
              <a:ext uri="{FF2B5EF4-FFF2-40B4-BE49-F238E27FC236}">
                <a16:creationId xmlns:a16="http://schemas.microsoft.com/office/drawing/2014/main" id="{C0ABF23B-5D61-4ECE-92C9-A549F395DB86}"/>
              </a:ext>
            </a:extLst>
          </p:cNvPr>
          <p:cNvSpPr>
            <a:spLocks noGrp="1"/>
          </p:cNvSpPr>
          <p:nvPr/>
        </p:nvSpPr>
        <p:spPr>
          <a:xfrm>
            <a:off x="10429875" y="24765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1A9E4B-5E48-43CA-9DBC-C77763976541}"/>
              </a:ext>
            </a:extLst>
          </p:cNvPr>
          <p:cNvSpPr>
            <a:spLocks noGrp="1"/>
          </p:cNvSpPr>
          <p:nvPr/>
        </p:nvSpPr>
        <p:spPr>
          <a:xfrm>
            <a:off x="4762500" y="30861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39" name="bubble-grid-r2-c1">
            <a:extLst>
              <a:ext uri="{FF2B5EF4-FFF2-40B4-BE49-F238E27FC236}">
                <a16:creationId xmlns:a16="http://schemas.microsoft.com/office/drawing/2014/main" id="{4F07D7F7-3DD9-40F4-B288-0E0B5BA93EC3}"/>
              </a:ext>
            </a:extLst>
          </p:cNvPr>
          <p:cNvSpPr>
            <a:spLocks noGrp="1"/>
          </p:cNvSpPr>
          <p:nvPr/>
        </p:nvSpPr>
        <p:spPr>
          <a:xfrm>
            <a:off x="5857875" y="30861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0" name="bubble-grid-r2-c2">
            <a:extLst>
              <a:ext uri="{FF2B5EF4-FFF2-40B4-BE49-F238E27FC236}">
                <a16:creationId xmlns:a16="http://schemas.microsoft.com/office/drawing/2014/main" id="{F798CA28-C0EE-4D78-80CF-7CBED202C806}"/>
              </a:ext>
            </a:extLst>
          </p:cNvPr>
          <p:cNvSpPr>
            <a:spLocks noGrp="1"/>
          </p:cNvSpPr>
          <p:nvPr/>
        </p:nvSpPr>
        <p:spPr>
          <a:xfrm>
            <a:off x="6619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41" name="bubble-grid-r2-c3">
            <a:extLst>
              <a:ext uri="{FF2B5EF4-FFF2-40B4-BE49-F238E27FC236}">
                <a16:creationId xmlns:a16="http://schemas.microsoft.com/office/drawing/2014/main" id="{0B3E4A21-3693-4621-BECF-EC988F8F7679}"/>
              </a:ext>
            </a:extLst>
          </p:cNvPr>
          <p:cNvSpPr>
            <a:spLocks noGrp="1"/>
          </p:cNvSpPr>
          <p:nvPr/>
        </p:nvSpPr>
        <p:spPr>
          <a:xfrm>
            <a:off x="7381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42" name="bubble-grid-r2-c4">
            <a:extLst>
              <a:ext uri="{FF2B5EF4-FFF2-40B4-BE49-F238E27FC236}">
                <a16:creationId xmlns:a16="http://schemas.microsoft.com/office/drawing/2014/main" id="{DA6BE28F-2041-4E0D-A1BA-53EE6B175C5D}"/>
              </a:ext>
            </a:extLst>
          </p:cNvPr>
          <p:cNvSpPr>
            <a:spLocks noGrp="1"/>
          </p:cNvSpPr>
          <p:nvPr/>
        </p:nvSpPr>
        <p:spPr>
          <a:xfrm>
            <a:off x="8143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43" name="bubble-grid-r2-c5">
            <a:extLst>
              <a:ext uri="{FF2B5EF4-FFF2-40B4-BE49-F238E27FC236}">
                <a16:creationId xmlns:a16="http://schemas.microsoft.com/office/drawing/2014/main" id="{3F7EB1EA-9DAF-4555-BD84-E5A30DDA80A3}"/>
              </a:ext>
            </a:extLst>
          </p:cNvPr>
          <p:cNvSpPr>
            <a:spLocks noGrp="1"/>
          </p:cNvSpPr>
          <p:nvPr/>
        </p:nvSpPr>
        <p:spPr>
          <a:xfrm>
            <a:off x="8905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44" name="bubble-grid-r2-c6">
            <a:extLst>
              <a:ext uri="{FF2B5EF4-FFF2-40B4-BE49-F238E27FC236}">
                <a16:creationId xmlns:a16="http://schemas.microsoft.com/office/drawing/2014/main" id="{BDCC4630-4E2A-4E63-B0C5-7A7D42F5D47A}"/>
              </a:ext>
            </a:extLst>
          </p:cNvPr>
          <p:cNvSpPr>
            <a:spLocks noGrp="1"/>
          </p:cNvSpPr>
          <p:nvPr/>
        </p:nvSpPr>
        <p:spPr>
          <a:xfrm>
            <a:off x="9667875" y="30861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5" name="bubble-grid-r2-c7">
            <a:extLst>
              <a:ext uri="{FF2B5EF4-FFF2-40B4-BE49-F238E27FC236}">
                <a16:creationId xmlns:a16="http://schemas.microsoft.com/office/drawing/2014/main" id="{DBD6168F-1B85-44BD-9BC0-BF1D7E1FF174}"/>
              </a:ext>
            </a:extLst>
          </p:cNvPr>
          <p:cNvSpPr>
            <a:spLocks noGrp="1"/>
          </p:cNvSpPr>
          <p:nvPr/>
        </p:nvSpPr>
        <p:spPr>
          <a:xfrm>
            <a:off x="10429875" y="30861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604B0B-6D86-43AD-91F1-A3A906CF8015}"/>
              </a:ext>
            </a:extLst>
          </p:cNvPr>
          <p:cNvSpPr>
            <a:spLocks noGrp="1"/>
          </p:cNvSpPr>
          <p:nvPr/>
        </p:nvSpPr>
        <p:spPr>
          <a:xfrm>
            <a:off x="4762500" y="36957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47" name="bubble-grid-r3-c1">
            <a:extLst>
              <a:ext uri="{FF2B5EF4-FFF2-40B4-BE49-F238E27FC236}">
                <a16:creationId xmlns:a16="http://schemas.microsoft.com/office/drawing/2014/main" id="{12CBED55-32B8-4A5A-9DB8-EA7676F58B2E}"/>
              </a:ext>
            </a:extLst>
          </p:cNvPr>
          <p:cNvSpPr>
            <a:spLocks noGrp="1"/>
          </p:cNvSpPr>
          <p:nvPr/>
        </p:nvSpPr>
        <p:spPr>
          <a:xfrm>
            <a:off x="5857875" y="36957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8" name="bubble-grid-r3-c2">
            <a:extLst>
              <a:ext uri="{FF2B5EF4-FFF2-40B4-BE49-F238E27FC236}">
                <a16:creationId xmlns:a16="http://schemas.microsoft.com/office/drawing/2014/main" id="{31A23F90-0473-4033-8E79-85F9969689EB}"/>
              </a:ext>
            </a:extLst>
          </p:cNvPr>
          <p:cNvSpPr>
            <a:spLocks noGrp="1"/>
          </p:cNvSpPr>
          <p:nvPr/>
        </p:nvSpPr>
        <p:spPr>
          <a:xfrm>
            <a:off x="6619875" y="36957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9" name="bubble-grid-r3-c3">
            <a:extLst>
              <a:ext uri="{FF2B5EF4-FFF2-40B4-BE49-F238E27FC236}">
                <a16:creationId xmlns:a16="http://schemas.microsoft.com/office/drawing/2014/main" id="{BB99443D-E2EA-4897-8060-E1216816C44A}"/>
              </a:ext>
            </a:extLst>
          </p:cNvPr>
          <p:cNvSpPr>
            <a:spLocks noGrp="1"/>
          </p:cNvSpPr>
          <p:nvPr/>
        </p:nvSpPr>
        <p:spPr>
          <a:xfrm>
            <a:off x="7381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50" name="bubble-grid-r3-c4">
            <a:extLst>
              <a:ext uri="{FF2B5EF4-FFF2-40B4-BE49-F238E27FC236}">
                <a16:creationId xmlns:a16="http://schemas.microsoft.com/office/drawing/2014/main" id="{28763360-8092-4026-A51F-231BAAA17C37}"/>
              </a:ext>
            </a:extLst>
          </p:cNvPr>
          <p:cNvSpPr>
            <a:spLocks noGrp="1"/>
          </p:cNvSpPr>
          <p:nvPr/>
        </p:nvSpPr>
        <p:spPr>
          <a:xfrm>
            <a:off x="8143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51" name="bubble-grid-r3-c5">
            <a:extLst>
              <a:ext uri="{FF2B5EF4-FFF2-40B4-BE49-F238E27FC236}">
                <a16:creationId xmlns:a16="http://schemas.microsoft.com/office/drawing/2014/main" id="{D4E9D2F3-6C4C-443C-A990-3FFB37DB299D}"/>
              </a:ext>
            </a:extLst>
          </p:cNvPr>
          <p:cNvSpPr>
            <a:spLocks noGrp="1"/>
          </p:cNvSpPr>
          <p:nvPr/>
        </p:nvSpPr>
        <p:spPr>
          <a:xfrm>
            <a:off x="8905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52" name="bubble-grid-r3-c6">
            <a:extLst>
              <a:ext uri="{FF2B5EF4-FFF2-40B4-BE49-F238E27FC236}">
                <a16:creationId xmlns:a16="http://schemas.microsoft.com/office/drawing/2014/main" id="{704C5399-5C07-4C7A-99C5-2C344750C943}"/>
              </a:ext>
            </a:extLst>
          </p:cNvPr>
          <p:cNvSpPr>
            <a:spLocks noGrp="1"/>
          </p:cNvSpPr>
          <p:nvPr/>
        </p:nvSpPr>
        <p:spPr>
          <a:xfrm>
            <a:off x="9667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53" name="bubble-grid-r3-c7">
            <a:extLst>
              <a:ext uri="{FF2B5EF4-FFF2-40B4-BE49-F238E27FC236}">
                <a16:creationId xmlns:a16="http://schemas.microsoft.com/office/drawing/2014/main" id="{FC63C5B7-2858-4B93-BF63-D38750429D28}"/>
              </a:ext>
            </a:extLst>
          </p:cNvPr>
          <p:cNvSpPr>
            <a:spLocks noGrp="1"/>
          </p:cNvSpPr>
          <p:nvPr/>
        </p:nvSpPr>
        <p:spPr>
          <a:xfrm>
            <a:off x="10429875" y="36957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F0B2BE-4E74-4256-B77A-687DC0203740}"/>
              </a:ext>
            </a:extLst>
          </p:cNvPr>
          <p:cNvSpPr>
            <a:spLocks noGrp="1"/>
          </p:cNvSpPr>
          <p:nvPr/>
        </p:nvSpPr>
        <p:spPr>
          <a:xfrm>
            <a:off x="4762500" y="43053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55" name="bubble-grid-r4-c1">
            <a:extLst>
              <a:ext uri="{FF2B5EF4-FFF2-40B4-BE49-F238E27FC236}">
                <a16:creationId xmlns:a16="http://schemas.microsoft.com/office/drawing/2014/main" id="{7120663C-9A5D-4F6A-853C-E46C473CEDA5}"/>
              </a:ext>
            </a:extLst>
          </p:cNvPr>
          <p:cNvSpPr>
            <a:spLocks noGrp="1"/>
          </p:cNvSpPr>
          <p:nvPr/>
        </p:nvSpPr>
        <p:spPr>
          <a:xfrm>
            <a:off x="5857875" y="43053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6" name="bubble-grid-r4-c2">
            <a:extLst>
              <a:ext uri="{FF2B5EF4-FFF2-40B4-BE49-F238E27FC236}">
                <a16:creationId xmlns:a16="http://schemas.microsoft.com/office/drawing/2014/main" id="{9BAAFFE4-AED7-4F83-AB3F-75456B4055EB}"/>
              </a:ext>
            </a:extLst>
          </p:cNvPr>
          <p:cNvSpPr>
            <a:spLocks noGrp="1"/>
          </p:cNvSpPr>
          <p:nvPr/>
        </p:nvSpPr>
        <p:spPr>
          <a:xfrm>
            <a:off x="6619875" y="43053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7" name="bubble-grid-r4-c3">
            <a:extLst>
              <a:ext uri="{FF2B5EF4-FFF2-40B4-BE49-F238E27FC236}">
                <a16:creationId xmlns:a16="http://schemas.microsoft.com/office/drawing/2014/main" id="{B2E527FE-8EC7-4373-AC31-D677BC157489}"/>
              </a:ext>
            </a:extLst>
          </p:cNvPr>
          <p:cNvSpPr>
            <a:spLocks noGrp="1"/>
          </p:cNvSpPr>
          <p:nvPr/>
        </p:nvSpPr>
        <p:spPr>
          <a:xfrm>
            <a:off x="7381875" y="43053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8" name="bubble-grid-r4-c4">
            <a:extLst>
              <a:ext uri="{FF2B5EF4-FFF2-40B4-BE49-F238E27FC236}">
                <a16:creationId xmlns:a16="http://schemas.microsoft.com/office/drawing/2014/main" id="{853C993A-336F-4BEB-A32A-39B3570D7284}"/>
              </a:ext>
            </a:extLst>
          </p:cNvPr>
          <p:cNvSpPr>
            <a:spLocks noGrp="1"/>
          </p:cNvSpPr>
          <p:nvPr/>
        </p:nvSpPr>
        <p:spPr>
          <a:xfrm>
            <a:off x="8143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59" name="bubble-grid-r4-c5">
            <a:extLst>
              <a:ext uri="{FF2B5EF4-FFF2-40B4-BE49-F238E27FC236}">
                <a16:creationId xmlns:a16="http://schemas.microsoft.com/office/drawing/2014/main" id="{3C91AD6E-4CDD-41E1-816C-40EB5108D985}"/>
              </a:ext>
            </a:extLst>
          </p:cNvPr>
          <p:cNvSpPr>
            <a:spLocks noGrp="1"/>
          </p:cNvSpPr>
          <p:nvPr/>
        </p:nvSpPr>
        <p:spPr>
          <a:xfrm>
            <a:off x="8905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60" name="bubble-grid-r4-c6">
            <a:extLst>
              <a:ext uri="{FF2B5EF4-FFF2-40B4-BE49-F238E27FC236}">
                <a16:creationId xmlns:a16="http://schemas.microsoft.com/office/drawing/2014/main" id="{9605598D-5E55-4F34-B14F-30C817DA945D}"/>
              </a:ext>
            </a:extLst>
          </p:cNvPr>
          <p:cNvSpPr>
            <a:spLocks noGrp="1"/>
          </p:cNvSpPr>
          <p:nvPr/>
        </p:nvSpPr>
        <p:spPr>
          <a:xfrm>
            <a:off x="9667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61" name="bubble-grid-r4-c7">
            <a:extLst>
              <a:ext uri="{FF2B5EF4-FFF2-40B4-BE49-F238E27FC236}">
                <a16:creationId xmlns:a16="http://schemas.microsoft.com/office/drawing/2014/main" id="{E520B620-4B13-4670-9A0D-48B3708106AB}"/>
              </a:ext>
            </a:extLst>
          </p:cNvPr>
          <p:cNvSpPr>
            <a:spLocks noGrp="1"/>
          </p:cNvSpPr>
          <p:nvPr/>
        </p:nvSpPr>
        <p:spPr>
          <a:xfrm>
            <a:off x="10429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458AE36-8662-4F33-A5B0-CF927BC3D78C}"/>
              </a:ext>
            </a:extLst>
          </p:cNvPr>
          <p:cNvSpPr>
            <a:spLocks noGrp="1"/>
          </p:cNvSpPr>
          <p:nvPr/>
        </p:nvSpPr>
        <p:spPr>
          <a:xfrm>
            <a:off x="5857875" y="50101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FILL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CAB54C8-7A72-4B8B-8452-FF15AAD70CAD}"/>
              </a:ext>
            </a:extLst>
          </p:cNvPr>
          <p:cNvSpPr>
            <a:spLocks noGrp="1"/>
          </p:cNvSpPr>
          <p:nvPr/>
        </p:nvSpPr>
        <p:spPr>
          <a:xfrm>
            <a:off x="8143875" y="50101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FULL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C90E3F1-C5AD-46DF-AF89-A616F622F8B8}"/>
              </a:ext>
            </a:extLst>
          </p:cNvPr>
          <p:cNvSpPr>
            <a:spLocks noGrp="1"/>
          </p:cNvSpPr>
          <p:nvPr/>
        </p:nvSpPr>
        <p:spPr>
          <a:xfrm>
            <a:off x="8905875" y="50101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DRAIN</a:t>
            </a:r>
          </a:p>
        </p:txBody>
      </p:sp>
      <p:sp>
        <p:nvSpPr>
          <p:cNvPr id="65" name="legend-work-swatch">
            <a:extLst>
              <a:ext uri="{FF2B5EF4-FFF2-40B4-BE49-F238E27FC236}">
                <a16:creationId xmlns:a16="http://schemas.microsoft.com/office/drawing/2014/main" id="{B5773F63-AC2E-4082-A3EC-E90D2C854218}"/>
              </a:ext>
            </a:extLst>
          </p:cNvPr>
          <p:cNvSpPr>
            <a:spLocks noGrp="1"/>
          </p:cNvSpPr>
          <p:nvPr/>
        </p:nvSpPr>
        <p:spPr>
          <a:xfrm>
            <a:off x="4810125" y="5372100"/>
            <a:ext cx="228600" cy="2286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8D2CAEB-CC3C-4224-80C8-82F691F12A91}"/>
              </a:ext>
            </a:extLst>
          </p:cNvPr>
          <p:cNvSpPr>
            <a:spLocks noGrp="1"/>
          </p:cNvSpPr>
          <p:nvPr/>
        </p:nvSpPr>
        <p:spPr>
          <a:xfrm>
            <a:off x="5114925" y="53149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useful work</a:t>
            </a:r>
          </a:p>
        </p:txBody>
      </p:sp>
      <p:sp>
        <p:nvSpPr>
          <p:cNvPr id="67" name="legend-bubble-swatch">
            <a:extLst>
              <a:ext uri="{FF2B5EF4-FFF2-40B4-BE49-F238E27FC236}">
                <a16:creationId xmlns:a16="http://schemas.microsoft.com/office/drawing/2014/main" id="{261B45E1-EE47-4D16-9606-E962BEEFC5CC}"/>
              </a:ext>
            </a:extLst>
          </p:cNvPr>
          <p:cNvSpPr>
            <a:spLocks noGrp="1"/>
          </p:cNvSpPr>
          <p:nvPr/>
        </p:nvSpPr>
        <p:spPr>
          <a:xfrm>
            <a:off x="6572250" y="5372100"/>
            <a:ext cx="228600" cy="2286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19B57EA-2370-4E33-85B5-2FDC35D9C51B}"/>
              </a:ext>
            </a:extLst>
          </p:cNvPr>
          <p:cNvSpPr>
            <a:spLocks noGrp="1"/>
          </p:cNvSpPr>
          <p:nvPr/>
        </p:nvSpPr>
        <p:spPr>
          <a:xfrm>
            <a:off x="6877050" y="53149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bubble / idle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0DCF796-A879-467F-988F-E97A97EFA019}"/>
              </a:ext>
            </a:extLst>
          </p:cNvPr>
          <p:cNvSpPr>
            <a:spLocks noGrp="1"/>
          </p:cNvSpPr>
          <p:nvPr/>
        </p:nvSpPr>
        <p:spPr>
          <a:xfrm>
            <a:off x="8334375" y="5314950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More microbatches amortize fill and drain.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microbatch creates a training bubble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741847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BUBBLE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2075222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Stages wait for gradients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665772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818172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IT HAPPENS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3151547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Forward reaches the loss first. Backward then returns gradients through the stages in reverse.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4075472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4227872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ONE MICROBATCH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561247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Most GPUs are idle while one microbatch traverses the pipeline.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361347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25% busy; 75% bubble in this idealized example.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623859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TRAINING: ONE MICROBATCH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F3BDB0-F743-4F40-BC1D-5C437F8EC35B}"/>
              </a:ext>
            </a:extLst>
          </p:cNvPr>
          <p:cNvSpPr>
            <a:spLocks noGrp="1"/>
          </p:cNvSpPr>
          <p:nvPr/>
        </p:nvSpPr>
        <p:spPr>
          <a:xfrm>
            <a:off x="5857875" y="190500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1F3B1-3270-41D8-ACB9-9C26AE935ACB}"/>
              </a:ext>
            </a:extLst>
          </p:cNvPr>
          <p:cNvSpPr>
            <a:spLocks noGrp="1"/>
          </p:cNvSpPr>
          <p:nvPr/>
        </p:nvSpPr>
        <p:spPr>
          <a:xfrm>
            <a:off x="6410325" y="18764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B5A2C1-194A-4AD5-B41E-29162C9DB854}"/>
              </a:ext>
            </a:extLst>
          </p:cNvPr>
          <p:cNvSpPr>
            <a:spLocks noGrp="1"/>
          </p:cNvSpPr>
          <p:nvPr/>
        </p:nvSpPr>
        <p:spPr>
          <a:xfrm>
            <a:off x="58578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5290B8-94C5-478B-AE82-1340AADA417B}"/>
              </a:ext>
            </a:extLst>
          </p:cNvPr>
          <p:cNvSpPr>
            <a:spLocks noGrp="1"/>
          </p:cNvSpPr>
          <p:nvPr/>
        </p:nvSpPr>
        <p:spPr>
          <a:xfrm>
            <a:off x="65436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F8F33-00FF-4CFA-A29A-8000D1C1DDEF}"/>
              </a:ext>
            </a:extLst>
          </p:cNvPr>
          <p:cNvSpPr>
            <a:spLocks noGrp="1"/>
          </p:cNvSpPr>
          <p:nvPr/>
        </p:nvSpPr>
        <p:spPr>
          <a:xfrm>
            <a:off x="72294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18B35B-3358-4FCA-A30F-2DC561B2AB79}"/>
              </a:ext>
            </a:extLst>
          </p:cNvPr>
          <p:cNvSpPr>
            <a:spLocks noGrp="1"/>
          </p:cNvSpPr>
          <p:nvPr/>
        </p:nvSpPr>
        <p:spPr>
          <a:xfrm>
            <a:off x="79152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32BE2B-156D-4A98-B4FA-5E17CCB3CAE1}"/>
              </a:ext>
            </a:extLst>
          </p:cNvPr>
          <p:cNvSpPr>
            <a:spLocks noGrp="1"/>
          </p:cNvSpPr>
          <p:nvPr/>
        </p:nvSpPr>
        <p:spPr>
          <a:xfrm>
            <a:off x="86010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483532-1DBD-4428-810E-0E66433BC282}"/>
              </a:ext>
            </a:extLst>
          </p:cNvPr>
          <p:cNvSpPr>
            <a:spLocks noGrp="1"/>
          </p:cNvSpPr>
          <p:nvPr/>
        </p:nvSpPr>
        <p:spPr>
          <a:xfrm>
            <a:off x="92868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D561A5-4E33-4758-95A5-E56C3E02350C}"/>
              </a:ext>
            </a:extLst>
          </p:cNvPr>
          <p:cNvSpPr>
            <a:spLocks noGrp="1"/>
          </p:cNvSpPr>
          <p:nvPr/>
        </p:nvSpPr>
        <p:spPr>
          <a:xfrm>
            <a:off x="99726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FA42A2-4511-4C12-8408-BAFA6B7EBD6F}"/>
              </a:ext>
            </a:extLst>
          </p:cNvPr>
          <p:cNvSpPr>
            <a:spLocks noGrp="1"/>
          </p:cNvSpPr>
          <p:nvPr/>
        </p:nvSpPr>
        <p:spPr>
          <a:xfrm>
            <a:off x="106584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DB17D6-2E75-49EC-AA48-6B2AB432ECE8}"/>
              </a:ext>
            </a:extLst>
          </p:cNvPr>
          <p:cNvSpPr>
            <a:spLocks noGrp="1"/>
          </p:cNvSpPr>
          <p:nvPr/>
        </p:nvSpPr>
        <p:spPr>
          <a:xfrm>
            <a:off x="4762500" y="24288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32" name="training-grid-r1-c1">
            <a:extLst>
              <a:ext uri="{FF2B5EF4-FFF2-40B4-BE49-F238E27FC236}">
                <a16:creationId xmlns:a16="http://schemas.microsoft.com/office/drawing/2014/main" id="{6425FDE2-6FE0-4212-8D06-DF5DDBC730A4}"/>
              </a:ext>
            </a:extLst>
          </p:cNvPr>
          <p:cNvSpPr>
            <a:spLocks noGrp="1"/>
          </p:cNvSpPr>
          <p:nvPr/>
        </p:nvSpPr>
        <p:spPr>
          <a:xfrm>
            <a:off x="5857875" y="24288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33" name="training-grid-r1-c2">
            <a:extLst>
              <a:ext uri="{FF2B5EF4-FFF2-40B4-BE49-F238E27FC236}">
                <a16:creationId xmlns:a16="http://schemas.microsoft.com/office/drawing/2014/main" id="{C827EAF5-FAF8-49E9-81E3-8F6AB2D4EBC8}"/>
              </a:ext>
            </a:extLst>
          </p:cNvPr>
          <p:cNvSpPr>
            <a:spLocks noGrp="1"/>
          </p:cNvSpPr>
          <p:nvPr/>
        </p:nvSpPr>
        <p:spPr>
          <a:xfrm>
            <a:off x="65436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4" name="training-grid-r1-c3">
            <a:extLst>
              <a:ext uri="{FF2B5EF4-FFF2-40B4-BE49-F238E27FC236}">
                <a16:creationId xmlns:a16="http://schemas.microsoft.com/office/drawing/2014/main" id="{4E0EC34A-9B85-43DC-8428-B133F1C9E5CA}"/>
              </a:ext>
            </a:extLst>
          </p:cNvPr>
          <p:cNvSpPr>
            <a:spLocks noGrp="1"/>
          </p:cNvSpPr>
          <p:nvPr/>
        </p:nvSpPr>
        <p:spPr>
          <a:xfrm>
            <a:off x="72294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5" name="training-grid-r1-c4">
            <a:extLst>
              <a:ext uri="{FF2B5EF4-FFF2-40B4-BE49-F238E27FC236}">
                <a16:creationId xmlns:a16="http://schemas.microsoft.com/office/drawing/2014/main" id="{8DF14D11-88F8-4F3C-BDB6-B6B03AA1FF65}"/>
              </a:ext>
            </a:extLst>
          </p:cNvPr>
          <p:cNvSpPr>
            <a:spLocks noGrp="1"/>
          </p:cNvSpPr>
          <p:nvPr/>
        </p:nvSpPr>
        <p:spPr>
          <a:xfrm>
            <a:off x="79152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6" name="training-grid-r1-c5">
            <a:extLst>
              <a:ext uri="{FF2B5EF4-FFF2-40B4-BE49-F238E27FC236}">
                <a16:creationId xmlns:a16="http://schemas.microsoft.com/office/drawing/2014/main" id="{922A2257-E396-4B60-8003-65428D152C73}"/>
              </a:ext>
            </a:extLst>
          </p:cNvPr>
          <p:cNvSpPr>
            <a:spLocks noGrp="1"/>
          </p:cNvSpPr>
          <p:nvPr/>
        </p:nvSpPr>
        <p:spPr>
          <a:xfrm>
            <a:off x="86010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7" name="training-grid-r1-c6">
            <a:extLst>
              <a:ext uri="{FF2B5EF4-FFF2-40B4-BE49-F238E27FC236}">
                <a16:creationId xmlns:a16="http://schemas.microsoft.com/office/drawing/2014/main" id="{CCC3DCCD-C5D9-42E1-A03B-B9A915F433FB}"/>
              </a:ext>
            </a:extLst>
          </p:cNvPr>
          <p:cNvSpPr>
            <a:spLocks noGrp="1"/>
          </p:cNvSpPr>
          <p:nvPr/>
        </p:nvSpPr>
        <p:spPr>
          <a:xfrm>
            <a:off x="92868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8" name="training-grid-r1-c7">
            <a:extLst>
              <a:ext uri="{FF2B5EF4-FFF2-40B4-BE49-F238E27FC236}">
                <a16:creationId xmlns:a16="http://schemas.microsoft.com/office/drawing/2014/main" id="{24C2F76F-12DE-4C26-BD03-313B18256F5D}"/>
              </a:ext>
            </a:extLst>
          </p:cNvPr>
          <p:cNvSpPr>
            <a:spLocks noGrp="1"/>
          </p:cNvSpPr>
          <p:nvPr/>
        </p:nvSpPr>
        <p:spPr>
          <a:xfrm>
            <a:off x="99726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9" name="training-grid-r1-c8">
            <a:extLst>
              <a:ext uri="{FF2B5EF4-FFF2-40B4-BE49-F238E27FC236}">
                <a16:creationId xmlns:a16="http://schemas.microsoft.com/office/drawing/2014/main" id="{D81F4EFB-5654-4C3A-AE8A-2FF0DDB32826}"/>
              </a:ext>
            </a:extLst>
          </p:cNvPr>
          <p:cNvSpPr>
            <a:spLocks noGrp="1"/>
          </p:cNvSpPr>
          <p:nvPr/>
        </p:nvSpPr>
        <p:spPr>
          <a:xfrm>
            <a:off x="10658475" y="24288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276355-C5C2-4B30-91B9-7A5286BA6CA8}"/>
              </a:ext>
            </a:extLst>
          </p:cNvPr>
          <p:cNvSpPr>
            <a:spLocks noGrp="1"/>
          </p:cNvSpPr>
          <p:nvPr/>
        </p:nvSpPr>
        <p:spPr>
          <a:xfrm>
            <a:off x="4762500" y="30384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41" name="training-grid-r2-c1">
            <a:extLst>
              <a:ext uri="{FF2B5EF4-FFF2-40B4-BE49-F238E27FC236}">
                <a16:creationId xmlns:a16="http://schemas.microsoft.com/office/drawing/2014/main" id="{69559FA9-8BC3-4C16-ADBD-ED72677F0E20}"/>
              </a:ext>
            </a:extLst>
          </p:cNvPr>
          <p:cNvSpPr>
            <a:spLocks noGrp="1"/>
          </p:cNvSpPr>
          <p:nvPr/>
        </p:nvSpPr>
        <p:spPr>
          <a:xfrm>
            <a:off x="58578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2" name="training-grid-r2-c2">
            <a:extLst>
              <a:ext uri="{FF2B5EF4-FFF2-40B4-BE49-F238E27FC236}">
                <a16:creationId xmlns:a16="http://schemas.microsoft.com/office/drawing/2014/main" id="{B02F4200-FDFD-4F5A-A38A-A4E753185A7A}"/>
              </a:ext>
            </a:extLst>
          </p:cNvPr>
          <p:cNvSpPr>
            <a:spLocks noGrp="1"/>
          </p:cNvSpPr>
          <p:nvPr/>
        </p:nvSpPr>
        <p:spPr>
          <a:xfrm>
            <a:off x="6543675" y="30384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43" name="training-grid-r2-c3">
            <a:extLst>
              <a:ext uri="{FF2B5EF4-FFF2-40B4-BE49-F238E27FC236}">
                <a16:creationId xmlns:a16="http://schemas.microsoft.com/office/drawing/2014/main" id="{D65C05A0-DCBC-48A2-9C0F-12263B9FD661}"/>
              </a:ext>
            </a:extLst>
          </p:cNvPr>
          <p:cNvSpPr>
            <a:spLocks noGrp="1"/>
          </p:cNvSpPr>
          <p:nvPr/>
        </p:nvSpPr>
        <p:spPr>
          <a:xfrm>
            <a:off x="72294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4" name="training-grid-r2-c4">
            <a:extLst>
              <a:ext uri="{FF2B5EF4-FFF2-40B4-BE49-F238E27FC236}">
                <a16:creationId xmlns:a16="http://schemas.microsoft.com/office/drawing/2014/main" id="{D038FC38-6900-47DC-B9EE-2CB0BEA0D06A}"/>
              </a:ext>
            </a:extLst>
          </p:cNvPr>
          <p:cNvSpPr>
            <a:spLocks noGrp="1"/>
          </p:cNvSpPr>
          <p:nvPr/>
        </p:nvSpPr>
        <p:spPr>
          <a:xfrm>
            <a:off x="79152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5" name="training-grid-r2-c5">
            <a:extLst>
              <a:ext uri="{FF2B5EF4-FFF2-40B4-BE49-F238E27FC236}">
                <a16:creationId xmlns:a16="http://schemas.microsoft.com/office/drawing/2014/main" id="{C0950F56-EC2D-4A51-AC56-CCFCCFEDEACD}"/>
              </a:ext>
            </a:extLst>
          </p:cNvPr>
          <p:cNvSpPr>
            <a:spLocks noGrp="1"/>
          </p:cNvSpPr>
          <p:nvPr/>
        </p:nvSpPr>
        <p:spPr>
          <a:xfrm>
            <a:off x="86010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6" name="training-grid-r2-c6">
            <a:extLst>
              <a:ext uri="{FF2B5EF4-FFF2-40B4-BE49-F238E27FC236}">
                <a16:creationId xmlns:a16="http://schemas.microsoft.com/office/drawing/2014/main" id="{24A26190-DCED-4F92-AA83-B8E5B63D86D2}"/>
              </a:ext>
            </a:extLst>
          </p:cNvPr>
          <p:cNvSpPr>
            <a:spLocks noGrp="1"/>
          </p:cNvSpPr>
          <p:nvPr/>
        </p:nvSpPr>
        <p:spPr>
          <a:xfrm>
            <a:off x="92868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7" name="training-grid-r2-c7">
            <a:extLst>
              <a:ext uri="{FF2B5EF4-FFF2-40B4-BE49-F238E27FC236}">
                <a16:creationId xmlns:a16="http://schemas.microsoft.com/office/drawing/2014/main" id="{2F99BCA2-1B9B-4AEA-BB56-5F53A5F9B0CA}"/>
              </a:ext>
            </a:extLst>
          </p:cNvPr>
          <p:cNvSpPr>
            <a:spLocks noGrp="1"/>
          </p:cNvSpPr>
          <p:nvPr/>
        </p:nvSpPr>
        <p:spPr>
          <a:xfrm>
            <a:off x="9972675" y="30384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48" name="training-grid-r2-c8">
            <a:extLst>
              <a:ext uri="{FF2B5EF4-FFF2-40B4-BE49-F238E27FC236}">
                <a16:creationId xmlns:a16="http://schemas.microsoft.com/office/drawing/2014/main" id="{24E6CE8C-44FA-4910-8B34-4CD374965892}"/>
              </a:ext>
            </a:extLst>
          </p:cNvPr>
          <p:cNvSpPr>
            <a:spLocks noGrp="1"/>
          </p:cNvSpPr>
          <p:nvPr/>
        </p:nvSpPr>
        <p:spPr>
          <a:xfrm>
            <a:off x="106584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254F38-F2EB-4720-BBB8-9EFC2E23CF3E}"/>
              </a:ext>
            </a:extLst>
          </p:cNvPr>
          <p:cNvSpPr>
            <a:spLocks noGrp="1"/>
          </p:cNvSpPr>
          <p:nvPr/>
        </p:nvSpPr>
        <p:spPr>
          <a:xfrm>
            <a:off x="4762500" y="36480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50" name="training-grid-r3-c1">
            <a:extLst>
              <a:ext uri="{FF2B5EF4-FFF2-40B4-BE49-F238E27FC236}">
                <a16:creationId xmlns:a16="http://schemas.microsoft.com/office/drawing/2014/main" id="{028ED7E5-07C5-4FF6-86E4-E96F8257EA19}"/>
              </a:ext>
            </a:extLst>
          </p:cNvPr>
          <p:cNvSpPr>
            <a:spLocks noGrp="1"/>
          </p:cNvSpPr>
          <p:nvPr/>
        </p:nvSpPr>
        <p:spPr>
          <a:xfrm>
            <a:off x="58578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1" name="training-grid-r3-c2">
            <a:extLst>
              <a:ext uri="{FF2B5EF4-FFF2-40B4-BE49-F238E27FC236}">
                <a16:creationId xmlns:a16="http://schemas.microsoft.com/office/drawing/2014/main" id="{14AF0578-E172-4A8D-AEEC-FFB6CC45745D}"/>
              </a:ext>
            </a:extLst>
          </p:cNvPr>
          <p:cNvSpPr>
            <a:spLocks noGrp="1"/>
          </p:cNvSpPr>
          <p:nvPr/>
        </p:nvSpPr>
        <p:spPr>
          <a:xfrm>
            <a:off x="65436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2" name="training-grid-r3-c3">
            <a:extLst>
              <a:ext uri="{FF2B5EF4-FFF2-40B4-BE49-F238E27FC236}">
                <a16:creationId xmlns:a16="http://schemas.microsoft.com/office/drawing/2014/main" id="{7E656153-46FD-4785-9EF7-7D3AC100F61B}"/>
              </a:ext>
            </a:extLst>
          </p:cNvPr>
          <p:cNvSpPr>
            <a:spLocks noGrp="1"/>
          </p:cNvSpPr>
          <p:nvPr/>
        </p:nvSpPr>
        <p:spPr>
          <a:xfrm>
            <a:off x="7229475" y="36480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53" name="training-grid-r3-c4">
            <a:extLst>
              <a:ext uri="{FF2B5EF4-FFF2-40B4-BE49-F238E27FC236}">
                <a16:creationId xmlns:a16="http://schemas.microsoft.com/office/drawing/2014/main" id="{8A14038F-D02E-4E04-820B-4CBB804B6A3A}"/>
              </a:ext>
            </a:extLst>
          </p:cNvPr>
          <p:cNvSpPr>
            <a:spLocks noGrp="1"/>
          </p:cNvSpPr>
          <p:nvPr/>
        </p:nvSpPr>
        <p:spPr>
          <a:xfrm>
            <a:off x="79152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4" name="training-grid-r3-c5">
            <a:extLst>
              <a:ext uri="{FF2B5EF4-FFF2-40B4-BE49-F238E27FC236}">
                <a16:creationId xmlns:a16="http://schemas.microsoft.com/office/drawing/2014/main" id="{2B73C283-1F5F-4FE8-A695-825F5FECD802}"/>
              </a:ext>
            </a:extLst>
          </p:cNvPr>
          <p:cNvSpPr>
            <a:spLocks noGrp="1"/>
          </p:cNvSpPr>
          <p:nvPr/>
        </p:nvSpPr>
        <p:spPr>
          <a:xfrm>
            <a:off x="86010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5" name="training-grid-r3-c6">
            <a:extLst>
              <a:ext uri="{FF2B5EF4-FFF2-40B4-BE49-F238E27FC236}">
                <a16:creationId xmlns:a16="http://schemas.microsoft.com/office/drawing/2014/main" id="{3BD95C98-E255-4D33-8B41-9C94630C1EF5}"/>
              </a:ext>
            </a:extLst>
          </p:cNvPr>
          <p:cNvSpPr>
            <a:spLocks noGrp="1"/>
          </p:cNvSpPr>
          <p:nvPr/>
        </p:nvSpPr>
        <p:spPr>
          <a:xfrm>
            <a:off x="9286875" y="36480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56" name="training-grid-r3-c7">
            <a:extLst>
              <a:ext uri="{FF2B5EF4-FFF2-40B4-BE49-F238E27FC236}">
                <a16:creationId xmlns:a16="http://schemas.microsoft.com/office/drawing/2014/main" id="{66F05897-3208-44CC-9225-33D66972F517}"/>
              </a:ext>
            </a:extLst>
          </p:cNvPr>
          <p:cNvSpPr>
            <a:spLocks noGrp="1"/>
          </p:cNvSpPr>
          <p:nvPr/>
        </p:nvSpPr>
        <p:spPr>
          <a:xfrm>
            <a:off x="99726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7" name="training-grid-r3-c8">
            <a:extLst>
              <a:ext uri="{FF2B5EF4-FFF2-40B4-BE49-F238E27FC236}">
                <a16:creationId xmlns:a16="http://schemas.microsoft.com/office/drawing/2014/main" id="{0BF44893-2D9E-49E5-95E1-A98DDC82F32C}"/>
              </a:ext>
            </a:extLst>
          </p:cNvPr>
          <p:cNvSpPr>
            <a:spLocks noGrp="1"/>
          </p:cNvSpPr>
          <p:nvPr/>
        </p:nvSpPr>
        <p:spPr>
          <a:xfrm>
            <a:off x="106584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B9B772-BC9A-40C0-AD21-E157A4D8F2F2}"/>
              </a:ext>
            </a:extLst>
          </p:cNvPr>
          <p:cNvSpPr>
            <a:spLocks noGrp="1"/>
          </p:cNvSpPr>
          <p:nvPr/>
        </p:nvSpPr>
        <p:spPr>
          <a:xfrm>
            <a:off x="4762500" y="42576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59" name="training-grid-r4-c1">
            <a:extLst>
              <a:ext uri="{FF2B5EF4-FFF2-40B4-BE49-F238E27FC236}">
                <a16:creationId xmlns:a16="http://schemas.microsoft.com/office/drawing/2014/main" id="{B7DF78E8-DE2B-4949-9FB4-92995395ADE7}"/>
              </a:ext>
            </a:extLst>
          </p:cNvPr>
          <p:cNvSpPr>
            <a:spLocks noGrp="1"/>
          </p:cNvSpPr>
          <p:nvPr/>
        </p:nvSpPr>
        <p:spPr>
          <a:xfrm>
            <a:off x="58578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0" name="training-grid-r4-c2">
            <a:extLst>
              <a:ext uri="{FF2B5EF4-FFF2-40B4-BE49-F238E27FC236}">
                <a16:creationId xmlns:a16="http://schemas.microsoft.com/office/drawing/2014/main" id="{9EF479E9-E676-4E38-8AC4-51482AC9EFE4}"/>
              </a:ext>
            </a:extLst>
          </p:cNvPr>
          <p:cNvSpPr>
            <a:spLocks noGrp="1"/>
          </p:cNvSpPr>
          <p:nvPr/>
        </p:nvSpPr>
        <p:spPr>
          <a:xfrm>
            <a:off x="65436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1" name="training-grid-r4-c3">
            <a:extLst>
              <a:ext uri="{FF2B5EF4-FFF2-40B4-BE49-F238E27FC236}">
                <a16:creationId xmlns:a16="http://schemas.microsoft.com/office/drawing/2014/main" id="{ABED8249-A7F5-46D9-8DBE-A6D15C0E7A86}"/>
              </a:ext>
            </a:extLst>
          </p:cNvPr>
          <p:cNvSpPr>
            <a:spLocks noGrp="1"/>
          </p:cNvSpPr>
          <p:nvPr/>
        </p:nvSpPr>
        <p:spPr>
          <a:xfrm>
            <a:off x="72294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2" name="training-grid-r4-c4">
            <a:extLst>
              <a:ext uri="{FF2B5EF4-FFF2-40B4-BE49-F238E27FC236}">
                <a16:creationId xmlns:a16="http://schemas.microsoft.com/office/drawing/2014/main" id="{EC04732B-11FD-4BF3-A5FE-25A8245CCAA1}"/>
              </a:ext>
            </a:extLst>
          </p:cNvPr>
          <p:cNvSpPr>
            <a:spLocks noGrp="1"/>
          </p:cNvSpPr>
          <p:nvPr/>
        </p:nvSpPr>
        <p:spPr>
          <a:xfrm>
            <a:off x="7915275" y="42576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63" name="training-grid-r4-c5">
            <a:extLst>
              <a:ext uri="{FF2B5EF4-FFF2-40B4-BE49-F238E27FC236}">
                <a16:creationId xmlns:a16="http://schemas.microsoft.com/office/drawing/2014/main" id="{2889E7CE-190A-4682-B3BB-B686604C1475}"/>
              </a:ext>
            </a:extLst>
          </p:cNvPr>
          <p:cNvSpPr>
            <a:spLocks noGrp="1"/>
          </p:cNvSpPr>
          <p:nvPr/>
        </p:nvSpPr>
        <p:spPr>
          <a:xfrm>
            <a:off x="8601075" y="42576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64" name="training-grid-r4-c6">
            <a:extLst>
              <a:ext uri="{FF2B5EF4-FFF2-40B4-BE49-F238E27FC236}">
                <a16:creationId xmlns:a16="http://schemas.microsoft.com/office/drawing/2014/main" id="{F25CE51B-2FFA-4BFC-811E-D9DF1EF4E055}"/>
              </a:ext>
            </a:extLst>
          </p:cNvPr>
          <p:cNvSpPr>
            <a:spLocks noGrp="1"/>
          </p:cNvSpPr>
          <p:nvPr/>
        </p:nvSpPr>
        <p:spPr>
          <a:xfrm>
            <a:off x="92868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5" name="training-grid-r4-c7">
            <a:extLst>
              <a:ext uri="{FF2B5EF4-FFF2-40B4-BE49-F238E27FC236}">
                <a16:creationId xmlns:a16="http://schemas.microsoft.com/office/drawing/2014/main" id="{18BAA206-EC86-4829-BB5C-9F2647C40F09}"/>
              </a:ext>
            </a:extLst>
          </p:cNvPr>
          <p:cNvSpPr>
            <a:spLocks noGrp="1"/>
          </p:cNvSpPr>
          <p:nvPr/>
        </p:nvSpPr>
        <p:spPr>
          <a:xfrm>
            <a:off x="99726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6" name="training-grid-r4-c8">
            <a:extLst>
              <a:ext uri="{FF2B5EF4-FFF2-40B4-BE49-F238E27FC236}">
                <a16:creationId xmlns:a16="http://schemas.microsoft.com/office/drawing/2014/main" id="{2F4902A3-FB30-48A3-9DA0-D583611415CF}"/>
              </a:ext>
            </a:extLst>
          </p:cNvPr>
          <p:cNvSpPr>
            <a:spLocks noGrp="1"/>
          </p:cNvSpPr>
          <p:nvPr/>
        </p:nvSpPr>
        <p:spPr>
          <a:xfrm>
            <a:off x="106584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5DF1BF7-D099-434B-A636-178C45CC60B7}"/>
              </a:ext>
            </a:extLst>
          </p:cNvPr>
          <p:cNvSpPr>
            <a:spLocks noGrp="1"/>
          </p:cNvSpPr>
          <p:nvPr/>
        </p:nvSpPr>
        <p:spPr>
          <a:xfrm>
            <a:off x="5857875" y="4953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FORWARD SWEEP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88B7C61-8232-4759-9654-58162784455D}"/>
              </a:ext>
            </a:extLst>
          </p:cNvPr>
          <p:cNvSpPr>
            <a:spLocks noGrp="1"/>
          </p:cNvSpPr>
          <p:nvPr/>
        </p:nvSpPr>
        <p:spPr>
          <a:xfrm>
            <a:off x="8601075" y="4953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BACKWARD SWEEP</a:t>
            </a:r>
          </a:p>
        </p:txBody>
      </p:sp>
      <p:sp>
        <p:nvSpPr>
          <p:cNvPr id="69" name="legend-forward-swatch">
            <a:extLst>
              <a:ext uri="{FF2B5EF4-FFF2-40B4-BE49-F238E27FC236}">
                <a16:creationId xmlns:a16="http://schemas.microsoft.com/office/drawing/2014/main" id="{0AF0170C-4177-4E2C-8227-086FE84B798F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266700" cy="2667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DEF9EF5-A0D8-4A7F-A64A-1144FCC888C1}"/>
              </a:ext>
            </a:extLst>
          </p:cNvPr>
          <p:cNvSpPr>
            <a:spLocks noGrp="1"/>
          </p:cNvSpPr>
          <p:nvPr/>
        </p:nvSpPr>
        <p:spPr>
          <a:xfrm>
            <a:off x="5105400" y="52959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forward</a:t>
            </a:r>
          </a:p>
        </p:txBody>
      </p:sp>
      <p:sp>
        <p:nvSpPr>
          <p:cNvPr id="71" name="legend-backward-swatch">
            <a:extLst>
              <a:ext uri="{FF2B5EF4-FFF2-40B4-BE49-F238E27FC236}">
                <a16:creationId xmlns:a16="http://schemas.microsoft.com/office/drawing/2014/main" id="{86159E17-44BA-4F3B-B154-A9CF6AFD4968}"/>
              </a:ext>
            </a:extLst>
          </p:cNvPr>
          <p:cNvSpPr>
            <a:spLocks noGrp="1"/>
          </p:cNvSpPr>
          <p:nvPr/>
        </p:nvSpPr>
        <p:spPr>
          <a:xfrm>
            <a:off x="6143625" y="5334000"/>
            <a:ext cx="266700" cy="2667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6B713B-92C5-4179-B48C-B2B988ECD140}"/>
              </a:ext>
            </a:extLst>
          </p:cNvPr>
          <p:cNvSpPr>
            <a:spLocks noGrp="1"/>
          </p:cNvSpPr>
          <p:nvPr/>
        </p:nvSpPr>
        <p:spPr>
          <a:xfrm>
            <a:off x="6486525" y="52959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backward</a:t>
            </a:r>
          </a:p>
        </p:txBody>
      </p:sp>
      <p:sp>
        <p:nvSpPr>
          <p:cNvPr id="73" name="legend-idle-swatch">
            <a:extLst>
              <a:ext uri="{FF2B5EF4-FFF2-40B4-BE49-F238E27FC236}">
                <a16:creationId xmlns:a16="http://schemas.microsoft.com/office/drawing/2014/main" id="{ECDB07ED-E2F5-4E0F-B6C0-C799797118AA}"/>
              </a:ext>
            </a:extLst>
          </p:cNvPr>
          <p:cNvSpPr>
            <a:spLocks noGrp="1"/>
          </p:cNvSpPr>
          <p:nvPr/>
        </p:nvSpPr>
        <p:spPr>
          <a:xfrm>
            <a:off x="7677150" y="5334000"/>
            <a:ext cx="266700" cy="2667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F6BDF91-57F4-4553-98A5-09A0DE18E0A2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bubble / idle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F33B6A-FBCA-4E17-B8AF-7EA347CDC1A8}"/>
              </a:ext>
            </a:extLst>
          </p:cNvPr>
          <p:cNvSpPr>
            <a:spLocks noGrp="1"/>
          </p:cNvSpPr>
          <p:nvPr/>
        </p:nvSpPr>
        <p:spPr>
          <a:xfrm>
            <a:off x="9429750" y="52578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8 / 32 slots busy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Microbatches reduce the bubble fraction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10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7025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MITIGATION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2035891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Keep microbatches in flight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626441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778841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HELPS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3112216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Later forward passes occupy slots while earlier microbatches wait to run backward.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4036141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4188541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TRADE-OFF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521916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More, smaller microbatches can reduce per-GPU kernel efficiency.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322016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57% busy with four microbatches in this idealized example.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702516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GPIPE TRAINING: 4 MICROBATCHES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727E06-FF69-4026-B6F1-80DAB7AF3E6C}"/>
              </a:ext>
            </a:extLst>
          </p:cNvPr>
          <p:cNvSpPr>
            <a:spLocks noGrp="1"/>
          </p:cNvSpPr>
          <p:nvPr/>
        </p:nvSpPr>
        <p:spPr>
          <a:xfrm>
            <a:off x="5810250" y="190500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DEE784-9678-4AFE-A503-3EC7BD2B87E7}"/>
              </a:ext>
            </a:extLst>
          </p:cNvPr>
          <p:cNvSpPr>
            <a:spLocks noGrp="1"/>
          </p:cNvSpPr>
          <p:nvPr/>
        </p:nvSpPr>
        <p:spPr>
          <a:xfrm>
            <a:off x="6362700" y="18764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BBEAA7-0AC4-42FF-9539-7E2AE11406D1}"/>
              </a:ext>
            </a:extLst>
          </p:cNvPr>
          <p:cNvSpPr>
            <a:spLocks noGrp="1"/>
          </p:cNvSpPr>
          <p:nvPr/>
        </p:nvSpPr>
        <p:spPr>
          <a:xfrm>
            <a:off x="58102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76D1DC-20F3-49D6-B484-61B47DF9DDC5}"/>
              </a:ext>
            </a:extLst>
          </p:cNvPr>
          <p:cNvSpPr>
            <a:spLocks noGrp="1"/>
          </p:cNvSpPr>
          <p:nvPr/>
        </p:nvSpPr>
        <p:spPr>
          <a:xfrm>
            <a:off x="62007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CD91A1-3F94-4EC3-BD0B-0BFEF11A4CCE}"/>
              </a:ext>
            </a:extLst>
          </p:cNvPr>
          <p:cNvSpPr>
            <a:spLocks noGrp="1"/>
          </p:cNvSpPr>
          <p:nvPr/>
        </p:nvSpPr>
        <p:spPr>
          <a:xfrm>
            <a:off x="659130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FAFF68-C828-4A3A-BC93-601599F26CD6}"/>
              </a:ext>
            </a:extLst>
          </p:cNvPr>
          <p:cNvSpPr>
            <a:spLocks noGrp="1"/>
          </p:cNvSpPr>
          <p:nvPr/>
        </p:nvSpPr>
        <p:spPr>
          <a:xfrm>
            <a:off x="698182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54BA4E-9A0C-4B75-A5C1-78D5FD98A216}"/>
              </a:ext>
            </a:extLst>
          </p:cNvPr>
          <p:cNvSpPr>
            <a:spLocks noGrp="1"/>
          </p:cNvSpPr>
          <p:nvPr/>
        </p:nvSpPr>
        <p:spPr>
          <a:xfrm>
            <a:off x="73723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FB502C-6C12-484A-A062-2FE61B49BEF3}"/>
              </a:ext>
            </a:extLst>
          </p:cNvPr>
          <p:cNvSpPr>
            <a:spLocks noGrp="1"/>
          </p:cNvSpPr>
          <p:nvPr/>
        </p:nvSpPr>
        <p:spPr>
          <a:xfrm>
            <a:off x="77628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23B3D2-C6EB-4F7C-BD28-E3FBCF0AB459}"/>
              </a:ext>
            </a:extLst>
          </p:cNvPr>
          <p:cNvSpPr>
            <a:spLocks noGrp="1"/>
          </p:cNvSpPr>
          <p:nvPr/>
        </p:nvSpPr>
        <p:spPr>
          <a:xfrm>
            <a:off x="815340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855B3B-07F9-4509-9C2B-1E1FAD09FA88}"/>
              </a:ext>
            </a:extLst>
          </p:cNvPr>
          <p:cNvSpPr>
            <a:spLocks noGrp="1"/>
          </p:cNvSpPr>
          <p:nvPr/>
        </p:nvSpPr>
        <p:spPr>
          <a:xfrm>
            <a:off x="854392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C1D3AD-5035-40F3-AEA4-FB2BEFBC3AD4}"/>
              </a:ext>
            </a:extLst>
          </p:cNvPr>
          <p:cNvSpPr>
            <a:spLocks noGrp="1"/>
          </p:cNvSpPr>
          <p:nvPr/>
        </p:nvSpPr>
        <p:spPr>
          <a:xfrm>
            <a:off x="89344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9C665E-AA6E-4254-BD34-7D79D529EF1F}"/>
              </a:ext>
            </a:extLst>
          </p:cNvPr>
          <p:cNvSpPr>
            <a:spLocks noGrp="1"/>
          </p:cNvSpPr>
          <p:nvPr/>
        </p:nvSpPr>
        <p:spPr>
          <a:xfrm>
            <a:off x="93249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CED55-6774-446F-A893-9FCDC34FF22A}"/>
              </a:ext>
            </a:extLst>
          </p:cNvPr>
          <p:cNvSpPr>
            <a:spLocks noGrp="1"/>
          </p:cNvSpPr>
          <p:nvPr/>
        </p:nvSpPr>
        <p:spPr>
          <a:xfrm>
            <a:off x="971550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B08CC8-0A64-4145-9434-D51281C944EB}"/>
              </a:ext>
            </a:extLst>
          </p:cNvPr>
          <p:cNvSpPr>
            <a:spLocks noGrp="1"/>
          </p:cNvSpPr>
          <p:nvPr/>
        </p:nvSpPr>
        <p:spPr>
          <a:xfrm>
            <a:off x="1010602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083DCB-22AE-4B30-8DA5-4FBA59BED7AD}"/>
              </a:ext>
            </a:extLst>
          </p:cNvPr>
          <p:cNvSpPr>
            <a:spLocks noGrp="1"/>
          </p:cNvSpPr>
          <p:nvPr/>
        </p:nvSpPr>
        <p:spPr>
          <a:xfrm>
            <a:off x="104965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6297D6-1A11-4293-AF26-70CAC5C12314}"/>
              </a:ext>
            </a:extLst>
          </p:cNvPr>
          <p:cNvSpPr>
            <a:spLocks noGrp="1"/>
          </p:cNvSpPr>
          <p:nvPr/>
        </p:nvSpPr>
        <p:spPr>
          <a:xfrm>
            <a:off x="108870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101B81-B9BE-4A51-B4C5-5656ACE166A1}"/>
              </a:ext>
            </a:extLst>
          </p:cNvPr>
          <p:cNvSpPr>
            <a:spLocks noGrp="1"/>
          </p:cNvSpPr>
          <p:nvPr/>
        </p:nvSpPr>
        <p:spPr>
          <a:xfrm>
            <a:off x="4762500" y="24288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38" name="training-grid-r1-c1">
            <a:extLst>
              <a:ext uri="{FF2B5EF4-FFF2-40B4-BE49-F238E27FC236}">
                <a16:creationId xmlns:a16="http://schemas.microsoft.com/office/drawing/2014/main" id="{A56C1E3A-C52C-444A-86C6-04A857E6CEEC}"/>
              </a:ext>
            </a:extLst>
          </p:cNvPr>
          <p:cNvSpPr>
            <a:spLocks noGrp="1"/>
          </p:cNvSpPr>
          <p:nvPr/>
        </p:nvSpPr>
        <p:spPr>
          <a:xfrm>
            <a:off x="5810250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39" name="training-grid-r1-c2">
            <a:extLst>
              <a:ext uri="{FF2B5EF4-FFF2-40B4-BE49-F238E27FC236}">
                <a16:creationId xmlns:a16="http://schemas.microsoft.com/office/drawing/2014/main" id="{9DAF6E23-CF2B-4FCB-88C6-3BCF10001926}"/>
              </a:ext>
            </a:extLst>
          </p:cNvPr>
          <p:cNvSpPr>
            <a:spLocks noGrp="1"/>
          </p:cNvSpPr>
          <p:nvPr/>
        </p:nvSpPr>
        <p:spPr>
          <a:xfrm>
            <a:off x="6200775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40" name="training-grid-r1-c3">
            <a:extLst>
              <a:ext uri="{FF2B5EF4-FFF2-40B4-BE49-F238E27FC236}">
                <a16:creationId xmlns:a16="http://schemas.microsoft.com/office/drawing/2014/main" id="{C9B1B198-BD4A-4588-910D-863F94DCEC8D}"/>
              </a:ext>
            </a:extLst>
          </p:cNvPr>
          <p:cNvSpPr>
            <a:spLocks noGrp="1"/>
          </p:cNvSpPr>
          <p:nvPr/>
        </p:nvSpPr>
        <p:spPr>
          <a:xfrm>
            <a:off x="6591300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41" name="training-grid-r1-c4">
            <a:extLst>
              <a:ext uri="{FF2B5EF4-FFF2-40B4-BE49-F238E27FC236}">
                <a16:creationId xmlns:a16="http://schemas.microsoft.com/office/drawing/2014/main" id="{DC822D58-48E9-4D22-903C-98D4E920B4E7}"/>
              </a:ext>
            </a:extLst>
          </p:cNvPr>
          <p:cNvSpPr>
            <a:spLocks noGrp="1"/>
          </p:cNvSpPr>
          <p:nvPr/>
        </p:nvSpPr>
        <p:spPr>
          <a:xfrm>
            <a:off x="6981825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42" name="training-grid-r1-c5">
            <a:extLst>
              <a:ext uri="{FF2B5EF4-FFF2-40B4-BE49-F238E27FC236}">
                <a16:creationId xmlns:a16="http://schemas.microsoft.com/office/drawing/2014/main" id="{6BDCEC24-AC29-4C9B-A5E4-6BFA55BCE102}"/>
              </a:ext>
            </a:extLst>
          </p:cNvPr>
          <p:cNvSpPr>
            <a:spLocks noGrp="1"/>
          </p:cNvSpPr>
          <p:nvPr/>
        </p:nvSpPr>
        <p:spPr>
          <a:xfrm>
            <a:off x="7372350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3" name="training-grid-r1-c6">
            <a:extLst>
              <a:ext uri="{FF2B5EF4-FFF2-40B4-BE49-F238E27FC236}">
                <a16:creationId xmlns:a16="http://schemas.microsoft.com/office/drawing/2014/main" id="{7F584000-D036-4BD9-983C-4A4614EC6671}"/>
              </a:ext>
            </a:extLst>
          </p:cNvPr>
          <p:cNvSpPr>
            <a:spLocks noGrp="1"/>
          </p:cNvSpPr>
          <p:nvPr/>
        </p:nvSpPr>
        <p:spPr>
          <a:xfrm>
            <a:off x="7762875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4" name="training-grid-r1-c7">
            <a:extLst>
              <a:ext uri="{FF2B5EF4-FFF2-40B4-BE49-F238E27FC236}">
                <a16:creationId xmlns:a16="http://schemas.microsoft.com/office/drawing/2014/main" id="{EBDC5788-ACB6-46CE-BA60-D9A4E82CDC24}"/>
              </a:ext>
            </a:extLst>
          </p:cNvPr>
          <p:cNvSpPr>
            <a:spLocks noGrp="1"/>
          </p:cNvSpPr>
          <p:nvPr/>
        </p:nvSpPr>
        <p:spPr>
          <a:xfrm>
            <a:off x="8153400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5" name="training-grid-r1-c8">
            <a:extLst>
              <a:ext uri="{FF2B5EF4-FFF2-40B4-BE49-F238E27FC236}">
                <a16:creationId xmlns:a16="http://schemas.microsoft.com/office/drawing/2014/main" id="{9E791108-48F7-456F-8BFD-CF45304DFF95}"/>
              </a:ext>
            </a:extLst>
          </p:cNvPr>
          <p:cNvSpPr>
            <a:spLocks noGrp="1"/>
          </p:cNvSpPr>
          <p:nvPr/>
        </p:nvSpPr>
        <p:spPr>
          <a:xfrm>
            <a:off x="8543925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6" name="training-grid-r1-c9">
            <a:extLst>
              <a:ext uri="{FF2B5EF4-FFF2-40B4-BE49-F238E27FC236}">
                <a16:creationId xmlns:a16="http://schemas.microsoft.com/office/drawing/2014/main" id="{0E4815A2-BE50-409D-BEAD-868579D8CFC1}"/>
              </a:ext>
            </a:extLst>
          </p:cNvPr>
          <p:cNvSpPr>
            <a:spLocks noGrp="1"/>
          </p:cNvSpPr>
          <p:nvPr/>
        </p:nvSpPr>
        <p:spPr>
          <a:xfrm>
            <a:off x="8934450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7" name="training-grid-r1-c10">
            <a:extLst>
              <a:ext uri="{FF2B5EF4-FFF2-40B4-BE49-F238E27FC236}">
                <a16:creationId xmlns:a16="http://schemas.microsoft.com/office/drawing/2014/main" id="{2A0F99C9-3DA4-4AD4-A60C-5E3276519D14}"/>
              </a:ext>
            </a:extLst>
          </p:cNvPr>
          <p:cNvSpPr>
            <a:spLocks noGrp="1"/>
          </p:cNvSpPr>
          <p:nvPr/>
        </p:nvSpPr>
        <p:spPr>
          <a:xfrm>
            <a:off x="9324975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8" name="training-grid-r1-c11">
            <a:extLst>
              <a:ext uri="{FF2B5EF4-FFF2-40B4-BE49-F238E27FC236}">
                <a16:creationId xmlns:a16="http://schemas.microsoft.com/office/drawing/2014/main" id="{ABE00209-90A9-4BFF-97A8-CACF0FD45AF3}"/>
              </a:ext>
            </a:extLst>
          </p:cNvPr>
          <p:cNvSpPr>
            <a:spLocks noGrp="1"/>
          </p:cNvSpPr>
          <p:nvPr/>
        </p:nvSpPr>
        <p:spPr>
          <a:xfrm>
            <a:off x="9715500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49" name="training-grid-r1-c12">
            <a:extLst>
              <a:ext uri="{FF2B5EF4-FFF2-40B4-BE49-F238E27FC236}">
                <a16:creationId xmlns:a16="http://schemas.microsoft.com/office/drawing/2014/main" id="{C9CD362A-6466-4499-846E-E32803689505}"/>
              </a:ext>
            </a:extLst>
          </p:cNvPr>
          <p:cNvSpPr>
            <a:spLocks noGrp="1"/>
          </p:cNvSpPr>
          <p:nvPr/>
        </p:nvSpPr>
        <p:spPr>
          <a:xfrm>
            <a:off x="10106025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50" name="training-grid-r1-c13">
            <a:extLst>
              <a:ext uri="{FF2B5EF4-FFF2-40B4-BE49-F238E27FC236}">
                <a16:creationId xmlns:a16="http://schemas.microsoft.com/office/drawing/2014/main" id="{39BB3B0D-6C2A-4389-8381-86939C9A5B08}"/>
              </a:ext>
            </a:extLst>
          </p:cNvPr>
          <p:cNvSpPr>
            <a:spLocks noGrp="1"/>
          </p:cNvSpPr>
          <p:nvPr/>
        </p:nvSpPr>
        <p:spPr>
          <a:xfrm>
            <a:off x="10496550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51" name="training-grid-r1-c14">
            <a:extLst>
              <a:ext uri="{FF2B5EF4-FFF2-40B4-BE49-F238E27FC236}">
                <a16:creationId xmlns:a16="http://schemas.microsoft.com/office/drawing/2014/main" id="{302E80B9-ECF1-4B25-A9FB-0A07AA394B5C}"/>
              </a:ext>
            </a:extLst>
          </p:cNvPr>
          <p:cNvSpPr>
            <a:spLocks noGrp="1"/>
          </p:cNvSpPr>
          <p:nvPr/>
        </p:nvSpPr>
        <p:spPr>
          <a:xfrm>
            <a:off x="10887075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95514A-CC46-432D-BB64-2872DC329F7E}"/>
              </a:ext>
            </a:extLst>
          </p:cNvPr>
          <p:cNvSpPr>
            <a:spLocks noGrp="1"/>
          </p:cNvSpPr>
          <p:nvPr/>
        </p:nvSpPr>
        <p:spPr>
          <a:xfrm>
            <a:off x="4762500" y="30384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53" name="training-grid-r2-c1">
            <a:extLst>
              <a:ext uri="{FF2B5EF4-FFF2-40B4-BE49-F238E27FC236}">
                <a16:creationId xmlns:a16="http://schemas.microsoft.com/office/drawing/2014/main" id="{1F86895B-9A27-4132-ADF2-517C6A9A6E10}"/>
              </a:ext>
            </a:extLst>
          </p:cNvPr>
          <p:cNvSpPr>
            <a:spLocks noGrp="1"/>
          </p:cNvSpPr>
          <p:nvPr/>
        </p:nvSpPr>
        <p:spPr>
          <a:xfrm>
            <a:off x="5810250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4" name="training-grid-r2-c2">
            <a:extLst>
              <a:ext uri="{FF2B5EF4-FFF2-40B4-BE49-F238E27FC236}">
                <a16:creationId xmlns:a16="http://schemas.microsoft.com/office/drawing/2014/main" id="{C0B6F457-D73E-455F-B593-51CF4F8F52D7}"/>
              </a:ext>
            </a:extLst>
          </p:cNvPr>
          <p:cNvSpPr>
            <a:spLocks noGrp="1"/>
          </p:cNvSpPr>
          <p:nvPr/>
        </p:nvSpPr>
        <p:spPr>
          <a:xfrm>
            <a:off x="6200775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55" name="training-grid-r2-c3">
            <a:extLst>
              <a:ext uri="{FF2B5EF4-FFF2-40B4-BE49-F238E27FC236}">
                <a16:creationId xmlns:a16="http://schemas.microsoft.com/office/drawing/2014/main" id="{5A7B6E92-2D4D-4F1F-B58A-A551BB586611}"/>
              </a:ext>
            </a:extLst>
          </p:cNvPr>
          <p:cNvSpPr>
            <a:spLocks noGrp="1"/>
          </p:cNvSpPr>
          <p:nvPr/>
        </p:nvSpPr>
        <p:spPr>
          <a:xfrm>
            <a:off x="6591300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56" name="training-grid-r2-c4">
            <a:extLst>
              <a:ext uri="{FF2B5EF4-FFF2-40B4-BE49-F238E27FC236}">
                <a16:creationId xmlns:a16="http://schemas.microsoft.com/office/drawing/2014/main" id="{F322099E-B7EB-45AB-AB7A-8F08CB35FDE7}"/>
              </a:ext>
            </a:extLst>
          </p:cNvPr>
          <p:cNvSpPr>
            <a:spLocks noGrp="1"/>
          </p:cNvSpPr>
          <p:nvPr/>
        </p:nvSpPr>
        <p:spPr>
          <a:xfrm>
            <a:off x="6981825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57" name="training-grid-r2-c5">
            <a:extLst>
              <a:ext uri="{FF2B5EF4-FFF2-40B4-BE49-F238E27FC236}">
                <a16:creationId xmlns:a16="http://schemas.microsoft.com/office/drawing/2014/main" id="{77CD2DD7-8CC9-4555-B2FA-3246091DB017}"/>
              </a:ext>
            </a:extLst>
          </p:cNvPr>
          <p:cNvSpPr>
            <a:spLocks noGrp="1"/>
          </p:cNvSpPr>
          <p:nvPr/>
        </p:nvSpPr>
        <p:spPr>
          <a:xfrm>
            <a:off x="7372350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58" name="training-grid-r2-c6">
            <a:extLst>
              <a:ext uri="{FF2B5EF4-FFF2-40B4-BE49-F238E27FC236}">
                <a16:creationId xmlns:a16="http://schemas.microsoft.com/office/drawing/2014/main" id="{867ABAEF-E08E-49DF-A966-882B69A37CE1}"/>
              </a:ext>
            </a:extLst>
          </p:cNvPr>
          <p:cNvSpPr>
            <a:spLocks noGrp="1"/>
          </p:cNvSpPr>
          <p:nvPr/>
        </p:nvSpPr>
        <p:spPr>
          <a:xfrm>
            <a:off x="7762875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9" name="training-grid-r2-c7">
            <a:extLst>
              <a:ext uri="{FF2B5EF4-FFF2-40B4-BE49-F238E27FC236}">
                <a16:creationId xmlns:a16="http://schemas.microsoft.com/office/drawing/2014/main" id="{5E69932E-E30F-48BE-B36A-7DF346A36679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0" name="training-grid-r2-c8">
            <a:extLst>
              <a:ext uri="{FF2B5EF4-FFF2-40B4-BE49-F238E27FC236}">
                <a16:creationId xmlns:a16="http://schemas.microsoft.com/office/drawing/2014/main" id="{47DA7700-88D4-4206-85B2-77F716126B76}"/>
              </a:ext>
            </a:extLst>
          </p:cNvPr>
          <p:cNvSpPr>
            <a:spLocks noGrp="1"/>
          </p:cNvSpPr>
          <p:nvPr/>
        </p:nvSpPr>
        <p:spPr>
          <a:xfrm>
            <a:off x="8543925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1" name="training-grid-r2-c9">
            <a:extLst>
              <a:ext uri="{FF2B5EF4-FFF2-40B4-BE49-F238E27FC236}">
                <a16:creationId xmlns:a16="http://schemas.microsoft.com/office/drawing/2014/main" id="{A64ACD35-2BD6-4E6C-970E-06B7F019BF3C}"/>
              </a:ext>
            </a:extLst>
          </p:cNvPr>
          <p:cNvSpPr>
            <a:spLocks noGrp="1"/>
          </p:cNvSpPr>
          <p:nvPr/>
        </p:nvSpPr>
        <p:spPr>
          <a:xfrm>
            <a:off x="8934450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2" name="training-grid-r2-c10">
            <a:extLst>
              <a:ext uri="{FF2B5EF4-FFF2-40B4-BE49-F238E27FC236}">
                <a16:creationId xmlns:a16="http://schemas.microsoft.com/office/drawing/2014/main" id="{30E2C5C8-AEBB-45AB-A75E-244036FE3B5F}"/>
              </a:ext>
            </a:extLst>
          </p:cNvPr>
          <p:cNvSpPr>
            <a:spLocks noGrp="1"/>
          </p:cNvSpPr>
          <p:nvPr/>
        </p:nvSpPr>
        <p:spPr>
          <a:xfrm>
            <a:off x="9324975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63" name="training-grid-r2-c11">
            <a:extLst>
              <a:ext uri="{FF2B5EF4-FFF2-40B4-BE49-F238E27FC236}">
                <a16:creationId xmlns:a16="http://schemas.microsoft.com/office/drawing/2014/main" id="{1F35650D-770B-4248-B88D-0335CFB26FA3}"/>
              </a:ext>
            </a:extLst>
          </p:cNvPr>
          <p:cNvSpPr>
            <a:spLocks noGrp="1"/>
          </p:cNvSpPr>
          <p:nvPr/>
        </p:nvSpPr>
        <p:spPr>
          <a:xfrm>
            <a:off x="9715500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64" name="training-grid-r2-c12">
            <a:extLst>
              <a:ext uri="{FF2B5EF4-FFF2-40B4-BE49-F238E27FC236}">
                <a16:creationId xmlns:a16="http://schemas.microsoft.com/office/drawing/2014/main" id="{999561C7-B4F5-4550-9A03-EAFE4A12EA7C}"/>
              </a:ext>
            </a:extLst>
          </p:cNvPr>
          <p:cNvSpPr>
            <a:spLocks noGrp="1"/>
          </p:cNvSpPr>
          <p:nvPr/>
        </p:nvSpPr>
        <p:spPr>
          <a:xfrm>
            <a:off x="10106025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65" name="training-grid-r2-c13">
            <a:extLst>
              <a:ext uri="{FF2B5EF4-FFF2-40B4-BE49-F238E27FC236}">
                <a16:creationId xmlns:a16="http://schemas.microsoft.com/office/drawing/2014/main" id="{4AC256F5-35CB-4020-8389-9FEB6D63722B}"/>
              </a:ext>
            </a:extLst>
          </p:cNvPr>
          <p:cNvSpPr>
            <a:spLocks noGrp="1"/>
          </p:cNvSpPr>
          <p:nvPr/>
        </p:nvSpPr>
        <p:spPr>
          <a:xfrm>
            <a:off x="10496550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66" name="training-grid-r2-c14">
            <a:extLst>
              <a:ext uri="{FF2B5EF4-FFF2-40B4-BE49-F238E27FC236}">
                <a16:creationId xmlns:a16="http://schemas.microsoft.com/office/drawing/2014/main" id="{3F36DBF6-EAD1-44E1-95AB-51B51CC07753}"/>
              </a:ext>
            </a:extLst>
          </p:cNvPr>
          <p:cNvSpPr>
            <a:spLocks noGrp="1"/>
          </p:cNvSpPr>
          <p:nvPr/>
        </p:nvSpPr>
        <p:spPr>
          <a:xfrm>
            <a:off x="10887075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563DDBE-BB97-4644-9CBE-9E13B7847E0F}"/>
              </a:ext>
            </a:extLst>
          </p:cNvPr>
          <p:cNvSpPr>
            <a:spLocks noGrp="1"/>
          </p:cNvSpPr>
          <p:nvPr/>
        </p:nvSpPr>
        <p:spPr>
          <a:xfrm>
            <a:off x="4762500" y="36480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68" name="training-grid-r3-c1">
            <a:extLst>
              <a:ext uri="{FF2B5EF4-FFF2-40B4-BE49-F238E27FC236}">
                <a16:creationId xmlns:a16="http://schemas.microsoft.com/office/drawing/2014/main" id="{4CAE5AD2-DDC4-4F02-8133-4809822317D9}"/>
              </a:ext>
            </a:extLst>
          </p:cNvPr>
          <p:cNvSpPr>
            <a:spLocks noGrp="1"/>
          </p:cNvSpPr>
          <p:nvPr/>
        </p:nvSpPr>
        <p:spPr>
          <a:xfrm>
            <a:off x="5810250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9" name="training-grid-r3-c2">
            <a:extLst>
              <a:ext uri="{FF2B5EF4-FFF2-40B4-BE49-F238E27FC236}">
                <a16:creationId xmlns:a16="http://schemas.microsoft.com/office/drawing/2014/main" id="{537B3150-5499-441F-A757-477BF74B6990}"/>
              </a:ext>
            </a:extLst>
          </p:cNvPr>
          <p:cNvSpPr>
            <a:spLocks noGrp="1"/>
          </p:cNvSpPr>
          <p:nvPr/>
        </p:nvSpPr>
        <p:spPr>
          <a:xfrm>
            <a:off x="6200775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0" name="training-grid-r3-c3">
            <a:extLst>
              <a:ext uri="{FF2B5EF4-FFF2-40B4-BE49-F238E27FC236}">
                <a16:creationId xmlns:a16="http://schemas.microsoft.com/office/drawing/2014/main" id="{72302142-DF8D-4DB7-96AC-DAE084AA6EBB}"/>
              </a:ext>
            </a:extLst>
          </p:cNvPr>
          <p:cNvSpPr>
            <a:spLocks noGrp="1"/>
          </p:cNvSpPr>
          <p:nvPr/>
        </p:nvSpPr>
        <p:spPr>
          <a:xfrm>
            <a:off x="6591300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71" name="training-grid-r3-c4">
            <a:extLst>
              <a:ext uri="{FF2B5EF4-FFF2-40B4-BE49-F238E27FC236}">
                <a16:creationId xmlns:a16="http://schemas.microsoft.com/office/drawing/2014/main" id="{98D9DB04-0F43-47E7-AE39-CBDE67A2F32D}"/>
              </a:ext>
            </a:extLst>
          </p:cNvPr>
          <p:cNvSpPr>
            <a:spLocks noGrp="1"/>
          </p:cNvSpPr>
          <p:nvPr/>
        </p:nvSpPr>
        <p:spPr>
          <a:xfrm>
            <a:off x="6981825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72" name="training-grid-r3-c5">
            <a:extLst>
              <a:ext uri="{FF2B5EF4-FFF2-40B4-BE49-F238E27FC236}">
                <a16:creationId xmlns:a16="http://schemas.microsoft.com/office/drawing/2014/main" id="{08D979DE-9C18-4C4E-B5D1-CC0C548FC53A}"/>
              </a:ext>
            </a:extLst>
          </p:cNvPr>
          <p:cNvSpPr>
            <a:spLocks noGrp="1"/>
          </p:cNvSpPr>
          <p:nvPr/>
        </p:nvSpPr>
        <p:spPr>
          <a:xfrm>
            <a:off x="7372350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73" name="training-grid-r3-c6">
            <a:extLst>
              <a:ext uri="{FF2B5EF4-FFF2-40B4-BE49-F238E27FC236}">
                <a16:creationId xmlns:a16="http://schemas.microsoft.com/office/drawing/2014/main" id="{705FB916-580F-4E00-832E-6CF27F67317D}"/>
              </a:ext>
            </a:extLst>
          </p:cNvPr>
          <p:cNvSpPr>
            <a:spLocks noGrp="1"/>
          </p:cNvSpPr>
          <p:nvPr/>
        </p:nvSpPr>
        <p:spPr>
          <a:xfrm>
            <a:off x="7762875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74" name="training-grid-r3-c7">
            <a:extLst>
              <a:ext uri="{FF2B5EF4-FFF2-40B4-BE49-F238E27FC236}">
                <a16:creationId xmlns:a16="http://schemas.microsoft.com/office/drawing/2014/main" id="{9E2CF07B-C8F3-4883-B344-B0A970E60F22}"/>
              </a:ext>
            </a:extLst>
          </p:cNvPr>
          <p:cNvSpPr>
            <a:spLocks noGrp="1"/>
          </p:cNvSpPr>
          <p:nvPr/>
        </p:nvSpPr>
        <p:spPr>
          <a:xfrm>
            <a:off x="8153400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5" name="training-grid-r3-c8">
            <a:extLst>
              <a:ext uri="{FF2B5EF4-FFF2-40B4-BE49-F238E27FC236}">
                <a16:creationId xmlns:a16="http://schemas.microsoft.com/office/drawing/2014/main" id="{6EA66AF6-F4FC-4271-B4E2-F455DBC555AD}"/>
              </a:ext>
            </a:extLst>
          </p:cNvPr>
          <p:cNvSpPr>
            <a:spLocks noGrp="1"/>
          </p:cNvSpPr>
          <p:nvPr/>
        </p:nvSpPr>
        <p:spPr>
          <a:xfrm>
            <a:off x="8543925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6" name="training-grid-r3-c9">
            <a:extLst>
              <a:ext uri="{FF2B5EF4-FFF2-40B4-BE49-F238E27FC236}">
                <a16:creationId xmlns:a16="http://schemas.microsoft.com/office/drawing/2014/main" id="{04EF121C-5869-4CDD-97FA-3331C68BB436}"/>
              </a:ext>
            </a:extLst>
          </p:cNvPr>
          <p:cNvSpPr>
            <a:spLocks noGrp="1"/>
          </p:cNvSpPr>
          <p:nvPr/>
        </p:nvSpPr>
        <p:spPr>
          <a:xfrm>
            <a:off x="8934450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77" name="training-grid-r3-c10">
            <a:extLst>
              <a:ext uri="{FF2B5EF4-FFF2-40B4-BE49-F238E27FC236}">
                <a16:creationId xmlns:a16="http://schemas.microsoft.com/office/drawing/2014/main" id="{FF963DCA-C535-44EE-B2FE-964E122D40C5}"/>
              </a:ext>
            </a:extLst>
          </p:cNvPr>
          <p:cNvSpPr>
            <a:spLocks noGrp="1"/>
          </p:cNvSpPr>
          <p:nvPr/>
        </p:nvSpPr>
        <p:spPr>
          <a:xfrm>
            <a:off x="9324975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78" name="training-grid-r3-c11">
            <a:extLst>
              <a:ext uri="{FF2B5EF4-FFF2-40B4-BE49-F238E27FC236}">
                <a16:creationId xmlns:a16="http://schemas.microsoft.com/office/drawing/2014/main" id="{E0C6F013-AC11-47FC-B5E5-C57C9DCDCD55}"/>
              </a:ext>
            </a:extLst>
          </p:cNvPr>
          <p:cNvSpPr>
            <a:spLocks noGrp="1"/>
          </p:cNvSpPr>
          <p:nvPr/>
        </p:nvSpPr>
        <p:spPr>
          <a:xfrm>
            <a:off x="9715500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79" name="training-grid-r3-c12">
            <a:extLst>
              <a:ext uri="{FF2B5EF4-FFF2-40B4-BE49-F238E27FC236}">
                <a16:creationId xmlns:a16="http://schemas.microsoft.com/office/drawing/2014/main" id="{9E8F888B-0C15-4FA2-9ADC-692CCE987829}"/>
              </a:ext>
            </a:extLst>
          </p:cNvPr>
          <p:cNvSpPr>
            <a:spLocks noGrp="1"/>
          </p:cNvSpPr>
          <p:nvPr/>
        </p:nvSpPr>
        <p:spPr>
          <a:xfrm>
            <a:off x="10106025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80" name="training-grid-r3-c13">
            <a:extLst>
              <a:ext uri="{FF2B5EF4-FFF2-40B4-BE49-F238E27FC236}">
                <a16:creationId xmlns:a16="http://schemas.microsoft.com/office/drawing/2014/main" id="{C89A129F-47D4-4766-82C9-B37791867629}"/>
              </a:ext>
            </a:extLst>
          </p:cNvPr>
          <p:cNvSpPr>
            <a:spLocks noGrp="1"/>
          </p:cNvSpPr>
          <p:nvPr/>
        </p:nvSpPr>
        <p:spPr>
          <a:xfrm>
            <a:off x="10496550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1" name="training-grid-r3-c14">
            <a:extLst>
              <a:ext uri="{FF2B5EF4-FFF2-40B4-BE49-F238E27FC236}">
                <a16:creationId xmlns:a16="http://schemas.microsoft.com/office/drawing/2014/main" id="{E6B7D8A7-2556-450D-A8B8-3BA9C60B2FA6}"/>
              </a:ext>
            </a:extLst>
          </p:cNvPr>
          <p:cNvSpPr>
            <a:spLocks noGrp="1"/>
          </p:cNvSpPr>
          <p:nvPr/>
        </p:nvSpPr>
        <p:spPr>
          <a:xfrm>
            <a:off x="10887075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71E2F16-22C7-494C-BDF3-0C67D6BECFA9}"/>
              </a:ext>
            </a:extLst>
          </p:cNvPr>
          <p:cNvSpPr>
            <a:spLocks noGrp="1"/>
          </p:cNvSpPr>
          <p:nvPr/>
        </p:nvSpPr>
        <p:spPr>
          <a:xfrm>
            <a:off x="4762500" y="42576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83" name="training-grid-r4-c1">
            <a:extLst>
              <a:ext uri="{FF2B5EF4-FFF2-40B4-BE49-F238E27FC236}">
                <a16:creationId xmlns:a16="http://schemas.microsoft.com/office/drawing/2014/main" id="{415CE4F2-68DA-444D-B023-06D28C6A03CE}"/>
              </a:ext>
            </a:extLst>
          </p:cNvPr>
          <p:cNvSpPr>
            <a:spLocks noGrp="1"/>
          </p:cNvSpPr>
          <p:nvPr/>
        </p:nvSpPr>
        <p:spPr>
          <a:xfrm>
            <a:off x="5810250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4" name="training-grid-r4-c2">
            <a:extLst>
              <a:ext uri="{FF2B5EF4-FFF2-40B4-BE49-F238E27FC236}">
                <a16:creationId xmlns:a16="http://schemas.microsoft.com/office/drawing/2014/main" id="{FDD8AE62-5F69-419E-B3C7-E0D843F4A540}"/>
              </a:ext>
            </a:extLst>
          </p:cNvPr>
          <p:cNvSpPr>
            <a:spLocks noGrp="1"/>
          </p:cNvSpPr>
          <p:nvPr/>
        </p:nvSpPr>
        <p:spPr>
          <a:xfrm>
            <a:off x="6200775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5" name="training-grid-r4-c3">
            <a:extLst>
              <a:ext uri="{FF2B5EF4-FFF2-40B4-BE49-F238E27FC236}">
                <a16:creationId xmlns:a16="http://schemas.microsoft.com/office/drawing/2014/main" id="{7B23FD52-5BCF-4C29-93D7-4B756C69A911}"/>
              </a:ext>
            </a:extLst>
          </p:cNvPr>
          <p:cNvSpPr>
            <a:spLocks noGrp="1"/>
          </p:cNvSpPr>
          <p:nvPr/>
        </p:nvSpPr>
        <p:spPr>
          <a:xfrm>
            <a:off x="6591300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6" name="training-grid-r4-c4">
            <a:extLst>
              <a:ext uri="{FF2B5EF4-FFF2-40B4-BE49-F238E27FC236}">
                <a16:creationId xmlns:a16="http://schemas.microsoft.com/office/drawing/2014/main" id="{05B4AA22-2A78-4868-B419-AA8E8C5393D7}"/>
              </a:ext>
            </a:extLst>
          </p:cNvPr>
          <p:cNvSpPr>
            <a:spLocks noGrp="1"/>
          </p:cNvSpPr>
          <p:nvPr/>
        </p:nvSpPr>
        <p:spPr>
          <a:xfrm>
            <a:off x="6981825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87" name="training-grid-r4-c5">
            <a:extLst>
              <a:ext uri="{FF2B5EF4-FFF2-40B4-BE49-F238E27FC236}">
                <a16:creationId xmlns:a16="http://schemas.microsoft.com/office/drawing/2014/main" id="{E8F23665-5B0E-4543-8515-29C564FB8BE4}"/>
              </a:ext>
            </a:extLst>
          </p:cNvPr>
          <p:cNvSpPr>
            <a:spLocks noGrp="1"/>
          </p:cNvSpPr>
          <p:nvPr/>
        </p:nvSpPr>
        <p:spPr>
          <a:xfrm>
            <a:off x="7372350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88" name="training-grid-r4-c6">
            <a:extLst>
              <a:ext uri="{FF2B5EF4-FFF2-40B4-BE49-F238E27FC236}">
                <a16:creationId xmlns:a16="http://schemas.microsoft.com/office/drawing/2014/main" id="{43CF3FBA-A776-44A9-B81A-2666BD2592B1}"/>
              </a:ext>
            </a:extLst>
          </p:cNvPr>
          <p:cNvSpPr>
            <a:spLocks noGrp="1"/>
          </p:cNvSpPr>
          <p:nvPr/>
        </p:nvSpPr>
        <p:spPr>
          <a:xfrm>
            <a:off x="7762875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89" name="training-grid-r4-c7">
            <a:extLst>
              <a:ext uri="{FF2B5EF4-FFF2-40B4-BE49-F238E27FC236}">
                <a16:creationId xmlns:a16="http://schemas.microsoft.com/office/drawing/2014/main" id="{59104B4F-7A28-442F-9780-D912FFA8DD31}"/>
              </a:ext>
            </a:extLst>
          </p:cNvPr>
          <p:cNvSpPr>
            <a:spLocks noGrp="1"/>
          </p:cNvSpPr>
          <p:nvPr/>
        </p:nvSpPr>
        <p:spPr>
          <a:xfrm>
            <a:off x="8153400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90" name="training-grid-r4-c8">
            <a:extLst>
              <a:ext uri="{FF2B5EF4-FFF2-40B4-BE49-F238E27FC236}">
                <a16:creationId xmlns:a16="http://schemas.microsoft.com/office/drawing/2014/main" id="{B583164B-0FF6-4A16-8724-4F5A4B8675FF}"/>
              </a:ext>
            </a:extLst>
          </p:cNvPr>
          <p:cNvSpPr>
            <a:spLocks noGrp="1"/>
          </p:cNvSpPr>
          <p:nvPr/>
        </p:nvSpPr>
        <p:spPr>
          <a:xfrm>
            <a:off x="8543925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91" name="training-grid-r4-c9">
            <a:extLst>
              <a:ext uri="{FF2B5EF4-FFF2-40B4-BE49-F238E27FC236}">
                <a16:creationId xmlns:a16="http://schemas.microsoft.com/office/drawing/2014/main" id="{7936E762-6BD2-4DC2-9EBD-CD41E6A20467}"/>
              </a:ext>
            </a:extLst>
          </p:cNvPr>
          <p:cNvSpPr>
            <a:spLocks noGrp="1"/>
          </p:cNvSpPr>
          <p:nvPr/>
        </p:nvSpPr>
        <p:spPr>
          <a:xfrm>
            <a:off x="8934450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92" name="training-grid-r4-c10">
            <a:extLst>
              <a:ext uri="{FF2B5EF4-FFF2-40B4-BE49-F238E27FC236}">
                <a16:creationId xmlns:a16="http://schemas.microsoft.com/office/drawing/2014/main" id="{C8036442-F2AF-4871-83DB-E3972C745B53}"/>
              </a:ext>
            </a:extLst>
          </p:cNvPr>
          <p:cNvSpPr>
            <a:spLocks noGrp="1"/>
          </p:cNvSpPr>
          <p:nvPr/>
        </p:nvSpPr>
        <p:spPr>
          <a:xfrm>
            <a:off x="9324975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93" name="training-grid-r4-c11">
            <a:extLst>
              <a:ext uri="{FF2B5EF4-FFF2-40B4-BE49-F238E27FC236}">
                <a16:creationId xmlns:a16="http://schemas.microsoft.com/office/drawing/2014/main" id="{F9719975-7C5E-4DE5-A1B2-BBF56A369455}"/>
              </a:ext>
            </a:extLst>
          </p:cNvPr>
          <p:cNvSpPr>
            <a:spLocks noGrp="1"/>
          </p:cNvSpPr>
          <p:nvPr/>
        </p:nvSpPr>
        <p:spPr>
          <a:xfrm>
            <a:off x="9715500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94" name="training-grid-r4-c12">
            <a:extLst>
              <a:ext uri="{FF2B5EF4-FFF2-40B4-BE49-F238E27FC236}">
                <a16:creationId xmlns:a16="http://schemas.microsoft.com/office/drawing/2014/main" id="{6A2DFA9C-6B3A-4312-A036-373A21EDB549}"/>
              </a:ext>
            </a:extLst>
          </p:cNvPr>
          <p:cNvSpPr>
            <a:spLocks noGrp="1"/>
          </p:cNvSpPr>
          <p:nvPr/>
        </p:nvSpPr>
        <p:spPr>
          <a:xfrm>
            <a:off x="10106025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95" name="training-grid-r4-c13">
            <a:extLst>
              <a:ext uri="{FF2B5EF4-FFF2-40B4-BE49-F238E27FC236}">
                <a16:creationId xmlns:a16="http://schemas.microsoft.com/office/drawing/2014/main" id="{08DC44F9-6EB0-49BC-9547-45D576EB4F7C}"/>
              </a:ext>
            </a:extLst>
          </p:cNvPr>
          <p:cNvSpPr>
            <a:spLocks noGrp="1"/>
          </p:cNvSpPr>
          <p:nvPr/>
        </p:nvSpPr>
        <p:spPr>
          <a:xfrm>
            <a:off x="10496550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96" name="training-grid-r4-c14">
            <a:extLst>
              <a:ext uri="{FF2B5EF4-FFF2-40B4-BE49-F238E27FC236}">
                <a16:creationId xmlns:a16="http://schemas.microsoft.com/office/drawing/2014/main" id="{0FBD34DF-949F-4726-AFB9-612813E394A8}"/>
              </a:ext>
            </a:extLst>
          </p:cNvPr>
          <p:cNvSpPr>
            <a:spLocks noGrp="1"/>
          </p:cNvSpPr>
          <p:nvPr/>
        </p:nvSpPr>
        <p:spPr>
          <a:xfrm>
            <a:off x="10887075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0590A33-CFC9-407E-B1E6-A6804093EA56}"/>
              </a:ext>
            </a:extLst>
          </p:cNvPr>
          <p:cNvSpPr>
            <a:spLocks noGrp="1"/>
          </p:cNvSpPr>
          <p:nvPr/>
        </p:nvSpPr>
        <p:spPr>
          <a:xfrm>
            <a:off x="5810250" y="49530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FORWARD SWEEP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CE45043-79D8-4AB7-9A3F-F7F92EEA58FE}"/>
              </a:ext>
            </a:extLst>
          </p:cNvPr>
          <p:cNvSpPr>
            <a:spLocks noGrp="1"/>
          </p:cNvSpPr>
          <p:nvPr/>
        </p:nvSpPr>
        <p:spPr>
          <a:xfrm>
            <a:off x="8543925" y="49530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BACKWARD SWEEP</a:t>
            </a:r>
          </a:p>
        </p:txBody>
      </p:sp>
      <p:sp>
        <p:nvSpPr>
          <p:cNvPr id="99" name="legend-forward-swatch">
            <a:extLst>
              <a:ext uri="{FF2B5EF4-FFF2-40B4-BE49-F238E27FC236}">
                <a16:creationId xmlns:a16="http://schemas.microsoft.com/office/drawing/2014/main" id="{0E5206E9-FFFA-4B5A-A519-1897F99389C1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266700" cy="2667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3B52318-95D0-4561-9E1A-6E3D0CF05863}"/>
              </a:ext>
            </a:extLst>
          </p:cNvPr>
          <p:cNvSpPr>
            <a:spLocks noGrp="1"/>
          </p:cNvSpPr>
          <p:nvPr/>
        </p:nvSpPr>
        <p:spPr>
          <a:xfrm>
            <a:off x="5105400" y="52959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forward</a:t>
            </a:r>
          </a:p>
        </p:txBody>
      </p:sp>
      <p:sp>
        <p:nvSpPr>
          <p:cNvPr id="101" name="legend-backward-swatch">
            <a:extLst>
              <a:ext uri="{FF2B5EF4-FFF2-40B4-BE49-F238E27FC236}">
                <a16:creationId xmlns:a16="http://schemas.microsoft.com/office/drawing/2014/main" id="{A9C9B78F-4D6B-4DCE-B5F9-35C3DEEB8878}"/>
              </a:ext>
            </a:extLst>
          </p:cNvPr>
          <p:cNvSpPr>
            <a:spLocks noGrp="1"/>
          </p:cNvSpPr>
          <p:nvPr/>
        </p:nvSpPr>
        <p:spPr>
          <a:xfrm>
            <a:off x="6143625" y="5334000"/>
            <a:ext cx="266700" cy="2667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48B7C16-305F-4C55-9958-AD2ECE193FEA}"/>
              </a:ext>
            </a:extLst>
          </p:cNvPr>
          <p:cNvSpPr>
            <a:spLocks noGrp="1"/>
          </p:cNvSpPr>
          <p:nvPr/>
        </p:nvSpPr>
        <p:spPr>
          <a:xfrm>
            <a:off x="6486525" y="52959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backward</a:t>
            </a:r>
          </a:p>
        </p:txBody>
      </p:sp>
      <p:sp>
        <p:nvSpPr>
          <p:cNvPr id="103" name="legend-idle-swatch">
            <a:extLst>
              <a:ext uri="{FF2B5EF4-FFF2-40B4-BE49-F238E27FC236}">
                <a16:creationId xmlns:a16="http://schemas.microsoft.com/office/drawing/2014/main" id="{6A988FA0-F17F-4B9D-9B5E-081BE5E46606}"/>
              </a:ext>
            </a:extLst>
          </p:cNvPr>
          <p:cNvSpPr>
            <a:spLocks noGrp="1"/>
          </p:cNvSpPr>
          <p:nvPr/>
        </p:nvSpPr>
        <p:spPr>
          <a:xfrm>
            <a:off x="7677150" y="5334000"/>
            <a:ext cx="266700" cy="2667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30CD280-CCDC-4C31-A3CD-5933387EBAFC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bubble / idle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75D2164-0A84-4AA7-81E8-CA0106CF3ED0}"/>
              </a:ext>
            </a:extLst>
          </p:cNvPr>
          <p:cNvSpPr>
            <a:spLocks noGrp="1"/>
          </p:cNvSpPr>
          <p:nvPr/>
        </p:nvSpPr>
        <p:spPr>
          <a:xfrm>
            <a:off x="9429750" y="52578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32 / 56 slots busy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 divides the sequence across workers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t>11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885AEF-E7E5-42C9-A6AA-0B1B5C68F28C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875DF-4E6D-4950-9F9E-DD7A14C935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along the sequence dimension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34BE04-55A9-496F-BF06-ED1C2411AB8D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34D7A-3C95-479E-8C8D-04A402BDFB21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5858F-A296-4BB6-AF24-C9C59042B432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Each worker computes a sequence chunk. Attention exchanges K/V information across chunks.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618ABA-3E47-4E65-B971-63C1C539DE8D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CD0D0-9412-4B40-854A-23C78C767CBC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9533B1-45CF-4D12-9368-F54F07CCB361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Communication inside attention; weights remain replicated across CP ranks.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92429-E155-4B4E-A1E5-D9C067EAD272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long-context activations or KV cache dominate memory.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E32DF7-D89D-4A22-820A-0D4F8320E56C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815DCB6-268C-402C-AF16-4EDE4424330C}"/>
              </a:ext>
            </a:extLst>
          </p:cNvPr>
          <p:cNvSpPr>
            <a:spLocks noGrp="1"/>
          </p:cNvSpPr>
          <p:nvPr/>
        </p:nvSpPr>
        <p:spPr>
          <a:xfrm>
            <a:off x="542925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146EADC-AC67-4231-88C4-4D53F454AFAB}"/>
              </a:ext>
            </a:extLst>
          </p:cNvPr>
          <p:cNvSpPr>
            <a:spLocks noGrp="1"/>
          </p:cNvSpPr>
          <p:nvPr/>
        </p:nvSpPr>
        <p:spPr>
          <a:xfrm>
            <a:off x="704850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B81A9E8-D096-4A64-B9D3-49C4202766C6}"/>
              </a:ext>
            </a:extLst>
          </p:cNvPr>
          <p:cNvSpPr>
            <a:spLocks noGrp="1"/>
          </p:cNvSpPr>
          <p:nvPr/>
        </p:nvSpPr>
        <p:spPr>
          <a:xfrm>
            <a:off x="866775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8420664-612C-414A-8D94-D91B22AD50DE}"/>
              </a:ext>
            </a:extLst>
          </p:cNvPr>
          <p:cNvSpPr>
            <a:spLocks noGrp="1"/>
          </p:cNvSpPr>
          <p:nvPr/>
        </p:nvSpPr>
        <p:spPr>
          <a:xfrm>
            <a:off x="1028700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BA98EED-919E-47F6-8715-42A4DA121757}"/>
              </a:ext>
            </a:extLst>
          </p:cNvPr>
          <p:cNvSpPr>
            <a:spLocks noGrp="1"/>
          </p:cNvSpPr>
          <p:nvPr/>
        </p:nvSpPr>
        <p:spPr>
          <a:xfrm>
            <a:off x="5429250" y="4524375"/>
            <a:ext cx="485775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DEECBA-EA96-49C5-BDE3-F4615C0AABFC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ONE SEQUENCE SPLIT INTO CHUNKS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067F0A-85DA-479E-8395-5503FCFDEFD1}"/>
              </a:ext>
            </a:extLst>
          </p:cNvPr>
          <p:cNvSpPr>
            <a:spLocks noGrp="1"/>
          </p:cNvSpPr>
          <p:nvPr/>
        </p:nvSpPr>
        <p:spPr>
          <a:xfrm>
            <a:off x="47625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D1769-E1A4-483F-A270-E50A34C1C7BE}"/>
              </a:ext>
            </a:extLst>
          </p:cNvPr>
          <p:cNvSpPr>
            <a:spLocks noGrp="1"/>
          </p:cNvSpPr>
          <p:nvPr/>
        </p:nvSpPr>
        <p:spPr>
          <a:xfrm>
            <a:off x="51625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67734A-26FE-4C1C-A7C8-C4823291A326}"/>
              </a:ext>
            </a:extLst>
          </p:cNvPr>
          <p:cNvSpPr>
            <a:spLocks noGrp="1"/>
          </p:cNvSpPr>
          <p:nvPr/>
        </p:nvSpPr>
        <p:spPr>
          <a:xfrm>
            <a:off x="55626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65C29E-DEF8-45B9-B730-49F4E9612774}"/>
              </a:ext>
            </a:extLst>
          </p:cNvPr>
          <p:cNvSpPr>
            <a:spLocks noGrp="1"/>
          </p:cNvSpPr>
          <p:nvPr/>
        </p:nvSpPr>
        <p:spPr>
          <a:xfrm>
            <a:off x="59626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185938-4C5D-423B-9B12-0850FA254481}"/>
              </a:ext>
            </a:extLst>
          </p:cNvPr>
          <p:cNvSpPr>
            <a:spLocks noGrp="1"/>
          </p:cNvSpPr>
          <p:nvPr/>
        </p:nvSpPr>
        <p:spPr>
          <a:xfrm>
            <a:off x="63627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2798A4-55D0-4E9D-9C10-51478FF86CC9}"/>
              </a:ext>
            </a:extLst>
          </p:cNvPr>
          <p:cNvSpPr>
            <a:spLocks noGrp="1"/>
          </p:cNvSpPr>
          <p:nvPr/>
        </p:nvSpPr>
        <p:spPr>
          <a:xfrm>
            <a:off x="67627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1EBA86-93AD-4E7F-9458-588C4A18C766}"/>
              </a:ext>
            </a:extLst>
          </p:cNvPr>
          <p:cNvSpPr>
            <a:spLocks noGrp="1"/>
          </p:cNvSpPr>
          <p:nvPr/>
        </p:nvSpPr>
        <p:spPr>
          <a:xfrm>
            <a:off x="71628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79EF6C-D8FF-4194-8693-CFA094E0664E}"/>
              </a:ext>
            </a:extLst>
          </p:cNvPr>
          <p:cNvSpPr>
            <a:spLocks noGrp="1"/>
          </p:cNvSpPr>
          <p:nvPr/>
        </p:nvSpPr>
        <p:spPr>
          <a:xfrm>
            <a:off x="75628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F8D5EA-6AFC-47A3-9DCC-3694EC59D57B}"/>
              </a:ext>
            </a:extLst>
          </p:cNvPr>
          <p:cNvSpPr>
            <a:spLocks noGrp="1"/>
          </p:cNvSpPr>
          <p:nvPr/>
        </p:nvSpPr>
        <p:spPr>
          <a:xfrm>
            <a:off x="79629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1B950-85A2-440A-B27C-41119D870303}"/>
              </a:ext>
            </a:extLst>
          </p:cNvPr>
          <p:cNvSpPr>
            <a:spLocks noGrp="1"/>
          </p:cNvSpPr>
          <p:nvPr/>
        </p:nvSpPr>
        <p:spPr>
          <a:xfrm>
            <a:off x="83629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0DC62E-0720-49FE-A50C-90F303144F77}"/>
              </a:ext>
            </a:extLst>
          </p:cNvPr>
          <p:cNvSpPr>
            <a:spLocks noGrp="1"/>
          </p:cNvSpPr>
          <p:nvPr/>
        </p:nvSpPr>
        <p:spPr>
          <a:xfrm>
            <a:off x="87630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031E88-C15B-46A4-8AAD-D77C3B0E8763}"/>
              </a:ext>
            </a:extLst>
          </p:cNvPr>
          <p:cNvSpPr>
            <a:spLocks noGrp="1"/>
          </p:cNvSpPr>
          <p:nvPr/>
        </p:nvSpPr>
        <p:spPr>
          <a:xfrm>
            <a:off x="91630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E97F72-A93A-400A-94F7-46230D6E6E4B}"/>
              </a:ext>
            </a:extLst>
          </p:cNvPr>
          <p:cNvSpPr>
            <a:spLocks noGrp="1"/>
          </p:cNvSpPr>
          <p:nvPr/>
        </p:nvSpPr>
        <p:spPr>
          <a:xfrm>
            <a:off x="95631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7C7FC1-8FDB-4D76-9357-E4071AA4975D}"/>
              </a:ext>
            </a:extLst>
          </p:cNvPr>
          <p:cNvSpPr>
            <a:spLocks noGrp="1"/>
          </p:cNvSpPr>
          <p:nvPr/>
        </p:nvSpPr>
        <p:spPr>
          <a:xfrm>
            <a:off x="99631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32EE02-7014-4FAE-85B9-2B4CA4915BC9}"/>
              </a:ext>
            </a:extLst>
          </p:cNvPr>
          <p:cNvSpPr>
            <a:spLocks noGrp="1"/>
          </p:cNvSpPr>
          <p:nvPr/>
        </p:nvSpPr>
        <p:spPr>
          <a:xfrm>
            <a:off x="103632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1F4AB7-0471-4B5F-B024-B74B60624375}"/>
              </a:ext>
            </a:extLst>
          </p:cNvPr>
          <p:cNvSpPr>
            <a:spLocks noGrp="1"/>
          </p:cNvSpPr>
          <p:nvPr/>
        </p:nvSpPr>
        <p:spPr>
          <a:xfrm>
            <a:off x="107632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3A461F-9A21-4432-BB1A-37080DA38362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024C6-026D-421C-A1BA-A78CD8394899}"/>
              </a:ext>
            </a:extLst>
          </p:cNvPr>
          <p:cNvSpPr>
            <a:spLocks noGrp="1"/>
          </p:cNvSpPr>
          <p:nvPr/>
        </p:nvSpPr>
        <p:spPr>
          <a:xfrm>
            <a:off x="485775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7A025A-03C2-4AB0-BA75-3C3940DC6D35}"/>
              </a:ext>
            </a:extLst>
          </p:cNvPr>
          <p:cNvSpPr>
            <a:spLocks noGrp="1"/>
          </p:cNvSpPr>
          <p:nvPr/>
        </p:nvSpPr>
        <p:spPr>
          <a:xfrm>
            <a:off x="485775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1-4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EDED7F-FC07-4731-B081-B339AB8886E7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3FD974-4DFD-4608-ABFB-B6F9E754D256}"/>
              </a:ext>
            </a:extLst>
          </p:cNvPr>
          <p:cNvSpPr>
            <a:spLocks noGrp="1"/>
          </p:cNvSpPr>
          <p:nvPr/>
        </p:nvSpPr>
        <p:spPr>
          <a:xfrm>
            <a:off x="647700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525B72-4BA8-477B-97BB-1D0E5D0463EF}"/>
              </a:ext>
            </a:extLst>
          </p:cNvPr>
          <p:cNvSpPr>
            <a:spLocks noGrp="1"/>
          </p:cNvSpPr>
          <p:nvPr/>
        </p:nvSpPr>
        <p:spPr>
          <a:xfrm>
            <a:off x="647700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5-8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0D1B62-0131-411F-89DD-47915D5C960A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C87F37-5603-4386-90CA-359EA473FF2C}"/>
              </a:ext>
            </a:extLst>
          </p:cNvPr>
          <p:cNvSpPr>
            <a:spLocks noGrp="1"/>
          </p:cNvSpPr>
          <p:nvPr/>
        </p:nvSpPr>
        <p:spPr>
          <a:xfrm>
            <a:off x="809625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F7D3DF-CBD9-4E2A-8AC4-3AA9D193823B}"/>
              </a:ext>
            </a:extLst>
          </p:cNvPr>
          <p:cNvSpPr>
            <a:spLocks noGrp="1"/>
          </p:cNvSpPr>
          <p:nvPr/>
        </p:nvSpPr>
        <p:spPr>
          <a:xfrm>
            <a:off x="809625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9-12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7884C4-82B5-4747-BB79-4F6557C4E13E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3BD3DD-C72C-4A07-96D5-BB084CB80587}"/>
              </a:ext>
            </a:extLst>
          </p:cNvPr>
          <p:cNvSpPr>
            <a:spLocks noGrp="1"/>
          </p:cNvSpPr>
          <p:nvPr/>
        </p:nvSpPr>
        <p:spPr>
          <a:xfrm>
            <a:off x="971550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CF230F-2CF0-47E3-9B36-5EA3C386F6C6}"/>
              </a:ext>
            </a:extLst>
          </p:cNvPr>
          <p:cNvSpPr>
            <a:spLocks noGrp="1"/>
          </p:cNvSpPr>
          <p:nvPr/>
        </p:nvSpPr>
        <p:spPr>
          <a:xfrm>
            <a:off x="971550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13-16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EFFB3B6-07E7-43F2-A03A-C0E08BD2FE35}"/>
              </a:ext>
            </a:extLst>
          </p:cNvPr>
          <p:cNvSpPr>
            <a:spLocks noGrp="1"/>
          </p:cNvSpPr>
          <p:nvPr/>
        </p:nvSpPr>
        <p:spPr>
          <a:xfrm>
            <a:off x="6048375" y="4750518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Attention exchanges K/V across chunks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C1266E-154B-4773-815A-5718576CCA45}"/>
              </a:ext>
            </a:extLst>
          </p:cNvPr>
          <p:cNvSpPr>
            <a:spLocks noGrp="1"/>
          </p:cNvSpPr>
          <p:nvPr/>
        </p:nvSpPr>
        <p:spPr>
          <a:xfrm>
            <a:off x="5810250" y="5322018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Other layer operations remain local to each token chunk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 routes tokens to distributed experts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t>12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5C6EA3-AF52-466A-85F8-D0333CA8C98A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811AEF-A549-414B-9C47-E60EB1B73FB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Sparse experts and their routed token workload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683A9-1FC7-4F4C-80BB-415D659F882B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C65D34-9056-4512-A817-37C853CCC5F6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9587BE-0C43-40FD-9DB3-BC8ED6ED01A9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router selects a small subset of experts per token; expert outputs are returned to token order.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609BB2-8858-4A70-B19E-C7F22B69D416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D85A9F-7C17-4EC2-8C02-14B37AF405B5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77655-B022-4B44-A39C-3BCA1891104C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All-to-all token dispatch, load imbalance, and expert capacity limits.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BF2BB-0F75-44A3-BB45-C1C2DFE96F85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the model is sparse MoE and expert weights or compute need distribution.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1F2398-27E4-4339-9287-E6851AD8A624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45E796D-1A33-4A7C-A665-E4E1FE9541B3}"/>
              </a:ext>
            </a:extLst>
          </p:cNvPr>
          <p:cNvSpPr>
            <a:spLocks noGrp="1"/>
          </p:cNvSpPr>
          <p:nvPr/>
        </p:nvSpPr>
        <p:spPr>
          <a:xfrm>
            <a:off x="5286375" y="2238375"/>
            <a:ext cx="1476375" cy="1095375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D4E9B54-2C67-41F9-91E3-EF8B99F36113}"/>
              </a:ext>
            </a:extLst>
          </p:cNvPr>
          <p:cNvSpPr>
            <a:spLocks noGrp="1"/>
          </p:cNvSpPr>
          <p:nvPr/>
        </p:nvSpPr>
        <p:spPr>
          <a:xfrm>
            <a:off x="5285301" y="3154619"/>
            <a:ext cx="1477450" cy="179131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F6E646E-EDB5-4B43-B3F3-0B1D244063D9}"/>
              </a:ext>
            </a:extLst>
          </p:cNvPr>
          <p:cNvSpPr>
            <a:spLocks noGrp="1"/>
          </p:cNvSpPr>
          <p:nvPr/>
        </p:nvSpPr>
        <p:spPr>
          <a:xfrm flipV="1">
            <a:off x="5305425" y="3324224"/>
            <a:ext cx="1457325" cy="664906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719A3A6-10CB-461E-A629-4872EFA38425}"/>
              </a:ext>
            </a:extLst>
          </p:cNvPr>
          <p:cNvSpPr>
            <a:spLocks noGrp="1"/>
          </p:cNvSpPr>
          <p:nvPr/>
        </p:nvSpPr>
        <p:spPr>
          <a:xfrm flipV="1">
            <a:off x="5285301" y="3333750"/>
            <a:ext cx="1476374" cy="1550425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38CE8A6-96E4-4FD3-947F-E26C9627FAFF}"/>
              </a:ext>
            </a:extLst>
          </p:cNvPr>
          <p:cNvSpPr>
            <a:spLocks noGrp="1"/>
          </p:cNvSpPr>
          <p:nvPr/>
        </p:nvSpPr>
        <p:spPr>
          <a:xfrm flipV="1">
            <a:off x="7858124" y="2695575"/>
            <a:ext cx="999049" cy="623427"/>
          </a:xfrm>
          <a:prstGeom prst="line">
            <a:avLst/>
          </a:prstGeom>
          <a:noFill/>
          <a:ln w="23813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A7B87E9B-27BD-4278-AE6D-F11317790EC7}"/>
              </a:ext>
            </a:extLst>
          </p:cNvPr>
          <p:cNvSpPr>
            <a:spLocks noGrp="1"/>
          </p:cNvSpPr>
          <p:nvPr/>
        </p:nvSpPr>
        <p:spPr>
          <a:xfrm>
            <a:off x="7905750" y="3286124"/>
            <a:ext cx="2762250" cy="533401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A3614239-D648-4062-A700-7657246FE3F6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952500" cy="952500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2A61770-0A98-4EE9-921D-2CE74168BABB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2381250" cy="952500"/>
          </a:xfrm>
          <a:prstGeom prst="line">
            <a:avLst/>
          </a:prstGeom>
          <a:noFill/>
          <a:ln w="23813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CAD1BE-7165-43C5-881D-B410D266C043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ROUTER SELECTS EXPERTS PER TOKEN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6D7A006-2F2F-4F56-9108-5A6BF59A34CE}"/>
              </a:ext>
            </a:extLst>
          </p:cNvPr>
          <p:cNvSpPr>
            <a:spLocks noGrp="1"/>
          </p:cNvSpPr>
          <p:nvPr/>
        </p:nvSpPr>
        <p:spPr>
          <a:xfrm>
            <a:off x="4640826" y="1889944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T1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BF48D28A-A8F5-4C10-B86B-D199CC4D31CA}"/>
              </a:ext>
            </a:extLst>
          </p:cNvPr>
          <p:cNvSpPr>
            <a:spLocks noGrp="1"/>
          </p:cNvSpPr>
          <p:nvPr/>
        </p:nvSpPr>
        <p:spPr>
          <a:xfrm>
            <a:off x="6762750" y="2857500"/>
            <a:ext cx="1143000" cy="952500"/>
          </a:xfrm>
          <a:prstGeom prst="diamond">
            <a:avLst/>
          </a:prstGeom>
          <a:solidFill>
            <a:srgbClr val="DB6C30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20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8D7B3B-B6E8-4616-AB50-3EE292424BD7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Router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0365B7-0A4E-4A60-821A-E36B2CA97948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1143000" cy="8572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B0FFA9-4109-4848-9C66-A3AE81A2ADA7}"/>
              </a:ext>
            </a:extLst>
          </p:cNvPr>
          <p:cNvSpPr>
            <a:spLocks noGrp="1"/>
          </p:cNvSpPr>
          <p:nvPr/>
        </p:nvSpPr>
        <p:spPr>
          <a:xfrm>
            <a:off x="10287000" y="2143125"/>
            <a:ext cx="1143000" cy="85725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3CDF3B-200D-484C-8029-F9D0A9927DA1}"/>
              </a:ext>
            </a:extLst>
          </p:cNvPr>
          <p:cNvSpPr>
            <a:spLocks noGrp="1"/>
          </p:cNvSpPr>
          <p:nvPr/>
        </p:nvSpPr>
        <p:spPr>
          <a:xfrm>
            <a:off x="8858250" y="3857625"/>
            <a:ext cx="1143000" cy="85725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54CB5B-2BAD-4FDC-ABED-B5AB19BB47D8}"/>
              </a:ext>
            </a:extLst>
          </p:cNvPr>
          <p:cNvSpPr>
            <a:spLocks noGrp="1"/>
          </p:cNvSpPr>
          <p:nvPr/>
        </p:nvSpPr>
        <p:spPr>
          <a:xfrm>
            <a:off x="10287000" y="3857625"/>
            <a:ext cx="1143000" cy="8572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8273EC-DA09-4D4C-8EB5-AB37DE3DD533}"/>
              </a:ext>
            </a:extLst>
          </p:cNvPr>
          <p:cNvSpPr>
            <a:spLocks noGrp="1"/>
          </p:cNvSpPr>
          <p:nvPr/>
        </p:nvSpPr>
        <p:spPr>
          <a:xfrm>
            <a:off x="6858000" y="51435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Only selected experts execute each token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2C7F6B-BA85-B01B-857F-398C5F520C82}"/>
              </a:ext>
            </a:extLst>
          </p:cNvPr>
          <p:cNvSpPr>
            <a:spLocks noGrp="1"/>
          </p:cNvSpPr>
          <p:nvPr/>
        </p:nvSpPr>
        <p:spPr>
          <a:xfrm>
            <a:off x="4639750" y="2763068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T2</a:t>
            </a:r>
            <a:endParaRPr sz="1600" b="1" baseline="-25000">
              <a:solidFill>
                <a:srgbClr val="333639"/>
              </a:solidFill>
              <a:latin typeface="FlandersArtSans-Bold"/>
              <a:ea typeface="FlandersArtSans-Bold"/>
              <a:cs typeface="FlandersArtSans-Bold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287120-87AF-5E36-B51B-C5963F34B762}"/>
              </a:ext>
            </a:extLst>
          </p:cNvPr>
          <p:cNvSpPr>
            <a:spLocks noGrp="1"/>
          </p:cNvSpPr>
          <p:nvPr/>
        </p:nvSpPr>
        <p:spPr>
          <a:xfrm>
            <a:off x="4639750" y="3636192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T3</a:t>
            </a:r>
            <a:endParaRPr sz="1600" b="1" baseline="-25000">
              <a:solidFill>
                <a:srgbClr val="333639"/>
              </a:solidFill>
              <a:latin typeface="FlandersArtSans-Bold"/>
              <a:ea typeface="FlandersArtSans-Bold"/>
              <a:cs typeface="FlandersArtSans-Bold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8B28EF9-AEE2-C0B4-D033-09555FB7DBA9}"/>
              </a:ext>
            </a:extLst>
          </p:cNvPr>
          <p:cNvSpPr>
            <a:spLocks noGrp="1"/>
          </p:cNvSpPr>
          <p:nvPr/>
        </p:nvSpPr>
        <p:spPr>
          <a:xfrm>
            <a:off x="4664792" y="4509317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T4</a:t>
            </a:r>
            <a:endParaRPr sz="1600" b="1" baseline="-25000">
              <a:solidFill>
                <a:srgbClr val="333639"/>
              </a:solidFill>
              <a:latin typeface="FlandersArtSans-Bold"/>
              <a:ea typeface="FlandersArtSans-Bold"/>
              <a:cs typeface="FlandersArtSans-Bold"/>
            </a:endParaRP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Training: match method to bottleneck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t>15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54B8D5E-5076-4EAC-ABE5-6AECA0FC1CE1}"/>
              </a:ext>
            </a:extLst>
          </p:cNvPr>
          <p:cNvSpPr>
            <a:spLocks noGrp="1"/>
          </p:cNvSpPr>
          <p:nvPr/>
        </p:nvSpPr>
        <p:spPr>
          <a:xfrm>
            <a:off x="2162175" y="2143125"/>
            <a:ext cx="9525" cy="6191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BEE3989-5522-41B7-88D6-7423F892A9C9}"/>
              </a:ext>
            </a:extLst>
          </p:cNvPr>
          <p:cNvSpPr>
            <a:spLocks noGrp="1"/>
          </p:cNvSpPr>
          <p:nvPr/>
        </p:nvSpPr>
        <p:spPr>
          <a:xfrm>
            <a:off x="3638550" y="1838325"/>
            <a:ext cx="45720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6B82C31-A662-4097-B70C-E50DB9EB9E30}"/>
              </a:ext>
            </a:extLst>
          </p:cNvPr>
          <p:cNvSpPr>
            <a:spLocks noGrp="1"/>
          </p:cNvSpPr>
          <p:nvPr/>
        </p:nvSpPr>
        <p:spPr>
          <a:xfrm>
            <a:off x="4095750" y="1838325"/>
            <a:ext cx="9525" cy="32480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8317BEB-52BF-48D6-A5CA-EA88F041F978}"/>
              </a:ext>
            </a:extLst>
          </p:cNvPr>
          <p:cNvSpPr>
            <a:spLocks noGrp="1"/>
          </p:cNvSpPr>
          <p:nvPr/>
        </p:nvSpPr>
        <p:spPr>
          <a:xfrm>
            <a:off x="4095750" y="211455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2C0F130-9A62-4FEF-A1A2-3D269EA0223C}"/>
              </a:ext>
            </a:extLst>
          </p:cNvPr>
          <p:cNvSpPr>
            <a:spLocks noGrp="1"/>
          </p:cNvSpPr>
          <p:nvPr/>
        </p:nvSpPr>
        <p:spPr>
          <a:xfrm>
            <a:off x="4095750" y="274320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A3E5AE5-7B58-41D2-B51F-4833921F01C1}"/>
              </a:ext>
            </a:extLst>
          </p:cNvPr>
          <p:cNvSpPr>
            <a:spLocks noGrp="1"/>
          </p:cNvSpPr>
          <p:nvPr/>
        </p:nvSpPr>
        <p:spPr>
          <a:xfrm>
            <a:off x="4095750" y="337185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25B3A94-A820-4153-8A8B-F79C7EE4C983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091FA13-288A-4FFE-A5FB-4878895C0B28}"/>
              </a:ext>
            </a:extLst>
          </p:cNvPr>
          <p:cNvSpPr>
            <a:spLocks noGrp="1"/>
          </p:cNvSpPr>
          <p:nvPr/>
        </p:nvSpPr>
        <p:spPr>
          <a:xfrm>
            <a:off x="4095750" y="462915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295DF9D-634B-4B35-A457-8812D48FC48F}"/>
              </a:ext>
            </a:extLst>
          </p:cNvPr>
          <p:cNvSpPr>
            <a:spLocks noGrp="1"/>
          </p:cNvSpPr>
          <p:nvPr/>
        </p:nvSpPr>
        <p:spPr>
          <a:xfrm>
            <a:off x="7000875" y="21145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7E43009-48F8-4683-A80B-E917E71B7C15}"/>
              </a:ext>
            </a:extLst>
          </p:cNvPr>
          <p:cNvSpPr>
            <a:spLocks noGrp="1"/>
          </p:cNvSpPr>
          <p:nvPr/>
        </p:nvSpPr>
        <p:spPr>
          <a:xfrm>
            <a:off x="7000875" y="27432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56277A1-7DE0-46EF-BB34-68DEFB9520C0}"/>
              </a:ext>
            </a:extLst>
          </p:cNvPr>
          <p:cNvSpPr>
            <a:spLocks noGrp="1"/>
          </p:cNvSpPr>
          <p:nvPr/>
        </p:nvSpPr>
        <p:spPr>
          <a:xfrm>
            <a:off x="7000875" y="33718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0068005-FC0F-48E1-B6CD-AA72A9AD9272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442E00A-CF90-427C-A718-AD48A7D57871}"/>
              </a:ext>
            </a:extLst>
          </p:cNvPr>
          <p:cNvSpPr>
            <a:spLocks noGrp="1"/>
          </p:cNvSpPr>
          <p:nvPr/>
        </p:nvSpPr>
        <p:spPr>
          <a:xfrm>
            <a:off x="7000875" y="46291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53F951-B8F5-430A-AC0D-B9993002810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952750" cy="628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Does one complete training copy fit?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DD5A55-29B0-48BB-ACE4-DF3458B9DD34}"/>
              </a:ext>
            </a:extLst>
          </p:cNvPr>
          <p:cNvSpPr>
            <a:spLocks noGrp="1"/>
          </p:cNvSpPr>
          <p:nvPr/>
        </p:nvSpPr>
        <p:spPr>
          <a:xfrm>
            <a:off x="2257425" y="2314575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YES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E891F-0794-408F-81AA-B337BEAE4F60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952750" cy="87630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1 GPU, or DDP for throughput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0EE42B-5EF7-40B7-B759-AF951ADDB35C}"/>
              </a:ext>
            </a:extLst>
          </p:cNvPr>
          <p:cNvSpPr>
            <a:spLocks noGrp="1"/>
          </p:cNvSpPr>
          <p:nvPr/>
        </p:nvSpPr>
        <p:spPr>
          <a:xfrm>
            <a:off x="4495800" y="14287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NO: IDENTIFY THE DOMINANT MEMORY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A88535-DCC2-498E-A773-48061FAE6CDB}"/>
              </a:ext>
            </a:extLst>
          </p:cNvPr>
          <p:cNvSpPr>
            <a:spLocks noGrp="1"/>
          </p:cNvSpPr>
          <p:nvPr/>
        </p:nvSpPr>
        <p:spPr>
          <a:xfrm>
            <a:off x="4524375" y="186690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Persistent state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481510-CDFD-485A-AA11-ABD88CD45F57}"/>
              </a:ext>
            </a:extLst>
          </p:cNvPr>
          <p:cNvSpPr>
            <a:spLocks noGrp="1"/>
          </p:cNvSpPr>
          <p:nvPr/>
        </p:nvSpPr>
        <p:spPr>
          <a:xfrm>
            <a:off x="7762875" y="1866900"/>
            <a:ext cx="3667125" cy="49530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C3060E-E6BE-473C-B253-AF5D8CA72E91}"/>
              </a:ext>
            </a:extLst>
          </p:cNvPr>
          <p:cNvSpPr>
            <a:spLocks noGrp="1"/>
          </p:cNvSpPr>
          <p:nvPr/>
        </p:nvSpPr>
        <p:spPr>
          <a:xfrm>
            <a:off x="4524375" y="249555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Activations or sequence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75732F-BA53-4197-9D5F-7707D0E0992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Checkpointing, smaller microbatch, CP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990CC1-D5B6-47C6-9A0C-3C5FE0154385}"/>
              </a:ext>
            </a:extLst>
          </p:cNvPr>
          <p:cNvSpPr>
            <a:spLocks noGrp="1"/>
          </p:cNvSpPr>
          <p:nvPr/>
        </p:nvSpPr>
        <p:spPr>
          <a:xfrm>
            <a:off x="4524375" y="312420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One layer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EC3318-CCA4-4E66-A2DA-44AFF69312C6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Minimal TP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FF4830-8F59-4165-92B4-96FCD15DC0C6}"/>
              </a:ext>
            </a:extLst>
          </p:cNvPr>
          <p:cNvSpPr>
            <a:spLocks noGrp="1"/>
          </p:cNvSpPr>
          <p:nvPr/>
        </p:nvSpPr>
        <p:spPr>
          <a:xfrm>
            <a:off x="4524375" y="375285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Depth or node boundary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84F592-8A07-4817-8DBC-3F7B482242EB}"/>
              </a:ext>
            </a:extLst>
          </p:cNvPr>
          <p:cNvSpPr>
            <a:spLocks noGrp="1"/>
          </p:cNvSpPr>
          <p:nvPr/>
        </p:nvSpPr>
        <p:spPr>
          <a:xfrm>
            <a:off x="7762875" y="37528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PP; keep TP local if also needed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E830AF-4720-4699-8547-51A18AC4C012}"/>
              </a:ext>
            </a:extLst>
          </p:cNvPr>
          <p:cNvSpPr>
            <a:spLocks noGrp="1"/>
          </p:cNvSpPr>
          <p:nvPr/>
        </p:nvSpPr>
        <p:spPr>
          <a:xfrm>
            <a:off x="4524375" y="438150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Sparse experts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3966E3-A2DD-4B91-9403-EBD6BE06C43D}"/>
              </a:ext>
            </a:extLst>
          </p:cNvPr>
          <p:cNvSpPr>
            <a:spLocks noGrp="1"/>
          </p:cNvSpPr>
          <p:nvPr/>
        </p:nvSpPr>
        <p:spPr>
          <a:xfrm>
            <a:off x="7762875" y="438150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171F4D-8F02-499A-8C1A-ECDF9180F972}"/>
              </a:ext>
            </a:extLst>
          </p:cNvPr>
          <p:cNvSpPr>
            <a:spLocks noGrp="1"/>
          </p:cNvSpPr>
          <p:nvPr/>
        </p:nvSpPr>
        <p:spPr>
          <a:xfrm>
            <a:off x="3667125" y="5219700"/>
            <a:ext cx="7762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the smallest model-parallel degree that fits; spend remaining GPUs on data parallelism.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separate fit from service objective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t>16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36B9AA8-132E-4834-BD00-A46D48546972}"/>
              </a:ext>
            </a:extLst>
          </p:cNvPr>
          <p:cNvSpPr>
            <a:spLocks noGrp="1"/>
          </p:cNvSpPr>
          <p:nvPr/>
        </p:nvSpPr>
        <p:spPr>
          <a:xfrm flipV="1">
            <a:off x="3648382" y="3286125"/>
            <a:ext cx="457200" cy="9524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76AAB94-A505-4300-9AAF-38AF21EFF38C}"/>
              </a:ext>
            </a:extLst>
          </p:cNvPr>
          <p:cNvSpPr>
            <a:spLocks noGrp="1"/>
          </p:cNvSpPr>
          <p:nvPr/>
        </p:nvSpPr>
        <p:spPr>
          <a:xfrm>
            <a:off x="4095750" y="2038350"/>
            <a:ext cx="9525" cy="29527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A43CE67-EA56-4D6A-AF00-6414A8286113}"/>
              </a:ext>
            </a:extLst>
          </p:cNvPr>
          <p:cNvSpPr>
            <a:spLocks noGrp="1"/>
          </p:cNvSpPr>
          <p:nvPr/>
        </p:nvSpPr>
        <p:spPr>
          <a:xfrm>
            <a:off x="4095750" y="203835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3CA93D1-40A2-4CCF-A92B-1414436393E3}"/>
              </a:ext>
            </a:extLst>
          </p:cNvPr>
          <p:cNvSpPr>
            <a:spLocks noGrp="1"/>
          </p:cNvSpPr>
          <p:nvPr/>
        </p:nvSpPr>
        <p:spPr>
          <a:xfrm>
            <a:off x="4095750" y="289560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A8073CB-FA67-4FD8-9030-20C4FC1BCCC3}"/>
              </a:ext>
            </a:extLst>
          </p:cNvPr>
          <p:cNvSpPr>
            <a:spLocks noGrp="1"/>
          </p:cNvSpPr>
          <p:nvPr/>
        </p:nvSpPr>
        <p:spPr>
          <a:xfrm>
            <a:off x="4095750" y="413385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A1DB66D-9098-410C-898D-71B2444C27D6}"/>
              </a:ext>
            </a:extLst>
          </p:cNvPr>
          <p:cNvSpPr>
            <a:spLocks noGrp="1"/>
          </p:cNvSpPr>
          <p:nvPr/>
        </p:nvSpPr>
        <p:spPr>
          <a:xfrm>
            <a:off x="4095750" y="499110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F92A091-8548-422D-A35F-C9137BE7B6ED}"/>
              </a:ext>
            </a:extLst>
          </p:cNvPr>
          <p:cNvSpPr>
            <a:spLocks noGrp="1"/>
          </p:cNvSpPr>
          <p:nvPr/>
        </p:nvSpPr>
        <p:spPr>
          <a:xfrm>
            <a:off x="7000875" y="20383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FF3828D-D51F-41E6-B86D-40369AD28EB9}"/>
              </a:ext>
            </a:extLst>
          </p:cNvPr>
          <p:cNvSpPr>
            <a:spLocks noGrp="1"/>
          </p:cNvSpPr>
          <p:nvPr/>
        </p:nvSpPr>
        <p:spPr>
          <a:xfrm>
            <a:off x="7000875" y="28956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7AF7825-7B17-4060-AF73-E2279B7E51AC}"/>
              </a:ext>
            </a:extLst>
          </p:cNvPr>
          <p:cNvSpPr>
            <a:spLocks noGrp="1"/>
          </p:cNvSpPr>
          <p:nvPr/>
        </p:nvSpPr>
        <p:spPr>
          <a:xfrm>
            <a:off x="7000875" y="41338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012E085-7E9E-41AB-A6D0-3367322F8FED}"/>
              </a:ext>
            </a:extLst>
          </p:cNvPr>
          <p:cNvSpPr>
            <a:spLocks noGrp="1"/>
          </p:cNvSpPr>
          <p:nvPr/>
        </p:nvSpPr>
        <p:spPr>
          <a:xfrm>
            <a:off x="7000875" y="49911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7BF144-52DF-4E4E-BEEE-E4025A55FA7A}"/>
              </a:ext>
            </a:extLst>
          </p:cNvPr>
          <p:cNvSpPr>
            <a:spLocks noGrp="1"/>
          </p:cNvSpPr>
          <p:nvPr/>
        </p:nvSpPr>
        <p:spPr>
          <a:xfrm>
            <a:off x="685800" y="2954285"/>
            <a:ext cx="295275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Does one model replica fit on one GPU?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F5130-79AF-4616-9BDF-B59C405BA823}"/>
              </a:ext>
            </a:extLst>
          </p:cNvPr>
          <p:cNvSpPr>
            <a:spLocks noGrp="1"/>
          </p:cNvSpPr>
          <p:nvPr/>
        </p:nvSpPr>
        <p:spPr>
          <a:xfrm>
            <a:off x="4619625" y="1428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YES: CHOOSE THE SERVICE OBJECTIVE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FEB2B3-4150-4E05-9F28-FBFC28F72A43}"/>
              </a:ext>
            </a:extLst>
          </p:cNvPr>
          <p:cNvSpPr>
            <a:spLocks noGrp="1"/>
          </p:cNvSpPr>
          <p:nvPr/>
        </p:nvSpPr>
        <p:spPr>
          <a:xfrm>
            <a:off x="4619625" y="35242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NO: IDENTIFY THE CAPACITY LIMIT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6617E3-521B-4795-B068-3B59BD4190B2}"/>
              </a:ext>
            </a:extLst>
          </p:cNvPr>
          <p:cNvSpPr>
            <a:spLocks noGrp="1"/>
          </p:cNvSpPr>
          <p:nvPr/>
        </p:nvSpPr>
        <p:spPr>
          <a:xfrm>
            <a:off x="4619625" y="179070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Aggregate throughput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6EB18C-2EEA-45D4-B0DD-373362EE148F}"/>
              </a:ext>
            </a:extLst>
          </p:cNvPr>
          <p:cNvSpPr>
            <a:spLocks noGrp="1"/>
          </p:cNvSpPr>
          <p:nvPr/>
        </p:nvSpPr>
        <p:spPr>
          <a:xfrm>
            <a:off x="7762875" y="1790700"/>
            <a:ext cx="3667125" cy="49530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Replicate complete models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FD9664-83A4-490A-A2E7-A77F3B3158EE}"/>
              </a:ext>
            </a:extLst>
          </p:cNvPr>
          <p:cNvSpPr>
            <a:spLocks noGrp="1"/>
          </p:cNvSpPr>
          <p:nvPr/>
        </p:nvSpPr>
        <p:spPr>
          <a:xfrm>
            <a:off x="4619625" y="264795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Lower request latency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A3937-0E1C-40F9-9E75-DB158CCA9678}"/>
              </a:ext>
            </a:extLst>
          </p:cNvPr>
          <p:cNvSpPr>
            <a:spLocks noGrp="1"/>
          </p:cNvSpPr>
          <p:nvPr/>
        </p:nvSpPr>
        <p:spPr>
          <a:xfrm>
            <a:off x="7762875" y="26479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Benchmark 1 GPU vs minimal TP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756E8-DE6A-4003-89D7-FC78EBD0B9BF}"/>
              </a:ext>
            </a:extLst>
          </p:cNvPr>
          <p:cNvSpPr>
            <a:spLocks noGrp="1"/>
          </p:cNvSpPr>
          <p:nvPr/>
        </p:nvSpPr>
        <p:spPr>
          <a:xfrm>
            <a:off x="4619625" y="388620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Weights dominate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CEFA39-1A53-436F-8159-4B83B45561E9}"/>
              </a:ext>
            </a:extLst>
          </p:cNvPr>
          <p:cNvSpPr>
            <a:spLocks noGrp="1"/>
          </p:cNvSpPr>
          <p:nvPr/>
        </p:nvSpPr>
        <p:spPr>
          <a:xfrm>
            <a:off x="7762875" y="388620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TP in a fast domain; PP across nodes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B43492-F0EA-4D81-8B8D-26DB0DDCAE45}"/>
              </a:ext>
            </a:extLst>
          </p:cNvPr>
          <p:cNvSpPr>
            <a:spLocks noGrp="1"/>
          </p:cNvSpPr>
          <p:nvPr/>
        </p:nvSpPr>
        <p:spPr>
          <a:xfrm>
            <a:off x="4619625" y="474345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KV cache or context dominates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F42B8-25AC-4D3D-ACF0-D8EED01C9EF9}"/>
              </a:ext>
            </a:extLst>
          </p:cNvPr>
          <p:cNvSpPr>
            <a:spLocks noGrp="1"/>
          </p:cNvSpPr>
          <p:nvPr/>
        </p:nvSpPr>
        <p:spPr>
          <a:xfrm>
            <a:off x="7762875" y="47434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Reduce concurrency/context; quantize or shard cache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A1C49B-A6F5-4710-9EA5-ABBA4DA86FC8}"/>
              </a:ext>
            </a:extLst>
          </p:cNvPr>
          <p:cNvSpPr>
            <a:spLocks noGrp="1"/>
          </p:cNvSpPr>
          <p:nvPr/>
        </p:nvSpPr>
        <p:spPr>
          <a:xfrm>
            <a:off x="3000375" y="5353050"/>
            <a:ext cx="842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One GPU still too large: quantization or CPU/NVMe offload trades speed for capacity.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optimizer state dominates, shard state first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t>17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F2A985-ED2B-419A-934C-AF7E75D6CA53}"/>
              </a:ext>
            </a:extLst>
          </p:cNvPr>
          <p:cNvSpPr>
            <a:spLocks noGrp="1"/>
          </p:cNvSpPr>
          <p:nvPr/>
        </p:nvSpPr>
        <p:spPr>
          <a:xfrm>
            <a:off x="685800" y="1684389"/>
            <a:ext cx="2857500" cy="2258654"/>
          </a:xfrm>
          <a:prstGeom prst="rect">
            <a:avLst/>
          </a:prstGeom>
          <a:solidFill>
            <a:srgbClr val="F6E5DB"/>
          </a:solidFill>
          <a:ln w="0">
            <a:solidFill>
              <a:srgbClr val="F6E5DB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68C09-C8D8-454A-8CDF-F404690964F0}"/>
              </a:ext>
            </a:extLst>
          </p:cNvPr>
          <p:cNvSpPr>
            <a:spLocks noGrp="1"/>
          </p:cNvSpPr>
          <p:nvPr/>
        </p:nvSpPr>
        <p:spPr>
          <a:xfrm>
            <a:off x="914400" y="1874889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C03A88-DD35-48F7-BE43-A0D84D6C055D}"/>
              </a:ext>
            </a:extLst>
          </p:cNvPr>
          <p:cNvSpPr>
            <a:spLocks noGrp="1"/>
          </p:cNvSpPr>
          <p:nvPr/>
        </p:nvSpPr>
        <p:spPr>
          <a:xfrm>
            <a:off x="914400" y="2208264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8 GPUs x 80 GB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1DC3B6-1FF3-491A-9098-B6F30912A110}"/>
              </a:ext>
            </a:extLst>
          </p:cNvPr>
          <p:cNvSpPr>
            <a:spLocks noGrp="1"/>
          </p:cNvSpPr>
          <p:nvPr/>
        </p:nvSpPr>
        <p:spPr>
          <a:xfrm>
            <a:off x="914400" y="2732139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Parameters fit per GPU.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Optimizer state does not.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Sequences are moderate.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Goal: training throughput.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DFD47-6268-456B-8474-D7CE8CB38EA4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REASONING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5289A-A1A8-4440-A13C-2955BB14226C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CD127-62AD-4EE3-AC72-EDB1B757A86D}"/>
              </a:ext>
            </a:extLst>
          </p:cNvPr>
          <p:cNvSpPr>
            <a:spLocks noGrp="1"/>
          </p:cNvSpPr>
          <p:nvPr/>
        </p:nvSpPr>
        <p:spPr>
          <a:xfrm>
            <a:off x="4781550" y="17907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Locate the limiting object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06C2C8-AE44-4F00-9490-4CC9204A0C7B}"/>
              </a:ext>
            </a:extLst>
          </p:cNvPr>
          <p:cNvSpPr>
            <a:spLocks noGrp="1"/>
          </p:cNvSpPr>
          <p:nvPr/>
        </p:nvSpPr>
        <p:spPr>
          <a:xfrm>
            <a:off x="4781550" y="20669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Persistent training state is the measured constraint.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24DC5A-F035-40FD-AA6F-05B9DC63CF2A}"/>
              </a:ext>
            </a:extLst>
          </p:cNvPr>
          <p:cNvSpPr>
            <a:spLocks noGrp="1"/>
          </p:cNvSpPr>
          <p:nvPr/>
        </p:nvSpPr>
        <p:spPr>
          <a:xfrm>
            <a:off x="4781550" y="25908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7A6C0-1346-41C3-956E-E33ABDE7CA51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805AE-D852-40A4-B98E-31337C7048A0}"/>
              </a:ext>
            </a:extLst>
          </p:cNvPr>
          <p:cNvSpPr>
            <a:spLocks noGrp="1"/>
          </p:cNvSpPr>
          <p:nvPr/>
        </p:nvSpPr>
        <p:spPr>
          <a:xfrm>
            <a:off x="4781550" y="27813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Select the matching method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377F4-A20C-48D8-9B63-F91EFAE2566A}"/>
              </a:ext>
            </a:extLst>
          </p:cNvPr>
          <p:cNvSpPr>
            <a:spLocks noGrp="1"/>
          </p:cNvSpPr>
          <p:nvPr/>
        </p:nvSpPr>
        <p:spPr>
          <a:xfrm>
            <a:off x="4781550" y="30575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FSDP / ZeRO full sharding before introducing layer-wise model parallelism.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AE0FF9-75D3-4FE4-B7C4-214851AB1F89}"/>
              </a:ext>
            </a:extLst>
          </p:cNvPr>
          <p:cNvSpPr>
            <a:spLocks noGrp="1"/>
          </p:cNvSpPr>
          <p:nvPr/>
        </p:nvSpPr>
        <p:spPr>
          <a:xfrm>
            <a:off x="4781550" y="36576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1D2F2-7FBB-4EE6-A01B-25D8B1197282}"/>
              </a:ext>
            </a:extLst>
          </p:cNvPr>
          <p:cNvSpPr>
            <a:spLocks noGrp="1"/>
          </p:cNvSpPr>
          <p:nvPr/>
        </p:nvSpPr>
        <p:spPr>
          <a:xfrm>
            <a:off x="419100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0A15D9-7416-40CA-B6FB-5365681A3EC6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Scale conservatively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5AD06B-00E1-4DB1-BA14-E6AA42D557BA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the smallest shard group that fits; use extra groups for data parallel throughput.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33765-4C83-4919-B73D-BD920E8802A6}"/>
              </a:ext>
            </a:extLst>
          </p:cNvPr>
          <p:cNvSpPr>
            <a:spLocks noGrp="1"/>
          </p:cNvSpPr>
          <p:nvPr/>
        </p:nvSpPr>
        <p:spPr>
          <a:xfrm>
            <a:off x="4191000" y="47053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NOT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4D68B1-E9F0-4759-A37D-3661903B8BC9}"/>
              </a:ext>
            </a:extLst>
          </p:cNvPr>
          <p:cNvSpPr>
            <a:spLocks noGrp="1"/>
          </p:cNvSpPr>
          <p:nvPr/>
        </p:nvSpPr>
        <p:spPr>
          <a:xfrm>
            <a:off x="4191000" y="49530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TP: layers fit.   PP: depth is not limiting.   CPU offload: unnecessary host traffic.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E69E21-8F40-4837-8CA4-AB1E0897342C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744200" cy="28575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644372-5A43-4D80-944E-C9A31C184DDF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Choice: FSDP / ZeRO first; add activation checkpointing only if later measurements justify it.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Weights need 2.5 GPUs: minimum</a:t>
            </a:r>
            <a:br/>
            <a:r>
              <a:t>TP =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t>18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CE8EE-5ADC-4A76-B26F-E30681B68233}"/>
              </a:ext>
            </a:extLst>
          </p:cNvPr>
          <p:cNvSpPr>
            <a:spLocks noGrp="1"/>
          </p:cNvSpPr>
          <p:nvPr/>
        </p:nvSpPr>
        <p:spPr>
          <a:xfrm>
            <a:off x="685800" y="1713888"/>
            <a:ext cx="2857500" cy="2596787"/>
          </a:xfrm>
          <a:prstGeom prst="rect">
            <a:avLst/>
          </a:prstGeom>
          <a:solidFill>
            <a:srgbClr val="F6E5DB"/>
          </a:solidFill>
          <a:ln w="0">
            <a:solidFill>
              <a:srgbClr val="F6E5DB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6CFF3-EE38-4EB3-9EFA-1994C31E95D6}"/>
              </a:ext>
            </a:extLst>
          </p:cNvPr>
          <p:cNvSpPr>
            <a:spLocks noGrp="1"/>
          </p:cNvSpPr>
          <p:nvPr/>
        </p:nvSpPr>
        <p:spPr>
          <a:xfrm>
            <a:off x="914400" y="1904388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1AB1B-7AD0-4D10-9C56-F3E13BAE5239}"/>
              </a:ext>
            </a:extLst>
          </p:cNvPr>
          <p:cNvSpPr>
            <a:spLocks noGrp="1"/>
          </p:cNvSpPr>
          <p:nvPr/>
        </p:nvSpPr>
        <p:spPr>
          <a:xfrm>
            <a:off x="914400" y="2237763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4 fast-connected GPUs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3951AA-EA5C-4CE8-91DD-DB439034BA48}"/>
              </a:ext>
            </a:extLst>
          </p:cNvPr>
          <p:cNvSpPr>
            <a:spLocks noGrp="1"/>
          </p:cNvSpPr>
          <p:nvPr/>
        </p:nvSpPr>
        <p:spPr>
          <a:xfrm>
            <a:off x="914400" y="2837838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Weights need 2.5 GPU memories.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KV cache fits.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Batch is small.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Goal: low request latency.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41F4B-A48D-4AC6-8733-16FE31491E3A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REASONING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F64757-63A4-4ED2-AF4B-D686C8B896A1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42E7D-D408-40B9-94FC-56D3D7FBB810}"/>
              </a:ext>
            </a:extLst>
          </p:cNvPr>
          <p:cNvSpPr>
            <a:spLocks noGrp="1"/>
          </p:cNvSpPr>
          <p:nvPr/>
        </p:nvSpPr>
        <p:spPr>
          <a:xfrm>
            <a:off x="4781550" y="17907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Capacity requires several GPUs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ABEB20-3092-43BE-B67A-F38D3F0F8062}"/>
              </a:ext>
            </a:extLst>
          </p:cNvPr>
          <p:cNvSpPr>
            <a:spLocks noGrp="1"/>
          </p:cNvSpPr>
          <p:nvPr/>
        </p:nvSpPr>
        <p:spPr>
          <a:xfrm>
            <a:off x="4781550" y="20669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complete replica cannot fit on one device.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655DC-AF5B-497A-BD18-4F5E4F6CB6DF}"/>
              </a:ext>
            </a:extLst>
          </p:cNvPr>
          <p:cNvSpPr>
            <a:spLocks noGrp="1"/>
          </p:cNvSpPr>
          <p:nvPr/>
        </p:nvSpPr>
        <p:spPr>
          <a:xfrm>
            <a:off x="4781550" y="25908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3150E-BBD9-4E3E-97F1-747E52C4697C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02F4D8-1D6E-4993-B1B2-6DFD762C8AA3}"/>
              </a:ext>
            </a:extLst>
          </p:cNvPr>
          <p:cNvSpPr>
            <a:spLocks noGrp="1"/>
          </p:cNvSpPr>
          <p:nvPr/>
        </p:nvSpPr>
        <p:spPr>
          <a:xfrm>
            <a:off x="4781550" y="27813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Use the minimum feasible degree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0ACB92-CAF7-4EA6-8CD3-5C6A371ABEB7}"/>
              </a:ext>
            </a:extLst>
          </p:cNvPr>
          <p:cNvSpPr>
            <a:spLocks noGrp="1"/>
          </p:cNvSpPr>
          <p:nvPr/>
        </p:nvSpPr>
        <p:spPr>
          <a:xfrm>
            <a:off x="4781550" y="30575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Equal tensor shards require TP = 4; TP = 2 cannot hold the weights.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5B613D-9FC3-4E06-BCFC-EBBEF2292EB2}"/>
              </a:ext>
            </a:extLst>
          </p:cNvPr>
          <p:cNvSpPr>
            <a:spLocks noGrp="1"/>
          </p:cNvSpPr>
          <p:nvPr/>
        </p:nvSpPr>
        <p:spPr>
          <a:xfrm>
            <a:off x="4781550" y="36576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1A72B2-7801-416B-8D34-B698CEE06AE2}"/>
              </a:ext>
            </a:extLst>
          </p:cNvPr>
          <p:cNvSpPr>
            <a:spLocks noGrp="1"/>
          </p:cNvSpPr>
          <p:nvPr/>
        </p:nvSpPr>
        <p:spPr>
          <a:xfrm>
            <a:off x="419100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05FB3-3240-45B3-804D-9CA42D30902F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Verify the latency target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45611-E0DA-4C59-8CBC-19412C28218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Benchmark collective cost, kernel efficiency, and the real request distribution.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34B34-B663-4748-8607-3D7302D40E6E}"/>
              </a:ext>
            </a:extLst>
          </p:cNvPr>
          <p:cNvSpPr>
            <a:spLocks noGrp="1"/>
          </p:cNvSpPr>
          <p:nvPr/>
        </p:nvSpPr>
        <p:spPr>
          <a:xfrm>
            <a:off x="4191000" y="47053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NOT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0988E1-57BC-45FB-8BF3-7CBB582834D2}"/>
              </a:ext>
            </a:extLst>
          </p:cNvPr>
          <p:cNvSpPr>
            <a:spLocks noGrp="1"/>
          </p:cNvSpPr>
          <p:nvPr/>
        </p:nvSpPr>
        <p:spPr>
          <a:xfrm>
            <a:off x="4191000" y="49530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Replicas: no fit.   CPU offload: host traffic.   PP: small-batch bubbles.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06DE88-2F4F-48F5-A57B-D484C9F1111F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744200" cy="28575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545BDB-9BB7-41C3-99C5-C77152924A0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Choice: minimal TP inside the fast communication domain, then benchmark actual latency.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a base strategy; justify one addition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t>19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1EAFE-EAF6-4758-86CB-69867BC104D0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429000" cy="2876550"/>
          </a:xfrm>
          <a:prstGeom prst="rect">
            <a:avLst/>
          </a:prstGeom>
          <a:solidFill>
            <a:srgbClr val="F6E5DB"/>
          </a:solidFill>
          <a:ln w="0">
            <a:solidFill>
              <a:srgbClr val="F6E5DB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85895-44B1-4A19-9050-DBCB542F1FDC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18943-7CFD-49CE-9B21-EF29C36316D5}"/>
              </a:ext>
            </a:extLst>
          </p:cNvPr>
          <p:cNvSpPr>
            <a:spLocks noGrp="1"/>
          </p:cNvSpPr>
          <p:nvPr/>
        </p:nvSpPr>
        <p:spPr>
          <a:xfrm>
            <a:off x="914400" y="22574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16 GPUs: 2 nodes x 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DBFFD-8EA0-419C-8DD2-A158D5865ABF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2952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Training state needs 5 GPU memories.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One transformer block fits.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Long sequences dominate activations.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Goal: throughput.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A060CC-9DF5-4F40-856B-EED9BA7E3561}"/>
              </a:ext>
            </a:extLst>
          </p:cNvPr>
          <p:cNvSpPr>
            <a:spLocks noGrp="1"/>
          </p:cNvSpPr>
          <p:nvPr/>
        </p:nvSpPr>
        <p:spPr>
          <a:xfrm>
            <a:off x="4667250" y="15240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CANDIDATE 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507E6-0CB8-4BDF-9B16-AB32528CCA42}"/>
              </a:ext>
            </a:extLst>
          </p:cNvPr>
          <p:cNvSpPr>
            <a:spLocks noGrp="1"/>
          </p:cNvSpPr>
          <p:nvPr/>
        </p:nvSpPr>
        <p:spPr>
          <a:xfrm>
            <a:off x="4667250" y="19526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8A580-3E6C-4207-8E87-31447930AF08}"/>
              </a:ext>
            </a:extLst>
          </p:cNvPr>
          <p:cNvSpPr>
            <a:spLocks noGrp="1"/>
          </p:cNvSpPr>
          <p:nvPr/>
        </p:nvSpPr>
        <p:spPr>
          <a:xfrm>
            <a:off x="4905375" y="19526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DDP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AC1A2F-7554-4567-86E2-C64F052B1365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F19F4E-E910-47A3-93EE-A4A2E4793150}"/>
              </a:ext>
            </a:extLst>
          </p:cNvPr>
          <p:cNvSpPr>
            <a:spLocks noGrp="1"/>
          </p:cNvSpPr>
          <p:nvPr/>
        </p:nvSpPr>
        <p:spPr>
          <a:xfrm>
            <a:off x="6524625" y="19526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3AA4B7-5C46-414B-AC34-E048ED2DE512}"/>
              </a:ext>
            </a:extLst>
          </p:cNvPr>
          <p:cNvSpPr>
            <a:spLocks noGrp="1"/>
          </p:cNvSpPr>
          <p:nvPr/>
        </p:nvSpPr>
        <p:spPr>
          <a:xfrm>
            <a:off x="4667250" y="258127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758903-CC3E-41A6-A360-F6F2D32A1B73}"/>
              </a:ext>
            </a:extLst>
          </p:cNvPr>
          <p:cNvSpPr>
            <a:spLocks noGrp="1"/>
          </p:cNvSpPr>
          <p:nvPr/>
        </p:nvSpPr>
        <p:spPr>
          <a:xfrm>
            <a:off x="4905375" y="25812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6EE493-B74A-4F39-86CD-9279EF2B3CF8}"/>
              </a:ext>
            </a:extLst>
          </p:cNvPr>
          <p:cNvSpPr>
            <a:spLocks noGrp="1"/>
          </p:cNvSpPr>
          <p:nvPr/>
        </p:nvSpPr>
        <p:spPr>
          <a:xfrm>
            <a:off x="6286500" y="258127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A277CE-EDEA-4B79-A4CF-37797049B1AD}"/>
              </a:ext>
            </a:extLst>
          </p:cNvPr>
          <p:cNvSpPr>
            <a:spLocks noGrp="1"/>
          </p:cNvSpPr>
          <p:nvPr/>
        </p:nvSpPr>
        <p:spPr>
          <a:xfrm>
            <a:off x="6524625" y="25812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D35DE3-CC43-44CD-814B-6D9D785212C3}"/>
              </a:ext>
            </a:extLst>
          </p:cNvPr>
          <p:cNvSpPr>
            <a:spLocks noGrp="1"/>
          </p:cNvSpPr>
          <p:nvPr/>
        </p:nvSpPr>
        <p:spPr>
          <a:xfrm>
            <a:off x="4667250" y="32099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9959EB-3DBD-4944-BBCD-804A13B4A0CF}"/>
              </a:ext>
            </a:extLst>
          </p:cNvPr>
          <p:cNvSpPr>
            <a:spLocks noGrp="1"/>
          </p:cNvSpPr>
          <p:nvPr/>
        </p:nvSpPr>
        <p:spPr>
          <a:xfrm>
            <a:off x="4905375" y="3209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F9F401-21B1-48F8-ADCC-87796D48EDC7}"/>
              </a:ext>
            </a:extLst>
          </p:cNvPr>
          <p:cNvSpPr>
            <a:spLocks noGrp="1"/>
          </p:cNvSpPr>
          <p:nvPr/>
        </p:nvSpPr>
        <p:spPr>
          <a:xfrm>
            <a:off x="6286500" y="32099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42BA88-2920-4BEC-9976-90CAB6E8B4E4}"/>
              </a:ext>
            </a:extLst>
          </p:cNvPr>
          <p:cNvSpPr>
            <a:spLocks noGrp="1"/>
          </p:cNvSpPr>
          <p:nvPr/>
        </p:nvSpPr>
        <p:spPr>
          <a:xfrm>
            <a:off x="6524625" y="3209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CPU offload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39411E-1942-413A-9F01-BE97E0801220}"/>
              </a:ext>
            </a:extLst>
          </p:cNvPr>
          <p:cNvSpPr>
            <a:spLocks noGrp="1"/>
          </p:cNvSpPr>
          <p:nvPr/>
        </p:nvSpPr>
        <p:spPr>
          <a:xfrm>
            <a:off x="7953375" y="1524000"/>
            <a:ext cx="9525" cy="35242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63B63D-5D5E-4542-9B91-BC6C8A1DF577}"/>
              </a:ext>
            </a:extLst>
          </p:cNvPr>
          <p:cNvSpPr>
            <a:spLocks noGrp="1"/>
          </p:cNvSpPr>
          <p:nvPr/>
        </p:nvSpPr>
        <p:spPr>
          <a:xfrm>
            <a:off x="8429625" y="15240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YOUR 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69833C-8261-4E6F-BC4E-D9C13620ABFD}"/>
              </a:ext>
            </a:extLst>
          </p:cNvPr>
          <p:cNvSpPr>
            <a:spLocks noGrp="1"/>
          </p:cNvSpPr>
          <p:nvPr/>
        </p:nvSpPr>
        <p:spPr>
          <a:xfrm>
            <a:off x="8429625" y="1952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BD85E6-366D-419A-A395-DFC5B0AEE8ED}"/>
              </a:ext>
            </a:extLst>
          </p:cNvPr>
          <p:cNvSpPr>
            <a:spLocks noGrp="1"/>
          </p:cNvSpPr>
          <p:nvPr/>
        </p:nvSpPr>
        <p:spPr>
          <a:xfrm>
            <a:off x="9020175" y="19335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Choose a base strategy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86CB7F-4995-4181-8BC7-30C2280E4993}"/>
              </a:ext>
            </a:extLst>
          </p:cNvPr>
          <p:cNvSpPr>
            <a:spLocks noGrp="1"/>
          </p:cNvSpPr>
          <p:nvPr/>
        </p:nvSpPr>
        <p:spPr>
          <a:xfrm>
            <a:off x="9020175" y="22098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Name the primary bottleneck it removes.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FEB1D4-E22B-44CC-A81C-C3BBD25E3F1B}"/>
              </a:ext>
            </a:extLst>
          </p:cNvPr>
          <p:cNvSpPr>
            <a:spLocks noGrp="1"/>
          </p:cNvSpPr>
          <p:nvPr/>
        </p:nvSpPr>
        <p:spPr>
          <a:xfrm>
            <a:off x="8429625" y="2952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5EBF55-2464-4C0E-9192-690247F0AF5B}"/>
              </a:ext>
            </a:extLst>
          </p:cNvPr>
          <p:cNvSpPr>
            <a:spLocks noGrp="1"/>
          </p:cNvSpPr>
          <p:nvPr/>
        </p:nvSpPr>
        <p:spPr>
          <a:xfrm>
            <a:off x="9020175" y="29337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Add one method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AE3D69-9F8E-4F7D-B6D2-BB0B6B766458}"/>
              </a:ext>
            </a:extLst>
          </p:cNvPr>
          <p:cNvSpPr>
            <a:spLocks noGrp="1"/>
          </p:cNvSpPr>
          <p:nvPr/>
        </p:nvSpPr>
        <p:spPr>
          <a:xfrm>
            <a:off x="9020175" y="3209925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Name the distinct limit it removes.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931379-D578-4D1F-B9A9-A55B08B8C408}"/>
              </a:ext>
            </a:extLst>
          </p:cNvPr>
          <p:cNvSpPr>
            <a:spLocks noGrp="1"/>
          </p:cNvSpPr>
          <p:nvPr/>
        </p:nvSpPr>
        <p:spPr>
          <a:xfrm>
            <a:off x="8429625" y="39528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6F7AC2-10DD-47DB-8B4F-6EA45576EE72}"/>
              </a:ext>
            </a:extLst>
          </p:cNvPr>
          <p:cNvSpPr>
            <a:spLocks noGrp="1"/>
          </p:cNvSpPr>
          <p:nvPr/>
        </p:nvSpPr>
        <p:spPr>
          <a:xfrm>
            <a:off x="9020175" y="39338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Reject two alternatives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15C2B9-0F02-44B4-9BE8-38476CDC5265}"/>
              </a:ext>
            </a:extLst>
          </p:cNvPr>
          <p:cNvSpPr>
            <a:spLocks noGrp="1"/>
          </p:cNvSpPr>
          <p:nvPr/>
        </p:nvSpPr>
        <p:spPr>
          <a:xfrm>
            <a:off x="9020175" y="42100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Give concrete memory or communication reasons.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7DFBA6-23CA-469D-8507-81A8898A27EC}"/>
              </a:ext>
            </a:extLst>
          </p:cNvPr>
          <p:cNvSpPr>
            <a:spLocks noGrp="1"/>
          </p:cNvSpPr>
          <p:nvPr/>
        </p:nvSpPr>
        <p:spPr>
          <a:xfrm>
            <a:off x="2476500" y="52959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 defensible answer names the bottleneck, divided object, and communication consequence.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lookup: bottleneck to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t>20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AA7D7-025A-405B-87A7-BBF05684F4EF}"/>
              </a:ext>
            </a:extLst>
          </p:cNvPr>
          <p:cNvSpPr>
            <a:spLocks noGrp="1"/>
          </p:cNvSpPr>
          <p:nvPr/>
        </p:nvSpPr>
        <p:spPr>
          <a:xfrm>
            <a:off x="742950" y="1809752"/>
            <a:ext cx="10591800" cy="400050"/>
          </a:xfrm>
          <a:prstGeom prst="rect">
            <a:avLst/>
          </a:prstGeom>
          <a:solidFill>
            <a:srgbClr val="333639"/>
          </a:solidFill>
          <a:ln w="0">
            <a:solidFill>
              <a:srgbClr val="333639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1862C-384E-448D-AD00-23CBAD550DC2}"/>
              </a:ext>
            </a:extLst>
          </p:cNvPr>
          <p:cNvSpPr>
            <a:spLocks noGrp="1"/>
          </p:cNvSpPr>
          <p:nvPr/>
        </p:nvSpPr>
        <p:spPr>
          <a:xfrm>
            <a:off x="895350" y="1809752"/>
            <a:ext cx="3409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6C5F2A-8F9A-4852-BC4F-F9D5F365B81C}"/>
              </a:ext>
            </a:extLst>
          </p:cNvPr>
          <p:cNvSpPr>
            <a:spLocks noGrp="1"/>
          </p:cNvSpPr>
          <p:nvPr/>
        </p:nvSpPr>
        <p:spPr>
          <a:xfrm>
            <a:off x="4610100" y="1809752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YES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F2A27-35F4-41C6-9664-2EF2B3CCD5C5}"/>
              </a:ext>
            </a:extLst>
          </p:cNvPr>
          <p:cNvSpPr>
            <a:spLocks noGrp="1"/>
          </p:cNvSpPr>
          <p:nvPr/>
        </p:nvSpPr>
        <p:spPr>
          <a:xfrm>
            <a:off x="7753350" y="1809752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NO / NEXT CHECK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6A5F19-E15C-42F4-9B89-A0DE06734D69}"/>
              </a:ext>
            </a:extLst>
          </p:cNvPr>
          <p:cNvSpPr>
            <a:spLocks noGrp="1"/>
          </p:cNvSpPr>
          <p:nvPr/>
        </p:nvSpPr>
        <p:spPr>
          <a:xfrm>
            <a:off x="4457700" y="1809752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528D1-D7AD-4C77-8E1C-B1759083423E}"/>
              </a:ext>
            </a:extLst>
          </p:cNvPr>
          <p:cNvSpPr>
            <a:spLocks noGrp="1"/>
          </p:cNvSpPr>
          <p:nvPr/>
        </p:nvSpPr>
        <p:spPr>
          <a:xfrm>
            <a:off x="7600950" y="1809752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E8ED5E-6C4F-4A26-87CA-C672B95C5440}"/>
              </a:ext>
            </a:extLst>
          </p:cNvPr>
          <p:cNvSpPr>
            <a:spLocks noGrp="1"/>
          </p:cNvSpPr>
          <p:nvPr/>
        </p:nvSpPr>
        <p:spPr>
          <a:xfrm>
            <a:off x="742950" y="295275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F85FBA-6919-4E86-ACEB-B6E7C7DEB8E5}"/>
              </a:ext>
            </a:extLst>
          </p:cNvPr>
          <p:cNvSpPr>
            <a:spLocks noGrp="1"/>
          </p:cNvSpPr>
          <p:nvPr/>
        </p:nvSpPr>
        <p:spPr>
          <a:xfrm>
            <a:off x="895350" y="220980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One complete training copy fits?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0F989C-761D-45E0-91FE-038B7C61C990}"/>
              </a:ext>
            </a:extLst>
          </p:cNvPr>
          <p:cNvSpPr>
            <a:spLocks noGrp="1"/>
          </p:cNvSpPr>
          <p:nvPr/>
        </p:nvSpPr>
        <p:spPr>
          <a:xfrm>
            <a:off x="4610100" y="220980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 GPU, or DDP for throughput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1245E0-9A1B-44B0-BC91-40F7AD958D70}"/>
              </a:ext>
            </a:extLst>
          </p:cNvPr>
          <p:cNvSpPr>
            <a:spLocks noGrp="1"/>
          </p:cNvSpPr>
          <p:nvPr/>
        </p:nvSpPr>
        <p:spPr>
          <a:xfrm>
            <a:off x="7753350" y="220980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Identify dominant memory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8D6FAF-A8C8-49BE-8C59-0203D7AD0C3C}"/>
              </a:ext>
            </a:extLst>
          </p:cNvPr>
          <p:cNvSpPr>
            <a:spLocks noGrp="1"/>
          </p:cNvSpPr>
          <p:nvPr/>
        </p:nvSpPr>
        <p:spPr>
          <a:xfrm>
            <a:off x="742950" y="2952752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BB8E07-CAA3-4BE0-9F83-4B7E73552BA2}"/>
              </a:ext>
            </a:extLst>
          </p:cNvPr>
          <p:cNvSpPr>
            <a:spLocks noGrp="1"/>
          </p:cNvSpPr>
          <p:nvPr/>
        </p:nvSpPr>
        <p:spPr>
          <a:xfrm>
            <a:off x="742950" y="369570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1FA82-7FA0-4DB0-B67B-E2FD02F8F2C5}"/>
              </a:ext>
            </a:extLst>
          </p:cNvPr>
          <p:cNvSpPr>
            <a:spLocks noGrp="1"/>
          </p:cNvSpPr>
          <p:nvPr/>
        </p:nvSpPr>
        <p:spPr>
          <a:xfrm>
            <a:off x="895350" y="295275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Persistent state dominates?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6EB707-8F5C-42B6-AB97-71058E0576A5}"/>
              </a:ext>
            </a:extLst>
          </p:cNvPr>
          <p:cNvSpPr>
            <a:spLocks noGrp="1"/>
          </p:cNvSpPr>
          <p:nvPr/>
        </p:nvSpPr>
        <p:spPr>
          <a:xfrm>
            <a:off x="4610100" y="295275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75B022-453D-41D8-8773-49AB5D87F325}"/>
              </a:ext>
            </a:extLst>
          </p:cNvPr>
          <p:cNvSpPr>
            <a:spLocks noGrp="1"/>
          </p:cNvSpPr>
          <p:nvPr/>
        </p:nvSpPr>
        <p:spPr>
          <a:xfrm>
            <a:off x="7753350" y="295275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activations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DE942-6869-420D-8959-B1879A0EC7E5}"/>
              </a:ext>
            </a:extLst>
          </p:cNvPr>
          <p:cNvSpPr>
            <a:spLocks noGrp="1"/>
          </p:cNvSpPr>
          <p:nvPr/>
        </p:nvSpPr>
        <p:spPr>
          <a:xfrm>
            <a:off x="742950" y="443865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EBB893-9376-498D-8546-231DD66B93EC}"/>
              </a:ext>
            </a:extLst>
          </p:cNvPr>
          <p:cNvSpPr>
            <a:spLocks noGrp="1"/>
          </p:cNvSpPr>
          <p:nvPr/>
        </p:nvSpPr>
        <p:spPr>
          <a:xfrm>
            <a:off x="895350" y="369570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Long sequence / activations dominate?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1948F0-0695-4232-A0B4-F97194319FFA}"/>
              </a:ext>
            </a:extLst>
          </p:cNvPr>
          <p:cNvSpPr>
            <a:spLocks noGrp="1"/>
          </p:cNvSpPr>
          <p:nvPr/>
        </p:nvSpPr>
        <p:spPr>
          <a:xfrm>
            <a:off x="4610100" y="369570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Checkpoint, microbatch, CP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687885-6297-490D-8E53-2767D39667F3}"/>
              </a:ext>
            </a:extLst>
          </p:cNvPr>
          <p:cNvSpPr>
            <a:spLocks noGrp="1"/>
          </p:cNvSpPr>
          <p:nvPr/>
        </p:nvSpPr>
        <p:spPr>
          <a:xfrm>
            <a:off x="7753350" y="369570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one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15682A-27D4-4855-9CE1-CEA89989E284}"/>
              </a:ext>
            </a:extLst>
          </p:cNvPr>
          <p:cNvSpPr>
            <a:spLocks noGrp="1"/>
          </p:cNvSpPr>
          <p:nvPr/>
        </p:nvSpPr>
        <p:spPr>
          <a:xfrm>
            <a:off x="742950" y="4438652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A2B81C-12A7-409D-BD3D-FDB2FF0AA136}"/>
              </a:ext>
            </a:extLst>
          </p:cNvPr>
          <p:cNvSpPr>
            <a:spLocks noGrp="1"/>
          </p:cNvSpPr>
          <p:nvPr/>
        </p:nvSpPr>
        <p:spPr>
          <a:xfrm>
            <a:off x="742950" y="518160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E4DE8C-3A59-4332-8D1D-E2D64B4D9603}"/>
              </a:ext>
            </a:extLst>
          </p:cNvPr>
          <p:cNvSpPr>
            <a:spLocks noGrp="1"/>
          </p:cNvSpPr>
          <p:nvPr/>
        </p:nvSpPr>
        <p:spPr>
          <a:xfrm>
            <a:off x="895350" y="443865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 single layer does not fit?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E9C1EE-B08D-4399-9C98-D2482B8800A0}"/>
              </a:ext>
            </a:extLst>
          </p:cNvPr>
          <p:cNvSpPr>
            <a:spLocks noGrp="1"/>
          </p:cNvSpPr>
          <p:nvPr/>
        </p:nvSpPr>
        <p:spPr>
          <a:xfrm>
            <a:off x="4610100" y="443865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Minimal TP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03D633-EFE2-4684-9EBC-3E43127D379C}"/>
              </a:ext>
            </a:extLst>
          </p:cNvPr>
          <p:cNvSpPr>
            <a:spLocks noGrp="1"/>
          </p:cNvSpPr>
          <p:nvPr/>
        </p:nvSpPr>
        <p:spPr>
          <a:xfrm>
            <a:off x="7753350" y="443865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depth / nodes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5DE3C6-3809-499F-86D5-E095774F2E54}"/>
              </a:ext>
            </a:extLst>
          </p:cNvPr>
          <p:cNvSpPr>
            <a:spLocks noGrp="1"/>
          </p:cNvSpPr>
          <p:nvPr/>
        </p:nvSpPr>
        <p:spPr>
          <a:xfrm>
            <a:off x="742950" y="592455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ECF97C-2B2E-47DC-9617-43F0AD970DA9}"/>
              </a:ext>
            </a:extLst>
          </p:cNvPr>
          <p:cNvSpPr>
            <a:spLocks noGrp="1"/>
          </p:cNvSpPr>
          <p:nvPr/>
        </p:nvSpPr>
        <p:spPr>
          <a:xfrm>
            <a:off x="895350" y="518160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Depth or node boundary dominates?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00C543-7651-4F92-85A9-9AA1CB32648E}"/>
              </a:ext>
            </a:extLst>
          </p:cNvPr>
          <p:cNvSpPr>
            <a:spLocks noGrp="1"/>
          </p:cNvSpPr>
          <p:nvPr/>
        </p:nvSpPr>
        <p:spPr>
          <a:xfrm>
            <a:off x="4610100" y="518160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PP; keep TP local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EEB985-8707-4BB2-B29F-6FF1DDD572DC}"/>
              </a:ext>
            </a:extLst>
          </p:cNvPr>
          <p:cNvSpPr>
            <a:spLocks noGrp="1"/>
          </p:cNvSpPr>
          <p:nvPr/>
        </p:nvSpPr>
        <p:spPr>
          <a:xfrm>
            <a:off x="7753350" y="518160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EP for MoE; offload as fallback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lookup: goal and capacity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t>21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CF07F-E5CD-46BA-8E51-B08B44C9A1BD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10591800" cy="400050"/>
          </a:xfrm>
          <a:prstGeom prst="rect">
            <a:avLst/>
          </a:prstGeom>
          <a:solidFill>
            <a:srgbClr val="333639"/>
          </a:solidFill>
          <a:ln w="0">
            <a:solidFill>
              <a:srgbClr val="333639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430C4-D046-4B26-B199-9ED72CFCE430}"/>
              </a:ext>
            </a:extLst>
          </p:cNvPr>
          <p:cNvSpPr>
            <a:spLocks noGrp="1"/>
          </p:cNvSpPr>
          <p:nvPr/>
        </p:nvSpPr>
        <p:spPr>
          <a:xfrm>
            <a:off x="895350" y="1504950"/>
            <a:ext cx="3409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E67B2E-6900-4B66-A01D-9BFEFDA9E522}"/>
              </a:ext>
            </a:extLst>
          </p:cNvPr>
          <p:cNvSpPr>
            <a:spLocks noGrp="1"/>
          </p:cNvSpPr>
          <p:nvPr/>
        </p:nvSpPr>
        <p:spPr>
          <a:xfrm>
            <a:off x="4610100" y="15049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YES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032D85-29ED-4CBC-998A-FB6E21D64896}"/>
              </a:ext>
            </a:extLst>
          </p:cNvPr>
          <p:cNvSpPr>
            <a:spLocks noGrp="1"/>
          </p:cNvSpPr>
          <p:nvPr/>
        </p:nvSpPr>
        <p:spPr>
          <a:xfrm>
            <a:off x="7753350" y="15049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NO / NEXT CHECK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CD867-152B-42EF-BE80-3E9DE1B2D362}"/>
              </a:ext>
            </a:extLst>
          </p:cNvPr>
          <p:cNvSpPr>
            <a:spLocks noGrp="1"/>
          </p:cNvSpPr>
          <p:nvPr/>
        </p:nvSpPr>
        <p:spPr>
          <a:xfrm>
            <a:off x="4457700" y="1504950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BD7EF-C8B0-4E9D-B349-6F44822C0750}"/>
              </a:ext>
            </a:extLst>
          </p:cNvPr>
          <p:cNvSpPr>
            <a:spLocks noGrp="1"/>
          </p:cNvSpPr>
          <p:nvPr/>
        </p:nvSpPr>
        <p:spPr>
          <a:xfrm>
            <a:off x="7600950" y="1504950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DDC395-15D6-4184-89EC-EC9D2A1720D2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0CA694-45FA-4444-9059-5082AC423602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One complete replica fits?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747DC-E4F3-4A55-A59B-D5E961677BE1}"/>
              </a:ext>
            </a:extLst>
          </p:cNvPr>
          <p:cNvSpPr>
            <a:spLocks noGrp="1"/>
          </p:cNvSpPr>
          <p:nvPr/>
        </p:nvSpPr>
        <p:spPr>
          <a:xfrm>
            <a:off x="4610100" y="19050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Throughput: replicas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F0C43-39A7-4B80-8422-F03086030561}"/>
              </a:ext>
            </a:extLst>
          </p:cNvPr>
          <p:cNvSpPr>
            <a:spLocks noGrp="1"/>
          </p:cNvSpPr>
          <p:nvPr/>
        </p:nvSpPr>
        <p:spPr>
          <a:xfrm>
            <a:off x="7753350" y="19050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Identify capacity limit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BA0A9D-40DF-4966-B397-E16EEBC90B35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44B5F4-FACB-4E05-8692-F8C63C270E70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FB234F-04C0-4C8F-92CA-1918ECFA346D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Latency target, replica fits?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A3ADC-CD02-447B-AEAD-F6C6FA85314C}"/>
              </a:ext>
            </a:extLst>
          </p:cNvPr>
          <p:cNvSpPr>
            <a:spLocks noGrp="1"/>
          </p:cNvSpPr>
          <p:nvPr/>
        </p:nvSpPr>
        <p:spPr>
          <a:xfrm>
            <a:off x="4610100" y="264795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Benchmark 1 GPU vs minimal TP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3F7961-3286-4E8C-94AD-B66F242F026C}"/>
              </a:ext>
            </a:extLst>
          </p:cNvPr>
          <p:cNvSpPr>
            <a:spLocks noGrp="1"/>
          </p:cNvSpPr>
          <p:nvPr/>
        </p:nvSpPr>
        <p:spPr>
          <a:xfrm>
            <a:off x="7753350" y="264795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Weights or KV cache?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B88868-A62E-4951-97C8-EDD495FFB6FD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DA1906-7302-4A4F-8BC6-9F8B12E05C1A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Weights dominate?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D92FEF-C502-4D79-9024-4E50C7220244}"/>
              </a:ext>
            </a:extLst>
          </p:cNvPr>
          <p:cNvSpPr>
            <a:spLocks noGrp="1"/>
          </p:cNvSpPr>
          <p:nvPr/>
        </p:nvSpPr>
        <p:spPr>
          <a:xfrm>
            <a:off x="4610100" y="33909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TP in fast domain; PP across nodes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B9B7B3-CF3D-4276-8D71-5B7BDF7E3850}"/>
              </a:ext>
            </a:extLst>
          </p:cNvPr>
          <p:cNvSpPr>
            <a:spLocks noGrp="1"/>
          </p:cNvSpPr>
          <p:nvPr/>
        </p:nvSpPr>
        <p:spPr>
          <a:xfrm>
            <a:off x="7753350" y="33909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Inspect KV / context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935C69-ED5C-4F48-AFC0-347E3BAD6BCA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97BB86-B936-467F-A317-D44345A831BF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C4A545-92F4-4EA1-813F-A504A4358E3A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KV cache dominates?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CB7014-B2D7-400E-92B3-B515B336ADBD}"/>
              </a:ext>
            </a:extLst>
          </p:cNvPr>
          <p:cNvSpPr>
            <a:spLocks noGrp="1"/>
          </p:cNvSpPr>
          <p:nvPr/>
        </p:nvSpPr>
        <p:spPr>
          <a:xfrm>
            <a:off x="4610100" y="413385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Reduce concurrency/context; quantize or shard 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9736C2-D56D-4131-A58C-B9AF01489353}"/>
              </a:ext>
            </a:extLst>
          </p:cNvPr>
          <p:cNvSpPr>
            <a:spLocks noGrp="1"/>
          </p:cNvSpPr>
          <p:nvPr/>
        </p:nvSpPr>
        <p:spPr>
          <a:xfrm>
            <a:off x="7753350" y="413385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architecture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86BA8-0039-4CE4-A16F-1CC7A36B92C8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E35C30-414E-4A87-B91C-8A49B8F974BF}"/>
              </a:ext>
            </a:extLst>
          </p:cNvPr>
          <p:cNvSpPr>
            <a:spLocks noGrp="1"/>
          </p:cNvSpPr>
          <p:nvPr/>
        </p:nvSpPr>
        <p:spPr>
          <a:xfrm>
            <a:off x="895350" y="487680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Sparse MoE?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39C94D-B5DB-4F82-8C91-9B123A740DCF}"/>
              </a:ext>
            </a:extLst>
          </p:cNvPr>
          <p:cNvSpPr>
            <a:spLocks noGrp="1"/>
          </p:cNvSpPr>
          <p:nvPr/>
        </p:nvSpPr>
        <p:spPr>
          <a:xfrm>
            <a:off x="4610100" y="48768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EP, usually within fast 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28F9CD-A5CB-4767-B410-35CA07E8E4DB}"/>
              </a:ext>
            </a:extLst>
          </p:cNvPr>
          <p:cNvSpPr>
            <a:spLocks noGrp="1"/>
          </p:cNvSpPr>
          <p:nvPr/>
        </p:nvSpPr>
        <p:spPr>
          <a:xfrm>
            <a:off x="7753350" y="48768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1 GPU only: quantize / offload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Training offload moves state out of scarce GPU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OFFLOADS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Optimizer state and optimizer work first; optionally parameters and gradients.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2971800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494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505456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The GPU runs forward and backward. FSDP or ZeRO stages state through host memory when it is needed.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3419856"/>
            <a:ext cx="2971800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5661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MAIN COST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82219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Host-device traffic, CPU work, and pressure on host RAM and link bandwidth.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2971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Use when: sharding and checkpointing still do not fit, and capacity matters more than step time.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87952" y="11430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HOST RAM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7616" y="11430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HBM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87952" y="1481328"/>
            <a:ext cx="2907792" cy="3584448"/>
          </a:xfrm>
          <a:prstGeom prst="rect">
            <a:avLst/>
          </a:prstGeom>
          <a:solidFill>
            <a:srgbClr val="ECEEF1"/>
          </a:solidFill>
          <a:ln w="12700">
            <a:solidFill>
              <a:srgbClr val="C7CB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481328"/>
            <a:ext cx="2852928" cy="3584448"/>
          </a:xfrm>
          <a:prstGeom prst="rect">
            <a:avLst/>
          </a:prstGeom>
          <a:solidFill>
            <a:srgbClr val="FCF3ED"/>
          </a:solidFill>
          <a:ln w="15240">
            <a:solidFill>
              <a:srgbClr val="DB6C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1828800"/>
            <a:ext cx="2267712" cy="822960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7452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Optimizer state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+ optimizer step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7992" y="3346704"/>
            <a:ext cx="22677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B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392424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Parameters + gradients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(optional)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77656" y="2212848"/>
            <a:ext cx="2212848" cy="1097280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87384" y="225856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Forward + backward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2240280"/>
            <a:ext cx="1207008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headEnd type="triangle"/>
          </a:ln>
        </p:spPr>
      </p:sp>
      <p:sp>
        <p:nvSpPr>
          <p:cNvPr id="23" name="Text 21"/>
          <p:cNvSpPr/>
          <p:nvPr/>
        </p:nvSpPr>
        <p:spPr>
          <a:xfrm>
            <a:off x="7114032" y="187452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gradients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0" y="2862072"/>
            <a:ext cx="1207008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104888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updated params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0" y="3694176"/>
            <a:ext cx="1207008" cy="0"/>
          </a:xfrm>
          <a:prstGeom prst="line">
            <a:avLst/>
          </a:prstGeom>
          <a:noFill/>
          <a:ln w="16510">
            <a:solidFill>
              <a:srgbClr val="656A7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168896" y="335584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prefetch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32320" y="4251960"/>
            <a:ext cx="1207008" cy="0"/>
          </a:xfrm>
          <a:prstGeom prst="line">
            <a:avLst/>
          </a:prstGeom>
          <a:noFill/>
          <a:ln w="16510">
            <a:solidFill>
              <a:srgbClr val="656A70"/>
            </a:solidFill>
            <a:prstDash val="solid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7168896" y="43342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offload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87952" y="5413248"/>
            <a:ext cx="7022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Offload the largest cold state first; streaming parameters from host for every layer is the more expensive fallback.</a:t>
            </a:r>
            <a:endParaRPr lang="en-US" sz="1600" dirty="0"/>
          </a:p>
        </p:txBody>
      </p:sp>
      <p:sp>
        <p:nvSpPr>
          <p:cNvPr id="100" name="Slide Number Placeholder 100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00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Inference offload has two different execution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A  KEEP SOME LAYERS ON THE CPU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computes its assigned layers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Only activations cross the boundary, but CPU layer compute is usually much slower.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816352"/>
            <a:ext cx="1737360" cy="987552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862072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layers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95344" y="2816352"/>
            <a:ext cx="1737360" cy="987552"/>
          </a:xfrm>
          <a:prstGeom prst="rect">
            <a:avLst/>
          </a:prstGeom>
          <a:solidFill>
            <a:srgbClr val="ECEEF1"/>
          </a:solidFill>
          <a:ln w="12700">
            <a:solidFill>
              <a:srgbClr val="C7CB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5072" y="2862072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layers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compute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15184" y="3310128"/>
            <a:ext cx="1225296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51760" y="2944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activations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087368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Static placement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9048" y="1115568"/>
            <a:ext cx="0" cy="3959352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1430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B  STREAM WEIGHTS TO THE GPU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14813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computes each layer as weights arrive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64224" y="18470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Inactive weights stay in RAM or NVMe; prefetching tries to hide transfer time.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65392" y="2816352"/>
            <a:ext cx="1810512" cy="987552"/>
          </a:xfrm>
          <a:prstGeom prst="rect">
            <a:avLst/>
          </a:prstGeom>
          <a:solidFill>
            <a:srgbClr val="ECEEF1"/>
          </a:solidFill>
          <a:ln w="12700">
            <a:solidFill>
              <a:srgbClr val="C7CB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862072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Inactive layer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weights in RAM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82912" y="2816352"/>
            <a:ext cx="1737360" cy="987552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862072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Current layer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12480" y="3310128"/>
            <a:ext cx="1115568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439912" y="29443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prefetch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4087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Release the GPU copy after use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5074920"/>
            <a:ext cx="10826496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66944"/>
            <a:ext cx="10497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execution avoids repeated weight transfers but spends CPU compute. Streaming preserves GPU math but can move model-sized data for every generated token.</a:t>
            </a:r>
            <a:endParaRPr lang="en-US" sz="1600" dirty="0"/>
          </a:p>
        </p:txBody>
      </p:sp>
      <p:sp>
        <p:nvSpPr>
          <p:cNvPr id="101" name="Slide Number Placeholder 101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01}" type="slidenum"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3421</Words>
  <Application>Microsoft Office PowerPoint</Application>
  <DocSecurity>0</DocSecurity>
  <PresentationFormat>Widescreen</PresentationFormat>
  <Paragraphs>590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FlandersArtSans-Bold</vt:lpstr>
      <vt:lpstr>FlandersArtSans-Medium</vt:lpstr>
      <vt:lpstr>FlandersArtSans-Regular</vt:lpstr>
      <vt:lpstr>1_Office Theme</vt:lpstr>
      <vt:lpstr>Choosing parallelism</vt:lpstr>
      <vt:lpstr>Hardware determines which choices exist</vt:lpstr>
      <vt:lpstr>Parallelism methods divide different objects</vt:lpstr>
      <vt:lpstr>DP splits batches across model replicas</vt:lpstr>
      <vt:lpstr>FSDP shards persistent state across workers</vt:lpstr>
      <vt:lpstr>TP divides the work inside each layer</vt:lpstr>
      <vt:lpstr>PP divides model depth into stages</vt:lpstr>
      <vt:lpstr>Pipeline bubbles are idle stage-time slots</vt:lpstr>
      <vt:lpstr>One microbatch creates a training bubble</vt:lpstr>
      <vt:lpstr>Microbatches reduce the bubble fraction</vt:lpstr>
      <vt:lpstr>CP divides the sequence across workers</vt:lpstr>
      <vt:lpstr>EP routes tokens to distributed experts</vt:lpstr>
      <vt:lpstr>Training: match method to bottleneck</vt:lpstr>
      <vt:lpstr>Inference: separate fit from service objective</vt:lpstr>
      <vt:lpstr>If optimizer state dominates, shard state first</vt:lpstr>
      <vt:lpstr>Weights need 2.5 GPUs: minimum TP = 4</vt:lpstr>
      <vt:lpstr>Choose a base strategy; justify one addition</vt:lpstr>
      <vt:lpstr>Training lookup: bottleneck to response</vt:lpstr>
      <vt:lpstr>Inference lookup: goal and capacity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Geert Jan Bex</cp:lastModifiedBy>
  <cp:revision>1</cp:revision>
  <dcterms:created xsi:type="dcterms:W3CDTF">2026-09-01T13:57:21Z</dcterms:created>
  <dcterms:modified xsi:type="dcterms:W3CDTF">2026-09-01T14:09:40Z</dcterms:modified>
</cp:coreProperties>
</file>