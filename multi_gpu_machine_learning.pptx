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84" r:id="rId2"/>
    <p:sldId id="285" r:id="rId3"/>
    <p:sldId id="784" r:id="rId4"/>
    <p:sldId id="785" r:id="rId5"/>
    <p:sldId id="257" r:id="rId6"/>
    <p:sldId id="258" r:id="rId7"/>
    <p:sldId id="259" r:id="rId8"/>
    <p:sldId id="260" r:id="rId9"/>
    <p:sldId id="283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79" r:id="rId18"/>
    <p:sldId id="280" r:id="rId19"/>
    <p:sldId id="281" r:id="rId20"/>
    <p:sldId id="282" r:id="rId21"/>
    <p:sldId id="275" r:id="rId22"/>
    <p:sldId id="276" r:id="rId23"/>
    <p:sldId id="277" r:id="rId24"/>
    <p:sldId id="278" r:id="rId25"/>
    <p:sldId id="268" r:id="rId26"/>
    <p:sldId id="269" r:id="rId27"/>
    <p:sldId id="270" r:id="rId28"/>
    <p:sldId id="271" r:id="rId29"/>
    <p:sldId id="272" r:id="rId30"/>
    <p:sldId id="273" r:id="rId31"/>
    <p:sldId id="274" r:id="rId3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24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participants to name the choices that disappear with only one GPU.</a:t>
            </a:r>
          </a:p>
          <a:p>
            <a:r>
              <a:t>Emphasize that NVLink, PCIe, and the network affect cost; they are not parallelism strategies.</a:t>
            </a:r>
          </a:p>
          <a:p>
            <a:r>
              <a:t>[Sources]</a:t>
            </a:r>
          </a:p>
          <a:p>
            <a:r>
              <a:t>- https://docs.nvidia.com/megatron-core/developer-guide/latest/user-guide/parallelism-guide.html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as the vocabulary anchor for the rest of the sequence.</a:t>
            </a:r>
          </a:p>
          <a:p>
            <a:r>
              <a:t>Do not describe all methods as generic sharding; their communication patterns differ.</a:t>
            </a:r>
          </a:p>
          <a:p>
            <a:r>
              <a:t>[Sources]</a:t>
            </a:r>
          </a:p>
          <a:p>
            <a:r>
              <a:t>- https://docs.nvidia.com/megatron-core/developer-guide/latest/user-guide/parallelism-guide.html</a:t>
            </a:r>
          </a:p>
          <a:p>
            <a:r>
              <a:t>- https://docs.pytorch.org/docs/stable/fsdp.html</a:t>
            </a:r>
          </a:p>
          <a:p>
            <a:r>
              <a:t>- https://deepspeed.readthedocs.io/en/latest/zero3.html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Reveal the three batches first, then the identical model stacks, then the gradient synchronization line.</a:t>
            </a:r>
          </a:p>
          <a:p>
            <a:r>
              <a:t>Data parallelism increases aggregate throughput; it does not reduce the memory needed by one model replica.</a:t>
            </a:r>
          </a:p>
          <a:p>
            <a:r>
              <a:t>[Sources]</a:t>
            </a:r>
          </a:p>
          <a:p>
            <a:r>
              <a:t>- https://docs.nvidia.com/megatron-core/developer-guide/latest/user-guide/parallelism-guide.html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Contrast the at-rest state with the temporary full layer used during compute.</a:t>
            </a:r>
          </a:p>
          <a:p>
            <a:r>
              <a:t>FSDP and ZeRO stages differ in exactly which persistent states are sharded; this slide depicts full sharding at a high level.</a:t>
            </a:r>
          </a:p>
          <a:p>
            <a:r>
              <a:t>[Sources]</a:t>
            </a:r>
          </a:p>
          <a:p>
            <a:r>
              <a:t>- https://docs.pytorch.org/docs/stable/fsdp.html</a:t>
            </a:r>
          </a:p>
          <a:p>
            <a:r>
              <a:t>- https://deepspeed.readthedocs.io/en/latest/zero3.html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split matrix to distinguish tensor parallelism from placing whole layers on different GPUs.</a:t>
            </a:r>
          </a:p>
          <a:p>
            <a:r>
              <a:t>The exact split may be column-wise or row-wise and normally introduces collectives inside each layer.</a:t>
            </a:r>
          </a:p>
          <a:p>
            <a:r>
              <a:t>[Sources]</a:t>
            </a:r>
          </a:p>
          <a:p>
            <a:r>
              <a:t>- https://docs.nvidia.com/megatron-core/developer-guide/latest/user-guide/parallelism-guide.html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each stage stores whole layers, unlike tensor parallelism, which splits work inside a layer.</a:t>
            </a:r>
          </a:p>
          <a:p>
            <a:r>
              <a:t>Microbatching improves utilization but cannot eliminate bubbles completely.</a:t>
            </a:r>
          </a:p>
          <a:p>
            <a:r>
              <a:t>[Sources]</a:t>
            </a:r>
          </a:p>
          <a:p>
            <a:r>
              <a:t>- https://docs.nvidia.com/megatron-core/developer-guide/latest/user-guide/parallelism-guide.html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grid from left to right. During fill, later stages wait; at full occupancy all four stages work; during drain, earlier stages become idle.</a:t>
            </a:r>
          </a:p>
          <a:p>
            <a:r>
              <a:t>This forward-only schedule isolates the bubble concept. Training schedules add backward work; 1F1B and interleaving change the pattern but do not remove imbalance or fill/drain costs automatically.</a:t>
            </a:r>
          </a:p>
          <a:p>
            <a:r>
              <a:t>The practical goal is to make useful work dominate stage-time slots by using enough microbatches and balancing stage runtimes.</a:t>
            </a:r>
          </a:p>
          <a:p>
            <a:r>
              <a:t>[Sources]</a:t>
            </a:r>
          </a:p>
          <a:p>
            <a:r>
              <a:t>- https://docs.nvidia.com/megatron-core/developer-guide/latest/user-guide/parallelism-guide.html</a:t>
            </a:r>
          </a:p>
          <a:p>
            <a:r>
              <a:t>- https://docs.nvidia.com/megatron-core/developer-guide/latest/api-guide/core/pipeline_parallel.html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left to right. A single microbatch performs forward work down the stages, then backward work returns in reverse. Grey cells are idle stage-time slots.</a:t>
            </a:r>
          </a:p>
          <a:p>
            <a:r>
              <a:t>The 25% utilization is an instructional calculation: 8 useful forward/backward cells divided by 32 stage-time cells for four equal-duration stages.</a:t>
            </a:r>
          </a:p>
          <a:p>
            <a:r>
              <a:t>Real forward and backward costs differ, and stage imbalance or communication can create additional idle time.</a:t>
            </a:r>
          </a:p>
          <a:p>
            <a:r>
              <a:t>[Sources]</a:t>
            </a:r>
          </a:p>
          <a:p>
            <a:r>
              <a:t>- https://arxiv.org/abs/2104.04473</a:t>
            </a:r>
          </a:p>
          <a:p>
            <a:r>
              <a:t>- https://docs.nvidia.com/megatron-core/developer-guide/latest/api-guide/core/pipeline_parallel.html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same four-stage pipeline with four microbatches. Later forward passes and earlier backward passes occupy slots that were idle in the one-microbatch schedule.</a:t>
            </a:r>
          </a:p>
          <a:p>
            <a:r>
              <a:t>The idealized utilization is m/(m+p-1): 4/(4+4-1), or about 57%. The bubble-to-compute ratio for the default schedule behaves as (p-1)/m.</a:t>
            </a:r>
          </a:p>
          <a:p>
            <a:r>
              <a:t>For a fixed global batch, increasing the number of microbatches makes each microbatch smaller. That can reduce arithmetic intensity and kernel efficiency, so the best microbatch size must be measured.</a:t>
            </a:r>
          </a:p>
          <a:p>
            <a:r>
              <a:t>[Sources]</a:t>
            </a:r>
          </a:p>
          <a:p>
            <a:r>
              <a:t>- https://arxiv.org/abs/2104.04473</a:t>
            </a:r>
          </a:p>
          <a:p>
            <a:r>
              <a:t>- https://docs.nvidia.com/megatron-core/developer-guide/latest/api-guide/core/pipeline_parallel.html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Point out that context parallelism reduces activation memory by splitting the sequence, not the weights.</a:t>
            </a:r>
          </a:p>
          <a:p>
            <a:r>
              <a:t>Attention still requires information from the full context, which creates the K/V exchange shown here.</a:t>
            </a:r>
          </a:p>
          <a:p>
            <a:r>
              <a:t>[Sources]</a:t>
            </a:r>
          </a:p>
          <a:p>
            <a:r>
              <a:t>- https://docs.nvidia.com/megatron-core/developer-guide/latest/user-guide/features/context_parallel.html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highlighted routes to show that sparse MoE does not execute every expert for every token.</a:t>
            </a:r>
          </a:p>
          <a:p>
            <a:r>
              <a:t>Expert parallelism distributes expert weights and computation; the router introduces communication and load-balancing concerns.</a:t>
            </a:r>
          </a:p>
          <a:p>
            <a:r>
              <a:t>[Sources]</a:t>
            </a:r>
          </a:p>
          <a:p>
            <a:r>
              <a:t>- https://docs.nvidia.com/megatron-core/developer-guide/latest/user-guide/parallelism-guide.html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Begin with feasibility, then identify the dominant memory category using a memory snapshot or profiler.</a:t>
            </a:r>
          </a:p>
          <a:p>
            <a:r>
              <a:t>FSDP/ZeRO lowers persistent model-state memory; it does not directly solve activation memory.</a:t>
            </a:r>
          </a:p>
          <a:p>
            <a:r>
              <a:t>Use the smallest model-parallel degree that fits, then spend remaining GPUs on data parallelism.</a:t>
            </a:r>
          </a:p>
          <a:p>
            <a:r>
              <a:t>[Sources]</a:t>
            </a:r>
          </a:p>
          <a:p>
            <a:r>
              <a:t>- https://docs.pytorch.org/docs/stable/fsdp.html</a:t>
            </a:r>
          </a:p>
          <a:p>
            <a:r>
              <a:t>- https://deepspeed.readthedocs.io/en/latest/zero3.html</a:t>
            </a:r>
          </a:p>
          <a:p>
            <a:r>
              <a:t>- https://docs.nvidia.com/megatron-core/developer-guide/latest/user-guide/parallelism-guide.html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Separate throughput from latency. Replicas improve aggregate throughput but do not reduce one request's model latency.</a:t>
            </a:r>
          </a:p>
          <a:p>
            <a:r>
              <a:t>Tensor parallelism can reduce latency, but communication can make a single GPU faster for smaller models.</a:t>
            </a:r>
          </a:p>
          <a:p>
            <a:r>
              <a:t>Distinguish static CPU layer execution from weight streaming; both trade speed for capacity.</a:t>
            </a:r>
          </a:p>
          <a:p>
            <a:r>
              <a:t>[Sources]</a:t>
            </a:r>
          </a:p>
          <a:p>
            <a:r>
              <a:t>- https://docs.vllm.ai/en/latest/serving/parallelism_scaling/</a:t>
            </a:r>
          </a:p>
          <a:p>
            <a:r>
              <a:t>- https://docs.nvidia.com/megatron-core/developer-guide/latest/user-guide/parallelism-guide.html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Pause after the scenario and ask for the bottleneck before revealing the method.</a:t>
            </a:r>
          </a:p>
          <a:p>
            <a:r>
              <a:t>The parameters fitting does not imply full training fits because gradients and optimizer state also occupy memory.</a:t>
            </a:r>
          </a:p>
          <a:p>
            <a:r>
              <a:t>Ask why TP and CPU offload are technically possible but unjustified here.</a:t>
            </a:r>
          </a:p>
          <a:p>
            <a:r>
              <a:t>[Sources]</a:t>
            </a:r>
          </a:p>
          <a:p>
            <a:r>
              <a:t>- https://docs.pytorch.org/docs/stable/fsdp.html</a:t>
            </a:r>
          </a:p>
          <a:p>
            <a:r>
              <a:t>- https://deepspeed.readthedocs.io/en/latest/zero3.html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Make the arithmetic explicit: equal TP shards make degree 4 the minimum feasible choice when the weights require 2.5 device memories.</a:t>
            </a:r>
          </a:p>
          <a:p>
            <a:r>
              <a:t>Do not promise a latency win from TP. Collective overhead and kernel size still matter.</a:t>
            </a:r>
          </a:p>
          <a:p>
            <a:r>
              <a:t>Discuss PP as a multi-node or capacity option, not the default for low-batch latency.</a:t>
            </a:r>
          </a:p>
          <a:p>
            <a:r>
              <a:t>[Sources]</a:t>
            </a:r>
          </a:p>
          <a:p>
            <a:r>
              <a:t>- https://docs.vllm.ai/en/latest/serving/parallelism_scaling/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Give pairs three minutes, then require one group to defend a choice and another to challenge it.</a:t>
            </a:r>
          </a:p>
          <a:p>
            <a:r>
              <a:t>Likely answer: FSDP/ZeRO for persistent state, plus context parallelism or activation checkpointing for long-sequence activations.</a:t>
            </a:r>
          </a:p>
          <a:p>
            <a:r>
              <a:t>Reject plain DDP because a full state replica does not fit. Reject TP because one block fits and TP would add frequent collectives.</a:t>
            </a:r>
          </a:p>
          <a:p>
            <a:r>
              <a:t>Accept hybrid sharded data parallelism as an alternative: one node-local sharded replica per node with an outer data-parallel replication dimension, provided the FSDP and CP degrees fit within eight GPUs.</a:t>
            </a:r>
          </a:p>
          <a:p>
            <a:r>
              <a:t>[Sources]</a:t>
            </a:r>
          </a:p>
          <a:p>
            <a:r>
              <a:t>- https://docs.pytorch.org/docs/stable/fsdp.html</a:t>
            </a:r>
          </a:p>
          <a:p>
            <a:r>
              <a:t>- https://docs.nvidia.com/megatron-core/developer-guide/latest/user-guide/features/context_parallel.html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only as a recap or handout reference.</a:t>
            </a:r>
          </a:p>
          <a:p>
            <a:r>
              <a:t>The rows are diagnostic prompts, not a claim that every workload follows one strict order.</a:t>
            </a:r>
          </a:p>
          <a:p>
            <a:r>
              <a:t>[Sources]</a:t>
            </a:r>
          </a:p>
          <a:p>
            <a:r>
              <a:t>- https://docs.nvidia.com/megatron-core/developer-guide/latest/user-guide/parallelism-guide.html</a:t>
            </a:r>
          </a:p>
          <a:p>
            <a:r>
              <a:t>- https://docs.pytorch.org/docs/stable/fsdp.html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Treat this as a reference table. The engine, model architecture, request distribution, and interconnect determine the benchmark winner.</a:t>
            </a:r>
          </a:p>
          <a:p>
            <a:r>
              <a:t>CPU offload may mean CPU layer execution or repeated weight streaming; make the distinction explicit.</a:t>
            </a:r>
          </a:p>
          <a:p>
            <a:r>
              <a:t>[Sources]</a:t>
            </a:r>
          </a:p>
          <a:p>
            <a:r>
              <a:t>- https://docs.vllm.ai/en/latest/serving/parallelism_scaling/</a:t>
            </a:r>
          </a:p>
          <a:p>
            <a:r>
              <a:t>- https://docs.nvidia.com/megatron-core/developer-guide/latest/user-guide/parallelism-guide.html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648" y="392643"/>
            <a:ext cx="1844351" cy="718699"/>
          </a:xfrm>
          <a:prstGeom prst="rect">
            <a:avLst/>
          </a:prstGeom>
        </p:spPr>
      </p:pic>
      <p:pic>
        <p:nvPicPr>
          <p:cNvPr id="25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175985" y="-3456972"/>
            <a:ext cx="3833929" cy="121981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CC0286-FB4C-4608-9B1A-3553BB9EDE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BDC364-3731-4E51-9824-FA7C1AA3B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EF962-06DE-41F6-AD91-17D2F512632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452396" y="6352792"/>
            <a:ext cx="2743200" cy="365125"/>
          </a:xfrm>
          <a:prstGeom prst="rect">
            <a:avLst/>
          </a:prstGeom>
        </p:spPr>
        <p:txBody>
          <a:bodyPr/>
          <a:lstStyle/>
          <a:p>
            <a:fld id="{12D417FB-DB75-4510-8AD7-5416595AADD8}" type="datetime1">
              <a:t>09/08/2026</a:t>
            </a:fld>
            <a:endParaRPr/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CDD2BAC8-4590-4845-BE11-B0AA9900DC7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8610599" y="6356350"/>
            <a:ext cx="2121243" cy="365125"/>
          </a:xfrm>
          <a:prstGeom prst="rect">
            <a:avLst/>
          </a:prstGeom>
        </p:spPr>
        <p:txBody>
          <a:bodyPr/>
          <a:lstStyle/>
          <a:p>
            <a:r>
              <a:t>vscentrum.be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BB18F31-2333-4F5F-8848-D33D3077A6BC}"/>
              </a:ext>
            </a:extLst>
          </p:cNvPr>
          <p:cNvSpPr>
            <a:spLocks noGrp="1"/>
          </p:cNvSpPr>
          <p:nvPr/>
        </p:nvSpPr>
        <p:spPr>
          <a:xfrm flipH="1">
            <a:off x="0" y="4725859"/>
            <a:ext cx="12192000" cy="2162432"/>
          </a:xfrm>
          <a:custGeom>
            <a:avLst/>
            <a:gdLst>
              <a:gd name="connsiteX0" fmla="*/ 0 w 12192000"/>
              <a:gd name="connsiteY0" fmla="*/ 0 h 2162432"/>
              <a:gd name="connsiteX1" fmla="*/ 12192000 w 12192000"/>
              <a:gd name="connsiteY1" fmla="*/ 0 h 2162432"/>
              <a:gd name="connsiteX2" fmla="*/ 12192000 w 12192000"/>
              <a:gd name="connsiteY2" fmla="*/ 2162432 h 2162432"/>
              <a:gd name="connsiteX3" fmla="*/ 0 w 12192000"/>
              <a:gd name="connsiteY3" fmla="*/ 2162432 h 2162432"/>
              <a:gd name="connsiteX4" fmla="*/ 0 w 12192000"/>
              <a:gd name="connsiteY4" fmla="*/ 0 h 2162432"/>
              <a:gd name="connsiteX0" fmla="*/ 0 w 12192000"/>
              <a:gd name="connsiteY0" fmla="*/ 1169773 h 2162432"/>
              <a:gd name="connsiteX1" fmla="*/ 12192000 w 12192000"/>
              <a:gd name="connsiteY1" fmla="*/ 0 h 2162432"/>
              <a:gd name="connsiteX2" fmla="*/ 12192000 w 12192000"/>
              <a:gd name="connsiteY2" fmla="*/ 2162432 h 2162432"/>
              <a:gd name="connsiteX3" fmla="*/ 0 w 12192000"/>
              <a:gd name="connsiteY3" fmla="*/ 2162432 h 2162432"/>
              <a:gd name="connsiteX4" fmla="*/ 0 w 12192000"/>
              <a:gd name="connsiteY4" fmla="*/ 1169773 h 2162432"/>
            </a:gdLst>
            <a:ahLst/>
            <a:cxnLst/>
            <a:rect l="l" t="t" r="r" b="b"/>
            <a:pathLst>
              <a:path w="12192000" h="2162432">
                <a:moveTo>
                  <a:pt x="0" y="1169773"/>
                </a:moveTo>
                <a:lnTo>
                  <a:pt x="12192000" y="0"/>
                </a:lnTo>
                <a:lnTo>
                  <a:pt x="12192000" y="2162432"/>
                </a:lnTo>
                <a:lnTo>
                  <a:pt x="0" y="2162432"/>
                </a:lnTo>
                <a:lnTo>
                  <a:pt x="0" y="116977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47F75A-A293-42E2-A56F-5170241D0F52}"/>
              </a:ext>
            </a:extLst>
          </p:cNvPr>
          <p:cNvSpPr>
            <a:spLocks noGrp="1"/>
          </p:cNvSpPr>
          <p:nvPr/>
        </p:nvSpPr>
        <p:spPr>
          <a:xfrm>
            <a:off x="0" y="4695568"/>
            <a:ext cx="12192000" cy="2162432"/>
          </a:xfrm>
          <a:custGeom>
            <a:avLst/>
            <a:gdLst>
              <a:gd name="connsiteX0" fmla="*/ 0 w 12192000"/>
              <a:gd name="connsiteY0" fmla="*/ 0 h 2162432"/>
              <a:gd name="connsiteX1" fmla="*/ 12192000 w 12192000"/>
              <a:gd name="connsiteY1" fmla="*/ 0 h 2162432"/>
              <a:gd name="connsiteX2" fmla="*/ 12192000 w 12192000"/>
              <a:gd name="connsiteY2" fmla="*/ 2162432 h 2162432"/>
              <a:gd name="connsiteX3" fmla="*/ 0 w 12192000"/>
              <a:gd name="connsiteY3" fmla="*/ 2162432 h 2162432"/>
              <a:gd name="connsiteX4" fmla="*/ 0 w 12192000"/>
              <a:gd name="connsiteY4" fmla="*/ 0 h 2162432"/>
              <a:gd name="connsiteX0" fmla="*/ 0 w 12192000"/>
              <a:gd name="connsiteY0" fmla="*/ 1169773 h 2162432"/>
              <a:gd name="connsiteX1" fmla="*/ 12192000 w 12192000"/>
              <a:gd name="connsiteY1" fmla="*/ 0 h 2162432"/>
              <a:gd name="connsiteX2" fmla="*/ 12192000 w 12192000"/>
              <a:gd name="connsiteY2" fmla="*/ 2162432 h 2162432"/>
              <a:gd name="connsiteX3" fmla="*/ 0 w 12192000"/>
              <a:gd name="connsiteY3" fmla="*/ 2162432 h 2162432"/>
              <a:gd name="connsiteX4" fmla="*/ 0 w 12192000"/>
              <a:gd name="connsiteY4" fmla="*/ 1169773 h 2162432"/>
            </a:gdLst>
            <a:ahLst/>
            <a:cxnLst/>
            <a:rect l="l" t="t" r="r" b="b"/>
            <a:pathLst>
              <a:path w="12192000" h="2162432">
                <a:moveTo>
                  <a:pt x="0" y="1169773"/>
                </a:moveTo>
                <a:lnTo>
                  <a:pt x="12192000" y="0"/>
                </a:lnTo>
                <a:lnTo>
                  <a:pt x="12192000" y="2162432"/>
                </a:lnTo>
                <a:lnTo>
                  <a:pt x="0" y="2162432"/>
                </a:lnTo>
                <a:lnTo>
                  <a:pt x="0" y="1169773"/>
                </a:lnTo>
                <a:close/>
              </a:path>
            </a:pathLst>
          </a:custGeom>
          <a:solidFill>
            <a:srgbClr val="DB6D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2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344" y="5970673"/>
            <a:ext cx="3997596" cy="71077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3B707BF-8340-4848-A628-613CC2112D04}"/>
              </a:ext>
            </a:extLst>
          </p:cNvPr>
          <p:cNvSpPr>
            <a:spLocks noGrp="1"/>
          </p:cNvSpPr>
          <p:nvPr/>
        </p:nvSpPr>
        <p:spPr>
          <a:xfrm>
            <a:off x="10347648" y="6245614"/>
            <a:ext cx="1791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chemeClr val="bg2"/>
                </a:solidFill>
                <a:latin typeface="FlandersArtSans-Medium"/>
                <a:ea typeface="FlandersArtSans-Medium"/>
                <a:cs typeface="FlandersArtSans-Medium"/>
              </a:rPr>
              <a:t>vscentrum</a:t>
            </a:r>
            <a:r>
              <a:rPr>
                <a:solidFill>
                  <a:schemeClr val="bg2"/>
                </a:solidFill>
              </a:rPr>
              <a:t>.be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897E3-FBA7-4EEC-9223-9545DEC86B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5A1C33-475D-474A-A037-DDAF3DC7AF0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F2126-7615-4D89-AE2A-296F42537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F2119-9B85-46F0-B20A-47F89D495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CCCEC5-FCA8-4B4F-B04F-B3F6EB44B61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FA8611-2CB4-4204-A30A-732A25E1D9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5A1C33-475D-474A-A037-DDAF3DC7AF0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E5079-7D68-4924-8067-067700656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62E23F-2E41-4C7E-A102-D16335C141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956EB1-DDD6-40E6-99D1-10BDEA7E2C7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AB644-FF12-4015-97C6-F7469A7F5C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5A1C33-475D-474A-A037-DDAF3DC7AF0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5062E-3D39-4B98-B959-099A72892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F354D8-9528-47EB-A08A-FE22E216F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B24DA-EDAA-42E8-96BA-CDD725D6C7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F5A1C33-475D-474A-A037-DDAF3DC7AF0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474D1-4F0A-4B95-A4AC-08861786614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vscentrum.be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D3D38-1313-4078-81FC-97065D0784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2912448-FEEC-49E8-9588-2DF1F90D57C2}" type="slidenum">
              <a:t>‹#›</a:t>
            </a:fld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F4F322-52C1-4DDA-BA5C-35EB69735DE5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8072B-1D94-4357-97CE-5E155299735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vscentrum.be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B022B-84EE-4DB5-8A89-EFF15FF9C0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2912448-FEEC-49E8-9588-2DF1F90D57C2}" type="slidenum">
              <a:t>‹#›</a:t>
            </a:fld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364156-92B2-4881-82B6-84C1D96B9713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0" y="0"/>
            <a:ext cx="12192000" cy="25146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1BF92-93A9-4489-9E86-3C8879F9501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vscentrum.be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5AC03-4AD3-4BC8-861D-D45B790C75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2912448-FEEC-49E8-9588-2DF1F90D57C2}" type="slidenum">
              <a:t>‹#›</a:t>
            </a:fld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AC8BBF-4CAC-4984-8135-0FC7F7EFFF1E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028700" y="2514600"/>
            <a:ext cx="5067300" cy="3273552"/>
          </a:xfrm>
          <a:prstGeom prst="roundRect">
            <a:avLst>
              <a:gd name="adj" fmla="val 935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F036-F768-4760-B2CC-C40BDE8B22F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vscentrum.be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3A9E6-0127-4F3E-9FA2-E80C01990F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2912448-FEEC-49E8-9588-2DF1F90D57C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Work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9335A3-14FE-48A5-BC19-5C412E255F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vscentrum.be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905CF9-89EB-4AB4-BEE1-A75EDEC316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2912448-FEEC-49E8-9588-2DF1F90D57C2}" type="slidenum">
              <a:t>‹#›</a:t>
            </a:fld>
            <a:endParaRPr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D9AF5E3-CD08-48A0-97D6-8D71CF040248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1028700" y="2522575"/>
            <a:ext cx="1600200" cy="16002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D35C848-016E-462A-B546-CF61A68CCC95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3038475" y="2522575"/>
            <a:ext cx="1600200" cy="16002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9CE4517-7006-478F-B2ED-2BF6A8A1E39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5048250" y="2522575"/>
            <a:ext cx="1600200" cy="16002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D307D5B-C641-4937-B1F7-40345E8CA4B6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7058025" y="2522575"/>
            <a:ext cx="1600200" cy="16002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8E10E80-67EA-47CB-A161-3B28355670AA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9067800" y="2522575"/>
            <a:ext cx="1600200" cy="16002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Work #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D63C37-A7FF-49AA-BCF0-05E00C5E094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vscentrum.be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DA8E15-0AD5-4E4B-A095-BA4C510010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2912448-FEEC-49E8-9588-2DF1F90D57C2}" type="slidenum">
              <a:t>‹#›</a:t>
            </a:fld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5A7594B-F321-49E5-8B50-91F6AD449B80}"/>
              </a:ext>
            </a:extLst>
          </p:cNvPr>
          <p:cNvSpPr>
            <a:spLocks noGrp="1"/>
          </p:cNvSpPr>
          <p:nvPr/>
        </p:nvSpPr>
        <p:spPr>
          <a:xfrm>
            <a:off x="2413589" y="2520359"/>
            <a:ext cx="3572541" cy="1481328"/>
          </a:xfrm>
          <a:prstGeom prst="roundRect">
            <a:avLst>
              <a:gd name="adj" fmla="val 374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D21122A-36C1-4389-A0C7-64E6B9FA0B7E}"/>
              </a:ext>
            </a:extLst>
          </p:cNvPr>
          <p:cNvSpPr>
            <a:spLocks noGrp="1"/>
          </p:cNvSpPr>
          <p:nvPr/>
        </p:nvSpPr>
        <p:spPr>
          <a:xfrm>
            <a:off x="2413589" y="4309872"/>
            <a:ext cx="3572541" cy="1481328"/>
          </a:xfrm>
          <a:prstGeom prst="roundRect">
            <a:avLst>
              <a:gd name="adj" fmla="val 374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8B4153C-7F24-4A5D-8603-432DB5B5E034}"/>
              </a:ext>
            </a:extLst>
          </p:cNvPr>
          <p:cNvSpPr>
            <a:spLocks noGrp="1"/>
          </p:cNvSpPr>
          <p:nvPr/>
        </p:nvSpPr>
        <p:spPr>
          <a:xfrm>
            <a:off x="7590759" y="4309872"/>
            <a:ext cx="3572541" cy="1481328"/>
          </a:xfrm>
          <a:prstGeom prst="roundRect">
            <a:avLst>
              <a:gd name="adj" fmla="val 374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748C052-4DBC-4D90-8732-270E2FCBCCBE}"/>
              </a:ext>
            </a:extLst>
          </p:cNvPr>
          <p:cNvSpPr>
            <a:spLocks noGrp="1"/>
          </p:cNvSpPr>
          <p:nvPr/>
        </p:nvSpPr>
        <p:spPr>
          <a:xfrm>
            <a:off x="7590759" y="2520359"/>
            <a:ext cx="3572541" cy="1481328"/>
          </a:xfrm>
          <a:prstGeom prst="roundRect">
            <a:avLst>
              <a:gd name="adj" fmla="val 3747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9F0C0D43-76C9-442B-AABC-2F21CB617368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1028700" y="2525233"/>
            <a:ext cx="1475709" cy="1475709"/>
          </a:xfrm>
          <a:prstGeom prst="roundRect">
            <a:avLst>
              <a:gd name="adj" fmla="val 3179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F24AF83-6D49-40D2-8520-D35EA7070F6E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210744" y="2519614"/>
            <a:ext cx="1475709" cy="1475709"/>
          </a:xfrm>
          <a:prstGeom prst="roundRect">
            <a:avLst>
              <a:gd name="adj" fmla="val 3179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08F731AA-5C5B-4411-B599-2EF0388F1A47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1028700" y="4314746"/>
            <a:ext cx="1475709" cy="1475709"/>
          </a:xfrm>
          <a:prstGeom prst="roundRect">
            <a:avLst>
              <a:gd name="adj" fmla="val 3179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A9DF323D-F442-45E3-A722-CA7E6A4203A8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210744" y="4314746"/>
            <a:ext cx="1475709" cy="1475709"/>
          </a:xfrm>
          <a:prstGeom prst="roundRect">
            <a:avLst>
              <a:gd name="adj" fmla="val 3179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E57D3F-2678-4CD7-A451-A57B5D27B5B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vscentrum.be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AF539B-F5E7-4393-B3C2-C8F9136E39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2912448-FEEC-49E8-9588-2DF1F90D57C2}" type="slidenum">
              <a:t>‹#›</a:t>
            </a:fld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D6A1A8-B190-4D6D-92CB-E348CFAA4C99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024318" y="2513013"/>
            <a:ext cx="2295144" cy="2295144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5B69B6A2-3C0D-4642-947A-873C7305DF20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638931" y="2513013"/>
            <a:ext cx="2295144" cy="2295144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328961C8-27DB-47A1-A81E-289D4ACDDAAA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6253162" y="2510219"/>
            <a:ext cx="2295144" cy="2295144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258844D2-9EF4-421A-B51D-1EFF1B9364F7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867393" y="2510219"/>
            <a:ext cx="2295144" cy="2295144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#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04788D-BD24-4C18-AE59-F5931D4F27B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vscentrum.be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0968B6-326B-4EFB-BACC-39E9E96608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2912448-FEEC-49E8-9588-2DF1F90D57C2}" type="slidenum">
              <a:t>‹#›</a:t>
            </a:fld>
            <a:endParaRPr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5E58B816-B74A-4DE9-BD3A-A4CAD68D2833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6096000" y="685800"/>
            <a:ext cx="2487613" cy="54864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D52AAE90-B57C-4413-AA94-285A81B9F691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8678863" y="685800"/>
            <a:ext cx="2487613" cy="54864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#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408AE0-F686-433D-9620-42910672529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vscentrum.be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B375A-8760-46E9-BCA8-CB45E5686C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2912448-FEEC-49E8-9588-2DF1F90D57C2}" type="slidenum">
              <a:t>‹#›</a:t>
            </a:fld>
            <a:endParaRPr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34C04DB5-8AF6-429B-B483-3C42D4F7C842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1028700" y="2514599"/>
            <a:ext cx="5029200" cy="3275013"/>
          </a:xfrm>
          <a:prstGeom prst="roundRect">
            <a:avLst>
              <a:gd name="adj" fmla="val 1492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3E8F23A-C8A3-4A19-9C8C-790D49C6F7B2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6134100" y="2514598"/>
            <a:ext cx="5029200" cy="3275013"/>
          </a:xfrm>
          <a:prstGeom prst="roundRect">
            <a:avLst>
              <a:gd name="adj" fmla="val 1492"/>
            </a:avLst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#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5090FA-616D-4C13-981F-BD623162A77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vscentrum.be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15CDCE-EFF4-42C1-A749-D73FC37D78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2912448-FEEC-49E8-9588-2DF1F90D57C2}" type="slidenum">
              <a:t>‹#›</a:t>
            </a:fld>
            <a:endParaRPr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1052D08D-C21B-48F6-B390-EB6CDE8D80B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042878" y="3141919"/>
            <a:ext cx="1828800" cy="18288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ACFE85CA-F9AE-43FB-A057-0076F7C360EA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804638" y="3141919"/>
            <a:ext cx="1828800" cy="18288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C7736569-C093-42F5-88CE-EBF643AB324C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7569193" y="3141919"/>
            <a:ext cx="1828800" cy="18288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04F50ABA-40A3-4D91-8B35-35DC07CAA7D3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9330953" y="3141919"/>
            <a:ext cx="1828800" cy="182880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ck Up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4B3B0C-9CA4-44BA-B017-5970A543DF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vscentrum.be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F32AFE-DEA4-488A-AB4C-C5EC181DF2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2912448-FEEC-49E8-9588-2DF1F90D57C2}" type="slidenum">
              <a:t>‹#›</a:t>
            </a:fld>
            <a:endParaRPr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FFD01E22-7764-4FEE-85A8-4D61242C5B3F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152524" y="2681288"/>
            <a:ext cx="4943475" cy="310991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ck Up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B6D3B3-C999-40EC-85A4-CDF1AFE583D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vscentrum.be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46526-75B7-4B80-91F9-519FC06F7D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2912448-FEEC-49E8-9588-2DF1F90D57C2}" type="slidenum">
              <a:t>‹#›</a:t>
            </a:fld>
            <a:endParaRPr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0410F0A-36A3-490F-94AA-DCFA63EA543C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816725" y="2211388"/>
            <a:ext cx="4208463" cy="254158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ck Up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068DB-0A9D-4FB8-8BBF-A0B98E3F43A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vscentrum.be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A23AB5-B8C2-424E-992F-31363EE792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2912448-FEEC-49E8-9588-2DF1F90D57C2}" type="slidenum">
              <a:t>‹#›</a:t>
            </a:fld>
            <a:endParaRPr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B962D1CD-D4FC-4588-BB98-2A901F7D4A9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861175" y="2692400"/>
            <a:ext cx="3910013" cy="295275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7BE57-C608-4722-BD69-CF8273378F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vscentrum.be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D80D7-CCBE-42A9-9030-078E80A010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2912448-FEEC-49E8-9588-2DF1F90D57C2}" type="slidenum">
              <a:t>‹#›</a:t>
            </a:fld>
            <a:endParaRPr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84E259B2-CF77-436F-B9B2-BD45B15252A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1028700" y="685800"/>
            <a:ext cx="5067300" cy="54864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61E30-AB1D-465C-BF22-2AD96073F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8FB7C-79BC-4B3C-BD9C-C925DB92F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45558-323B-44FE-895B-4B24AA0C480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C448E59-F64F-416B-85C7-F58EA54BAF31}" type="datetime1">
              <a:t>09/08/2026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A2658-1B46-4CE7-8B98-0FBB331B86F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8E6D8-34FB-4645-AC0F-035C65C591D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A209D72-2E9D-49B0-8977-41DCCC66C0B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92C0A-2868-46C8-B3C1-902C27268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E4959-1078-43F8-BC9F-7A159C3E3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05C20E-CFCA-42CE-A5E5-D7D0EB2F1BD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F0E3A-1789-4BAA-913E-5D6A6059ADD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4F0EF99-E673-4972-A23A-EB3FD1F7D254}" type="datetime1">
              <a:t>09/08/2026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15FA0-BF21-491B-93B7-A036E60CA8D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4C0DD0-AF30-40F5-BAA0-4725B3DF9D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A209D72-2E9D-49B0-8977-41DCCC66C0B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3796A06-3C4D-4D45-8911-FDCA24E41183}"/>
              </a:ext>
            </a:extLst>
          </p:cNvPr>
          <p:cNvSpPr>
            <a:spLocks noGrp="1"/>
          </p:cNvSpPr>
          <p:nvPr/>
        </p:nvSpPr>
        <p:spPr>
          <a:xfrm>
            <a:off x="3720" y="6130213"/>
            <a:ext cx="12188280" cy="727788"/>
          </a:xfrm>
          <a:custGeom>
            <a:avLst/>
            <a:gdLst>
              <a:gd name="connsiteX0" fmla="*/ 0 w 12192000"/>
              <a:gd name="connsiteY0" fmla="*/ 0 h 1268963"/>
              <a:gd name="connsiteX1" fmla="*/ 12192000 w 12192000"/>
              <a:gd name="connsiteY1" fmla="*/ 0 h 1268963"/>
              <a:gd name="connsiteX2" fmla="*/ 12192000 w 12192000"/>
              <a:gd name="connsiteY2" fmla="*/ 1268963 h 1268963"/>
              <a:gd name="connsiteX3" fmla="*/ 0 w 12192000"/>
              <a:gd name="connsiteY3" fmla="*/ 1268963 h 1268963"/>
              <a:gd name="connsiteX4" fmla="*/ 0 w 12192000"/>
              <a:gd name="connsiteY4" fmla="*/ 0 h 1268963"/>
              <a:gd name="connsiteX0" fmla="*/ 0 w 12210662"/>
              <a:gd name="connsiteY0" fmla="*/ 877077 h 1268963"/>
              <a:gd name="connsiteX1" fmla="*/ 12210662 w 12210662"/>
              <a:gd name="connsiteY1" fmla="*/ 0 h 1268963"/>
              <a:gd name="connsiteX2" fmla="*/ 12210662 w 12210662"/>
              <a:gd name="connsiteY2" fmla="*/ 1268963 h 1268963"/>
              <a:gd name="connsiteX3" fmla="*/ 18662 w 12210662"/>
              <a:gd name="connsiteY3" fmla="*/ 1268963 h 1268963"/>
              <a:gd name="connsiteX4" fmla="*/ 0 w 12210662"/>
              <a:gd name="connsiteY4" fmla="*/ 877077 h 1268963"/>
              <a:gd name="connsiteX0" fmla="*/ 0 w 12210662"/>
              <a:gd name="connsiteY0" fmla="*/ 335902 h 727788"/>
              <a:gd name="connsiteX1" fmla="*/ 12210662 w 12210662"/>
              <a:gd name="connsiteY1" fmla="*/ 0 h 727788"/>
              <a:gd name="connsiteX2" fmla="*/ 12210662 w 12210662"/>
              <a:gd name="connsiteY2" fmla="*/ 727788 h 727788"/>
              <a:gd name="connsiteX3" fmla="*/ 18662 w 12210662"/>
              <a:gd name="connsiteY3" fmla="*/ 727788 h 727788"/>
              <a:gd name="connsiteX4" fmla="*/ 0 w 12210662"/>
              <a:gd name="connsiteY4" fmla="*/ 335902 h 727788"/>
              <a:gd name="connsiteX0" fmla="*/ 9330 w 12192000"/>
              <a:gd name="connsiteY0" fmla="*/ 335902 h 727788"/>
              <a:gd name="connsiteX1" fmla="*/ 12192000 w 12192000"/>
              <a:gd name="connsiteY1" fmla="*/ 0 h 727788"/>
              <a:gd name="connsiteX2" fmla="*/ 12192000 w 12192000"/>
              <a:gd name="connsiteY2" fmla="*/ 727788 h 727788"/>
              <a:gd name="connsiteX3" fmla="*/ 0 w 12192000"/>
              <a:gd name="connsiteY3" fmla="*/ 727788 h 727788"/>
              <a:gd name="connsiteX4" fmla="*/ 9330 w 12192000"/>
              <a:gd name="connsiteY4" fmla="*/ 335902 h 727788"/>
              <a:gd name="connsiteX0" fmla="*/ 3720 w 12192000"/>
              <a:gd name="connsiteY0" fmla="*/ 335902 h 727788"/>
              <a:gd name="connsiteX1" fmla="*/ 12192000 w 12192000"/>
              <a:gd name="connsiteY1" fmla="*/ 0 h 727788"/>
              <a:gd name="connsiteX2" fmla="*/ 12192000 w 12192000"/>
              <a:gd name="connsiteY2" fmla="*/ 727788 h 727788"/>
              <a:gd name="connsiteX3" fmla="*/ 0 w 12192000"/>
              <a:gd name="connsiteY3" fmla="*/ 727788 h 727788"/>
              <a:gd name="connsiteX4" fmla="*/ 3720 w 12192000"/>
              <a:gd name="connsiteY4" fmla="*/ 335902 h 727788"/>
              <a:gd name="connsiteX0" fmla="*/ 0 w 12188280"/>
              <a:gd name="connsiteY0" fmla="*/ 335902 h 727788"/>
              <a:gd name="connsiteX1" fmla="*/ 12188280 w 12188280"/>
              <a:gd name="connsiteY1" fmla="*/ 0 h 727788"/>
              <a:gd name="connsiteX2" fmla="*/ 12188280 w 12188280"/>
              <a:gd name="connsiteY2" fmla="*/ 727788 h 727788"/>
              <a:gd name="connsiteX3" fmla="*/ 1890 w 12188280"/>
              <a:gd name="connsiteY3" fmla="*/ 727788 h 727788"/>
              <a:gd name="connsiteX4" fmla="*/ 0 w 12188280"/>
              <a:gd name="connsiteY4" fmla="*/ 335902 h 727788"/>
            </a:gdLst>
            <a:ahLst/>
            <a:cxnLst/>
            <a:rect l="l" t="t" r="r" b="b"/>
            <a:pathLst>
              <a:path w="12188280" h="727788">
                <a:moveTo>
                  <a:pt x="0" y="335902"/>
                </a:moveTo>
                <a:lnTo>
                  <a:pt x="12188280" y="0"/>
                </a:lnTo>
                <a:lnTo>
                  <a:pt x="12188280" y="727788"/>
                </a:lnTo>
                <a:lnTo>
                  <a:pt x="1890" y="727788"/>
                </a:lnTo>
                <a:lnTo>
                  <a:pt x="0" y="33590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7AA610-DF99-4342-8C2F-ED7BAB4C8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7B00A-C7FC-4B45-AED4-D6BF5D93A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83816-A271-4FD0-86CC-285E48F9D21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5844850" y="6384344"/>
            <a:ext cx="5023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fld id="{CF5A1C33-475D-474A-A037-DDAF3DC7AF09}" type="slidenum">
              <a:t>‹#›</a:t>
            </a:fld>
            <a:endParaRPr/>
          </a:p>
        </p:txBody>
      </p:sp>
      <p:pic>
        <p:nvPicPr>
          <p:cNvPr id="14" name="Picture 6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517239" y="6229445"/>
            <a:ext cx="1426467" cy="57607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deed.ast" TargetMode="External"/><Relationship Id="rId2" Type="http://schemas.openxmlformats.org/officeDocument/2006/relationships/hyperlink" Target="mailto:geertjan.bex@uhasselt.b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40h3frb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Multi-GPU machine learning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Geert Jan Bex (</a:t>
            </a:r>
            <a:r>
              <a:rPr lang="en-US" sz="2800" dirty="0">
                <a:hlinkClick r:id="rId2"/>
              </a:rPr>
              <a:t>geertjan.bex@uhasselt.be</a:t>
            </a:r>
            <a:r>
              <a:rPr lang="en-US" sz="280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7785B8-8E3C-4512-97FD-25CAA594590E}"/>
              </a:ext>
            </a:extLst>
          </p:cNvPr>
          <p:cNvSpPr txBox="1"/>
          <p:nvPr/>
        </p:nvSpPr>
        <p:spPr>
          <a:xfrm>
            <a:off x="467169" y="4502383"/>
            <a:ext cx="7424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License</a:t>
            </a:r>
            <a:r>
              <a:rPr lang="en-US" dirty="0"/>
              <a:t>: this presentation is released under the Creative Commons CC BY 4.0,</a:t>
            </a:r>
            <a:br>
              <a:rPr lang="en-US" dirty="0"/>
            </a:br>
            <a:r>
              <a:rPr lang="en-US" dirty="0"/>
              <a:t>see </a:t>
            </a:r>
            <a:r>
              <a:rPr lang="en-US" dirty="0">
                <a:hlinkClick r:id="rId3"/>
              </a:rPr>
              <a:t>https://creativecommons.org/licenses/by/4.0/deed.ast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8242279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2CEC010-2C91-4CDD-574B-3CD7EE785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755" y="104192"/>
            <a:ext cx="5326224" cy="532622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2</a:t>
            </a:fld>
            <a:endParaRPr lang="nl-B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121924-8AEA-4C8F-95FA-4768DA10573C}"/>
              </a:ext>
            </a:extLst>
          </p:cNvPr>
          <p:cNvSpPr txBox="1"/>
          <p:nvPr/>
        </p:nvSpPr>
        <p:spPr>
          <a:xfrm>
            <a:off x="3741672" y="5244860"/>
            <a:ext cx="4094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hlinkClick r:id="rId3"/>
              </a:rPr>
              <a:t>https://bit.ly/40h3frb</a:t>
            </a:r>
            <a:r>
              <a:rPr lang="en-GB" sz="3200" dirty="0"/>
              <a:t> </a:t>
            </a:r>
            <a:endParaRPr lang="en-BE" sz="3200" dirty="0"/>
          </a:p>
        </p:txBody>
      </p:sp>
    </p:spTree>
    <p:extLst>
      <p:ext uri="{BB962C8B-B14F-4D97-AF65-F5344CB8AC3E}">
        <p14:creationId xmlns:p14="http://schemas.microsoft.com/office/powerpoint/2010/main" val="2028728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E5F573-6165-481B-AC47-5C89E7A1B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2448-FEEC-49E8-9588-2DF1F90D57C2}" type="slidenum">
              <a:rPr lang="en-US" smtClean="0"/>
              <a:t>3</a:t>
            </a:fld>
            <a:endParaRPr lang="en-US"/>
          </a:p>
        </p:txBody>
      </p:sp>
      <p:pic>
        <p:nvPicPr>
          <p:cNvPr id="4" name="Picture 3" descr="Qr code&#10;&#10;Description automatically generated">
            <a:extLst>
              <a:ext uri="{FF2B5EF4-FFF2-40B4-BE49-F238E27FC236}">
                <a16:creationId xmlns:a16="http://schemas.microsoft.com/office/drawing/2014/main" id="{78E97EA1-949E-42CD-9ADA-2D8F1E328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31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Technical evolution</a:t>
            </a:r>
          </a:p>
          <a:p>
            <a:pPr lvl="1"/>
            <a:r>
              <a:rPr lang="en-US" dirty="0"/>
              <a:t>Models grow</a:t>
            </a:r>
          </a:p>
          <a:p>
            <a:pPr lvl="1"/>
            <a:r>
              <a:rPr lang="en-US" dirty="0"/>
              <a:t>Datasets grow</a:t>
            </a:r>
          </a:p>
          <a:p>
            <a:pPr lvl="1"/>
            <a:r>
              <a:rPr lang="en-US" dirty="0"/>
              <a:t>Accuracy increases</a:t>
            </a:r>
          </a:p>
          <a:p>
            <a:r>
              <a:rPr lang="en-US" dirty="0"/>
              <a:t>More computational power</a:t>
            </a:r>
          </a:p>
          <a:p>
            <a:pPr lvl="1"/>
            <a:r>
              <a:rPr lang="en-US" dirty="0"/>
              <a:t>Use multiple GPUs</a:t>
            </a:r>
          </a:p>
          <a:p>
            <a:pPr lvl="1"/>
            <a:r>
              <a:rPr lang="en-US" dirty="0"/>
              <a:t>Use multiple compute nodes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09D72-2E9D-49B0-8977-41DCCC66C0BB}" type="slidenum">
              <a:rPr lang="nl-BE" smtClean="0"/>
              <a:t>4</a:t>
            </a:fld>
            <a:endParaRPr lang="nl-B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F9B935-1DC2-B9FA-59F8-1F62B320F940}"/>
              </a:ext>
            </a:extLst>
          </p:cNvPr>
          <p:cNvSpPr txBox="1"/>
          <p:nvPr/>
        </p:nvSpPr>
        <p:spPr>
          <a:xfrm>
            <a:off x="3788229" y="5150498"/>
            <a:ext cx="538480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Distributed training and inference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2819944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determines which choices exist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598689-54C9-18A7-3A19-ED76AA08988F}" type="slidenum">
              <a:rPr/>
              <a:t>5</a:t>
            </a:fld>
            <a:endParaRPr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F66759D1-CC37-4D3F-8283-9843F679E2CC}"/>
              </a:ext>
            </a:extLst>
          </p:cNvPr>
          <p:cNvSpPr>
            <a:spLocks noGrp="1"/>
          </p:cNvSpPr>
          <p:nvPr/>
        </p:nvSpPr>
        <p:spPr>
          <a:xfrm>
            <a:off x="6096000" y="2085975"/>
            <a:ext cx="9525" cy="342900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82BCC067-91DE-40E4-BF3A-2049E1784033}"/>
              </a:ext>
            </a:extLst>
          </p:cNvPr>
          <p:cNvSpPr>
            <a:spLocks noGrp="1"/>
          </p:cNvSpPr>
          <p:nvPr/>
        </p:nvSpPr>
        <p:spPr>
          <a:xfrm>
            <a:off x="2190750" y="2428875"/>
            <a:ext cx="7810500" cy="952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150A6895-AD89-4A12-B529-C95E1A1E7F76}"/>
              </a:ext>
            </a:extLst>
          </p:cNvPr>
          <p:cNvSpPr>
            <a:spLocks noGrp="1"/>
          </p:cNvSpPr>
          <p:nvPr/>
        </p:nvSpPr>
        <p:spPr>
          <a:xfrm>
            <a:off x="2190750" y="2428875"/>
            <a:ext cx="9525" cy="37147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84CE2100-00C5-4885-A1F8-F8C096B7F424}"/>
              </a:ext>
            </a:extLst>
          </p:cNvPr>
          <p:cNvSpPr>
            <a:spLocks noGrp="1"/>
          </p:cNvSpPr>
          <p:nvPr/>
        </p:nvSpPr>
        <p:spPr>
          <a:xfrm>
            <a:off x="6096000" y="2428875"/>
            <a:ext cx="9525" cy="37147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9FB1D377-7D40-4B74-9E34-CD41BC44650F}"/>
              </a:ext>
            </a:extLst>
          </p:cNvPr>
          <p:cNvSpPr>
            <a:spLocks noGrp="1"/>
          </p:cNvSpPr>
          <p:nvPr/>
        </p:nvSpPr>
        <p:spPr>
          <a:xfrm>
            <a:off x="10001250" y="2428875"/>
            <a:ext cx="9525" cy="37147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63BC76-64C1-4A85-96A7-553C373A5D94}"/>
              </a:ext>
            </a:extLst>
          </p:cNvPr>
          <p:cNvSpPr>
            <a:spLocks noGrp="1"/>
          </p:cNvSpPr>
          <p:nvPr/>
        </p:nvSpPr>
        <p:spPr>
          <a:xfrm>
            <a:off x="4095750" y="2857500"/>
            <a:ext cx="9525" cy="209550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20CA63-4F21-499E-9305-F419ED69795E}"/>
              </a:ext>
            </a:extLst>
          </p:cNvPr>
          <p:cNvSpPr>
            <a:spLocks noGrp="1"/>
          </p:cNvSpPr>
          <p:nvPr/>
        </p:nvSpPr>
        <p:spPr>
          <a:xfrm>
            <a:off x="8096250" y="2857500"/>
            <a:ext cx="9525" cy="209550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F04353-443D-4968-A0CC-7C571E2F646D}"/>
              </a:ext>
            </a:extLst>
          </p:cNvPr>
          <p:cNvSpPr>
            <a:spLocks noGrp="1"/>
          </p:cNvSpPr>
          <p:nvPr/>
        </p:nvSpPr>
        <p:spPr>
          <a:xfrm>
            <a:off x="3429000" y="1476375"/>
            <a:ext cx="5334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23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3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How many usable GPUs can cooperate?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BB5D68-6FD6-4146-A106-686D772543C3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24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4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1 GPU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C66AA4-503F-481D-9B6B-6F1FB0704670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666750" cy="38100"/>
          </a:xfrm>
          <a:prstGeom prst="rect">
            <a:avLst/>
          </a:prstGeom>
          <a:solidFill>
            <a:srgbClr val="DB6C30"/>
          </a:solidFill>
          <a:ln w="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6F616C-6480-4D30-A3CE-EA6C31EBDDC9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3238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Multi-GPU methods are excluded.</a:t>
            </a:r>
          </a:p>
          <a:p>
            <a:endParaRPr sz="1600" b="0">
              <a:solidFill>
                <a:srgbClr val="68717C"/>
              </a:solidFill>
              <a:latin typeface="FlandersArtSans-Regular"/>
              <a:ea typeface="FlandersArtSans-Regular"/>
              <a:cs typeface="FlandersArtSans-Regular"/>
            </a:endParaRPr>
          </a:p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If the model does not fit, use quantization, activation reduction, or CPU/NVMe offload.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982B2C-665F-4810-935C-151DD1071764}"/>
              </a:ext>
            </a:extLst>
          </p:cNvPr>
          <p:cNvSpPr>
            <a:spLocks noGrp="1"/>
          </p:cNvSpPr>
          <p:nvPr/>
        </p:nvSpPr>
        <p:spPr>
          <a:xfrm>
            <a:off x="4286250" y="285750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24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4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2+ GPUs, one node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EFBD1A-0C68-4EA7-86EF-B94F814A0207}"/>
              </a:ext>
            </a:extLst>
          </p:cNvPr>
          <p:cNvSpPr>
            <a:spLocks noGrp="1"/>
          </p:cNvSpPr>
          <p:nvPr/>
        </p:nvSpPr>
        <p:spPr>
          <a:xfrm>
            <a:off x="4286250" y="3333750"/>
            <a:ext cx="666750" cy="38100"/>
          </a:xfrm>
          <a:prstGeom prst="rect">
            <a:avLst/>
          </a:prstGeom>
          <a:solidFill>
            <a:srgbClr val="DB6C30"/>
          </a:solidFill>
          <a:ln w="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CAD355-7941-46E3-AD90-D8F111BA195F}"/>
              </a:ext>
            </a:extLst>
          </p:cNvPr>
          <p:cNvSpPr>
            <a:spLocks noGrp="1"/>
          </p:cNvSpPr>
          <p:nvPr/>
        </p:nvSpPr>
        <p:spPr>
          <a:xfrm>
            <a:off x="4286250" y="3476625"/>
            <a:ext cx="3238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Replicate complete models when each copy fits.</a:t>
            </a:r>
          </a:p>
          <a:p>
            <a:endParaRPr sz="1600" b="0">
              <a:solidFill>
                <a:srgbClr val="68717C"/>
              </a:solidFill>
              <a:latin typeface="FlandersArtSans-Regular"/>
              <a:ea typeface="FlandersArtSans-Regular"/>
              <a:cs typeface="FlandersArtSans-Regular"/>
            </a:endParaRPr>
          </a:p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Shard only the object that causes the capacity or latency limit.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FE9FD7-D0C0-48D6-9DDD-FD03493E937D}"/>
              </a:ext>
            </a:extLst>
          </p:cNvPr>
          <p:cNvSpPr>
            <a:spLocks noGrp="1"/>
          </p:cNvSpPr>
          <p:nvPr/>
        </p:nvSpPr>
        <p:spPr>
          <a:xfrm>
            <a:off x="8286750" y="2857500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24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4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Multiple nodes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94DA98-D2F8-4742-98D6-112800733DA9}"/>
              </a:ext>
            </a:extLst>
          </p:cNvPr>
          <p:cNvSpPr>
            <a:spLocks noGrp="1"/>
          </p:cNvSpPr>
          <p:nvPr/>
        </p:nvSpPr>
        <p:spPr>
          <a:xfrm>
            <a:off x="8286750" y="3333750"/>
            <a:ext cx="666750" cy="38100"/>
          </a:xfrm>
          <a:prstGeom prst="rect">
            <a:avLst/>
          </a:prstGeom>
          <a:solidFill>
            <a:srgbClr val="DB6C30"/>
          </a:solidFill>
          <a:ln w="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7EF0CB-7100-4E97-9542-182F8889440A}"/>
              </a:ext>
            </a:extLst>
          </p:cNvPr>
          <p:cNvSpPr>
            <a:spLocks noGrp="1"/>
          </p:cNvSpPr>
          <p:nvPr/>
        </p:nvSpPr>
        <p:spPr>
          <a:xfrm>
            <a:off x="8286750" y="3476625"/>
            <a:ext cx="3238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Keep frequent collectives inside fast domains.</a:t>
            </a:r>
          </a:p>
          <a:p>
            <a:endParaRPr sz="1600" b="0">
              <a:solidFill>
                <a:srgbClr val="68717C"/>
              </a:solidFill>
              <a:latin typeface="FlandersArtSans-Regular"/>
              <a:ea typeface="FlandersArtSans-Regular"/>
              <a:cs typeface="FlandersArtSans-Regular"/>
            </a:endParaRPr>
          </a:p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Use depth-oriented methods across slower boundaries when appropriate.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0D7787-1FD9-4052-976B-9D75249B56CA}"/>
              </a:ext>
            </a:extLst>
          </p:cNvPr>
          <p:cNvSpPr>
            <a:spLocks noGrp="1"/>
          </p:cNvSpPr>
          <p:nvPr/>
        </p:nvSpPr>
        <p:spPr>
          <a:xfrm>
            <a:off x="2857500" y="5219700"/>
            <a:ext cx="647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20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Topology constrains the answer; it does not choose the method.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Parallelism methods divide different objects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02359C0-8A7A-196E-DD58-8E6569619F09}" type="slidenum">
              <a:rPr/>
              <a:t>6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94DF73-9AEB-4345-B6F3-95FF89DBFDCA}"/>
              </a:ext>
            </a:extLst>
          </p:cNvPr>
          <p:cNvSpPr>
            <a:spLocks noGrp="1"/>
          </p:cNvSpPr>
          <p:nvPr/>
        </p:nvSpPr>
        <p:spPr>
          <a:xfrm>
            <a:off x="742950" y="1862906"/>
            <a:ext cx="10706100" cy="400050"/>
          </a:xfrm>
          <a:prstGeom prst="rect">
            <a:avLst/>
          </a:prstGeom>
          <a:solidFill>
            <a:srgbClr val="333639"/>
          </a:solidFill>
          <a:ln w="0">
            <a:solidFill>
              <a:srgbClr val="333639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B2CEF4-6B99-4E9B-B158-2FF2634BA166}"/>
              </a:ext>
            </a:extLst>
          </p:cNvPr>
          <p:cNvSpPr>
            <a:spLocks noGrp="1"/>
          </p:cNvSpPr>
          <p:nvPr/>
        </p:nvSpPr>
        <p:spPr>
          <a:xfrm>
            <a:off x="876300" y="1862906"/>
            <a:ext cx="1562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METHOD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7578AD-0995-436B-949F-6CABEE450921}"/>
              </a:ext>
            </a:extLst>
          </p:cNvPr>
          <p:cNvSpPr>
            <a:spLocks noGrp="1"/>
          </p:cNvSpPr>
          <p:nvPr/>
        </p:nvSpPr>
        <p:spPr>
          <a:xfrm>
            <a:off x="2705100" y="1862906"/>
            <a:ext cx="3067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WHAT IT DIVIDES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E88C5F-D12C-47C5-8BAF-94EB918B43BC}"/>
              </a:ext>
            </a:extLst>
          </p:cNvPr>
          <p:cNvSpPr>
            <a:spLocks noGrp="1"/>
          </p:cNvSpPr>
          <p:nvPr/>
        </p:nvSpPr>
        <p:spPr>
          <a:xfrm>
            <a:off x="6038850" y="1862906"/>
            <a:ext cx="5276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WHEN IT EARNS ITS COST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2015CD-CD00-489B-AAC0-6D7C0743E90F}"/>
              </a:ext>
            </a:extLst>
          </p:cNvPr>
          <p:cNvSpPr>
            <a:spLocks noGrp="1"/>
          </p:cNvSpPr>
          <p:nvPr/>
        </p:nvSpPr>
        <p:spPr>
          <a:xfrm>
            <a:off x="2571750" y="1862906"/>
            <a:ext cx="9525" cy="400050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679EBD-A860-45CF-B5D4-32372C8EEE5B}"/>
              </a:ext>
            </a:extLst>
          </p:cNvPr>
          <p:cNvSpPr>
            <a:spLocks noGrp="1"/>
          </p:cNvSpPr>
          <p:nvPr/>
        </p:nvSpPr>
        <p:spPr>
          <a:xfrm>
            <a:off x="5905500" y="1862906"/>
            <a:ext cx="9525" cy="400050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10421D-4D48-4DBF-9B09-64253E1568FB}"/>
              </a:ext>
            </a:extLst>
          </p:cNvPr>
          <p:cNvSpPr>
            <a:spLocks noGrp="1"/>
          </p:cNvSpPr>
          <p:nvPr/>
        </p:nvSpPr>
        <p:spPr>
          <a:xfrm>
            <a:off x="742950" y="2863031"/>
            <a:ext cx="107061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5A4D0F-DEE2-49A2-A8FB-6ED9474F2C34}"/>
              </a:ext>
            </a:extLst>
          </p:cNvPr>
          <p:cNvSpPr>
            <a:spLocks noGrp="1"/>
          </p:cNvSpPr>
          <p:nvPr/>
        </p:nvSpPr>
        <p:spPr>
          <a:xfrm>
            <a:off x="876300" y="2262956"/>
            <a:ext cx="15621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DP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3A9AF3-81A6-45E9-93A3-1EE71F4E55A5}"/>
              </a:ext>
            </a:extLst>
          </p:cNvPr>
          <p:cNvSpPr>
            <a:spLocks noGrp="1"/>
          </p:cNvSpPr>
          <p:nvPr/>
        </p:nvSpPr>
        <p:spPr>
          <a:xfrm>
            <a:off x="2705100" y="2262956"/>
            <a:ext cx="30670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Batch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4EC312-7DE7-4640-A906-21BCA019E426}"/>
              </a:ext>
            </a:extLst>
          </p:cNvPr>
          <p:cNvSpPr>
            <a:spLocks noGrp="1"/>
          </p:cNvSpPr>
          <p:nvPr/>
        </p:nvSpPr>
        <p:spPr>
          <a:xfrm>
            <a:off x="6038850" y="2262956"/>
            <a:ext cx="52768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A complete model copy fits; more throughput is useful.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EF9BD4-5732-42B8-8C66-08E3B1A603BC}"/>
              </a:ext>
            </a:extLst>
          </p:cNvPr>
          <p:cNvSpPr>
            <a:spLocks noGrp="1"/>
          </p:cNvSpPr>
          <p:nvPr/>
        </p:nvSpPr>
        <p:spPr>
          <a:xfrm>
            <a:off x="742950" y="3463106"/>
            <a:ext cx="107061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297D3D-2611-4593-8AB0-E6A0E4C250E3}"/>
              </a:ext>
            </a:extLst>
          </p:cNvPr>
          <p:cNvSpPr>
            <a:spLocks noGrp="1"/>
          </p:cNvSpPr>
          <p:nvPr/>
        </p:nvSpPr>
        <p:spPr>
          <a:xfrm>
            <a:off x="876300" y="2863031"/>
            <a:ext cx="15621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FSDP / ZeRO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BDD8C5-CBDC-440F-96E8-AE98EF8A5B71}"/>
              </a:ext>
            </a:extLst>
          </p:cNvPr>
          <p:cNvSpPr>
            <a:spLocks noGrp="1"/>
          </p:cNvSpPr>
          <p:nvPr/>
        </p:nvSpPr>
        <p:spPr>
          <a:xfrm>
            <a:off x="2705100" y="2863031"/>
            <a:ext cx="30670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Persistent state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E00A7F-9056-49A2-B8DA-F3FE34C6EF5C}"/>
              </a:ext>
            </a:extLst>
          </p:cNvPr>
          <p:cNvSpPr>
            <a:spLocks noGrp="1"/>
          </p:cNvSpPr>
          <p:nvPr/>
        </p:nvSpPr>
        <p:spPr>
          <a:xfrm>
            <a:off x="6038850" y="2863031"/>
            <a:ext cx="52768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Parameters, gradients, or optimizer state cannot remain replicated.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AB1B66-0F9F-4EC2-8725-109341286F26}"/>
              </a:ext>
            </a:extLst>
          </p:cNvPr>
          <p:cNvSpPr>
            <a:spLocks noGrp="1"/>
          </p:cNvSpPr>
          <p:nvPr/>
        </p:nvSpPr>
        <p:spPr>
          <a:xfrm>
            <a:off x="742950" y="4063181"/>
            <a:ext cx="107061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784A5E-5977-4153-9476-4EFDEBEE4B36}"/>
              </a:ext>
            </a:extLst>
          </p:cNvPr>
          <p:cNvSpPr>
            <a:spLocks noGrp="1"/>
          </p:cNvSpPr>
          <p:nvPr/>
        </p:nvSpPr>
        <p:spPr>
          <a:xfrm>
            <a:off x="876300" y="3463106"/>
            <a:ext cx="15621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TP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926276-1313-4FC8-A6D5-8D7068454C47}"/>
              </a:ext>
            </a:extLst>
          </p:cNvPr>
          <p:cNvSpPr>
            <a:spLocks noGrp="1"/>
          </p:cNvSpPr>
          <p:nvPr/>
        </p:nvSpPr>
        <p:spPr>
          <a:xfrm>
            <a:off x="2705100" y="3463106"/>
            <a:ext cx="30670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Layer / tensor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41FF1A-40DA-4C66-BD43-CC6E04222A17}"/>
              </a:ext>
            </a:extLst>
          </p:cNvPr>
          <p:cNvSpPr>
            <a:spLocks noGrp="1"/>
          </p:cNvSpPr>
          <p:nvPr/>
        </p:nvSpPr>
        <p:spPr>
          <a:xfrm>
            <a:off x="6038850" y="3463106"/>
            <a:ext cx="52768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A layer does not fit, or per-token compute needs several GPUs.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35F421-25A3-4504-BA19-4BF034E38ECD}"/>
              </a:ext>
            </a:extLst>
          </p:cNvPr>
          <p:cNvSpPr>
            <a:spLocks noGrp="1"/>
          </p:cNvSpPr>
          <p:nvPr/>
        </p:nvSpPr>
        <p:spPr>
          <a:xfrm>
            <a:off x="742950" y="4663256"/>
            <a:ext cx="107061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C4E9FB6-F1E2-4140-AF59-5C203BD649B2}"/>
              </a:ext>
            </a:extLst>
          </p:cNvPr>
          <p:cNvSpPr>
            <a:spLocks noGrp="1"/>
          </p:cNvSpPr>
          <p:nvPr/>
        </p:nvSpPr>
        <p:spPr>
          <a:xfrm>
            <a:off x="876300" y="4063181"/>
            <a:ext cx="15621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PP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24C56C3-BDD3-4A8D-95DC-D7D2E8352E3F}"/>
              </a:ext>
            </a:extLst>
          </p:cNvPr>
          <p:cNvSpPr>
            <a:spLocks noGrp="1"/>
          </p:cNvSpPr>
          <p:nvPr/>
        </p:nvSpPr>
        <p:spPr>
          <a:xfrm>
            <a:off x="2705100" y="4063181"/>
            <a:ext cx="30670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Model depth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9DE8E58-1438-4734-94AF-478EEDAF597C}"/>
              </a:ext>
            </a:extLst>
          </p:cNvPr>
          <p:cNvSpPr>
            <a:spLocks noGrp="1"/>
          </p:cNvSpPr>
          <p:nvPr/>
        </p:nvSpPr>
        <p:spPr>
          <a:xfrm>
            <a:off x="6038850" y="4063181"/>
            <a:ext cx="52768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Deep models or slower node boundaries favor stage-wise placement.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787FBF-4931-417D-8F4A-E6BC7619C29F}"/>
              </a:ext>
            </a:extLst>
          </p:cNvPr>
          <p:cNvSpPr>
            <a:spLocks noGrp="1"/>
          </p:cNvSpPr>
          <p:nvPr/>
        </p:nvSpPr>
        <p:spPr>
          <a:xfrm>
            <a:off x="742950" y="5263331"/>
            <a:ext cx="107061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E657F09-E534-4D63-9D0C-9566E822A060}"/>
              </a:ext>
            </a:extLst>
          </p:cNvPr>
          <p:cNvSpPr>
            <a:spLocks noGrp="1"/>
          </p:cNvSpPr>
          <p:nvPr/>
        </p:nvSpPr>
        <p:spPr>
          <a:xfrm>
            <a:off x="876300" y="4663256"/>
            <a:ext cx="15621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CP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20519C-A466-4CE2-9C8E-233A4F433AC6}"/>
              </a:ext>
            </a:extLst>
          </p:cNvPr>
          <p:cNvSpPr>
            <a:spLocks noGrp="1"/>
          </p:cNvSpPr>
          <p:nvPr/>
        </p:nvSpPr>
        <p:spPr>
          <a:xfrm>
            <a:off x="2705100" y="4663256"/>
            <a:ext cx="30670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Sequence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AA5496B-88A3-48B5-BCDA-9D6C37EC0ADB}"/>
              </a:ext>
            </a:extLst>
          </p:cNvPr>
          <p:cNvSpPr>
            <a:spLocks noGrp="1"/>
          </p:cNvSpPr>
          <p:nvPr/>
        </p:nvSpPr>
        <p:spPr>
          <a:xfrm>
            <a:off x="6038850" y="4663256"/>
            <a:ext cx="52768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Long-context activations or KV cache dominate memory.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D18E923-A4E1-47CB-BE81-465A53ED9A7F}"/>
              </a:ext>
            </a:extLst>
          </p:cNvPr>
          <p:cNvSpPr>
            <a:spLocks noGrp="1"/>
          </p:cNvSpPr>
          <p:nvPr/>
        </p:nvSpPr>
        <p:spPr>
          <a:xfrm>
            <a:off x="742950" y="5863406"/>
            <a:ext cx="107061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A91F36C-3F88-44B5-933E-F8CDC18B7878}"/>
              </a:ext>
            </a:extLst>
          </p:cNvPr>
          <p:cNvSpPr>
            <a:spLocks noGrp="1"/>
          </p:cNvSpPr>
          <p:nvPr/>
        </p:nvSpPr>
        <p:spPr>
          <a:xfrm>
            <a:off x="876300" y="5263331"/>
            <a:ext cx="15621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EP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3469775-D4B4-483A-BE70-ADBA86C46534}"/>
              </a:ext>
            </a:extLst>
          </p:cNvPr>
          <p:cNvSpPr>
            <a:spLocks noGrp="1"/>
          </p:cNvSpPr>
          <p:nvPr/>
        </p:nvSpPr>
        <p:spPr>
          <a:xfrm>
            <a:off x="2705100" y="5263331"/>
            <a:ext cx="30670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Experts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BB62964-18D8-48D8-9CA6-3D7386AB126A}"/>
              </a:ext>
            </a:extLst>
          </p:cNvPr>
          <p:cNvSpPr>
            <a:spLocks noGrp="1"/>
          </p:cNvSpPr>
          <p:nvPr/>
        </p:nvSpPr>
        <p:spPr>
          <a:xfrm>
            <a:off x="6038850" y="5263331"/>
            <a:ext cx="527685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Sparse MoE weights and routed computation need distribution.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7AF396F-789E-4DAB-972A-F41918F606EF}"/>
              </a:ext>
            </a:extLst>
          </p:cNvPr>
          <p:cNvSpPr>
            <a:spLocks noGrp="1"/>
          </p:cNvSpPr>
          <p:nvPr/>
        </p:nvSpPr>
        <p:spPr>
          <a:xfrm>
            <a:off x="3524250" y="5939606"/>
            <a:ext cx="514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Parameter count alone is not a selection rule.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 splits batches across model replicas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D6AB9A-5F9E-5F59-51AB-3C8734130965}" type="slidenum">
              <a:rPr/>
              <a:t>7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4CF174-23AD-4BA7-9446-73555AD31582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DIVIDES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B84078-4BB2-41BE-B78E-9FF5CE83B87B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The batch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BA8855-956B-494C-8885-32665A4023C0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EE77A0-B038-4520-8EE3-AFB0FECB8C3D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HOW IT WORKS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BE7EE8-68C2-4EC0-A6FF-A0D9158A62E7}"/>
              </a:ext>
            </a:extLst>
          </p:cNvPr>
          <p:cNvSpPr>
            <a:spLocks noGrp="1"/>
          </p:cNvSpPr>
          <p:nvPr/>
        </p:nvSpPr>
        <p:spPr>
          <a:xfrm>
            <a:off x="685800" y="2886075"/>
            <a:ext cx="3238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Every worker holds a complete model copy and processes different samples.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3E928D-0341-41A2-B402-77C833BF1795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F898A6-0F38-4648-828C-507B5B183BDD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MAIN COST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063F60-D6EC-4CDD-9355-F520AF26F41F}"/>
              </a:ext>
            </a:extLst>
          </p:cNvPr>
          <p:cNvSpPr>
            <a:spLocks noGrp="1"/>
          </p:cNvSpPr>
          <p:nvPr/>
        </p:nvSpPr>
        <p:spPr>
          <a:xfrm>
            <a:off x="685800" y="4295775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Gradient synchronization after backward.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8D6E63-EE28-43AC-91FA-142189362B2E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Use when: one complete training copy fits and throughput matters.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D13974-43D1-46D8-8F47-0B299FE93AAE}"/>
              </a:ext>
            </a:extLst>
          </p:cNvPr>
          <p:cNvSpPr>
            <a:spLocks noGrp="1"/>
          </p:cNvSpPr>
          <p:nvPr/>
        </p:nvSpPr>
        <p:spPr>
          <a:xfrm>
            <a:off x="4238625" y="1476375"/>
            <a:ext cx="9525" cy="409575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9B52B923-9CAC-4512-9E0F-68C52ECB1989}"/>
              </a:ext>
            </a:extLst>
          </p:cNvPr>
          <p:cNvSpPr>
            <a:spLocks noGrp="1"/>
          </p:cNvSpPr>
          <p:nvPr/>
        </p:nvSpPr>
        <p:spPr>
          <a:xfrm>
            <a:off x="5572125" y="2324100"/>
            <a:ext cx="9525" cy="3905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DB3ECA95-EEB6-49F3-A0D7-5B325203592A}"/>
              </a:ext>
            </a:extLst>
          </p:cNvPr>
          <p:cNvSpPr>
            <a:spLocks noGrp="1"/>
          </p:cNvSpPr>
          <p:nvPr/>
        </p:nvSpPr>
        <p:spPr>
          <a:xfrm>
            <a:off x="7953375" y="2324100"/>
            <a:ext cx="9525" cy="3905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FA64B4C8-E67C-4A2F-9485-8BBB0138C46F}"/>
              </a:ext>
            </a:extLst>
          </p:cNvPr>
          <p:cNvSpPr>
            <a:spLocks noGrp="1"/>
          </p:cNvSpPr>
          <p:nvPr/>
        </p:nvSpPr>
        <p:spPr>
          <a:xfrm>
            <a:off x="10334625" y="2324100"/>
            <a:ext cx="9525" cy="3905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92E65D10-A3E3-49C7-A838-3754F3C7DB4D}"/>
              </a:ext>
            </a:extLst>
          </p:cNvPr>
          <p:cNvSpPr>
            <a:spLocks noGrp="1"/>
          </p:cNvSpPr>
          <p:nvPr/>
        </p:nvSpPr>
        <p:spPr>
          <a:xfrm>
            <a:off x="5572125" y="4429125"/>
            <a:ext cx="9525" cy="33337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1482CC2B-263F-477A-B109-2EB5EDA0AEE2}"/>
              </a:ext>
            </a:extLst>
          </p:cNvPr>
          <p:cNvSpPr>
            <a:spLocks noGrp="1"/>
          </p:cNvSpPr>
          <p:nvPr/>
        </p:nvSpPr>
        <p:spPr>
          <a:xfrm>
            <a:off x="7953375" y="4429125"/>
            <a:ext cx="9525" cy="33337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0FDADE92-9AC6-4241-9F49-3A83BE5CDE7F}"/>
              </a:ext>
            </a:extLst>
          </p:cNvPr>
          <p:cNvSpPr>
            <a:spLocks noGrp="1"/>
          </p:cNvSpPr>
          <p:nvPr/>
        </p:nvSpPr>
        <p:spPr>
          <a:xfrm>
            <a:off x="10334625" y="4429125"/>
            <a:ext cx="9525" cy="33337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A6219587-57C2-4E47-AD96-FADDEC16576E}"/>
              </a:ext>
            </a:extLst>
          </p:cNvPr>
          <p:cNvSpPr>
            <a:spLocks noGrp="1"/>
          </p:cNvSpPr>
          <p:nvPr/>
        </p:nvSpPr>
        <p:spPr>
          <a:xfrm>
            <a:off x="5572125" y="4762500"/>
            <a:ext cx="4762500" cy="952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B1C24F-AE13-4215-8E50-85DD87427C78}"/>
              </a:ext>
            </a:extLst>
          </p:cNvPr>
          <p:cNvSpPr>
            <a:spLocks noGrp="1"/>
          </p:cNvSpPr>
          <p:nvPr/>
        </p:nvSpPr>
        <p:spPr>
          <a:xfrm>
            <a:off x="6334125" y="1476375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DIFFERENT MINI-BATCHES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B5B0328-7007-4020-909F-9B7E0EFE317A}"/>
              </a:ext>
            </a:extLst>
          </p:cNvPr>
          <p:cNvSpPr>
            <a:spLocks noGrp="1"/>
          </p:cNvSpPr>
          <p:nvPr/>
        </p:nvSpPr>
        <p:spPr>
          <a:xfrm>
            <a:off x="4762500" y="1885950"/>
            <a:ext cx="1619250" cy="438150"/>
          </a:xfrm>
          <a:prstGeom prst="rect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Batch 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3E7FDE-1CE6-4656-89D1-5481D5ADD92C}"/>
              </a:ext>
            </a:extLst>
          </p:cNvPr>
          <p:cNvSpPr>
            <a:spLocks noGrp="1"/>
          </p:cNvSpPr>
          <p:nvPr/>
        </p:nvSpPr>
        <p:spPr>
          <a:xfrm>
            <a:off x="7143750" y="1885950"/>
            <a:ext cx="1619250" cy="438150"/>
          </a:xfrm>
          <a:prstGeom prst="rect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Batch B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41C020-9646-4580-8231-DCA0D47F21BF}"/>
              </a:ext>
            </a:extLst>
          </p:cNvPr>
          <p:cNvSpPr>
            <a:spLocks noGrp="1"/>
          </p:cNvSpPr>
          <p:nvPr/>
        </p:nvSpPr>
        <p:spPr>
          <a:xfrm>
            <a:off x="9525000" y="1885950"/>
            <a:ext cx="1619250" cy="438150"/>
          </a:xfrm>
          <a:prstGeom prst="rect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Batch C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5611D80-30E1-459F-9182-9DBF1EAE1F17}"/>
              </a:ext>
            </a:extLst>
          </p:cNvPr>
          <p:cNvSpPr>
            <a:spLocks noGrp="1"/>
          </p:cNvSpPr>
          <p:nvPr/>
        </p:nvSpPr>
        <p:spPr>
          <a:xfrm>
            <a:off x="4762500" y="2714625"/>
            <a:ext cx="1619250" cy="1714500"/>
          </a:xfrm>
          <a:prstGeom prst="rect">
            <a:avLst/>
          </a:prstGeom>
          <a:noFill/>
          <a:ln w="14288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0B91BC-0281-4254-BA3B-80CA3B5870BD}"/>
              </a:ext>
            </a:extLst>
          </p:cNvPr>
          <p:cNvSpPr>
            <a:spLocks noGrp="1"/>
          </p:cNvSpPr>
          <p:nvPr/>
        </p:nvSpPr>
        <p:spPr>
          <a:xfrm>
            <a:off x="4857750" y="277177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0: full model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FF3AAA-1C19-40A9-8928-5B3D21135D4A}"/>
              </a:ext>
            </a:extLst>
          </p:cNvPr>
          <p:cNvSpPr>
            <a:spLocks noGrp="1"/>
          </p:cNvSpPr>
          <p:nvPr/>
        </p:nvSpPr>
        <p:spPr>
          <a:xfrm>
            <a:off x="4953000" y="3209925"/>
            <a:ext cx="1238250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BD47D21-6AE3-40DA-9078-8D693850F3EC}"/>
              </a:ext>
            </a:extLst>
          </p:cNvPr>
          <p:cNvSpPr>
            <a:spLocks noGrp="1"/>
          </p:cNvSpPr>
          <p:nvPr/>
        </p:nvSpPr>
        <p:spPr>
          <a:xfrm>
            <a:off x="4953000" y="3457575"/>
            <a:ext cx="1238250" cy="171450"/>
          </a:xfrm>
          <a:prstGeom prst="rect">
            <a:avLst/>
          </a:prstGeom>
          <a:solidFill>
            <a:srgbClr val="DB6C30"/>
          </a:solidFill>
          <a:ln w="9525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1215F4-1CCC-4DB9-8271-862130C4BDB2}"/>
              </a:ext>
            </a:extLst>
          </p:cNvPr>
          <p:cNvSpPr>
            <a:spLocks noGrp="1"/>
          </p:cNvSpPr>
          <p:nvPr/>
        </p:nvSpPr>
        <p:spPr>
          <a:xfrm>
            <a:off x="4953000" y="3705225"/>
            <a:ext cx="1238250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590523F-0E1B-419B-9CD2-7C9061F0C3BF}"/>
              </a:ext>
            </a:extLst>
          </p:cNvPr>
          <p:cNvSpPr>
            <a:spLocks noGrp="1"/>
          </p:cNvSpPr>
          <p:nvPr/>
        </p:nvSpPr>
        <p:spPr>
          <a:xfrm>
            <a:off x="4953000" y="3952875"/>
            <a:ext cx="1238250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6A940EA-2BD9-4677-B462-31F1D4CC0663}"/>
              </a:ext>
            </a:extLst>
          </p:cNvPr>
          <p:cNvSpPr>
            <a:spLocks noGrp="1"/>
          </p:cNvSpPr>
          <p:nvPr/>
        </p:nvSpPr>
        <p:spPr>
          <a:xfrm>
            <a:off x="7143750" y="2714625"/>
            <a:ext cx="1619250" cy="1714500"/>
          </a:xfrm>
          <a:prstGeom prst="rect">
            <a:avLst/>
          </a:prstGeom>
          <a:noFill/>
          <a:ln w="14288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9AE78C0-B99A-4199-BA03-F03A0E82480B}"/>
              </a:ext>
            </a:extLst>
          </p:cNvPr>
          <p:cNvSpPr>
            <a:spLocks noGrp="1"/>
          </p:cNvSpPr>
          <p:nvPr/>
        </p:nvSpPr>
        <p:spPr>
          <a:xfrm>
            <a:off x="7239000" y="277177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1: full model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C24ED02-10A4-4200-92EA-1F651CA7A430}"/>
              </a:ext>
            </a:extLst>
          </p:cNvPr>
          <p:cNvSpPr>
            <a:spLocks noGrp="1"/>
          </p:cNvSpPr>
          <p:nvPr/>
        </p:nvSpPr>
        <p:spPr>
          <a:xfrm>
            <a:off x="7334250" y="3209925"/>
            <a:ext cx="1238250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7CD023B-23E4-4CFD-94F8-7C89FED8BB21}"/>
              </a:ext>
            </a:extLst>
          </p:cNvPr>
          <p:cNvSpPr>
            <a:spLocks noGrp="1"/>
          </p:cNvSpPr>
          <p:nvPr/>
        </p:nvSpPr>
        <p:spPr>
          <a:xfrm>
            <a:off x="7334250" y="3457575"/>
            <a:ext cx="1238250" cy="171450"/>
          </a:xfrm>
          <a:prstGeom prst="rect">
            <a:avLst/>
          </a:prstGeom>
          <a:solidFill>
            <a:srgbClr val="DB6C30"/>
          </a:solidFill>
          <a:ln w="9525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FF0B8F4-AB08-4DAF-8D51-6787928267D6}"/>
              </a:ext>
            </a:extLst>
          </p:cNvPr>
          <p:cNvSpPr>
            <a:spLocks noGrp="1"/>
          </p:cNvSpPr>
          <p:nvPr/>
        </p:nvSpPr>
        <p:spPr>
          <a:xfrm>
            <a:off x="7334250" y="3705225"/>
            <a:ext cx="1238250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79175B6-8B05-4041-AC54-FB927A808F05}"/>
              </a:ext>
            </a:extLst>
          </p:cNvPr>
          <p:cNvSpPr>
            <a:spLocks noGrp="1"/>
          </p:cNvSpPr>
          <p:nvPr/>
        </p:nvSpPr>
        <p:spPr>
          <a:xfrm>
            <a:off x="7334250" y="3952875"/>
            <a:ext cx="1238250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9107D0C-6519-4156-808E-AFC1BD2497A7}"/>
              </a:ext>
            </a:extLst>
          </p:cNvPr>
          <p:cNvSpPr>
            <a:spLocks noGrp="1"/>
          </p:cNvSpPr>
          <p:nvPr/>
        </p:nvSpPr>
        <p:spPr>
          <a:xfrm>
            <a:off x="9525000" y="2714625"/>
            <a:ext cx="1619250" cy="1714500"/>
          </a:xfrm>
          <a:prstGeom prst="rect">
            <a:avLst/>
          </a:prstGeom>
          <a:noFill/>
          <a:ln w="14288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ABC8A78-BE07-4A8E-BCC4-B9714DF92F7C}"/>
              </a:ext>
            </a:extLst>
          </p:cNvPr>
          <p:cNvSpPr>
            <a:spLocks noGrp="1"/>
          </p:cNvSpPr>
          <p:nvPr/>
        </p:nvSpPr>
        <p:spPr>
          <a:xfrm>
            <a:off x="9620250" y="277177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2: full model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84A1E20-2736-4A76-B816-2351CC3E25BE}"/>
              </a:ext>
            </a:extLst>
          </p:cNvPr>
          <p:cNvSpPr>
            <a:spLocks noGrp="1"/>
          </p:cNvSpPr>
          <p:nvPr/>
        </p:nvSpPr>
        <p:spPr>
          <a:xfrm>
            <a:off x="9715500" y="3209925"/>
            <a:ext cx="1238250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1B1ACF8-BB05-47C1-A721-102D63ED5CF6}"/>
              </a:ext>
            </a:extLst>
          </p:cNvPr>
          <p:cNvSpPr>
            <a:spLocks noGrp="1"/>
          </p:cNvSpPr>
          <p:nvPr/>
        </p:nvSpPr>
        <p:spPr>
          <a:xfrm>
            <a:off x="9715500" y="3457575"/>
            <a:ext cx="1238250" cy="171450"/>
          </a:xfrm>
          <a:prstGeom prst="rect">
            <a:avLst/>
          </a:prstGeom>
          <a:solidFill>
            <a:srgbClr val="DB6C30"/>
          </a:solidFill>
          <a:ln w="9525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E0FC3B0-4BE7-458D-935D-22AB6DA6FCAC}"/>
              </a:ext>
            </a:extLst>
          </p:cNvPr>
          <p:cNvSpPr>
            <a:spLocks noGrp="1"/>
          </p:cNvSpPr>
          <p:nvPr/>
        </p:nvSpPr>
        <p:spPr>
          <a:xfrm>
            <a:off x="9715500" y="3705225"/>
            <a:ext cx="1238250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F94B87C-0DE4-4961-B43B-D8BC0D3D2F45}"/>
              </a:ext>
            </a:extLst>
          </p:cNvPr>
          <p:cNvSpPr>
            <a:spLocks noGrp="1"/>
          </p:cNvSpPr>
          <p:nvPr/>
        </p:nvSpPr>
        <p:spPr>
          <a:xfrm>
            <a:off x="9715500" y="3952875"/>
            <a:ext cx="1238250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93A30D6-616E-4506-A046-CD65FD05B5AF}"/>
              </a:ext>
            </a:extLst>
          </p:cNvPr>
          <p:cNvSpPr>
            <a:spLocks noGrp="1"/>
          </p:cNvSpPr>
          <p:nvPr/>
        </p:nvSpPr>
        <p:spPr>
          <a:xfrm>
            <a:off x="6572250" y="4762500"/>
            <a:ext cx="276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Gradient all-reduce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36C48E5-DAFA-4A89-89E2-BE3C19A8682F}"/>
              </a:ext>
            </a:extLst>
          </p:cNvPr>
          <p:cNvSpPr>
            <a:spLocks noGrp="1"/>
          </p:cNvSpPr>
          <p:nvPr/>
        </p:nvSpPr>
        <p:spPr>
          <a:xfrm>
            <a:off x="6191250" y="5181600"/>
            <a:ext cx="3524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All replicas apply the same update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FSDP shards persistent state across workers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E5B3003-2C54-13C6-9832-7637201064DE}" type="slidenum">
              <a:rPr/>
              <a:t>8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560E59-812E-4CC3-8D52-84893D36997D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DIVIDES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672571-C060-42A6-8A4F-9CFB3124258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Parameters, gradients, and optimizer state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BB3DE1-9306-4F67-AD4C-4B18BB754C63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6D13EF-7916-427E-974B-59D4BD0AE445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HOW IT WORKS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015BBA-7A22-4E2B-AC82-A10E7F503739}"/>
              </a:ext>
            </a:extLst>
          </p:cNvPr>
          <p:cNvSpPr>
            <a:spLocks noGrp="1"/>
          </p:cNvSpPr>
          <p:nvPr/>
        </p:nvSpPr>
        <p:spPr>
          <a:xfrm>
            <a:off x="685800" y="2886075"/>
            <a:ext cx="3238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Each worker stores a shard. A layer is gathered for compute; gradients are reduce-scattered afterward.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3646BE-A5F3-4474-8C9D-A61E37F9927A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CAE7B2-DEF3-42EB-B9EC-3DCD3FC37425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MAIN COST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559778-CA11-4008-B077-06E39E10B6DF}"/>
              </a:ext>
            </a:extLst>
          </p:cNvPr>
          <p:cNvSpPr>
            <a:spLocks noGrp="1"/>
          </p:cNvSpPr>
          <p:nvPr/>
        </p:nvSpPr>
        <p:spPr>
          <a:xfrm>
            <a:off x="685800" y="4295775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State communication and temporary layer materialization.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12C537-5101-4A02-87AF-3B5BA7AD3AAB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Use when: persistent state prevents a full training replica from fitting.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85DB2B-227C-4E56-A987-C3B5C43E5F69}"/>
              </a:ext>
            </a:extLst>
          </p:cNvPr>
          <p:cNvSpPr>
            <a:spLocks noGrp="1"/>
          </p:cNvSpPr>
          <p:nvPr/>
        </p:nvSpPr>
        <p:spPr>
          <a:xfrm>
            <a:off x="4238625" y="1476375"/>
            <a:ext cx="9525" cy="409575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B78257C6-C69E-41CF-AB6F-420BB57FF2B8}"/>
              </a:ext>
            </a:extLst>
          </p:cNvPr>
          <p:cNvSpPr>
            <a:spLocks noGrp="1"/>
          </p:cNvSpPr>
          <p:nvPr/>
        </p:nvSpPr>
        <p:spPr>
          <a:xfrm>
            <a:off x="5572125" y="3238500"/>
            <a:ext cx="9525" cy="857250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B4FFABA4-24EB-4C5C-8E34-B93236E45E1F}"/>
              </a:ext>
            </a:extLst>
          </p:cNvPr>
          <p:cNvSpPr>
            <a:spLocks noGrp="1"/>
          </p:cNvSpPr>
          <p:nvPr/>
        </p:nvSpPr>
        <p:spPr>
          <a:xfrm>
            <a:off x="7953375" y="3238500"/>
            <a:ext cx="9525" cy="857250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5DD9C12C-D751-4537-8846-7EEF1CDF94DC}"/>
              </a:ext>
            </a:extLst>
          </p:cNvPr>
          <p:cNvSpPr>
            <a:spLocks noGrp="1"/>
          </p:cNvSpPr>
          <p:nvPr/>
        </p:nvSpPr>
        <p:spPr>
          <a:xfrm>
            <a:off x="10334625" y="3238500"/>
            <a:ext cx="9525" cy="857250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42FFD2-509D-4BEA-9C12-4AC49F7D501C}"/>
              </a:ext>
            </a:extLst>
          </p:cNvPr>
          <p:cNvSpPr>
            <a:spLocks noGrp="1"/>
          </p:cNvSpPr>
          <p:nvPr/>
        </p:nvSpPr>
        <p:spPr>
          <a:xfrm>
            <a:off x="5810250" y="1476375"/>
            <a:ext cx="438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AT REST: EACH GPU OWNS A STATE SHARD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4DED45-4E0B-4A93-B45A-9518F3B63CF8}"/>
              </a:ext>
            </a:extLst>
          </p:cNvPr>
          <p:cNvSpPr>
            <a:spLocks noGrp="1"/>
          </p:cNvSpPr>
          <p:nvPr/>
        </p:nvSpPr>
        <p:spPr>
          <a:xfrm>
            <a:off x="4762500" y="1952625"/>
            <a:ext cx="1619250" cy="1333500"/>
          </a:xfrm>
          <a:prstGeom prst="rect">
            <a:avLst/>
          </a:prstGeom>
          <a:noFill/>
          <a:ln w="14288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513EB5-38B2-49AC-B62B-29403D7F87C2}"/>
              </a:ext>
            </a:extLst>
          </p:cNvPr>
          <p:cNvSpPr>
            <a:spLocks noGrp="1"/>
          </p:cNvSpPr>
          <p:nvPr/>
        </p:nvSpPr>
        <p:spPr>
          <a:xfrm>
            <a:off x="4857750" y="200977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6DC42A-C529-43BD-8581-711E4E789F39}"/>
              </a:ext>
            </a:extLst>
          </p:cNvPr>
          <p:cNvSpPr>
            <a:spLocks noGrp="1"/>
          </p:cNvSpPr>
          <p:nvPr/>
        </p:nvSpPr>
        <p:spPr>
          <a:xfrm>
            <a:off x="4953000" y="2428875"/>
            <a:ext cx="1238250" cy="171450"/>
          </a:xfrm>
          <a:prstGeom prst="rect">
            <a:avLst/>
          </a:prstGeom>
          <a:solidFill>
            <a:srgbClr val="DB6C30"/>
          </a:solidFill>
          <a:ln w="9525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B24892-D933-455A-ABC3-F17A5D12B03B}"/>
              </a:ext>
            </a:extLst>
          </p:cNvPr>
          <p:cNvSpPr>
            <a:spLocks noGrp="1"/>
          </p:cNvSpPr>
          <p:nvPr/>
        </p:nvSpPr>
        <p:spPr>
          <a:xfrm>
            <a:off x="4953000" y="2676525"/>
            <a:ext cx="1238250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FFAB7E-396F-49E7-AD84-85F3B4A08FBF}"/>
              </a:ext>
            </a:extLst>
          </p:cNvPr>
          <p:cNvSpPr>
            <a:spLocks noGrp="1"/>
          </p:cNvSpPr>
          <p:nvPr/>
        </p:nvSpPr>
        <p:spPr>
          <a:xfrm>
            <a:off x="4953000" y="2924175"/>
            <a:ext cx="1238250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36C880-2BB1-4624-B762-BC4048F6E182}"/>
              </a:ext>
            </a:extLst>
          </p:cNvPr>
          <p:cNvSpPr>
            <a:spLocks noGrp="1"/>
          </p:cNvSpPr>
          <p:nvPr/>
        </p:nvSpPr>
        <p:spPr>
          <a:xfrm>
            <a:off x="7143750" y="1952625"/>
            <a:ext cx="1619250" cy="1333500"/>
          </a:xfrm>
          <a:prstGeom prst="rect">
            <a:avLst/>
          </a:prstGeom>
          <a:noFill/>
          <a:ln w="14288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E775F4-A6AF-4D57-B1E4-886D3941BEEC}"/>
              </a:ext>
            </a:extLst>
          </p:cNvPr>
          <p:cNvSpPr>
            <a:spLocks noGrp="1"/>
          </p:cNvSpPr>
          <p:nvPr/>
        </p:nvSpPr>
        <p:spPr>
          <a:xfrm>
            <a:off x="7239000" y="200977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FA1813-AA0D-4613-BAAB-C59EB6CDDE94}"/>
              </a:ext>
            </a:extLst>
          </p:cNvPr>
          <p:cNvSpPr>
            <a:spLocks noGrp="1"/>
          </p:cNvSpPr>
          <p:nvPr/>
        </p:nvSpPr>
        <p:spPr>
          <a:xfrm>
            <a:off x="7334250" y="2428875"/>
            <a:ext cx="1238250" cy="171450"/>
          </a:xfrm>
          <a:prstGeom prst="rect">
            <a:avLst/>
          </a:prstGeom>
          <a:solidFill>
            <a:schemeClr val="accent2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F0D951-E632-4A27-9D09-7DC2A4120EB1}"/>
              </a:ext>
            </a:extLst>
          </p:cNvPr>
          <p:cNvSpPr>
            <a:spLocks noGrp="1"/>
          </p:cNvSpPr>
          <p:nvPr/>
        </p:nvSpPr>
        <p:spPr>
          <a:xfrm>
            <a:off x="7334250" y="2676525"/>
            <a:ext cx="1238250" cy="1714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686EB98-E0A0-4E78-97F5-E2664EBE683C}"/>
              </a:ext>
            </a:extLst>
          </p:cNvPr>
          <p:cNvSpPr>
            <a:spLocks noGrp="1"/>
          </p:cNvSpPr>
          <p:nvPr/>
        </p:nvSpPr>
        <p:spPr>
          <a:xfrm>
            <a:off x="7334250" y="2924175"/>
            <a:ext cx="1238250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B85ECF9-0B13-4C5F-AAF3-57056D227883}"/>
              </a:ext>
            </a:extLst>
          </p:cNvPr>
          <p:cNvSpPr>
            <a:spLocks noGrp="1"/>
          </p:cNvSpPr>
          <p:nvPr/>
        </p:nvSpPr>
        <p:spPr>
          <a:xfrm>
            <a:off x="9525000" y="1952625"/>
            <a:ext cx="1619250" cy="1333500"/>
          </a:xfrm>
          <a:prstGeom prst="rect">
            <a:avLst/>
          </a:prstGeom>
          <a:noFill/>
          <a:ln w="14288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EA8F72B-AC3B-4C08-87AE-FC4354C8C589}"/>
              </a:ext>
            </a:extLst>
          </p:cNvPr>
          <p:cNvSpPr>
            <a:spLocks noGrp="1"/>
          </p:cNvSpPr>
          <p:nvPr/>
        </p:nvSpPr>
        <p:spPr>
          <a:xfrm>
            <a:off x="9620250" y="200977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135AC37-07BD-4E49-9EC4-01E877D9E1E0}"/>
              </a:ext>
            </a:extLst>
          </p:cNvPr>
          <p:cNvSpPr>
            <a:spLocks noGrp="1"/>
          </p:cNvSpPr>
          <p:nvPr/>
        </p:nvSpPr>
        <p:spPr>
          <a:xfrm>
            <a:off x="9715500" y="2428875"/>
            <a:ext cx="1238250" cy="171450"/>
          </a:xfrm>
          <a:prstGeom prst="rect">
            <a:avLst/>
          </a:prstGeom>
          <a:solidFill>
            <a:schemeClr val="accent2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1BB33E7-1435-4B40-A907-EC5AA16F1D00}"/>
              </a:ext>
            </a:extLst>
          </p:cNvPr>
          <p:cNvSpPr>
            <a:spLocks noGrp="1"/>
          </p:cNvSpPr>
          <p:nvPr/>
        </p:nvSpPr>
        <p:spPr>
          <a:xfrm>
            <a:off x="9715500" y="2676525"/>
            <a:ext cx="1238250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C239333-69C0-4C58-AEA8-4E31CFB12542}"/>
              </a:ext>
            </a:extLst>
          </p:cNvPr>
          <p:cNvSpPr>
            <a:spLocks noGrp="1"/>
          </p:cNvSpPr>
          <p:nvPr/>
        </p:nvSpPr>
        <p:spPr>
          <a:xfrm>
            <a:off x="9715500" y="2924175"/>
            <a:ext cx="1238250" cy="1714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42D454F-0D7E-49EF-A5E3-7499E5850B48}"/>
              </a:ext>
            </a:extLst>
          </p:cNvPr>
          <p:cNvSpPr>
            <a:spLocks noGrp="1"/>
          </p:cNvSpPr>
          <p:nvPr/>
        </p:nvSpPr>
        <p:spPr>
          <a:xfrm>
            <a:off x="6191250" y="3476625"/>
            <a:ext cx="3524250" cy="323850"/>
          </a:xfrm>
          <a:prstGeom prst="rect">
            <a:avLst/>
          </a:prstGeom>
          <a:solidFill>
            <a:schemeClr val="bg1"/>
          </a:solidFill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All-gather before layer compute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4BD8D37-BB24-4BC0-B130-EA9FED96C404}"/>
              </a:ext>
            </a:extLst>
          </p:cNvPr>
          <p:cNvSpPr>
            <a:spLocks noGrp="1"/>
          </p:cNvSpPr>
          <p:nvPr/>
        </p:nvSpPr>
        <p:spPr>
          <a:xfrm>
            <a:off x="4762500" y="4095750"/>
            <a:ext cx="1619250" cy="742950"/>
          </a:xfrm>
          <a:prstGeom prst="rect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Full layer</a:t>
            </a:r>
          </a:p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(temporary)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E7499D-A0A6-48F0-9326-4066D190307B}"/>
              </a:ext>
            </a:extLst>
          </p:cNvPr>
          <p:cNvSpPr>
            <a:spLocks noGrp="1"/>
          </p:cNvSpPr>
          <p:nvPr/>
        </p:nvSpPr>
        <p:spPr>
          <a:xfrm>
            <a:off x="7143750" y="4095750"/>
            <a:ext cx="1619250" cy="742950"/>
          </a:xfrm>
          <a:prstGeom prst="rect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Full layer</a:t>
            </a:r>
          </a:p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(temporary)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167C201-AA9C-4372-BC83-0BAF320E0B33}"/>
              </a:ext>
            </a:extLst>
          </p:cNvPr>
          <p:cNvSpPr>
            <a:spLocks noGrp="1"/>
          </p:cNvSpPr>
          <p:nvPr/>
        </p:nvSpPr>
        <p:spPr>
          <a:xfrm>
            <a:off x="9525000" y="4095750"/>
            <a:ext cx="1619250" cy="742950"/>
          </a:xfrm>
          <a:prstGeom prst="rect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Full layer</a:t>
            </a:r>
          </a:p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(temporary)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ED79930-E1A0-415E-A708-B3F84E77A818}"/>
              </a:ext>
            </a:extLst>
          </p:cNvPr>
          <p:cNvSpPr>
            <a:spLocks noGrp="1"/>
          </p:cNvSpPr>
          <p:nvPr/>
        </p:nvSpPr>
        <p:spPr>
          <a:xfrm>
            <a:off x="5905500" y="506730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Reduce-scatter gradients back to shards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06814A-2E12-AAE7-F4EA-72D5D73527C0}"/>
              </a:ext>
            </a:extLst>
          </p:cNvPr>
          <p:cNvSpPr>
            <a:spLocks noGrp="1"/>
          </p:cNvSpPr>
          <p:nvPr/>
        </p:nvSpPr>
        <p:spPr>
          <a:xfrm>
            <a:off x="5388077" y="2426725"/>
            <a:ext cx="803173" cy="202175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034153D-6E84-4B1D-AE8D-4860A9DB3637}"/>
              </a:ext>
            </a:extLst>
          </p:cNvPr>
          <p:cNvSpPr>
            <a:spLocks noGrp="1"/>
          </p:cNvSpPr>
          <p:nvPr/>
        </p:nvSpPr>
        <p:spPr>
          <a:xfrm>
            <a:off x="9715500" y="2420443"/>
            <a:ext cx="803173" cy="202175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0DB744D-B59D-0EAB-B207-E0F04A920700}"/>
              </a:ext>
            </a:extLst>
          </p:cNvPr>
          <p:cNvSpPr>
            <a:spLocks noGrp="1"/>
          </p:cNvSpPr>
          <p:nvPr/>
        </p:nvSpPr>
        <p:spPr>
          <a:xfrm>
            <a:off x="7756729" y="2421807"/>
            <a:ext cx="430776" cy="175137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844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ZeRO stages describe which persistent training state is sharded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50976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Each stage adds one state category; FSDP offers broad analogues for ZeRO-2 and ZeRO-3.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2011680" cy="438912"/>
          </a:xfrm>
          <a:prstGeom prst="rect">
            <a:avLst/>
          </a:prstGeom>
          <a:solidFill>
            <a:srgbClr val="333639"/>
          </a:solidFill>
          <a:ln w="10160">
            <a:solidFill>
              <a:srgbClr val="33363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STATE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70048" y="1325880"/>
            <a:ext cx="2208276" cy="438912"/>
          </a:xfrm>
          <a:prstGeom prst="rect">
            <a:avLst/>
          </a:prstGeom>
          <a:solidFill>
            <a:srgbClr val="333639"/>
          </a:solidFill>
          <a:ln w="10160">
            <a:solidFill>
              <a:srgbClr val="33363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2761488" y="1362456"/>
            <a:ext cx="2025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ZeRO-0 / DDP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78324" y="1325880"/>
            <a:ext cx="2208276" cy="438912"/>
          </a:xfrm>
          <a:prstGeom prst="rect">
            <a:avLst/>
          </a:prstGeom>
          <a:solidFill>
            <a:srgbClr val="333639"/>
          </a:solidFill>
          <a:ln w="10160">
            <a:solidFill>
              <a:srgbClr val="33363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4969764" y="1362456"/>
            <a:ext cx="2025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ZeRO-1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86600" y="1325880"/>
            <a:ext cx="2208276" cy="438912"/>
          </a:xfrm>
          <a:prstGeom prst="rect">
            <a:avLst/>
          </a:prstGeom>
          <a:solidFill>
            <a:srgbClr val="333639"/>
          </a:solidFill>
          <a:ln w="10160">
            <a:solidFill>
              <a:srgbClr val="33363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7178040" y="1362456"/>
            <a:ext cx="2025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ZeRO-2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294876" y="1325880"/>
            <a:ext cx="2208276" cy="438912"/>
          </a:xfrm>
          <a:prstGeom prst="rect">
            <a:avLst/>
          </a:prstGeom>
          <a:solidFill>
            <a:srgbClr val="333639"/>
          </a:solidFill>
          <a:ln w="10160">
            <a:solidFill>
              <a:srgbClr val="33363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9386316" y="1362456"/>
            <a:ext cx="2025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ZeRO-3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" y="1764792"/>
            <a:ext cx="2011680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749808" y="1801368"/>
            <a:ext cx="1828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Parameters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670048" y="1764792"/>
            <a:ext cx="2208276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2761488" y="1801368"/>
            <a:ext cx="20253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56A70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Replicated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78324" y="1764792"/>
            <a:ext cx="2208276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4969764" y="1801368"/>
            <a:ext cx="20253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56A70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Replicated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086600" y="1764792"/>
            <a:ext cx="2208276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7178040" y="1801368"/>
            <a:ext cx="20253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56A70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Replicated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294876" y="1764792"/>
            <a:ext cx="2208276" cy="612648"/>
          </a:xfrm>
          <a:prstGeom prst="rect">
            <a:avLst/>
          </a:prstGeom>
          <a:solidFill>
            <a:srgbClr val="F8E7DD"/>
          </a:solidFill>
          <a:ln w="1397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9386316" y="1801368"/>
            <a:ext cx="20253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Sharded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8368" y="2377440"/>
            <a:ext cx="2011680" cy="612648"/>
          </a:xfrm>
          <a:prstGeom prst="rect">
            <a:avLst/>
          </a:prstGeom>
          <a:solidFill>
            <a:srgbClr val="F5F6F8"/>
          </a:solidFill>
          <a:ln w="1016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749808" y="2414016"/>
            <a:ext cx="1828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Gradients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670048" y="2377440"/>
            <a:ext cx="2208276" cy="612648"/>
          </a:xfrm>
          <a:prstGeom prst="rect">
            <a:avLst/>
          </a:prstGeom>
          <a:solidFill>
            <a:srgbClr val="F5F6F8"/>
          </a:solidFill>
          <a:ln w="1016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2761488" y="2414016"/>
            <a:ext cx="20253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56A70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Replicated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878324" y="2377440"/>
            <a:ext cx="2208276" cy="612648"/>
          </a:xfrm>
          <a:prstGeom prst="rect">
            <a:avLst/>
          </a:prstGeom>
          <a:solidFill>
            <a:srgbClr val="F5F6F8"/>
          </a:solidFill>
          <a:ln w="1016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Text 27"/>
          <p:cNvSpPr/>
          <p:nvPr/>
        </p:nvSpPr>
        <p:spPr>
          <a:xfrm>
            <a:off x="4969764" y="2414016"/>
            <a:ext cx="20253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56A70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Replicated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086600" y="2377440"/>
            <a:ext cx="2208276" cy="612648"/>
          </a:xfrm>
          <a:prstGeom prst="rect">
            <a:avLst/>
          </a:prstGeom>
          <a:solidFill>
            <a:srgbClr val="F8E7DD"/>
          </a:solidFill>
          <a:ln w="1397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Text 29"/>
          <p:cNvSpPr/>
          <p:nvPr/>
        </p:nvSpPr>
        <p:spPr>
          <a:xfrm>
            <a:off x="7178040" y="2414016"/>
            <a:ext cx="20253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Sharded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294876" y="2377440"/>
            <a:ext cx="2208276" cy="612648"/>
          </a:xfrm>
          <a:prstGeom prst="rect">
            <a:avLst/>
          </a:prstGeom>
          <a:solidFill>
            <a:srgbClr val="F8E7DD"/>
          </a:solidFill>
          <a:ln w="1397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Text 31"/>
          <p:cNvSpPr/>
          <p:nvPr/>
        </p:nvSpPr>
        <p:spPr>
          <a:xfrm>
            <a:off x="9386316" y="2414016"/>
            <a:ext cx="20253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Sharded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58368" y="2990088"/>
            <a:ext cx="2011680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Text 33"/>
          <p:cNvSpPr/>
          <p:nvPr/>
        </p:nvSpPr>
        <p:spPr>
          <a:xfrm>
            <a:off x="749808" y="3026664"/>
            <a:ext cx="1828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Optimizer state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2670048" y="2990088"/>
            <a:ext cx="2208276" cy="612648"/>
          </a:xfrm>
          <a:prstGeom prst="rect">
            <a:avLst/>
          </a:prstGeom>
          <a:solidFill>
            <a:srgbClr val="FFFFFF"/>
          </a:solidFill>
          <a:ln w="1016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7" name="Text 35"/>
          <p:cNvSpPr/>
          <p:nvPr/>
        </p:nvSpPr>
        <p:spPr>
          <a:xfrm>
            <a:off x="2761488" y="3026664"/>
            <a:ext cx="20253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56A70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Replicated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878324" y="2990088"/>
            <a:ext cx="2208276" cy="612648"/>
          </a:xfrm>
          <a:prstGeom prst="rect">
            <a:avLst/>
          </a:prstGeom>
          <a:solidFill>
            <a:srgbClr val="F8E7DD"/>
          </a:solidFill>
          <a:ln w="1397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Text 37"/>
          <p:cNvSpPr/>
          <p:nvPr/>
        </p:nvSpPr>
        <p:spPr>
          <a:xfrm>
            <a:off x="4969764" y="3026664"/>
            <a:ext cx="20253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Sharded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086600" y="2990088"/>
            <a:ext cx="2208276" cy="612648"/>
          </a:xfrm>
          <a:prstGeom prst="rect">
            <a:avLst/>
          </a:prstGeom>
          <a:solidFill>
            <a:srgbClr val="F8E7DD"/>
          </a:solidFill>
          <a:ln w="1397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1" name="Text 39"/>
          <p:cNvSpPr/>
          <p:nvPr/>
        </p:nvSpPr>
        <p:spPr>
          <a:xfrm>
            <a:off x="7178040" y="3026664"/>
            <a:ext cx="20253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Sharded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294876" y="2990088"/>
            <a:ext cx="2208276" cy="612648"/>
          </a:xfrm>
          <a:prstGeom prst="rect">
            <a:avLst/>
          </a:prstGeom>
          <a:solidFill>
            <a:srgbClr val="F8E7DD"/>
          </a:solidFill>
          <a:ln w="1397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3" name="Text 41"/>
          <p:cNvSpPr/>
          <p:nvPr/>
        </p:nvSpPr>
        <p:spPr>
          <a:xfrm>
            <a:off x="9386316" y="3026664"/>
            <a:ext cx="20253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Sharded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58368" y="3602736"/>
            <a:ext cx="2011680" cy="941832"/>
          </a:xfrm>
          <a:prstGeom prst="rect">
            <a:avLst/>
          </a:prstGeom>
          <a:solidFill>
            <a:srgbClr val="F5F6F8"/>
          </a:solidFill>
          <a:ln w="1016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5" name="Text 43"/>
          <p:cNvSpPr/>
          <p:nvPr/>
        </p:nvSpPr>
        <p:spPr>
          <a:xfrm>
            <a:off x="749808" y="363931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Broad PyTorch relation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670048" y="3602736"/>
            <a:ext cx="2208276" cy="941832"/>
          </a:xfrm>
          <a:prstGeom prst="rect">
            <a:avLst/>
          </a:prstGeom>
          <a:solidFill>
            <a:srgbClr val="F5F6F8"/>
          </a:solidFill>
          <a:ln w="1016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7" name="Text 45"/>
          <p:cNvSpPr/>
          <p:nvPr/>
        </p:nvSpPr>
        <p:spPr>
          <a:xfrm>
            <a:off x="2761488" y="3639312"/>
            <a:ext cx="20253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DDP or unsharded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878324" y="3602736"/>
            <a:ext cx="2208276" cy="941832"/>
          </a:xfrm>
          <a:prstGeom prst="rect">
            <a:avLst/>
          </a:prstGeom>
          <a:solidFill>
            <a:srgbClr val="F5F6F8"/>
          </a:solidFill>
          <a:ln w="1016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9" name="Text 47"/>
          <p:cNvSpPr/>
          <p:nvPr/>
        </p:nvSpPr>
        <p:spPr>
          <a:xfrm>
            <a:off x="4969764" y="3639312"/>
            <a:ext cx="20253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Optimizer sharding;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no direct FSDP strategy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086600" y="3602736"/>
            <a:ext cx="2208276" cy="941832"/>
          </a:xfrm>
          <a:prstGeom prst="rect">
            <a:avLst/>
          </a:prstGeom>
          <a:solidFill>
            <a:srgbClr val="F8E7DD"/>
          </a:solidFill>
          <a:ln w="1016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1" name="Text 49"/>
          <p:cNvSpPr/>
          <p:nvPr/>
        </p:nvSpPr>
        <p:spPr>
          <a:xfrm>
            <a:off x="7178040" y="3639312"/>
            <a:ext cx="20253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SHARD_GRAD_OP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ZeRO-2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294876" y="3602736"/>
            <a:ext cx="2208276" cy="941832"/>
          </a:xfrm>
          <a:prstGeom prst="rect">
            <a:avLst/>
          </a:prstGeom>
          <a:solidFill>
            <a:srgbClr val="F8E7DD"/>
          </a:solidFill>
          <a:ln w="1016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3" name="Text 51"/>
          <p:cNvSpPr/>
          <p:nvPr/>
        </p:nvSpPr>
        <p:spPr>
          <a:xfrm>
            <a:off x="9386316" y="3639312"/>
            <a:ext cx="20253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FULL_SHARD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ZeRO-3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2651760" y="4736592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56A7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More state sharded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718304" y="4873752"/>
            <a:ext cx="5303520" cy="0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6" name="Shape 54"/>
          <p:cNvSpPr/>
          <p:nvPr/>
        </p:nvSpPr>
        <p:spPr>
          <a:xfrm>
            <a:off x="9948672" y="4764024"/>
            <a:ext cx="256032" cy="219456"/>
          </a:xfrm>
          <a:prstGeom prst="chevron">
            <a:avLst/>
          </a:prstGeom>
          <a:solidFill>
            <a:srgbClr val="DB6C30"/>
          </a:solidFill>
          <a:ln w="635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7" name="Text 55"/>
          <p:cNvSpPr/>
          <p:nvPr/>
        </p:nvSpPr>
        <p:spPr>
          <a:xfrm>
            <a:off x="5486400" y="5010912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lower persistent memory; more state movement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58368" y="5404104"/>
            <a:ext cx="10844784" cy="0"/>
          </a:xfrm>
          <a:prstGeom prst="line">
            <a:avLst/>
          </a:prstGeom>
          <a:noFill/>
          <a:ln w="1270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9" name="Text 57"/>
          <p:cNvSpPr/>
          <p:nvPr/>
        </p:nvSpPr>
        <p:spPr>
          <a:xfrm>
            <a:off x="804672" y="5486400"/>
            <a:ext cx="10552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SHARD_GRAD_OP keeps full parameters through backward; FULL_SHARD reshards after forward.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04672" y="5797296"/>
            <a:ext cx="10552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56A7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≈ is not identity. HYBRID_SHARD changes groups; offload changes placement. Neither is “ZeRO-4”.</a:t>
            </a:r>
            <a:endParaRPr lang="en-US" sz="1600" dirty="0"/>
          </a:p>
        </p:txBody>
      </p:sp>
      <p:sp>
        <p:nvSpPr>
          <p:cNvPr id="150" name="Slide Number Placeholder 150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0000-0000-0000-000000000150}" type="slidenum">
              <a:rPr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TP divides the work inside each layer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C630A04-5A25-9E0C-9436-126091DB86B3}" type="slidenum">
              <a:rPr/>
              <a:t>10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61B9A1-6556-491A-A004-5C6371D051B1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DIVIDES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0205D3-6919-4CF2-BFF2-FF4EE9A80895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A layer's tensors and matrix operations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78687D-6614-472D-B832-1F579BF55196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A3AA5B-FDD9-4C9F-A8A5-D17EB47C72B6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HOW IT WORKS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E043F3-94E3-42E5-B78B-91ADD2D61946}"/>
              </a:ext>
            </a:extLst>
          </p:cNvPr>
          <p:cNvSpPr>
            <a:spLocks noGrp="1"/>
          </p:cNvSpPr>
          <p:nvPr/>
        </p:nvSpPr>
        <p:spPr>
          <a:xfrm>
            <a:off x="685800" y="2886075"/>
            <a:ext cx="3238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Workers compute complementary shards of the same layer and combine partial results.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6B9094-1127-4663-A7A6-58ED77BC9C61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847DEC-E4ED-4BC1-B0AE-A6A6130BB716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MAIN COST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F8AEC6-13E7-4B37-9838-59CC5A9072AC}"/>
              </a:ext>
            </a:extLst>
          </p:cNvPr>
          <p:cNvSpPr>
            <a:spLocks noGrp="1"/>
          </p:cNvSpPr>
          <p:nvPr/>
        </p:nvSpPr>
        <p:spPr>
          <a:xfrm>
            <a:off x="685800" y="4295775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Frequent collectives inside every parallelized layer.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7A1D7A-9914-4F00-B9D7-0449DD3B4A70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Use when: a layer does not fit, or measured compute benefits exceed communication.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9E30D8-8C27-40E3-9447-D23FE9A429BF}"/>
              </a:ext>
            </a:extLst>
          </p:cNvPr>
          <p:cNvSpPr>
            <a:spLocks noGrp="1"/>
          </p:cNvSpPr>
          <p:nvPr/>
        </p:nvSpPr>
        <p:spPr>
          <a:xfrm>
            <a:off x="4238625" y="1476375"/>
            <a:ext cx="9525" cy="409575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71A192D0-1367-40FC-AB44-F0E3C9D37963}"/>
              </a:ext>
            </a:extLst>
          </p:cNvPr>
          <p:cNvSpPr>
            <a:spLocks noGrp="1"/>
          </p:cNvSpPr>
          <p:nvPr/>
        </p:nvSpPr>
        <p:spPr>
          <a:xfrm flipV="1">
            <a:off x="6057897" y="2547938"/>
            <a:ext cx="1133477" cy="881062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056F6253-422B-4E91-B2EB-DC2D89B39B91}"/>
              </a:ext>
            </a:extLst>
          </p:cNvPr>
          <p:cNvSpPr>
            <a:spLocks noGrp="1"/>
          </p:cNvSpPr>
          <p:nvPr/>
        </p:nvSpPr>
        <p:spPr>
          <a:xfrm>
            <a:off x="6048375" y="3429000"/>
            <a:ext cx="1143000" cy="857250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F858741C-598E-4E89-929C-76E329D83E3B}"/>
              </a:ext>
            </a:extLst>
          </p:cNvPr>
          <p:cNvSpPr>
            <a:spLocks noGrp="1"/>
          </p:cNvSpPr>
          <p:nvPr/>
        </p:nvSpPr>
        <p:spPr>
          <a:xfrm>
            <a:off x="9382125" y="2571750"/>
            <a:ext cx="952500" cy="857250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7457B40E-B418-486B-A18C-89BD194E3B69}"/>
              </a:ext>
            </a:extLst>
          </p:cNvPr>
          <p:cNvSpPr>
            <a:spLocks noGrp="1"/>
          </p:cNvSpPr>
          <p:nvPr/>
        </p:nvSpPr>
        <p:spPr>
          <a:xfrm flipV="1">
            <a:off x="9382125" y="3438522"/>
            <a:ext cx="952500" cy="857251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A7F89C-CE7B-4FD7-B18A-4CA0737A8754}"/>
              </a:ext>
            </a:extLst>
          </p:cNvPr>
          <p:cNvSpPr>
            <a:spLocks noGrp="1"/>
          </p:cNvSpPr>
          <p:nvPr/>
        </p:nvSpPr>
        <p:spPr>
          <a:xfrm>
            <a:off x="6762750" y="152400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ONE LAYER SPLIT ACROSS GPUS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BC04565-85A6-48F8-ADD1-9A240BD6E0A4}"/>
              </a:ext>
            </a:extLst>
          </p:cNvPr>
          <p:cNvSpPr>
            <a:spLocks noGrp="1"/>
          </p:cNvSpPr>
          <p:nvPr/>
        </p:nvSpPr>
        <p:spPr>
          <a:xfrm>
            <a:off x="4667250" y="3067050"/>
            <a:ext cx="1381125" cy="723900"/>
          </a:xfrm>
          <a:prstGeom prst="rect">
            <a:avLst/>
          </a:prstGeom>
          <a:solidFill>
            <a:srgbClr val="FFFFFF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Input</a:t>
            </a:r>
          </a:p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activations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BCA036-C52B-40E8-B859-E699F488ADAF}"/>
              </a:ext>
            </a:extLst>
          </p:cNvPr>
          <p:cNvSpPr>
            <a:spLocks noGrp="1"/>
          </p:cNvSpPr>
          <p:nvPr/>
        </p:nvSpPr>
        <p:spPr>
          <a:xfrm>
            <a:off x="7191375" y="1952625"/>
            <a:ext cx="2190750" cy="1238250"/>
          </a:xfrm>
          <a:prstGeom prst="rect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0</a:t>
            </a:r>
          </a:p>
          <a:p>
            <a:pPr algn="ctr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Matrix shard 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2C881C-AC2E-4B94-BA33-7030006A1B62}"/>
              </a:ext>
            </a:extLst>
          </p:cNvPr>
          <p:cNvSpPr>
            <a:spLocks noGrp="1"/>
          </p:cNvSpPr>
          <p:nvPr/>
        </p:nvSpPr>
        <p:spPr>
          <a:xfrm>
            <a:off x="7191375" y="3667125"/>
            <a:ext cx="2190750" cy="123825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1</a:t>
            </a:r>
          </a:p>
          <a:p>
            <a:pPr algn="ctr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Matrix shard 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A45E5F-F55B-4220-8350-324221832453}"/>
              </a:ext>
            </a:extLst>
          </p:cNvPr>
          <p:cNvSpPr>
            <a:spLocks noGrp="1"/>
          </p:cNvSpPr>
          <p:nvPr/>
        </p:nvSpPr>
        <p:spPr>
          <a:xfrm>
            <a:off x="10334625" y="3067050"/>
            <a:ext cx="1336265" cy="723900"/>
          </a:xfrm>
          <a:prstGeom prst="rect">
            <a:avLst/>
          </a:prstGeom>
          <a:solidFill>
            <a:srgbClr val="FFFFFF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Combined</a:t>
            </a:r>
          </a:p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output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C5594F-B8AC-4EFD-A656-B9F2707C2FFE}"/>
              </a:ext>
            </a:extLst>
          </p:cNvPr>
          <p:cNvSpPr>
            <a:spLocks noGrp="1"/>
          </p:cNvSpPr>
          <p:nvPr/>
        </p:nvSpPr>
        <p:spPr>
          <a:xfrm>
            <a:off x="7096125" y="514350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Collective combines partial results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 divides model depth into stages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D7D1C8-AE23-AA48-DF65-C742588DBE47}" type="slidenum">
              <a:rPr/>
              <a:t>11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60824D-363D-4FC5-82C2-FF27890E798A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DIVIDES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EA4A2D-B81B-4C45-BA66-C6D6F4C399B9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Groups of consecutive layers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69F088-F2BE-4230-824B-F8089081D7D4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18FCE9-F810-4271-B029-8601667BA2E1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HOW IT WORKS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F8003F-BAA5-4CE5-ACB7-F5E56D3E3AAF}"/>
              </a:ext>
            </a:extLst>
          </p:cNvPr>
          <p:cNvSpPr>
            <a:spLocks noGrp="1"/>
          </p:cNvSpPr>
          <p:nvPr/>
        </p:nvSpPr>
        <p:spPr>
          <a:xfrm>
            <a:off x="685800" y="2886075"/>
            <a:ext cx="3238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Each stage owns part of the model. Microbatches move forward and backward through the stages.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B6591E-A289-4716-B12E-FB7B83D93C0E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E96279-561A-48DB-BF35-2B113E08E4A7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MAIN COST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1F6DB3-AA3B-4349-A2DC-8533C340079F}"/>
              </a:ext>
            </a:extLst>
          </p:cNvPr>
          <p:cNvSpPr>
            <a:spLocks noGrp="1"/>
          </p:cNvSpPr>
          <p:nvPr/>
        </p:nvSpPr>
        <p:spPr>
          <a:xfrm>
            <a:off x="685800" y="4295775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Pipeline bubbles, scheduling complexity, and stage imbalance.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18BAED-B61D-4C79-A602-C7CA6693284F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Use when: model depth or node boundaries make stage placement attractive.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CF5F6A-EED5-4DDB-B186-AD67C271BE17}"/>
              </a:ext>
            </a:extLst>
          </p:cNvPr>
          <p:cNvSpPr>
            <a:spLocks noGrp="1"/>
          </p:cNvSpPr>
          <p:nvPr/>
        </p:nvSpPr>
        <p:spPr>
          <a:xfrm>
            <a:off x="4238625" y="1476375"/>
            <a:ext cx="9525" cy="409575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F0836D8B-B17A-4F3C-8B79-D20003E6B364}"/>
              </a:ext>
            </a:extLst>
          </p:cNvPr>
          <p:cNvSpPr>
            <a:spLocks noGrp="1"/>
          </p:cNvSpPr>
          <p:nvPr/>
        </p:nvSpPr>
        <p:spPr>
          <a:xfrm>
            <a:off x="6238876" y="2774369"/>
            <a:ext cx="238124" cy="304800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36275DCC-E2C3-46B7-B33D-4D6F3C8356DD}"/>
              </a:ext>
            </a:extLst>
          </p:cNvPr>
          <p:cNvSpPr>
            <a:spLocks noGrp="1"/>
          </p:cNvSpPr>
          <p:nvPr/>
        </p:nvSpPr>
        <p:spPr>
          <a:xfrm>
            <a:off x="7953375" y="3086101"/>
            <a:ext cx="238125" cy="304800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D80A169E-9D6F-46C9-BA5C-0B66E2C6D3E2}"/>
              </a:ext>
            </a:extLst>
          </p:cNvPr>
          <p:cNvSpPr>
            <a:spLocks noGrp="1"/>
          </p:cNvSpPr>
          <p:nvPr/>
        </p:nvSpPr>
        <p:spPr>
          <a:xfrm>
            <a:off x="9677707" y="3587852"/>
            <a:ext cx="228293" cy="231673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3AFC58-E595-433E-AA24-D5123ABCAE50}"/>
              </a:ext>
            </a:extLst>
          </p:cNvPr>
          <p:cNvSpPr>
            <a:spLocks noGrp="1"/>
          </p:cNvSpPr>
          <p:nvPr/>
        </p:nvSpPr>
        <p:spPr>
          <a:xfrm>
            <a:off x="6000750" y="1524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MICROBATCHES FLOW THROUGH LAYER STAGES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176931-474D-44F9-85DE-F9A989B46A45}"/>
              </a:ext>
            </a:extLst>
          </p:cNvPr>
          <p:cNvSpPr>
            <a:spLocks noGrp="1"/>
          </p:cNvSpPr>
          <p:nvPr/>
        </p:nvSpPr>
        <p:spPr>
          <a:xfrm>
            <a:off x="4762500" y="2190750"/>
            <a:ext cx="1476375" cy="2381250"/>
          </a:xfrm>
          <a:prstGeom prst="rect">
            <a:avLst/>
          </a:prstGeom>
          <a:noFill/>
          <a:ln w="14288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B6DC17-C7C8-4C42-97B2-88E162F37CC9}"/>
              </a:ext>
            </a:extLst>
          </p:cNvPr>
          <p:cNvSpPr>
            <a:spLocks noGrp="1"/>
          </p:cNvSpPr>
          <p:nvPr/>
        </p:nvSpPr>
        <p:spPr>
          <a:xfrm>
            <a:off x="4857750" y="2247900"/>
            <a:ext cx="1285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Stage 1 / GPU 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AFA32B-EB44-42CC-ABA9-5B90687D7644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1133475" cy="171450"/>
          </a:xfrm>
          <a:prstGeom prst="rect">
            <a:avLst/>
          </a:prstGeom>
          <a:solidFill>
            <a:srgbClr val="DB6C30"/>
          </a:solidFill>
          <a:ln w="9525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FD6841-EFE7-49A6-96DA-7AAA3A2D8919}"/>
              </a:ext>
            </a:extLst>
          </p:cNvPr>
          <p:cNvSpPr>
            <a:spLocks noGrp="1"/>
          </p:cNvSpPr>
          <p:nvPr/>
        </p:nvSpPr>
        <p:spPr>
          <a:xfrm>
            <a:off x="4933950" y="3009900"/>
            <a:ext cx="1133475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CDCF7B-FE34-461A-B695-33BEFBCDE6E9}"/>
              </a:ext>
            </a:extLst>
          </p:cNvPr>
          <p:cNvSpPr>
            <a:spLocks noGrp="1"/>
          </p:cNvSpPr>
          <p:nvPr/>
        </p:nvSpPr>
        <p:spPr>
          <a:xfrm>
            <a:off x="4933950" y="3257550"/>
            <a:ext cx="1133475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970B49-FDFD-4272-9417-1EAC56F701B3}"/>
              </a:ext>
            </a:extLst>
          </p:cNvPr>
          <p:cNvSpPr>
            <a:spLocks noGrp="1"/>
          </p:cNvSpPr>
          <p:nvPr/>
        </p:nvSpPr>
        <p:spPr>
          <a:xfrm>
            <a:off x="4933950" y="3505200"/>
            <a:ext cx="1133475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5291B0-1301-4479-9C19-F5FB9BD28710}"/>
              </a:ext>
            </a:extLst>
          </p:cNvPr>
          <p:cNvSpPr>
            <a:spLocks noGrp="1"/>
          </p:cNvSpPr>
          <p:nvPr/>
        </p:nvSpPr>
        <p:spPr>
          <a:xfrm>
            <a:off x="4933950" y="3752850"/>
            <a:ext cx="1133475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5F46950-809B-4257-BAD8-01B428DA4678}"/>
              </a:ext>
            </a:extLst>
          </p:cNvPr>
          <p:cNvSpPr>
            <a:spLocks noGrp="1"/>
          </p:cNvSpPr>
          <p:nvPr/>
        </p:nvSpPr>
        <p:spPr>
          <a:xfrm>
            <a:off x="6477000" y="2190750"/>
            <a:ext cx="1476375" cy="2381250"/>
          </a:xfrm>
          <a:prstGeom prst="rect">
            <a:avLst/>
          </a:prstGeom>
          <a:noFill/>
          <a:ln w="14288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139224-F339-41C3-9EB9-3A0D4BB522E2}"/>
              </a:ext>
            </a:extLst>
          </p:cNvPr>
          <p:cNvSpPr>
            <a:spLocks noGrp="1"/>
          </p:cNvSpPr>
          <p:nvPr/>
        </p:nvSpPr>
        <p:spPr>
          <a:xfrm>
            <a:off x="6572250" y="2247900"/>
            <a:ext cx="1285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Stage 2 / GPU 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9F7E740-799D-4C59-A92E-E2E11F57FC7C}"/>
              </a:ext>
            </a:extLst>
          </p:cNvPr>
          <p:cNvSpPr>
            <a:spLocks noGrp="1"/>
          </p:cNvSpPr>
          <p:nvPr/>
        </p:nvSpPr>
        <p:spPr>
          <a:xfrm>
            <a:off x="6648450" y="2762250"/>
            <a:ext cx="1133475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C216C2E-AAAE-453C-B518-A23B23AC8C86}"/>
              </a:ext>
            </a:extLst>
          </p:cNvPr>
          <p:cNvSpPr>
            <a:spLocks noGrp="1"/>
          </p:cNvSpPr>
          <p:nvPr/>
        </p:nvSpPr>
        <p:spPr>
          <a:xfrm>
            <a:off x="6648450" y="3009900"/>
            <a:ext cx="1133475" cy="1714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3CCFF0-5F76-4AC6-B369-C9D9A5797FD3}"/>
              </a:ext>
            </a:extLst>
          </p:cNvPr>
          <p:cNvSpPr>
            <a:spLocks noGrp="1"/>
          </p:cNvSpPr>
          <p:nvPr/>
        </p:nvSpPr>
        <p:spPr>
          <a:xfrm>
            <a:off x="6648450" y="3257550"/>
            <a:ext cx="1133475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6299935-A264-4B2F-BE30-3348272D4337}"/>
              </a:ext>
            </a:extLst>
          </p:cNvPr>
          <p:cNvSpPr>
            <a:spLocks noGrp="1"/>
          </p:cNvSpPr>
          <p:nvPr/>
        </p:nvSpPr>
        <p:spPr>
          <a:xfrm>
            <a:off x="6648450" y="3505200"/>
            <a:ext cx="1133475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0F898C2-052C-4C49-9E39-5C05DBC2C03A}"/>
              </a:ext>
            </a:extLst>
          </p:cNvPr>
          <p:cNvSpPr>
            <a:spLocks noGrp="1"/>
          </p:cNvSpPr>
          <p:nvPr/>
        </p:nvSpPr>
        <p:spPr>
          <a:xfrm>
            <a:off x="6648450" y="3752850"/>
            <a:ext cx="1133475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053DD9D-9217-4278-84F2-823AB6C3A6B8}"/>
              </a:ext>
            </a:extLst>
          </p:cNvPr>
          <p:cNvSpPr>
            <a:spLocks noGrp="1"/>
          </p:cNvSpPr>
          <p:nvPr/>
        </p:nvSpPr>
        <p:spPr>
          <a:xfrm>
            <a:off x="8191500" y="2190750"/>
            <a:ext cx="1476375" cy="2381250"/>
          </a:xfrm>
          <a:prstGeom prst="rect">
            <a:avLst/>
          </a:prstGeom>
          <a:noFill/>
          <a:ln w="14288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C560410-F9BE-4C0B-8D65-60302AC35796}"/>
              </a:ext>
            </a:extLst>
          </p:cNvPr>
          <p:cNvSpPr>
            <a:spLocks noGrp="1"/>
          </p:cNvSpPr>
          <p:nvPr/>
        </p:nvSpPr>
        <p:spPr>
          <a:xfrm>
            <a:off x="8286750" y="2247900"/>
            <a:ext cx="1285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Stage 3 / GPU 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0781107-2E74-4AAA-81C6-675982412A79}"/>
              </a:ext>
            </a:extLst>
          </p:cNvPr>
          <p:cNvSpPr>
            <a:spLocks noGrp="1"/>
          </p:cNvSpPr>
          <p:nvPr/>
        </p:nvSpPr>
        <p:spPr>
          <a:xfrm>
            <a:off x="8362950" y="2762250"/>
            <a:ext cx="1133475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65E5CF3-9E9B-4EC2-AAA2-FABACC36826F}"/>
              </a:ext>
            </a:extLst>
          </p:cNvPr>
          <p:cNvSpPr>
            <a:spLocks noGrp="1"/>
          </p:cNvSpPr>
          <p:nvPr/>
        </p:nvSpPr>
        <p:spPr>
          <a:xfrm>
            <a:off x="8362950" y="3009900"/>
            <a:ext cx="1133475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150914B-5508-4E0D-ADFF-7CDBB06D9F6B}"/>
              </a:ext>
            </a:extLst>
          </p:cNvPr>
          <p:cNvSpPr>
            <a:spLocks noGrp="1"/>
          </p:cNvSpPr>
          <p:nvPr/>
        </p:nvSpPr>
        <p:spPr>
          <a:xfrm>
            <a:off x="8362950" y="3257550"/>
            <a:ext cx="1133475" cy="171450"/>
          </a:xfrm>
          <a:prstGeom prst="rect">
            <a:avLst/>
          </a:prstGeom>
          <a:solidFill>
            <a:schemeClr val="accent1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37EC079-E362-4563-914A-7073EFF368A6}"/>
              </a:ext>
            </a:extLst>
          </p:cNvPr>
          <p:cNvSpPr>
            <a:spLocks noGrp="1"/>
          </p:cNvSpPr>
          <p:nvPr/>
        </p:nvSpPr>
        <p:spPr>
          <a:xfrm>
            <a:off x="8362950" y="3505200"/>
            <a:ext cx="1133475" cy="171450"/>
          </a:xfrm>
          <a:prstGeom prst="rect">
            <a:avLst/>
          </a:prstGeom>
          <a:solidFill>
            <a:schemeClr val="accent1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5759199-64BB-4A6A-AFBA-A9F828EB9AE6}"/>
              </a:ext>
            </a:extLst>
          </p:cNvPr>
          <p:cNvSpPr>
            <a:spLocks noGrp="1"/>
          </p:cNvSpPr>
          <p:nvPr/>
        </p:nvSpPr>
        <p:spPr>
          <a:xfrm>
            <a:off x="8362950" y="3752850"/>
            <a:ext cx="1133475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A6D0DDC-7933-401F-883A-2B42430B6534}"/>
              </a:ext>
            </a:extLst>
          </p:cNvPr>
          <p:cNvSpPr>
            <a:spLocks noGrp="1"/>
          </p:cNvSpPr>
          <p:nvPr/>
        </p:nvSpPr>
        <p:spPr>
          <a:xfrm>
            <a:off x="9906000" y="2190750"/>
            <a:ext cx="1476375" cy="2381250"/>
          </a:xfrm>
          <a:prstGeom prst="rect">
            <a:avLst/>
          </a:prstGeom>
          <a:noFill/>
          <a:ln w="14288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6F7412F-96B9-49EE-BE52-C09E14B9DC4D}"/>
              </a:ext>
            </a:extLst>
          </p:cNvPr>
          <p:cNvSpPr>
            <a:spLocks noGrp="1"/>
          </p:cNvSpPr>
          <p:nvPr/>
        </p:nvSpPr>
        <p:spPr>
          <a:xfrm>
            <a:off x="10001250" y="2247900"/>
            <a:ext cx="1285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Stage 4 / GPU 3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AF5D229-4EAE-4164-9E48-3A45066156D4}"/>
              </a:ext>
            </a:extLst>
          </p:cNvPr>
          <p:cNvSpPr>
            <a:spLocks noGrp="1"/>
          </p:cNvSpPr>
          <p:nvPr/>
        </p:nvSpPr>
        <p:spPr>
          <a:xfrm>
            <a:off x="10077450" y="2762250"/>
            <a:ext cx="1133475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62DA4DA-A365-4951-8E6D-307A76082B7E}"/>
              </a:ext>
            </a:extLst>
          </p:cNvPr>
          <p:cNvSpPr>
            <a:spLocks noGrp="1"/>
          </p:cNvSpPr>
          <p:nvPr/>
        </p:nvSpPr>
        <p:spPr>
          <a:xfrm>
            <a:off x="10077450" y="3009900"/>
            <a:ext cx="1133475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2AFAB7A-21CB-4B00-8254-C764E57DB685}"/>
              </a:ext>
            </a:extLst>
          </p:cNvPr>
          <p:cNvSpPr>
            <a:spLocks noGrp="1"/>
          </p:cNvSpPr>
          <p:nvPr/>
        </p:nvSpPr>
        <p:spPr>
          <a:xfrm>
            <a:off x="10077450" y="3257550"/>
            <a:ext cx="1133475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0DC8B4A-35D1-49E4-A796-B06A678047A8}"/>
              </a:ext>
            </a:extLst>
          </p:cNvPr>
          <p:cNvSpPr>
            <a:spLocks noGrp="1"/>
          </p:cNvSpPr>
          <p:nvPr/>
        </p:nvSpPr>
        <p:spPr>
          <a:xfrm>
            <a:off x="10077450" y="3505200"/>
            <a:ext cx="1133475" cy="17145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62AA1CF-C516-40B9-9DE6-24E0A08BFCF9}"/>
              </a:ext>
            </a:extLst>
          </p:cNvPr>
          <p:cNvSpPr>
            <a:spLocks noGrp="1"/>
          </p:cNvSpPr>
          <p:nvPr/>
        </p:nvSpPr>
        <p:spPr>
          <a:xfrm>
            <a:off x="10077450" y="3752850"/>
            <a:ext cx="1133475" cy="171450"/>
          </a:xfrm>
          <a:prstGeom prst="rect">
            <a:avLst/>
          </a:prstGeom>
          <a:solidFill>
            <a:srgbClr val="DB6C30"/>
          </a:solidFill>
          <a:ln w="9525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A2C7E46-A8A9-45A9-B5A9-A34CAE280003}"/>
              </a:ext>
            </a:extLst>
          </p:cNvPr>
          <p:cNvSpPr>
            <a:spLocks noGrp="1"/>
          </p:cNvSpPr>
          <p:nvPr/>
        </p:nvSpPr>
        <p:spPr>
          <a:xfrm>
            <a:off x="4762500" y="4810125"/>
            <a:ext cx="1476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Microbatch D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940CAB1-1938-4FA4-937B-B2CF961D537F}"/>
              </a:ext>
            </a:extLst>
          </p:cNvPr>
          <p:cNvSpPr>
            <a:spLocks noGrp="1"/>
          </p:cNvSpPr>
          <p:nvPr/>
        </p:nvSpPr>
        <p:spPr>
          <a:xfrm>
            <a:off x="6477000" y="4810125"/>
            <a:ext cx="1476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C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3AB903D-F84F-44B8-9AD7-2588B089EE77}"/>
              </a:ext>
            </a:extLst>
          </p:cNvPr>
          <p:cNvSpPr>
            <a:spLocks noGrp="1"/>
          </p:cNvSpPr>
          <p:nvPr/>
        </p:nvSpPr>
        <p:spPr>
          <a:xfrm>
            <a:off x="8191500" y="4810125"/>
            <a:ext cx="1476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B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F664A01-5662-45DB-9F1A-26148C6D30D1}"/>
              </a:ext>
            </a:extLst>
          </p:cNvPr>
          <p:cNvSpPr>
            <a:spLocks noGrp="1"/>
          </p:cNvSpPr>
          <p:nvPr/>
        </p:nvSpPr>
        <p:spPr>
          <a:xfrm>
            <a:off x="9906000" y="4810125"/>
            <a:ext cx="1476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A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DAD35AE-4742-4303-8B8B-298476A315C2}"/>
              </a:ext>
            </a:extLst>
          </p:cNvPr>
          <p:cNvSpPr>
            <a:spLocks noGrp="1"/>
          </p:cNvSpPr>
          <p:nvPr/>
        </p:nvSpPr>
        <p:spPr>
          <a:xfrm>
            <a:off x="6191250" y="5238750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Multiple microbatches keep stages occupied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bubbles are idle stage-time slots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D7D1C8-AE23-AA48-DF65-C742588DBE47}" type="slidenum">
              <a:rPr/>
              <a:t>12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60824D-363D-4FC5-82C2-FF27890E798A}"/>
              </a:ext>
            </a:extLst>
          </p:cNvPr>
          <p:cNvSpPr>
            <a:spLocks noGrp="1"/>
          </p:cNvSpPr>
          <p:nvPr/>
        </p:nvSpPr>
        <p:spPr>
          <a:xfrm>
            <a:off x="685800" y="1702518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BUBBLE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EA4A2D-B81B-4C45-BA66-C6D6F4C399B9}"/>
              </a:ext>
            </a:extLst>
          </p:cNvPr>
          <p:cNvSpPr>
            <a:spLocks noGrp="1"/>
          </p:cNvSpPr>
          <p:nvPr/>
        </p:nvSpPr>
        <p:spPr>
          <a:xfrm>
            <a:off x="685800" y="2035893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A stage has no work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69F088-F2BE-4230-824B-F8089081D7D4}"/>
              </a:ext>
            </a:extLst>
          </p:cNvPr>
          <p:cNvSpPr>
            <a:spLocks noGrp="1"/>
          </p:cNvSpPr>
          <p:nvPr/>
        </p:nvSpPr>
        <p:spPr>
          <a:xfrm>
            <a:off x="685800" y="2626443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18FCE9-F810-4271-B029-8601667BA2E1}"/>
              </a:ext>
            </a:extLst>
          </p:cNvPr>
          <p:cNvSpPr>
            <a:spLocks noGrp="1"/>
          </p:cNvSpPr>
          <p:nvPr/>
        </p:nvSpPr>
        <p:spPr>
          <a:xfrm>
            <a:off x="685800" y="2778843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WHY IT HAPPENS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F8003F-BAA5-4CE5-ACB7-F5E56D3E3AAF}"/>
              </a:ext>
            </a:extLst>
          </p:cNvPr>
          <p:cNvSpPr>
            <a:spLocks noGrp="1"/>
          </p:cNvSpPr>
          <p:nvPr/>
        </p:nvSpPr>
        <p:spPr>
          <a:xfrm>
            <a:off x="685800" y="3112218"/>
            <a:ext cx="3238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Fill: later stages wait for the first microbatch. Drain: earlier stages run out of work.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B6591E-A289-4716-B12E-FB7B83D93C0E}"/>
              </a:ext>
            </a:extLst>
          </p:cNvPr>
          <p:cNvSpPr>
            <a:spLocks noGrp="1"/>
          </p:cNvSpPr>
          <p:nvPr/>
        </p:nvSpPr>
        <p:spPr>
          <a:xfrm>
            <a:off x="685800" y="4036143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E96279-561A-48DB-BF35-2B113E08E4A7}"/>
              </a:ext>
            </a:extLst>
          </p:cNvPr>
          <p:cNvSpPr>
            <a:spLocks noGrp="1"/>
          </p:cNvSpPr>
          <p:nvPr/>
        </p:nvSpPr>
        <p:spPr>
          <a:xfrm>
            <a:off x="685800" y="4188543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REDUCE IT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1F6DB3-AA3B-4349-A2DC-8533C340079F}"/>
              </a:ext>
            </a:extLst>
          </p:cNvPr>
          <p:cNvSpPr>
            <a:spLocks noGrp="1"/>
          </p:cNvSpPr>
          <p:nvPr/>
        </p:nvSpPr>
        <p:spPr>
          <a:xfrm>
            <a:off x="685800" y="4521918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Use more microbatches, balance stage work, or use an interleaved schedule.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18BAED-B61D-4C79-A602-C7CA6693284F}"/>
              </a:ext>
            </a:extLst>
          </p:cNvPr>
          <p:cNvSpPr>
            <a:spLocks noGrp="1"/>
          </p:cNvSpPr>
          <p:nvPr/>
        </p:nvSpPr>
        <p:spPr>
          <a:xfrm>
            <a:off x="685800" y="5322018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Bubbles waste time, not model memory.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CF5F6A-EED5-4DDB-B186-AD67C271BE17}"/>
              </a:ext>
            </a:extLst>
          </p:cNvPr>
          <p:cNvSpPr>
            <a:spLocks noGrp="1"/>
          </p:cNvSpPr>
          <p:nvPr/>
        </p:nvSpPr>
        <p:spPr>
          <a:xfrm>
            <a:off x="4238625" y="1702518"/>
            <a:ext cx="9525" cy="409575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3AFC58-E595-433E-AA24-D5123ABCAE50}"/>
              </a:ext>
            </a:extLst>
          </p:cNvPr>
          <p:cNvSpPr>
            <a:spLocks noGrp="1"/>
          </p:cNvSpPr>
          <p:nvPr/>
        </p:nvSpPr>
        <p:spPr>
          <a:xfrm>
            <a:off x="6000750" y="1524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FORWARD PIPELINE: STAGE BY TIME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3AE883-3172-47DE-9327-3A8F06F11C0E}"/>
              </a:ext>
            </a:extLst>
          </p:cNvPr>
          <p:cNvSpPr>
            <a:spLocks noGrp="1"/>
          </p:cNvSpPr>
          <p:nvPr/>
        </p:nvSpPr>
        <p:spPr>
          <a:xfrm>
            <a:off x="5857875" y="192405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TIME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3CAA48C-7124-4D0C-A854-21FE002660EB}"/>
              </a:ext>
            </a:extLst>
          </p:cNvPr>
          <p:cNvSpPr>
            <a:spLocks noGrp="1"/>
          </p:cNvSpPr>
          <p:nvPr/>
        </p:nvSpPr>
        <p:spPr>
          <a:xfrm>
            <a:off x="6562725" y="1895475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20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→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A3E228-C035-4900-A712-B3F70F19BFF3}"/>
              </a:ext>
            </a:extLst>
          </p:cNvPr>
          <p:cNvSpPr>
            <a:spLocks noGrp="1"/>
          </p:cNvSpPr>
          <p:nvPr/>
        </p:nvSpPr>
        <p:spPr>
          <a:xfrm>
            <a:off x="5857875" y="2152650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E9C07E-E002-45DA-9AF5-E40B3E936651}"/>
              </a:ext>
            </a:extLst>
          </p:cNvPr>
          <p:cNvSpPr>
            <a:spLocks noGrp="1"/>
          </p:cNvSpPr>
          <p:nvPr/>
        </p:nvSpPr>
        <p:spPr>
          <a:xfrm>
            <a:off x="6619875" y="2152650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E4D266-65B4-4238-915E-86BCB3B04DEC}"/>
              </a:ext>
            </a:extLst>
          </p:cNvPr>
          <p:cNvSpPr>
            <a:spLocks noGrp="1"/>
          </p:cNvSpPr>
          <p:nvPr/>
        </p:nvSpPr>
        <p:spPr>
          <a:xfrm>
            <a:off x="7381875" y="2152650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98D396A-97A6-49DF-915E-6CA30D9E7E5E}"/>
              </a:ext>
            </a:extLst>
          </p:cNvPr>
          <p:cNvSpPr>
            <a:spLocks noGrp="1"/>
          </p:cNvSpPr>
          <p:nvPr/>
        </p:nvSpPr>
        <p:spPr>
          <a:xfrm>
            <a:off x="8143875" y="2152650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9DFC0A4-728B-4C7F-BF91-E2A33CF27050}"/>
              </a:ext>
            </a:extLst>
          </p:cNvPr>
          <p:cNvSpPr>
            <a:spLocks noGrp="1"/>
          </p:cNvSpPr>
          <p:nvPr/>
        </p:nvSpPr>
        <p:spPr>
          <a:xfrm>
            <a:off x="8905875" y="2152650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4411B7-0FC4-47DA-BD94-A0A588B42DFB}"/>
              </a:ext>
            </a:extLst>
          </p:cNvPr>
          <p:cNvSpPr>
            <a:spLocks noGrp="1"/>
          </p:cNvSpPr>
          <p:nvPr/>
        </p:nvSpPr>
        <p:spPr>
          <a:xfrm>
            <a:off x="9667875" y="2152650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6FE594-21AD-4BE0-97C3-9F5DE19206A2}"/>
              </a:ext>
            </a:extLst>
          </p:cNvPr>
          <p:cNvSpPr>
            <a:spLocks noGrp="1"/>
          </p:cNvSpPr>
          <p:nvPr/>
        </p:nvSpPr>
        <p:spPr>
          <a:xfrm>
            <a:off x="10429875" y="2152650"/>
            <a:ext cx="685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5D19028-ADB3-4FA7-9081-759CECD4F85F}"/>
              </a:ext>
            </a:extLst>
          </p:cNvPr>
          <p:cNvSpPr>
            <a:spLocks noGrp="1"/>
          </p:cNvSpPr>
          <p:nvPr/>
        </p:nvSpPr>
        <p:spPr>
          <a:xfrm>
            <a:off x="4762500" y="2476500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0</a:t>
            </a:r>
          </a:p>
        </p:txBody>
      </p:sp>
      <p:sp>
        <p:nvSpPr>
          <p:cNvPr id="31" name="bubble-grid-r1-c1">
            <a:extLst>
              <a:ext uri="{FF2B5EF4-FFF2-40B4-BE49-F238E27FC236}">
                <a16:creationId xmlns:a16="http://schemas.microsoft.com/office/drawing/2014/main" id="{9DB927A7-4CD8-4F04-BB8F-AA89046A38DC}"/>
              </a:ext>
            </a:extLst>
          </p:cNvPr>
          <p:cNvSpPr>
            <a:spLocks noGrp="1"/>
          </p:cNvSpPr>
          <p:nvPr/>
        </p:nvSpPr>
        <p:spPr>
          <a:xfrm>
            <a:off x="5857875" y="24765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A</a:t>
            </a:r>
          </a:p>
        </p:txBody>
      </p:sp>
      <p:sp>
        <p:nvSpPr>
          <p:cNvPr id="32" name="bubble-grid-r1-c2">
            <a:extLst>
              <a:ext uri="{FF2B5EF4-FFF2-40B4-BE49-F238E27FC236}">
                <a16:creationId xmlns:a16="http://schemas.microsoft.com/office/drawing/2014/main" id="{3622B25A-06C3-4F02-9E94-C0246FB50772}"/>
              </a:ext>
            </a:extLst>
          </p:cNvPr>
          <p:cNvSpPr>
            <a:spLocks noGrp="1"/>
          </p:cNvSpPr>
          <p:nvPr/>
        </p:nvSpPr>
        <p:spPr>
          <a:xfrm>
            <a:off x="6619875" y="24765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B</a:t>
            </a:r>
          </a:p>
        </p:txBody>
      </p:sp>
      <p:sp>
        <p:nvSpPr>
          <p:cNvPr id="33" name="bubble-grid-r1-c3">
            <a:extLst>
              <a:ext uri="{FF2B5EF4-FFF2-40B4-BE49-F238E27FC236}">
                <a16:creationId xmlns:a16="http://schemas.microsoft.com/office/drawing/2014/main" id="{1741C981-E70E-4D71-9CFC-B52F00361C20}"/>
              </a:ext>
            </a:extLst>
          </p:cNvPr>
          <p:cNvSpPr>
            <a:spLocks noGrp="1"/>
          </p:cNvSpPr>
          <p:nvPr/>
        </p:nvSpPr>
        <p:spPr>
          <a:xfrm>
            <a:off x="7381875" y="24765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C</a:t>
            </a:r>
          </a:p>
        </p:txBody>
      </p:sp>
      <p:sp>
        <p:nvSpPr>
          <p:cNvPr id="34" name="bubble-grid-r1-c4">
            <a:extLst>
              <a:ext uri="{FF2B5EF4-FFF2-40B4-BE49-F238E27FC236}">
                <a16:creationId xmlns:a16="http://schemas.microsoft.com/office/drawing/2014/main" id="{B886D1DD-4009-42D5-A5ED-798745FBEB66}"/>
              </a:ext>
            </a:extLst>
          </p:cNvPr>
          <p:cNvSpPr>
            <a:spLocks noGrp="1"/>
          </p:cNvSpPr>
          <p:nvPr/>
        </p:nvSpPr>
        <p:spPr>
          <a:xfrm>
            <a:off x="8143875" y="24765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D</a:t>
            </a:r>
          </a:p>
        </p:txBody>
      </p:sp>
      <p:sp>
        <p:nvSpPr>
          <p:cNvPr id="35" name="bubble-grid-r1-c5">
            <a:extLst>
              <a:ext uri="{FF2B5EF4-FFF2-40B4-BE49-F238E27FC236}">
                <a16:creationId xmlns:a16="http://schemas.microsoft.com/office/drawing/2014/main" id="{354374E3-D878-48A8-826E-389F004E118C}"/>
              </a:ext>
            </a:extLst>
          </p:cNvPr>
          <p:cNvSpPr>
            <a:spLocks noGrp="1"/>
          </p:cNvSpPr>
          <p:nvPr/>
        </p:nvSpPr>
        <p:spPr>
          <a:xfrm>
            <a:off x="8905875" y="2476500"/>
            <a:ext cx="6858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idle</a:t>
            </a:r>
          </a:p>
        </p:txBody>
      </p:sp>
      <p:sp>
        <p:nvSpPr>
          <p:cNvPr id="36" name="bubble-grid-r1-c6">
            <a:extLst>
              <a:ext uri="{FF2B5EF4-FFF2-40B4-BE49-F238E27FC236}">
                <a16:creationId xmlns:a16="http://schemas.microsoft.com/office/drawing/2014/main" id="{C45D1E27-C502-4CB7-8B2F-90B365A7F73C}"/>
              </a:ext>
            </a:extLst>
          </p:cNvPr>
          <p:cNvSpPr>
            <a:spLocks noGrp="1"/>
          </p:cNvSpPr>
          <p:nvPr/>
        </p:nvSpPr>
        <p:spPr>
          <a:xfrm>
            <a:off x="9667875" y="2476500"/>
            <a:ext cx="6858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idle</a:t>
            </a:r>
          </a:p>
        </p:txBody>
      </p:sp>
      <p:sp>
        <p:nvSpPr>
          <p:cNvPr id="37" name="bubble-grid-r1-c7">
            <a:extLst>
              <a:ext uri="{FF2B5EF4-FFF2-40B4-BE49-F238E27FC236}">
                <a16:creationId xmlns:a16="http://schemas.microsoft.com/office/drawing/2014/main" id="{C0ABF23B-5D61-4ECE-92C9-A549F395DB86}"/>
              </a:ext>
            </a:extLst>
          </p:cNvPr>
          <p:cNvSpPr>
            <a:spLocks noGrp="1"/>
          </p:cNvSpPr>
          <p:nvPr/>
        </p:nvSpPr>
        <p:spPr>
          <a:xfrm>
            <a:off x="10429875" y="2476500"/>
            <a:ext cx="6858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idle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31A9E4B-5E48-43CA-9DBC-C77763976541}"/>
              </a:ext>
            </a:extLst>
          </p:cNvPr>
          <p:cNvSpPr>
            <a:spLocks noGrp="1"/>
          </p:cNvSpPr>
          <p:nvPr/>
        </p:nvSpPr>
        <p:spPr>
          <a:xfrm>
            <a:off x="4762500" y="3086100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1</a:t>
            </a:r>
          </a:p>
        </p:txBody>
      </p:sp>
      <p:sp>
        <p:nvSpPr>
          <p:cNvPr id="39" name="bubble-grid-r2-c1">
            <a:extLst>
              <a:ext uri="{FF2B5EF4-FFF2-40B4-BE49-F238E27FC236}">
                <a16:creationId xmlns:a16="http://schemas.microsoft.com/office/drawing/2014/main" id="{4F07D7F7-3DD9-40F4-B288-0E0B5BA93EC3}"/>
              </a:ext>
            </a:extLst>
          </p:cNvPr>
          <p:cNvSpPr>
            <a:spLocks noGrp="1"/>
          </p:cNvSpPr>
          <p:nvPr/>
        </p:nvSpPr>
        <p:spPr>
          <a:xfrm>
            <a:off x="5857875" y="3086100"/>
            <a:ext cx="6858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idle</a:t>
            </a:r>
          </a:p>
        </p:txBody>
      </p:sp>
      <p:sp>
        <p:nvSpPr>
          <p:cNvPr id="40" name="bubble-grid-r2-c2">
            <a:extLst>
              <a:ext uri="{FF2B5EF4-FFF2-40B4-BE49-F238E27FC236}">
                <a16:creationId xmlns:a16="http://schemas.microsoft.com/office/drawing/2014/main" id="{F798CA28-C0EE-4D78-80CF-7CBED202C806}"/>
              </a:ext>
            </a:extLst>
          </p:cNvPr>
          <p:cNvSpPr>
            <a:spLocks noGrp="1"/>
          </p:cNvSpPr>
          <p:nvPr/>
        </p:nvSpPr>
        <p:spPr>
          <a:xfrm>
            <a:off x="6619875" y="30861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A</a:t>
            </a:r>
          </a:p>
        </p:txBody>
      </p:sp>
      <p:sp>
        <p:nvSpPr>
          <p:cNvPr id="41" name="bubble-grid-r2-c3">
            <a:extLst>
              <a:ext uri="{FF2B5EF4-FFF2-40B4-BE49-F238E27FC236}">
                <a16:creationId xmlns:a16="http://schemas.microsoft.com/office/drawing/2014/main" id="{0B3E4A21-3693-4621-BECF-EC988F8F7679}"/>
              </a:ext>
            </a:extLst>
          </p:cNvPr>
          <p:cNvSpPr>
            <a:spLocks noGrp="1"/>
          </p:cNvSpPr>
          <p:nvPr/>
        </p:nvSpPr>
        <p:spPr>
          <a:xfrm>
            <a:off x="7381875" y="30861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B</a:t>
            </a:r>
          </a:p>
        </p:txBody>
      </p:sp>
      <p:sp>
        <p:nvSpPr>
          <p:cNvPr id="42" name="bubble-grid-r2-c4">
            <a:extLst>
              <a:ext uri="{FF2B5EF4-FFF2-40B4-BE49-F238E27FC236}">
                <a16:creationId xmlns:a16="http://schemas.microsoft.com/office/drawing/2014/main" id="{DA6BE28F-2041-4E0D-A1BA-53EE6B175C5D}"/>
              </a:ext>
            </a:extLst>
          </p:cNvPr>
          <p:cNvSpPr>
            <a:spLocks noGrp="1"/>
          </p:cNvSpPr>
          <p:nvPr/>
        </p:nvSpPr>
        <p:spPr>
          <a:xfrm>
            <a:off x="8143875" y="30861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C</a:t>
            </a:r>
          </a:p>
        </p:txBody>
      </p:sp>
      <p:sp>
        <p:nvSpPr>
          <p:cNvPr id="43" name="bubble-grid-r2-c5">
            <a:extLst>
              <a:ext uri="{FF2B5EF4-FFF2-40B4-BE49-F238E27FC236}">
                <a16:creationId xmlns:a16="http://schemas.microsoft.com/office/drawing/2014/main" id="{3F7EB1EA-9DAF-4555-BD84-E5A30DDA80A3}"/>
              </a:ext>
            </a:extLst>
          </p:cNvPr>
          <p:cNvSpPr>
            <a:spLocks noGrp="1"/>
          </p:cNvSpPr>
          <p:nvPr/>
        </p:nvSpPr>
        <p:spPr>
          <a:xfrm>
            <a:off x="8905875" y="30861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D</a:t>
            </a:r>
          </a:p>
        </p:txBody>
      </p:sp>
      <p:sp>
        <p:nvSpPr>
          <p:cNvPr id="44" name="bubble-grid-r2-c6">
            <a:extLst>
              <a:ext uri="{FF2B5EF4-FFF2-40B4-BE49-F238E27FC236}">
                <a16:creationId xmlns:a16="http://schemas.microsoft.com/office/drawing/2014/main" id="{BDCC4630-4E2A-4E63-B0C5-7A7D42F5D47A}"/>
              </a:ext>
            </a:extLst>
          </p:cNvPr>
          <p:cNvSpPr>
            <a:spLocks noGrp="1"/>
          </p:cNvSpPr>
          <p:nvPr/>
        </p:nvSpPr>
        <p:spPr>
          <a:xfrm>
            <a:off x="9667875" y="3086100"/>
            <a:ext cx="6858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idle</a:t>
            </a:r>
          </a:p>
        </p:txBody>
      </p:sp>
      <p:sp>
        <p:nvSpPr>
          <p:cNvPr id="45" name="bubble-grid-r2-c7">
            <a:extLst>
              <a:ext uri="{FF2B5EF4-FFF2-40B4-BE49-F238E27FC236}">
                <a16:creationId xmlns:a16="http://schemas.microsoft.com/office/drawing/2014/main" id="{DBD6168F-1B85-44BD-9BC0-BF1D7E1FF174}"/>
              </a:ext>
            </a:extLst>
          </p:cNvPr>
          <p:cNvSpPr>
            <a:spLocks noGrp="1"/>
          </p:cNvSpPr>
          <p:nvPr/>
        </p:nvSpPr>
        <p:spPr>
          <a:xfrm>
            <a:off x="10429875" y="3086100"/>
            <a:ext cx="6858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idle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F604B0B-6D86-43AD-91F1-A3A906CF8015}"/>
              </a:ext>
            </a:extLst>
          </p:cNvPr>
          <p:cNvSpPr>
            <a:spLocks noGrp="1"/>
          </p:cNvSpPr>
          <p:nvPr/>
        </p:nvSpPr>
        <p:spPr>
          <a:xfrm>
            <a:off x="4762500" y="3695700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2</a:t>
            </a:r>
          </a:p>
        </p:txBody>
      </p:sp>
      <p:sp>
        <p:nvSpPr>
          <p:cNvPr id="47" name="bubble-grid-r3-c1">
            <a:extLst>
              <a:ext uri="{FF2B5EF4-FFF2-40B4-BE49-F238E27FC236}">
                <a16:creationId xmlns:a16="http://schemas.microsoft.com/office/drawing/2014/main" id="{12CBED55-32B8-4A5A-9DB8-EA7676F58B2E}"/>
              </a:ext>
            </a:extLst>
          </p:cNvPr>
          <p:cNvSpPr>
            <a:spLocks noGrp="1"/>
          </p:cNvSpPr>
          <p:nvPr/>
        </p:nvSpPr>
        <p:spPr>
          <a:xfrm>
            <a:off x="5857875" y="3695700"/>
            <a:ext cx="6858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idle</a:t>
            </a:r>
          </a:p>
        </p:txBody>
      </p:sp>
      <p:sp>
        <p:nvSpPr>
          <p:cNvPr id="48" name="bubble-grid-r3-c2">
            <a:extLst>
              <a:ext uri="{FF2B5EF4-FFF2-40B4-BE49-F238E27FC236}">
                <a16:creationId xmlns:a16="http://schemas.microsoft.com/office/drawing/2014/main" id="{31A23F90-0473-4033-8E79-85F9969689EB}"/>
              </a:ext>
            </a:extLst>
          </p:cNvPr>
          <p:cNvSpPr>
            <a:spLocks noGrp="1"/>
          </p:cNvSpPr>
          <p:nvPr/>
        </p:nvSpPr>
        <p:spPr>
          <a:xfrm>
            <a:off x="6619875" y="3695700"/>
            <a:ext cx="6858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idle</a:t>
            </a:r>
          </a:p>
        </p:txBody>
      </p:sp>
      <p:sp>
        <p:nvSpPr>
          <p:cNvPr id="49" name="bubble-grid-r3-c3">
            <a:extLst>
              <a:ext uri="{FF2B5EF4-FFF2-40B4-BE49-F238E27FC236}">
                <a16:creationId xmlns:a16="http://schemas.microsoft.com/office/drawing/2014/main" id="{BB99443D-E2EA-4897-8060-E1216816C44A}"/>
              </a:ext>
            </a:extLst>
          </p:cNvPr>
          <p:cNvSpPr>
            <a:spLocks noGrp="1"/>
          </p:cNvSpPr>
          <p:nvPr/>
        </p:nvSpPr>
        <p:spPr>
          <a:xfrm>
            <a:off x="7381875" y="36957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A</a:t>
            </a:r>
          </a:p>
        </p:txBody>
      </p:sp>
      <p:sp>
        <p:nvSpPr>
          <p:cNvPr id="50" name="bubble-grid-r3-c4">
            <a:extLst>
              <a:ext uri="{FF2B5EF4-FFF2-40B4-BE49-F238E27FC236}">
                <a16:creationId xmlns:a16="http://schemas.microsoft.com/office/drawing/2014/main" id="{28763360-8092-4026-A51F-231BAAA17C37}"/>
              </a:ext>
            </a:extLst>
          </p:cNvPr>
          <p:cNvSpPr>
            <a:spLocks noGrp="1"/>
          </p:cNvSpPr>
          <p:nvPr/>
        </p:nvSpPr>
        <p:spPr>
          <a:xfrm>
            <a:off x="8143875" y="36957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B</a:t>
            </a:r>
          </a:p>
        </p:txBody>
      </p:sp>
      <p:sp>
        <p:nvSpPr>
          <p:cNvPr id="51" name="bubble-grid-r3-c5">
            <a:extLst>
              <a:ext uri="{FF2B5EF4-FFF2-40B4-BE49-F238E27FC236}">
                <a16:creationId xmlns:a16="http://schemas.microsoft.com/office/drawing/2014/main" id="{D4E9D2F3-6C4C-443C-A990-3FFB37DB299D}"/>
              </a:ext>
            </a:extLst>
          </p:cNvPr>
          <p:cNvSpPr>
            <a:spLocks noGrp="1"/>
          </p:cNvSpPr>
          <p:nvPr/>
        </p:nvSpPr>
        <p:spPr>
          <a:xfrm>
            <a:off x="8905875" y="36957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C</a:t>
            </a:r>
          </a:p>
        </p:txBody>
      </p:sp>
      <p:sp>
        <p:nvSpPr>
          <p:cNvPr id="52" name="bubble-grid-r3-c6">
            <a:extLst>
              <a:ext uri="{FF2B5EF4-FFF2-40B4-BE49-F238E27FC236}">
                <a16:creationId xmlns:a16="http://schemas.microsoft.com/office/drawing/2014/main" id="{704C5399-5C07-4C7A-99C5-2C344750C943}"/>
              </a:ext>
            </a:extLst>
          </p:cNvPr>
          <p:cNvSpPr>
            <a:spLocks noGrp="1"/>
          </p:cNvSpPr>
          <p:nvPr/>
        </p:nvSpPr>
        <p:spPr>
          <a:xfrm>
            <a:off x="9667875" y="36957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D</a:t>
            </a:r>
          </a:p>
        </p:txBody>
      </p:sp>
      <p:sp>
        <p:nvSpPr>
          <p:cNvPr id="53" name="bubble-grid-r3-c7">
            <a:extLst>
              <a:ext uri="{FF2B5EF4-FFF2-40B4-BE49-F238E27FC236}">
                <a16:creationId xmlns:a16="http://schemas.microsoft.com/office/drawing/2014/main" id="{FC63C5B7-2858-4B93-BF63-D38750429D28}"/>
              </a:ext>
            </a:extLst>
          </p:cNvPr>
          <p:cNvSpPr>
            <a:spLocks noGrp="1"/>
          </p:cNvSpPr>
          <p:nvPr/>
        </p:nvSpPr>
        <p:spPr>
          <a:xfrm>
            <a:off x="10429875" y="3695700"/>
            <a:ext cx="6858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idle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5F0B2BE-4E74-4256-B77A-687DC0203740}"/>
              </a:ext>
            </a:extLst>
          </p:cNvPr>
          <p:cNvSpPr>
            <a:spLocks noGrp="1"/>
          </p:cNvSpPr>
          <p:nvPr/>
        </p:nvSpPr>
        <p:spPr>
          <a:xfrm>
            <a:off x="4762500" y="4305300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3</a:t>
            </a:r>
          </a:p>
        </p:txBody>
      </p:sp>
      <p:sp>
        <p:nvSpPr>
          <p:cNvPr id="55" name="bubble-grid-r4-c1">
            <a:extLst>
              <a:ext uri="{FF2B5EF4-FFF2-40B4-BE49-F238E27FC236}">
                <a16:creationId xmlns:a16="http://schemas.microsoft.com/office/drawing/2014/main" id="{7120663C-9A5D-4F6A-853C-E46C473CEDA5}"/>
              </a:ext>
            </a:extLst>
          </p:cNvPr>
          <p:cNvSpPr>
            <a:spLocks noGrp="1"/>
          </p:cNvSpPr>
          <p:nvPr/>
        </p:nvSpPr>
        <p:spPr>
          <a:xfrm>
            <a:off x="5857875" y="4305300"/>
            <a:ext cx="6858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idle</a:t>
            </a:r>
          </a:p>
        </p:txBody>
      </p:sp>
      <p:sp>
        <p:nvSpPr>
          <p:cNvPr id="56" name="bubble-grid-r4-c2">
            <a:extLst>
              <a:ext uri="{FF2B5EF4-FFF2-40B4-BE49-F238E27FC236}">
                <a16:creationId xmlns:a16="http://schemas.microsoft.com/office/drawing/2014/main" id="{9BAAFFE4-AED7-4F83-AB3F-75456B4055EB}"/>
              </a:ext>
            </a:extLst>
          </p:cNvPr>
          <p:cNvSpPr>
            <a:spLocks noGrp="1"/>
          </p:cNvSpPr>
          <p:nvPr/>
        </p:nvSpPr>
        <p:spPr>
          <a:xfrm>
            <a:off x="6619875" y="4305300"/>
            <a:ext cx="6858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idle</a:t>
            </a:r>
          </a:p>
        </p:txBody>
      </p:sp>
      <p:sp>
        <p:nvSpPr>
          <p:cNvPr id="57" name="bubble-grid-r4-c3">
            <a:extLst>
              <a:ext uri="{FF2B5EF4-FFF2-40B4-BE49-F238E27FC236}">
                <a16:creationId xmlns:a16="http://schemas.microsoft.com/office/drawing/2014/main" id="{B2E527FE-8EC7-4373-AC31-D677BC157489}"/>
              </a:ext>
            </a:extLst>
          </p:cNvPr>
          <p:cNvSpPr>
            <a:spLocks noGrp="1"/>
          </p:cNvSpPr>
          <p:nvPr/>
        </p:nvSpPr>
        <p:spPr>
          <a:xfrm>
            <a:off x="7381875" y="4305300"/>
            <a:ext cx="6858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idle</a:t>
            </a:r>
          </a:p>
        </p:txBody>
      </p:sp>
      <p:sp>
        <p:nvSpPr>
          <p:cNvPr id="58" name="bubble-grid-r4-c4">
            <a:extLst>
              <a:ext uri="{FF2B5EF4-FFF2-40B4-BE49-F238E27FC236}">
                <a16:creationId xmlns:a16="http://schemas.microsoft.com/office/drawing/2014/main" id="{853C993A-336F-4BEB-A32A-39B3570D7284}"/>
              </a:ext>
            </a:extLst>
          </p:cNvPr>
          <p:cNvSpPr>
            <a:spLocks noGrp="1"/>
          </p:cNvSpPr>
          <p:nvPr/>
        </p:nvSpPr>
        <p:spPr>
          <a:xfrm>
            <a:off x="8143875" y="43053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A</a:t>
            </a:r>
          </a:p>
        </p:txBody>
      </p:sp>
      <p:sp>
        <p:nvSpPr>
          <p:cNvPr id="59" name="bubble-grid-r4-c5">
            <a:extLst>
              <a:ext uri="{FF2B5EF4-FFF2-40B4-BE49-F238E27FC236}">
                <a16:creationId xmlns:a16="http://schemas.microsoft.com/office/drawing/2014/main" id="{3C91AD6E-4CDD-41E1-816C-40EB5108D985}"/>
              </a:ext>
            </a:extLst>
          </p:cNvPr>
          <p:cNvSpPr>
            <a:spLocks noGrp="1"/>
          </p:cNvSpPr>
          <p:nvPr/>
        </p:nvSpPr>
        <p:spPr>
          <a:xfrm>
            <a:off x="8905875" y="43053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B</a:t>
            </a:r>
          </a:p>
        </p:txBody>
      </p:sp>
      <p:sp>
        <p:nvSpPr>
          <p:cNvPr id="60" name="bubble-grid-r4-c6">
            <a:extLst>
              <a:ext uri="{FF2B5EF4-FFF2-40B4-BE49-F238E27FC236}">
                <a16:creationId xmlns:a16="http://schemas.microsoft.com/office/drawing/2014/main" id="{9605598D-5E55-4F34-B14F-30C817DA945D}"/>
              </a:ext>
            </a:extLst>
          </p:cNvPr>
          <p:cNvSpPr>
            <a:spLocks noGrp="1"/>
          </p:cNvSpPr>
          <p:nvPr/>
        </p:nvSpPr>
        <p:spPr>
          <a:xfrm>
            <a:off x="9667875" y="43053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C</a:t>
            </a:r>
          </a:p>
        </p:txBody>
      </p:sp>
      <p:sp>
        <p:nvSpPr>
          <p:cNvPr id="61" name="bubble-grid-r4-c7">
            <a:extLst>
              <a:ext uri="{FF2B5EF4-FFF2-40B4-BE49-F238E27FC236}">
                <a16:creationId xmlns:a16="http://schemas.microsoft.com/office/drawing/2014/main" id="{E520B620-4B13-4670-9A0D-48B3708106AB}"/>
              </a:ext>
            </a:extLst>
          </p:cNvPr>
          <p:cNvSpPr>
            <a:spLocks noGrp="1"/>
          </p:cNvSpPr>
          <p:nvPr/>
        </p:nvSpPr>
        <p:spPr>
          <a:xfrm>
            <a:off x="10429875" y="4305300"/>
            <a:ext cx="6858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D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458AE36-8662-4F33-A5B0-CF927BC3D78C}"/>
              </a:ext>
            </a:extLst>
          </p:cNvPr>
          <p:cNvSpPr>
            <a:spLocks noGrp="1"/>
          </p:cNvSpPr>
          <p:nvPr/>
        </p:nvSpPr>
        <p:spPr>
          <a:xfrm>
            <a:off x="5857875" y="50101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FILL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CAB54C8-7A72-4B8B-8452-FF15AAD70CAD}"/>
              </a:ext>
            </a:extLst>
          </p:cNvPr>
          <p:cNvSpPr>
            <a:spLocks noGrp="1"/>
          </p:cNvSpPr>
          <p:nvPr/>
        </p:nvSpPr>
        <p:spPr>
          <a:xfrm>
            <a:off x="8143875" y="5010150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FULL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C90E3F1-C5AD-46DF-AF89-A616F622F8B8}"/>
              </a:ext>
            </a:extLst>
          </p:cNvPr>
          <p:cNvSpPr>
            <a:spLocks noGrp="1"/>
          </p:cNvSpPr>
          <p:nvPr/>
        </p:nvSpPr>
        <p:spPr>
          <a:xfrm>
            <a:off x="8905875" y="50101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DRAIN</a:t>
            </a:r>
          </a:p>
        </p:txBody>
      </p:sp>
      <p:sp>
        <p:nvSpPr>
          <p:cNvPr id="65" name="legend-work-swatch">
            <a:extLst>
              <a:ext uri="{FF2B5EF4-FFF2-40B4-BE49-F238E27FC236}">
                <a16:creationId xmlns:a16="http://schemas.microsoft.com/office/drawing/2014/main" id="{B5773F63-AC2E-4082-A3EC-E90D2C854218}"/>
              </a:ext>
            </a:extLst>
          </p:cNvPr>
          <p:cNvSpPr>
            <a:spLocks noGrp="1"/>
          </p:cNvSpPr>
          <p:nvPr/>
        </p:nvSpPr>
        <p:spPr>
          <a:xfrm>
            <a:off x="4810125" y="5372100"/>
            <a:ext cx="228600" cy="2286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19050" tIns="19050" rIns="19050" bIns="19050" anchor="ctr"/>
          <a:lstStyle/>
          <a:p>
            <a:endParaRPr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8D2CAEB-CC3C-4224-80C8-82F691F12A91}"/>
              </a:ext>
            </a:extLst>
          </p:cNvPr>
          <p:cNvSpPr>
            <a:spLocks noGrp="1"/>
          </p:cNvSpPr>
          <p:nvPr/>
        </p:nvSpPr>
        <p:spPr>
          <a:xfrm>
            <a:off x="5114925" y="531495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useful work</a:t>
            </a:r>
          </a:p>
        </p:txBody>
      </p:sp>
      <p:sp>
        <p:nvSpPr>
          <p:cNvPr id="67" name="legend-bubble-swatch">
            <a:extLst>
              <a:ext uri="{FF2B5EF4-FFF2-40B4-BE49-F238E27FC236}">
                <a16:creationId xmlns:a16="http://schemas.microsoft.com/office/drawing/2014/main" id="{261B45E1-EE47-4D16-9606-E962BEEFC5CC}"/>
              </a:ext>
            </a:extLst>
          </p:cNvPr>
          <p:cNvSpPr>
            <a:spLocks noGrp="1"/>
          </p:cNvSpPr>
          <p:nvPr/>
        </p:nvSpPr>
        <p:spPr>
          <a:xfrm>
            <a:off x="6572250" y="5372100"/>
            <a:ext cx="228600" cy="2286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19050" tIns="19050" rIns="19050" bIns="19050" anchor="ctr"/>
          <a:lstStyle/>
          <a:p>
            <a:endParaRPr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19B57EA-2370-4E33-85B5-2FDC35D9C51B}"/>
              </a:ext>
            </a:extLst>
          </p:cNvPr>
          <p:cNvSpPr>
            <a:spLocks noGrp="1"/>
          </p:cNvSpPr>
          <p:nvPr/>
        </p:nvSpPr>
        <p:spPr>
          <a:xfrm>
            <a:off x="6877050" y="531495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bubble / idle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0DCF796-A879-467F-988F-E97A97EFA019}"/>
              </a:ext>
            </a:extLst>
          </p:cNvPr>
          <p:cNvSpPr>
            <a:spLocks noGrp="1"/>
          </p:cNvSpPr>
          <p:nvPr/>
        </p:nvSpPr>
        <p:spPr>
          <a:xfrm>
            <a:off x="8334375" y="5314950"/>
            <a:ext cx="3000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r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More microbatches amortize fill and drain.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microbatch creates a training bubble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D7D1C8-AE23-AA48-DF65-C742588DBE47}" type="slidenum">
              <a:rPr/>
              <a:t>13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60824D-363D-4FC5-82C2-FF27890E798A}"/>
              </a:ext>
            </a:extLst>
          </p:cNvPr>
          <p:cNvSpPr>
            <a:spLocks noGrp="1"/>
          </p:cNvSpPr>
          <p:nvPr/>
        </p:nvSpPr>
        <p:spPr>
          <a:xfrm>
            <a:off x="685800" y="1741847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BUBBLE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EA4A2D-B81B-4C45-BA66-C6D6F4C399B9}"/>
              </a:ext>
            </a:extLst>
          </p:cNvPr>
          <p:cNvSpPr>
            <a:spLocks noGrp="1"/>
          </p:cNvSpPr>
          <p:nvPr/>
        </p:nvSpPr>
        <p:spPr>
          <a:xfrm>
            <a:off x="685800" y="2075222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Stages wait for gradients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69F088-F2BE-4230-824B-F8089081D7D4}"/>
              </a:ext>
            </a:extLst>
          </p:cNvPr>
          <p:cNvSpPr>
            <a:spLocks noGrp="1"/>
          </p:cNvSpPr>
          <p:nvPr/>
        </p:nvSpPr>
        <p:spPr>
          <a:xfrm>
            <a:off x="685800" y="2665772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18FCE9-F810-4271-B029-8601667BA2E1}"/>
              </a:ext>
            </a:extLst>
          </p:cNvPr>
          <p:cNvSpPr>
            <a:spLocks noGrp="1"/>
          </p:cNvSpPr>
          <p:nvPr/>
        </p:nvSpPr>
        <p:spPr>
          <a:xfrm>
            <a:off x="685800" y="2818172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WHY IT HAPPENS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F8003F-BAA5-4CE5-ACB7-F5E56D3E3AAF}"/>
              </a:ext>
            </a:extLst>
          </p:cNvPr>
          <p:cNvSpPr>
            <a:spLocks noGrp="1"/>
          </p:cNvSpPr>
          <p:nvPr/>
        </p:nvSpPr>
        <p:spPr>
          <a:xfrm>
            <a:off x="685800" y="3151547"/>
            <a:ext cx="3238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Forward reaches the loss first. Backward then returns gradients through the stages in reverse.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B6591E-A289-4716-B12E-FB7B83D93C0E}"/>
              </a:ext>
            </a:extLst>
          </p:cNvPr>
          <p:cNvSpPr>
            <a:spLocks noGrp="1"/>
          </p:cNvSpPr>
          <p:nvPr/>
        </p:nvSpPr>
        <p:spPr>
          <a:xfrm>
            <a:off x="685800" y="4075472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E96279-561A-48DB-BF35-2B113E08E4A7}"/>
              </a:ext>
            </a:extLst>
          </p:cNvPr>
          <p:cNvSpPr>
            <a:spLocks noGrp="1"/>
          </p:cNvSpPr>
          <p:nvPr/>
        </p:nvSpPr>
        <p:spPr>
          <a:xfrm>
            <a:off x="685800" y="4227872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ONE MICROBATCH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1F6DB3-AA3B-4349-A2DC-8533C340079F}"/>
              </a:ext>
            </a:extLst>
          </p:cNvPr>
          <p:cNvSpPr>
            <a:spLocks noGrp="1"/>
          </p:cNvSpPr>
          <p:nvPr/>
        </p:nvSpPr>
        <p:spPr>
          <a:xfrm>
            <a:off x="685800" y="4561247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Most GPUs are idle while one microbatch traverses the pipeline.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18BAED-B61D-4C79-A602-C7CA6693284F}"/>
              </a:ext>
            </a:extLst>
          </p:cNvPr>
          <p:cNvSpPr>
            <a:spLocks noGrp="1"/>
          </p:cNvSpPr>
          <p:nvPr/>
        </p:nvSpPr>
        <p:spPr>
          <a:xfrm>
            <a:off x="685800" y="5361347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25% busy; 75% bubble in this idealized example.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CF5F6A-EED5-4DDB-B186-AD67C271BE17}"/>
              </a:ext>
            </a:extLst>
          </p:cNvPr>
          <p:cNvSpPr>
            <a:spLocks noGrp="1"/>
          </p:cNvSpPr>
          <p:nvPr/>
        </p:nvSpPr>
        <p:spPr>
          <a:xfrm>
            <a:off x="4238625" y="1623859"/>
            <a:ext cx="9525" cy="409575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3AFC58-E595-433E-AA24-D5123ABCAE50}"/>
              </a:ext>
            </a:extLst>
          </p:cNvPr>
          <p:cNvSpPr>
            <a:spLocks noGrp="1"/>
          </p:cNvSpPr>
          <p:nvPr/>
        </p:nvSpPr>
        <p:spPr>
          <a:xfrm>
            <a:off x="6000750" y="1524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TRAINING: ONE MICROBATCH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7F3BDB0-F743-4F40-BC1D-5C437F8EC35B}"/>
              </a:ext>
            </a:extLst>
          </p:cNvPr>
          <p:cNvSpPr>
            <a:spLocks noGrp="1"/>
          </p:cNvSpPr>
          <p:nvPr/>
        </p:nvSpPr>
        <p:spPr>
          <a:xfrm>
            <a:off x="5857875" y="1905000"/>
            <a:ext cx="60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TIME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71F3B1-3270-41D8-ACB9-9C26AE935ACB}"/>
              </a:ext>
            </a:extLst>
          </p:cNvPr>
          <p:cNvSpPr>
            <a:spLocks noGrp="1"/>
          </p:cNvSpPr>
          <p:nvPr/>
        </p:nvSpPr>
        <p:spPr>
          <a:xfrm>
            <a:off x="6410325" y="1876425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20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→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B5A2C1-194A-4AD5-B41E-29162C9DB854}"/>
              </a:ext>
            </a:extLst>
          </p:cNvPr>
          <p:cNvSpPr>
            <a:spLocks noGrp="1"/>
          </p:cNvSpPr>
          <p:nvPr/>
        </p:nvSpPr>
        <p:spPr>
          <a:xfrm>
            <a:off x="5857875" y="2143125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5290B8-94C5-478B-AE82-1340AADA417B}"/>
              </a:ext>
            </a:extLst>
          </p:cNvPr>
          <p:cNvSpPr>
            <a:spLocks noGrp="1"/>
          </p:cNvSpPr>
          <p:nvPr/>
        </p:nvSpPr>
        <p:spPr>
          <a:xfrm>
            <a:off x="6543675" y="2143125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B2F8F33-00FF-4CFA-A29A-8000D1C1DDEF}"/>
              </a:ext>
            </a:extLst>
          </p:cNvPr>
          <p:cNvSpPr>
            <a:spLocks noGrp="1"/>
          </p:cNvSpPr>
          <p:nvPr/>
        </p:nvSpPr>
        <p:spPr>
          <a:xfrm>
            <a:off x="7229475" y="2143125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18B35B-3358-4FCA-A30F-2DC561B2AB79}"/>
              </a:ext>
            </a:extLst>
          </p:cNvPr>
          <p:cNvSpPr>
            <a:spLocks noGrp="1"/>
          </p:cNvSpPr>
          <p:nvPr/>
        </p:nvSpPr>
        <p:spPr>
          <a:xfrm>
            <a:off x="7915275" y="2143125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32BE2B-156D-4A98-B4FA-5E17CCB3CAE1}"/>
              </a:ext>
            </a:extLst>
          </p:cNvPr>
          <p:cNvSpPr>
            <a:spLocks noGrp="1"/>
          </p:cNvSpPr>
          <p:nvPr/>
        </p:nvSpPr>
        <p:spPr>
          <a:xfrm>
            <a:off x="8601075" y="2143125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D483532-1DBD-4428-810E-0E66433BC282}"/>
              </a:ext>
            </a:extLst>
          </p:cNvPr>
          <p:cNvSpPr>
            <a:spLocks noGrp="1"/>
          </p:cNvSpPr>
          <p:nvPr/>
        </p:nvSpPr>
        <p:spPr>
          <a:xfrm>
            <a:off x="9286875" y="2143125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D561A5-4E33-4758-95A5-E56C3E02350C}"/>
              </a:ext>
            </a:extLst>
          </p:cNvPr>
          <p:cNvSpPr>
            <a:spLocks noGrp="1"/>
          </p:cNvSpPr>
          <p:nvPr/>
        </p:nvSpPr>
        <p:spPr>
          <a:xfrm>
            <a:off x="9972675" y="2143125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7FA42A2-4511-4C12-8408-BAFA6B7EBD6F}"/>
              </a:ext>
            </a:extLst>
          </p:cNvPr>
          <p:cNvSpPr>
            <a:spLocks noGrp="1"/>
          </p:cNvSpPr>
          <p:nvPr/>
        </p:nvSpPr>
        <p:spPr>
          <a:xfrm>
            <a:off x="10658475" y="2143125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8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8DB17D6-2E75-49EC-AA48-6B2AB432ECE8}"/>
              </a:ext>
            </a:extLst>
          </p:cNvPr>
          <p:cNvSpPr>
            <a:spLocks noGrp="1"/>
          </p:cNvSpPr>
          <p:nvPr/>
        </p:nvSpPr>
        <p:spPr>
          <a:xfrm>
            <a:off x="4762500" y="2428875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0</a:t>
            </a:r>
          </a:p>
        </p:txBody>
      </p:sp>
      <p:sp>
        <p:nvSpPr>
          <p:cNvPr id="32" name="training-grid-r1-c1">
            <a:extLst>
              <a:ext uri="{FF2B5EF4-FFF2-40B4-BE49-F238E27FC236}">
                <a16:creationId xmlns:a16="http://schemas.microsoft.com/office/drawing/2014/main" id="{6425FDE2-6FE0-4212-8D06-DF5DDBC730A4}"/>
              </a:ext>
            </a:extLst>
          </p:cNvPr>
          <p:cNvSpPr>
            <a:spLocks noGrp="1"/>
          </p:cNvSpPr>
          <p:nvPr/>
        </p:nvSpPr>
        <p:spPr>
          <a:xfrm>
            <a:off x="5857875" y="2428875"/>
            <a:ext cx="6096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 dirty="0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</a:t>
            </a:r>
          </a:p>
        </p:txBody>
      </p:sp>
      <p:sp>
        <p:nvSpPr>
          <p:cNvPr id="33" name="training-grid-r1-c2">
            <a:extLst>
              <a:ext uri="{FF2B5EF4-FFF2-40B4-BE49-F238E27FC236}">
                <a16:creationId xmlns:a16="http://schemas.microsoft.com/office/drawing/2014/main" id="{C827EAF5-FAF8-49E9-81E3-8F6AB2D4EBC8}"/>
              </a:ext>
            </a:extLst>
          </p:cNvPr>
          <p:cNvSpPr>
            <a:spLocks noGrp="1"/>
          </p:cNvSpPr>
          <p:nvPr/>
        </p:nvSpPr>
        <p:spPr>
          <a:xfrm>
            <a:off x="6543675" y="24288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34" name="training-grid-r1-c3">
            <a:extLst>
              <a:ext uri="{FF2B5EF4-FFF2-40B4-BE49-F238E27FC236}">
                <a16:creationId xmlns:a16="http://schemas.microsoft.com/office/drawing/2014/main" id="{4E0EC34A-9B85-43DC-8428-B133F1C9E5CA}"/>
              </a:ext>
            </a:extLst>
          </p:cNvPr>
          <p:cNvSpPr>
            <a:spLocks noGrp="1"/>
          </p:cNvSpPr>
          <p:nvPr/>
        </p:nvSpPr>
        <p:spPr>
          <a:xfrm>
            <a:off x="7229475" y="24288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35" name="training-grid-r1-c4">
            <a:extLst>
              <a:ext uri="{FF2B5EF4-FFF2-40B4-BE49-F238E27FC236}">
                <a16:creationId xmlns:a16="http://schemas.microsoft.com/office/drawing/2014/main" id="{8DF14D11-88F8-4F3C-BDB6-B6B03AA1FF65}"/>
              </a:ext>
            </a:extLst>
          </p:cNvPr>
          <p:cNvSpPr>
            <a:spLocks noGrp="1"/>
          </p:cNvSpPr>
          <p:nvPr/>
        </p:nvSpPr>
        <p:spPr>
          <a:xfrm>
            <a:off x="7915275" y="24288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36" name="training-grid-r1-c5">
            <a:extLst>
              <a:ext uri="{FF2B5EF4-FFF2-40B4-BE49-F238E27FC236}">
                <a16:creationId xmlns:a16="http://schemas.microsoft.com/office/drawing/2014/main" id="{922A2257-E396-4B60-8003-65428D152C73}"/>
              </a:ext>
            </a:extLst>
          </p:cNvPr>
          <p:cNvSpPr>
            <a:spLocks noGrp="1"/>
          </p:cNvSpPr>
          <p:nvPr/>
        </p:nvSpPr>
        <p:spPr>
          <a:xfrm>
            <a:off x="8601075" y="24288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37" name="training-grid-r1-c6">
            <a:extLst>
              <a:ext uri="{FF2B5EF4-FFF2-40B4-BE49-F238E27FC236}">
                <a16:creationId xmlns:a16="http://schemas.microsoft.com/office/drawing/2014/main" id="{CCC3DCCD-C5D9-42E1-A03B-B9A915F433FB}"/>
              </a:ext>
            </a:extLst>
          </p:cNvPr>
          <p:cNvSpPr>
            <a:spLocks noGrp="1"/>
          </p:cNvSpPr>
          <p:nvPr/>
        </p:nvSpPr>
        <p:spPr>
          <a:xfrm>
            <a:off x="9286875" y="24288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38" name="training-grid-r1-c7">
            <a:extLst>
              <a:ext uri="{FF2B5EF4-FFF2-40B4-BE49-F238E27FC236}">
                <a16:creationId xmlns:a16="http://schemas.microsoft.com/office/drawing/2014/main" id="{24C2F76F-12DE-4C26-BD03-313B18256F5D}"/>
              </a:ext>
            </a:extLst>
          </p:cNvPr>
          <p:cNvSpPr>
            <a:spLocks noGrp="1"/>
          </p:cNvSpPr>
          <p:nvPr/>
        </p:nvSpPr>
        <p:spPr>
          <a:xfrm>
            <a:off x="9972675" y="24288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39" name="training-grid-r1-c8">
            <a:extLst>
              <a:ext uri="{FF2B5EF4-FFF2-40B4-BE49-F238E27FC236}">
                <a16:creationId xmlns:a16="http://schemas.microsoft.com/office/drawing/2014/main" id="{D81F4EFB-5654-4C3A-AE8A-2FF0DDB32826}"/>
              </a:ext>
            </a:extLst>
          </p:cNvPr>
          <p:cNvSpPr>
            <a:spLocks noGrp="1"/>
          </p:cNvSpPr>
          <p:nvPr/>
        </p:nvSpPr>
        <p:spPr>
          <a:xfrm>
            <a:off x="10658475" y="2428875"/>
            <a:ext cx="60960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 dirty="0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B276355-C5C2-4B30-91B9-7A5286BA6CA8}"/>
              </a:ext>
            </a:extLst>
          </p:cNvPr>
          <p:cNvSpPr>
            <a:spLocks noGrp="1"/>
          </p:cNvSpPr>
          <p:nvPr/>
        </p:nvSpPr>
        <p:spPr>
          <a:xfrm>
            <a:off x="4762500" y="3038475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1</a:t>
            </a:r>
          </a:p>
        </p:txBody>
      </p:sp>
      <p:sp>
        <p:nvSpPr>
          <p:cNvPr id="41" name="training-grid-r2-c1">
            <a:extLst>
              <a:ext uri="{FF2B5EF4-FFF2-40B4-BE49-F238E27FC236}">
                <a16:creationId xmlns:a16="http://schemas.microsoft.com/office/drawing/2014/main" id="{69559FA9-8BC3-4C16-ADBD-ED72677F0E20}"/>
              </a:ext>
            </a:extLst>
          </p:cNvPr>
          <p:cNvSpPr>
            <a:spLocks noGrp="1"/>
          </p:cNvSpPr>
          <p:nvPr/>
        </p:nvSpPr>
        <p:spPr>
          <a:xfrm>
            <a:off x="5857875" y="30384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42" name="training-grid-r2-c2">
            <a:extLst>
              <a:ext uri="{FF2B5EF4-FFF2-40B4-BE49-F238E27FC236}">
                <a16:creationId xmlns:a16="http://schemas.microsoft.com/office/drawing/2014/main" id="{B02F4200-FDFD-4F5A-A38A-A4E753185A7A}"/>
              </a:ext>
            </a:extLst>
          </p:cNvPr>
          <p:cNvSpPr>
            <a:spLocks noGrp="1"/>
          </p:cNvSpPr>
          <p:nvPr/>
        </p:nvSpPr>
        <p:spPr>
          <a:xfrm>
            <a:off x="6543675" y="3038475"/>
            <a:ext cx="6096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 dirty="0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</a:t>
            </a:r>
          </a:p>
        </p:txBody>
      </p:sp>
      <p:sp>
        <p:nvSpPr>
          <p:cNvPr id="43" name="training-grid-r2-c3">
            <a:extLst>
              <a:ext uri="{FF2B5EF4-FFF2-40B4-BE49-F238E27FC236}">
                <a16:creationId xmlns:a16="http://schemas.microsoft.com/office/drawing/2014/main" id="{D65C05A0-DCBC-48A2-9C0F-12263B9FD661}"/>
              </a:ext>
            </a:extLst>
          </p:cNvPr>
          <p:cNvSpPr>
            <a:spLocks noGrp="1"/>
          </p:cNvSpPr>
          <p:nvPr/>
        </p:nvSpPr>
        <p:spPr>
          <a:xfrm>
            <a:off x="7229475" y="30384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44" name="training-grid-r2-c4">
            <a:extLst>
              <a:ext uri="{FF2B5EF4-FFF2-40B4-BE49-F238E27FC236}">
                <a16:creationId xmlns:a16="http://schemas.microsoft.com/office/drawing/2014/main" id="{D038FC38-6900-47DC-B9EE-2CB0BEA0D06A}"/>
              </a:ext>
            </a:extLst>
          </p:cNvPr>
          <p:cNvSpPr>
            <a:spLocks noGrp="1"/>
          </p:cNvSpPr>
          <p:nvPr/>
        </p:nvSpPr>
        <p:spPr>
          <a:xfrm>
            <a:off x="7915275" y="30384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45" name="training-grid-r2-c5">
            <a:extLst>
              <a:ext uri="{FF2B5EF4-FFF2-40B4-BE49-F238E27FC236}">
                <a16:creationId xmlns:a16="http://schemas.microsoft.com/office/drawing/2014/main" id="{C0950F56-EC2D-4A51-AC56-CCFCCFEDEACD}"/>
              </a:ext>
            </a:extLst>
          </p:cNvPr>
          <p:cNvSpPr>
            <a:spLocks noGrp="1"/>
          </p:cNvSpPr>
          <p:nvPr/>
        </p:nvSpPr>
        <p:spPr>
          <a:xfrm>
            <a:off x="8601075" y="30384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46" name="training-grid-r2-c6">
            <a:extLst>
              <a:ext uri="{FF2B5EF4-FFF2-40B4-BE49-F238E27FC236}">
                <a16:creationId xmlns:a16="http://schemas.microsoft.com/office/drawing/2014/main" id="{24A26190-DCED-4F92-AA83-B8E5B63D86D2}"/>
              </a:ext>
            </a:extLst>
          </p:cNvPr>
          <p:cNvSpPr>
            <a:spLocks noGrp="1"/>
          </p:cNvSpPr>
          <p:nvPr/>
        </p:nvSpPr>
        <p:spPr>
          <a:xfrm>
            <a:off x="9286875" y="30384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47" name="training-grid-r2-c7">
            <a:extLst>
              <a:ext uri="{FF2B5EF4-FFF2-40B4-BE49-F238E27FC236}">
                <a16:creationId xmlns:a16="http://schemas.microsoft.com/office/drawing/2014/main" id="{2F99BCA2-1B9B-4AEA-BB56-5F53A5F9B0CA}"/>
              </a:ext>
            </a:extLst>
          </p:cNvPr>
          <p:cNvSpPr>
            <a:spLocks noGrp="1"/>
          </p:cNvSpPr>
          <p:nvPr/>
        </p:nvSpPr>
        <p:spPr>
          <a:xfrm>
            <a:off x="9972675" y="3038475"/>
            <a:ext cx="60960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 dirty="0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</a:t>
            </a:r>
          </a:p>
        </p:txBody>
      </p:sp>
      <p:sp>
        <p:nvSpPr>
          <p:cNvPr id="48" name="training-grid-r2-c8">
            <a:extLst>
              <a:ext uri="{FF2B5EF4-FFF2-40B4-BE49-F238E27FC236}">
                <a16:creationId xmlns:a16="http://schemas.microsoft.com/office/drawing/2014/main" id="{24E6CE8C-44FA-4910-8B34-4CD374965892}"/>
              </a:ext>
            </a:extLst>
          </p:cNvPr>
          <p:cNvSpPr>
            <a:spLocks noGrp="1"/>
          </p:cNvSpPr>
          <p:nvPr/>
        </p:nvSpPr>
        <p:spPr>
          <a:xfrm>
            <a:off x="10658475" y="30384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7254F38-F2EB-4720-BBB8-9EFC2E23CF3E}"/>
              </a:ext>
            </a:extLst>
          </p:cNvPr>
          <p:cNvSpPr>
            <a:spLocks noGrp="1"/>
          </p:cNvSpPr>
          <p:nvPr/>
        </p:nvSpPr>
        <p:spPr>
          <a:xfrm>
            <a:off x="4762500" y="3648075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2</a:t>
            </a:r>
          </a:p>
        </p:txBody>
      </p:sp>
      <p:sp>
        <p:nvSpPr>
          <p:cNvPr id="50" name="training-grid-r3-c1">
            <a:extLst>
              <a:ext uri="{FF2B5EF4-FFF2-40B4-BE49-F238E27FC236}">
                <a16:creationId xmlns:a16="http://schemas.microsoft.com/office/drawing/2014/main" id="{028ED7E5-07C5-4FF6-86E4-E96F8257EA19}"/>
              </a:ext>
            </a:extLst>
          </p:cNvPr>
          <p:cNvSpPr>
            <a:spLocks noGrp="1"/>
          </p:cNvSpPr>
          <p:nvPr/>
        </p:nvSpPr>
        <p:spPr>
          <a:xfrm>
            <a:off x="5857875" y="36480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51" name="training-grid-r3-c2">
            <a:extLst>
              <a:ext uri="{FF2B5EF4-FFF2-40B4-BE49-F238E27FC236}">
                <a16:creationId xmlns:a16="http://schemas.microsoft.com/office/drawing/2014/main" id="{14AF0578-E172-4A8D-AEEC-FFB6CC45745D}"/>
              </a:ext>
            </a:extLst>
          </p:cNvPr>
          <p:cNvSpPr>
            <a:spLocks noGrp="1"/>
          </p:cNvSpPr>
          <p:nvPr/>
        </p:nvSpPr>
        <p:spPr>
          <a:xfrm>
            <a:off x="6543675" y="36480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52" name="training-grid-r3-c3">
            <a:extLst>
              <a:ext uri="{FF2B5EF4-FFF2-40B4-BE49-F238E27FC236}">
                <a16:creationId xmlns:a16="http://schemas.microsoft.com/office/drawing/2014/main" id="{7E656153-46FD-4785-9EF7-7D3AC100F61B}"/>
              </a:ext>
            </a:extLst>
          </p:cNvPr>
          <p:cNvSpPr>
            <a:spLocks noGrp="1"/>
          </p:cNvSpPr>
          <p:nvPr/>
        </p:nvSpPr>
        <p:spPr>
          <a:xfrm>
            <a:off x="7229475" y="3648075"/>
            <a:ext cx="6096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 dirty="0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</a:t>
            </a:r>
          </a:p>
        </p:txBody>
      </p:sp>
      <p:sp>
        <p:nvSpPr>
          <p:cNvPr id="53" name="training-grid-r3-c4">
            <a:extLst>
              <a:ext uri="{FF2B5EF4-FFF2-40B4-BE49-F238E27FC236}">
                <a16:creationId xmlns:a16="http://schemas.microsoft.com/office/drawing/2014/main" id="{8A14038F-D02E-4E04-820B-4CBB804B6A3A}"/>
              </a:ext>
            </a:extLst>
          </p:cNvPr>
          <p:cNvSpPr>
            <a:spLocks noGrp="1"/>
          </p:cNvSpPr>
          <p:nvPr/>
        </p:nvSpPr>
        <p:spPr>
          <a:xfrm>
            <a:off x="7915275" y="36480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54" name="training-grid-r3-c5">
            <a:extLst>
              <a:ext uri="{FF2B5EF4-FFF2-40B4-BE49-F238E27FC236}">
                <a16:creationId xmlns:a16="http://schemas.microsoft.com/office/drawing/2014/main" id="{2B73C283-1F5F-4FE8-A695-825F5FECD802}"/>
              </a:ext>
            </a:extLst>
          </p:cNvPr>
          <p:cNvSpPr>
            <a:spLocks noGrp="1"/>
          </p:cNvSpPr>
          <p:nvPr/>
        </p:nvSpPr>
        <p:spPr>
          <a:xfrm>
            <a:off x="8601075" y="36480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55" name="training-grid-r3-c6">
            <a:extLst>
              <a:ext uri="{FF2B5EF4-FFF2-40B4-BE49-F238E27FC236}">
                <a16:creationId xmlns:a16="http://schemas.microsoft.com/office/drawing/2014/main" id="{3BD95C98-E255-4D33-8B41-9C94630C1EF5}"/>
              </a:ext>
            </a:extLst>
          </p:cNvPr>
          <p:cNvSpPr>
            <a:spLocks noGrp="1"/>
          </p:cNvSpPr>
          <p:nvPr/>
        </p:nvSpPr>
        <p:spPr>
          <a:xfrm>
            <a:off x="9286875" y="3648075"/>
            <a:ext cx="60960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 dirty="0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</a:t>
            </a:r>
          </a:p>
        </p:txBody>
      </p:sp>
      <p:sp>
        <p:nvSpPr>
          <p:cNvPr id="56" name="training-grid-r3-c7">
            <a:extLst>
              <a:ext uri="{FF2B5EF4-FFF2-40B4-BE49-F238E27FC236}">
                <a16:creationId xmlns:a16="http://schemas.microsoft.com/office/drawing/2014/main" id="{66F05897-3208-44CC-9225-33D66972F517}"/>
              </a:ext>
            </a:extLst>
          </p:cNvPr>
          <p:cNvSpPr>
            <a:spLocks noGrp="1"/>
          </p:cNvSpPr>
          <p:nvPr/>
        </p:nvSpPr>
        <p:spPr>
          <a:xfrm>
            <a:off x="9972675" y="36480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57" name="training-grid-r3-c8">
            <a:extLst>
              <a:ext uri="{FF2B5EF4-FFF2-40B4-BE49-F238E27FC236}">
                <a16:creationId xmlns:a16="http://schemas.microsoft.com/office/drawing/2014/main" id="{0BF44893-2D9E-49E5-95E1-A98DDC82F32C}"/>
              </a:ext>
            </a:extLst>
          </p:cNvPr>
          <p:cNvSpPr>
            <a:spLocks noGrp="1"/>
          </p:cNvSpPr>
          <p:nvPr/>
        </p:nvSpPr>
        <p:spPr>
          <a:xfrm>
            <a:off x="10658475" y="36480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0B9B772-BC9A-40C0-AD21-E157A4D8F2F2}"/>
              </a:ext>
            </a:extLst>
          </p:cNvPr>
          <p:cNvSpPr>
            <a:spLocks noGrp="1"/>
          </p:cNvSpPr>
          <p:nvPr/>
        </p:nvSpPr>
        <p:spPr>
          <a:xfrm>
            <a:off x="4762500" y="4257675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3</a:t>
            </a:r>
          </a:p>
        </p:txBody>
      </p:sp>
      <p:sp>
        <p:nvSpPr>
          <p:cNvPr id="59" name="training-grid-r4-c1">
            <a:extLst>
              <a:ext uri="{FF2B5EF4-FFF2-40B4-BE49-F238E27FC236}">
                <a16:creationId xmlns:a16="http://schemas.microsoft.com/office/drawing/2014/main" id="{B7DF78E8-DE2B-4949-9FB4-92995395ADE7}"/>
              </a:ext>
            </a:extLst>
          </p:cNvPr>
          <p:cNvSpPr>
            <a:spLocks noGrp="1"/>
          </p:cNvSpPr>
          <p:nvPr/>
        </p:nvSpPr>
        <p:spPr>
          <a:xfrm>
            <a:off x="5857875" y="42576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60" name="training-grid-r4-c2">
            <a:extLst>
              <a:ext uri="{FF2B5EF4-FFF2-40B4-BE49-F238E27FC236}">
                <a16:creationId xmlns:a16="http://schemas.microsoft.com/office/drawing/2014/main" id="{9EF479E9-E676-4E38-8AC4-51482AC9EFE4}"/>
              </a:ext>
            </a:extLst>
          </p:cNvPr>
          <p:cNvSpPr>
            <a:spLocks noGrp="1"/>
          </p:cNvSpPr>
          <p:nvPr/>
        </p:nvSpPr>
        <p:spPr>
          <a:xfrm>
            <a:off x="6543675" y="42576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61" name="training-grid-r4-c3">
            <a:extLst>
              <a:ext uri="{FF2B5EF4-FFF2-40B4-BE49-F238E27FC236}">
                <a16:creationId xmlns:a16="http://schemas.microsoft.com/office/drawing/2014/main" id="{ABED8249-A7F5-46D9-8DBE-A6D15C0E7A86}"/>
              </a:ext>
            </a:extLst>
          </p:cNvPr>
          <p:cNvSpPr>
            <a:spLocks noGrp="1"/>
          </p:cNvSpPr>
          <p:nvPr/>
        </p:nvSpPr>
        <p:spPr>
          <a:xfrm>
            <a:off x="7229475" y="42576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62" name="training-grid-r4-c4">
            <a:extLst>
              <a:ext uri="{FF2B5EF4-FFF2-40B4-BE49-F238E27FC236}">
                <a16:creationId xmlns:a16="http://schemas.microsoft.com/office/drawing/2014/main" id="{EC04732B-11FD-4BF3-A5FE-25A8245CCAA1}"/>
              </a:ext>
            </a:extLst>
          </p:cNvPr>
          <p:cNvSpPr>
            <a:spLocks noGrp="1"/>
          </p:cNvSpPr>
          <p:nvPr/>
        </p:nvSpPr>
        <p:spPr>
          <a:xfrm>
            <a:off x="7915275" y="4257675"/>
            <a:ext cx="60960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 dirty="0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</a:t>
            </a:r>
          </a:p>
        </p:txBody>
      </p:sp>
      <p:sp>
        <p:nvSpPr>
          <p:cNvPr id="63" name="training-grid-r4-c5">
            <a:extLst>
              <a:ext uri="{FF2B5EF4-FFF2-40B4-BE49-F238E27FC236}">
                <a16:creationId xmlns:a16="http://schemas.microsoft.com/office/drawing/2014/main" id="{2889E7CE-190A-4682-B3BB-B686604C1475}"/>
              </a:ext>
            </a:extLst>
          </p:cNvPr>
          <p:cNvSpPr>
            <a:spLocks noGrp="1"/>
          </p:cNvSpPr>
          <p:nvPr/>
        </p:nvSpPr>
        <p:spPr>
          <a:xfrm>
            <a:off x="8601075" y="4257675"/>
            <a:ext cx="60960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 dirty="0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</a:t>
            </a:r>
          </a:p>
        </p:txBody>
      </p:sp>
      <p:sp>
        <p:nvSpPr>
          <p:cNvPr id="64" name="training-grid-r4-c6">
            <a:extLst>
              <a:ext uri="{FF2B5EF4-FFF2-40B4-BE49-F238E27FC236}">
                <a16:creationId xmlns:a16="http://schemas.microsoft.com/office/drawing/2014/main" id="{F25CE51B-2FFA-4BFC-811E-D9DF1EF4E055}"/>
              </a:ext>
            </a:extLst>
          </p:cNvPr>
          <p:cNvSpPr>
            <a:spLocks noGrp="1"/>
          </p:cNvSpPr>
          <p:nvPr/>
        </p:nvSpPr>
        <p:spPr>
          <a:xfrm>
            <a:off x="9286875" y="42576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65" name="training-grid-r4-c7">
            <a:extLst>
              <a:ext uri="{FF2B5EF4-FFF2-40B4-BE49-F238E27FC236}">
                <a16:creationId xmlns:a16="http://schemas.microsoft.com/office/drawing/2014/main" id="{18BAA206-EC86-4829-BB5C-9F2647C40F09}"/>
              </a:ext>
            </a:extLst>
          </p:cNvPr>
          <p:cNvSpPr>
            <a:spLocks noGrp="1"/>
          </p:cNvSpPr>
          <p:nvPr/>
        </p:nvSpPr>
        <p:spPr>
          <a:xfrm>
            <a:off x="9972675" y="42576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66" name="training-grid-r4-c8">
            <a:extLst>
              <a:ext uri="{FF2B5EF4-FFF2-40B4-BE49-F238E27FC236}">
                <a16:creationId xmlns:a16="http://schemas.microsoft.com/office/drawing/2014/main" id="{2F4902A3-FB30-48A3-9DA0-D583611415CF}"/>
              </a:ext>
            </a:extLst>
          </p:cNvPr>
          <p:cNvSpPr>
            <a:spLocks noGrp="1"/>
          </p:cNvSpPr>
          <p:nvPr/>
        </p:nvSpPr>
        <p:spPr>
          <a:xfrm>
            <a:off x="10658475" y="4257675"/>
            <a:ext cx="60960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5DF1BF7-D099-434B-A636-178C45CC60B7}"/>
              </a:ext>
            </a:extLst>
          </p:cNvPr>
          <p:cNvSpPr>
            <a:spLocks noGrp="1"/>
          </p:cNvSpPr>
          <p:nvPr/>
        </p:nvSpPr>
        <p:spPr>
          <a:xfrm>
            <a:off x="5857875" y="49530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FORWARD SWEEP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88B7C61-8232-4759-9654-58162784455D}"/>
              </a:ext>
            </a:extLst>
          </p:cNvPr>
          <p:cNvSpPr>
            <a:spLocks noGrp="1"/>
          </p:cNvSpPr>
          <p:nvPr/>
        </p:nvSpPr>
        <p:spPr>
          <a:xfrm>
            <a:off x="8601075" y="49530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BACKWARD SWEEP</a:t>
            </a:r>
          </a:p>
        </p:txBody>
      </p:sp>
      <p:sp>
        <p:nvSpPr>
          <p:cNvPr id="69" name="legend-forward-swatch">
            <a:extLst>
              <a:ext uri="{FF2B5EF4-FFF2-40B4-BE49-F238E27FC236}">
                <a16:creationId xmlns:a16="http://schemas.microsoft.com/office/drawing/2014/main" id="{0AF0170C-4177-4E2C-8227-086FE84B798F}"/>
              </a:ext>
            </a:extLst>
          </p:cNvPr>
          <p:cNvSpPr>
            <a:spLocks noGrp="1"/>
          </p:cNvSpPr>
          <p:nvPr/>
        </p:nvSpPr>
        <p:spPr>
          <a:xfrm>
            <a:off x="4762500" y="5334000"/>
            <a:ext cx="266700" cy="2667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DEF9EF5-A0D8-4A7F-A64A-1144FCC888C1}"/>
              </a:ext>
            </a:extLst>
          </p:cNvPr>
          <p:cNvSpPr>
            <a:spLocks noGrp="1"/>
          </p:cNvSpPr>
          <p:nvPr/>
        </p:nvSpPr>
        <p:spPr>
          <a:xfrm>
            <a:off x="5105400" y="5295900"/>
            <a:ext cx="933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forward</a:t>
            </a:r>
          </a:p>
        </p:txBody>
      </p:sp>
      <p:sp>
        <p:nvSpPr>
          <p:cNvPr id="71" name="legend-backward-swatch">
            <a:extLst>
              <a:ext uri="{FF2B5EF4-FFF2-40B4-BE49-F238E27FC236}">
                <a16:creationId xmlns:a16="http://schemas.microsoft.com/office/drawing/2014/main" id="{86159E17-44BA-4F3B-B154-A9CF6AFD4968}"/>
              </a:ext>
            </a:extLst>
          </p:cNvPr>
          <p:cNvSpPr>
            <a:spLocks noGrp="1"/>
          </p:cNvSpPr>
          <p:nvPr/>
        </p:nvSpPr>
        <p:spPr>
          <a:xfrm>
            <a:off x="6143625" y="5334000"/>
            <a:ext cx="266700" cy="2667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86B713B-92C5-4179-B48C-B2B988ECD140}"/>
              </a:ext>
            </a:extLst>
          </p:cNvPr>
          <p:cNvSpPr>
            <a:spLocks noGrp="1"/>
          </p:cNvSpPr>
          <p:nvPr/>
        </p:nvSpPr>
        <p:spPr>
          <a:xfrm>
            <a:off x="6486525" y="5295900"/>
            <a:ext cx="106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backward</a:t>
            </a:r>
          </a:p>
        </p:txBody>
      </p:sp>
      <p:sp>
        <p:nvSpPr>
          <p:cNvPr id="73" name="legend-idle-swatch">
            <a:extLst>
              <a:ext uri="{FF2B5EF4-FFF2-40B4-BE49-F238E27FC236}">
                <a16:creationId xmlns:a16="http://schemas.microsoft.com/office/drawing/2014/main" id="{ECDB07ED-E2F5-4E0F-B6C0-C799797118AA}"/>
              </a:ext>
            </a:extLst>
          </p:cNvPr>
          <p:cNvSpPr>
            <a:spLocks noGrp="1"/>
          </p:cNvSpPr>
          <p:nvPr/>
        </p:nvSpPr>
        <p:spPr>
          <a:xfrm>
            <a:off x="7677150" y="5334000"/>
            <a:ext cx="266700" cy="2667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F6BDF91-57F4-4553-98A5-09A0DE18E0A2}"/>
              </a:ext>
            </a:extLst>
          </p:cNvPr>
          <p:cNvSpPr>
            <a:spLocks noGrp="1"/>
          </p:cNvSpPr>
          <p:nvPr/>
        </p:nvSpPr>
        <p:spPr>
          <a:xfrm>
            <a:off x="8020050" y="5295900"/>
            <a:ext cx="135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bubble / idle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6F33B6A-FBCA-4E17-B8AF-7EA347CDC1A8}"/>
              </a:ext>
            </a:extLst>
          </p:cNvPr>
          <p:cNvSpPr>
            <a:spLocks noGrp="1"/>
          </p:cNvSpPr>
          <p:nvPr/>
        </p:nvSpPr>
        <p:spPr>
          <a:xfrm>
            <a:off x="9429750" y="525780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r"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8 / 32 slots busy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Microbatches reduce the bubble fraction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D7D1C8-AE23-AA48-DF65-C742588DBE47}" type="slidenum">
              <a:rPr/>
              <a:t>14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60824D-363D-4FC5-82C2-FF27890E798A}"/>
              </a:ext>
            </a:extLst>
          </p:cNvPr>
          <p:cNvSpPr>
            <a:spLocks noGrp="1"/>
          </p:cNvSpPr>
          <p:nvPr/>
        </p:nvSpPr>
        <p:spPr>
          <a:xfrm>
            <a:off x="685800" y="1702516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MITIGATION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EA4A2D-B81B-4C45-BA66-C6D6F4C399B9}"/>
              </a:ext>
            </a:extLst>
          </p:cNvPr>
          <p:cNvSpPr>
            <a:spLocks noGrp="1"/>
          </p:cNvSpPr>
          <p:nvPr/>
        </p:nvSpPr>
        <p:spPr>
          <a:xfrm>
            <a:off x="685800" y="2035891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Keep microbatches in flight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69F088-F2BE-4230-824B-F8089081D7D4}"/>
              </a:ext>
            </a:extLst>
          </p:cNvPr>
          <p:cNvSpPr>
            <a:spLocks noGrp="1"/>
          </p:cNvSpPr>
          <p:nvPr/>
        </p:nvSpPr>
        <p:spPr>
          <a:xfrm>
            <a:off x="685800" y="2626441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18FCE9-F810-4271-B029-8601667BA2E1}"/>
              </a:ext>
            </a:extLst>
          </p:cNvPr>
          <p:cNvSpPr>
            <a:spLocks noGrp="1"/>
          </p:cNvSpPr>
          <p:nvPr/>
        </p:nvSpPr>
        <p:spPr>
          <a:xfrm>
            <a:off x="685800" y="2778841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HOW IT HELPS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F8003F-BAA5-4CE5-ACB7-F5E56D3E3AAF}"/>
              </a:ext>
            </a:extLst>
          </p:cNvPr>
          <p:cNvSpPr>
            <a:spLocks noGrp="1"/>
          </p:cNvSpPr>
          <p:nvPr/>
        </p:nvSpPr>
        <p:spPr>
          <a:xfrm>
            <a:off x="685800" y="3112216"/>
            <a:ext cx="3238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Later forward passes occupy slots while earlier microbatches wait to run backward.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B6591E-A289-4716-B12E-FB7B83D93C0E}"/>
              </a:ext>
            </a:extLst>
          </p:cNvPr>
          <p:cNvSpPr>
            <a:spLocks noGrp="1"/>
          </p:cNvSpPr>
          <p:nvPr/>
        </p:nvSpPr>
        <p:spPr>
          <a:xfrm>
            <a:off x="685800" y="4036141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E96279-561A-48DB-BF35-2B113E08E4A7}"/>
              </a:ext>
            </a:extLst>
          </p:cNvPr>
          <p:cNvSpPr>
            <a:spLocks noGrp="1"/>
          </p:cNvSpPr>
          <p:nvPr/>
        </p:nvSpPr>
        <p:spPr>
          <a:xfrm>
            <a:off x="685800" y="4188541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TRADE-OFF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1F6DB3-AA3B-4349-A2DC-8533C340079F}"/>
              </a:ext>
            </a:extLst>
          </p:cNvPr>
          <p:cNvSpPr>
            <a:spLocks noGrp="1"/>
          </p:cNvSpPr>
          <p:nvPr/>
        </p:nvSpPr>
        <p:spPr>
          <a:xfrm>
            <a:off x="685800" y="4521916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More, smaller microbatches can reduce per-GPU kernel efficiency.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18BAED-B61D-4C79-A602-C7CA6693284F}"/>
              </a:ext>
            </a:extLst>
          </p:cNvPr>
          <p:cNvSpPr>
            <a:spLocks noGrp="1"/>
          </p:cNvSpPr>
          <p:nvPr/>
        </p:nvSpPr>
        <p:spPr>
          <a:xfrm>
            <a:off x="685800" y="5322016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57% busy with four microbatches in this idealized example.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CF5F6A-EED5-4DDB-B186-AD67C271BE17}"/>
              </a:ext>
            </a:extLst>
          </p:cNvPr>
          <p:cNvSpPr>
            <a:spLocks noGrp="1"/>
          </p:cNvSpPr>
          <p:nvPr/>
        </p:nvSpPr>
        <p:spPr>
          <a:xfrm>
            <a:off x="4238625" y="1702516"/>
            <a:ext cx="9525" cy="409575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3AFC58-E595-433E-AA24-D5123ABCAE50}"/>
              </a:ext>
            </a:extLst>
          </p:cNvPr>
          <p:cNvSpPr>
            <a:spLocks noGrp="1"/>
          </p:cNvSpPr>
          <p:nvPr/>
        </p:nvSpPr>
        <p:spPr>
          <a:xfrm>
            <a:off x="6000750" y="15240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GPIPE TRAINING: 4 MICROBATCHES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727E06-FF69-4026-B6F1-80DAB7AF3E6C}"/>
              </a:ext>
            </a:extLst>
          </p:cNvPr>
          <p:cNvSpPr>
            <a:spLocks noGrp="1"/>
          </p:cNvSpPr>
          <p:nvPr/>
        </p:nvSpPr>
        <p:spPr>
          <a:xfrm>
            <a:off x="5810250" y="1905000"/>
            <a:ext cx="60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TIME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DEE784-9678-4AFE-A503-3EC7BD2B87E7}"/>
              </a:ext>
            </a:extLst>
          </p:cNvPr>
          <p:cNvSpPr>
            <a:spLocks noGrp="1"/>
          </p:cNvSpPr>
          <p:nvPr/>
        </p:nvSpPr>
        <p:spPr>
          <a:xfrm>
            <a:off x="6362700" y="1876425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20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→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BBEAA7-0AC4-42FF-9539-7E2AE11406D1}"/>
              </a:ext>
            </a:extLst>
          </p:cNvPr>
          <p:cNvSpPr>
            <a:spLocks noGrp="1"/>
          </p:cNvSpPr>
          <p:nvPr/>
        </p:nvSpPr>
        <p:spPr>
          <a:xfrm>
            <a:off x="5810250" y="2143125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C76D1DC-20F3-49D6-B484-61B47DF9DDC5}"/>
              </a:ext>
            </a:extLst>
          </p:cNvPr>
          <p:cNvSpPr>
            <a:spLocks noGrp="1"/>
          </p:cNvSpPr>
          <p:nvPr/>
        </p:nvSpPr>
        <p:spPr>
          <a:xfrm>
            <a:off x="6200775" y="2143125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CD91A1-3F94-4EC3-BD0B-0BFEF11A4CCE}"/>
              </a:ext>
            </a:extLst>
          </p:cNvPr>
          <p:cNvSpPr>
            <a:spLocks noGrp="1"/>
          </p:cNvSpPr>
          <p:nvPr/>
        </p:nvSpPr>
        <p:spPr>
          <a:xfrm>
            <a:off x="6591300" y="2143125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FAFF68-C828-4A3A-BC93-601599F26CD6}"/>
              </a:ext>
            </a:extLst>
          </p:cNvPr>
          <p:cNvSpPr>
            <a:spLocks noGrp="1"/>
          </p:cNvSpPr>
          <p:nvPr/>
        </p:nvSpPr>
        <p:spPr>
          <a:xfrm>
            <a:off x="6981825" y="2143125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054BA4E-9A0C-4B75-A5C1-78D5FD98A216}"/>
              </a:ext>
            </a:extLst>
          </p:cNvPr>
          <p:cNvSpPr>
            <a:spLocks noGrp="1"/>
          </p:cNvSpPr>
          <p:nvPr/>
        </p:nvSpPr>
        <p:spPr>
          <a:xfrm>
            <a:off x="7372350" y="2143125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FB502C-6C12-484A-A062-2FE61B49BEF3}"/>
              </a:ext>
            </a:extLst>
          </p:cNvPr>
          <p:cNvSpPr>
            <a:spLocks noGrp="1"/>
          </p:cNvSpPr>
          <p:nvPr/>
        </p:nvSpPr>
        <p:spPr>
          <a:xfrm>
            <a:off x="7762875" y="2143125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23B3D2-C6EB-4F7C-BD28-E3FBCF0AB459}"/>
              </a:ext>
            </a:extLst>
          </p:cNvPr>
          <p:cNvSpPr>
            <a:spLocks noGrp="1"/>
          </p:cNvSpPr>
          <p:nvPr/>
        </p:nvSpPr>
        <p:spPr>
          <a:xfrm>
            <a:off x="8153400" y="2143125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7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2855B3B-07F9-4509-9C2B-1E1FAD09FA88}"/>
              </a:ext>
            </a:extLst>
          </p:cNvPr>
          <p:cNvSpPr>
            <a:spLocks noGrp="1"/>
          </p:cNvSpPr>
          <p:nvPr/>
        </p:nvSpPr>
        <p:spPr>
          <a:xfrm>
            <a:off x="8543925" y="2143125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8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CC1D3AD-5035-40F3-AEA4-FB2BEFBC3AD4}"/>
              </a:ext>
            </a:extLst>
          </p:cNvPr>
          <p:cNvSpPr>
            <a:spLocks noGrp="1"/>
          </p:cNvSpPr>
          <p:nvPr/>
        </p:nvSpPr>
        <p:spPr>
          <a:xfrm>
            <a:off x="8934450" y="2143125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9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09C665E-AA6E-4254-BD34-7D79D529EF1F}"/>
              </a:ext>
            </a:extLst>
          </p:cNvPr>
          <p:cNvSpPr>
            <a:spLocks noGrp="1"/>
          </p:cNvSpPr>
          <p:nvPr/>
        </p:nvSpPr>
        <p:spPr>
          <a:xfrm>
            <a:off x="9324975" y="2143125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10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30CED55-6774-446F-A893-9FCDC34FF22A}"/>
              </a:ext>
            </a:extLst>
          </p:cNvPr>
          <p:cNvSpPr>
            <a:spLocks noGrp="1"/>
          </p:cNvSpPr>
          <p:nvPr/>
        </p:nvSpPr>
        <p:spPr>
          <a:xfrm>
            <a:off x="9715500" y="2143125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11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EB08CC8-0A64-4145-9434-D51281C944EB}"/>
              </a:ext>
            </a:extLst>
          </p:cNvPr>
          <p:cNvSpPr>
            <a:spLocks noGrp="1"/>
          </p:cNvSpPr>
          <p:nvPr/>
        </p:nvSpPr>
        <p:spPr>
          <a:xfrm>
            <a:off x="10106025" y="2143125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12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E083DCB-22AE-4B30-8DA5-4FBA59BED7AD}"/>
              </a:ext>
            </a:extLst>
          </p:cNvPr>
          <p:cNvSpPr>
            <a:spLocks noGrp="1"/>
          </p:cNvSpPr>
          <p:nvPr/>
        </p:nvSpPr>
        <p:spPr>
          <a:xfrm>
            <a:off x="10496550" y="2143125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13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A6297D6-1A11-4293-AF26-70CAC5C12314}"/>
              </a:ext>
            </a:extLst>
          </p:cNvPr>
          <p:cNvSpPr>
            <a:spLocks noGrp="1"/>
          </p:cNvSpPr>
          <p:nvPr/>
        </p:nvSpPr>
        <p:spPr>
          <a:xfrm>
            <a:off x="10887075" y="2143125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14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6101B81-B9BE-4A51-B4C5-5656ACE166A1}"/>
              </a:ext>
            </a:extLst>
          </p:cNvPr>
          <p:cNvSpPr>
            <a:spLocks noGrp="1"/>
          </p:cNvSpPr>
          <p:nvPr/>
        </p:nvSpPr>
        <p:spPr>
          <a:xfrm>
            <a:off x="4762500" y="2428875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0</a:t>
            </a:r>
          </a:p>
        </p:txBody>
      </p:sp>
      <p:sp>
        <p:nvSpPr>
          <p:cNvPr id="38" name="training-grid-r1-c1">
            <a:extLst>
              <a:ext uri="{FF2B5EF4-FFF2-40B4-BE49-F238E27FC236}">
                <a16:creationId xmlns:a16="http://schemas.microsoft.com/office/drawing/2014/main" id="{A56C1E3A-C52C-444A-86C6-04A857E6CEEC}"/>
              </a:ext>
            </a:extLst>
          </p:cNvPr>
          <p:cNvSpPr>
            <a:spLocks noGrp="1"/>
          </p:cNvSpPr>
          <p:nvPr/>
        </p:nvSpPr>
        <p:spPr>
          <a:xfrm>
            <a:off x="5810250" y="24288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F1</a:t>
            </a:r>
          </a:p>
        </p:txBody>
      </p:sp>
      <p:sp>
        <p:nvSpPr>
          <p:cNvPr id="39" name="training-grid-r1-c2">
            <a:extLst>
              <a:ext uri="{FF2B5EF4-FFF2-40B4-BE49-F238E27FC236}">
                <a16:creationId xmlns:a16="http://schemas.microsoft.com/office/drawing/2014/main" id="{9DAF6E23-CF2B-4FCB-88C6-3BCF10001926}"/>
              </a:ext>
            </a:extLst>
          </p:cNvPr>
          <p:cNvSpPr>
            <a:spLocks noGrp="1"/>
          </p:cNvSpPr>
          <p:nvPr/>
        </p:nvSpPr>
        <p:spPr>
          <a:xfrm>
            <a:off x="6200775" y="24288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F2</a:t>
            </a:r>
          </a:p>
        </p:txBody>
      </p:sp>
      <p:sp>
        <p:nvSpPr>
          <p:cNvPr id="40" name="training-grid-r1-c3">
            <a:extLst>
              <a:ext uri="{FF2B5EF4-FFF2-40B4-BE49-F238E27FC236}">
                <a16:creationId xmlns:a16="http://schemas.microsoft.com/office/drawing/2014/main" id="{C9B1B198-BD4A-4588-910D-863F94DCEC8D}"/>
              </a:ext>
            </a:extLst>
          </p:cNvPr>
          <p:cNvSpPr>
            <a:spLocks noGrp="1"/>
          </p:cNvSpPr>
          <p:nvPr/>
        </p:nvSpPr>
        <p:spPr>
          <a:xfrm>
            <a:off x="6591300" y="24288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F3</a:t>
            </a:r>
          </a:p>
        </p:txBody>
      </p:sp>
      <p:sp>
        <p:nvSpPr>
          <p:cNvPr id="41" name="training-grid-r1-c4">
            <a:extLst>
              <a:ext uri="{FF2B5EF4-FFF2-40B4-BE49-F238E27FC236}">
                <a16:creationId xmlns:a16="http://schemas.microsoft.com/office/drawing/2014/main" id="{DC822D58-48E9-4D22-903C-98D4E920B4E7}"/>
              </a:ext>
            </a:extLst>
          </p:cNvPr>
          <p:cNvSpPr>
            <a:spLocks noGrp="1"/>
          </p:cNvSpPr>
          <p:nvPr/>
        </p:nvSpPr>
        <p:spPr>
          <a:xfrm>
            <a:off x="6981825" y="24288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F4</a:t>
            </a:r>
          </a:p>
        </p:txBody>
      </p:sp>
      <p:sp>
        <p:nvSpPr>
          <p:cNvPr id="42" name="training-grid-r1-c5">
            <a:extLst>
              <a:ext uri="{FF2B5EF4-FFF2-40B4-BE49-F238E27FC236}">
                <a16:creationId xmlns:a16="http://schemas.microsoft.com/office/drawing/2014/main" id="{6BDCEC24-AC29-4C9B-A5E4-6BFA55BCE102}"/>
              </a:ext>
            </a:extLst>
          </p:cNvPr>
          <p:cNvSpPr>
            <a:spLocks noGrp="1"/>
          </p:cNvSpPr>
          <p:nvPr/>
        </p:nvSpPr>
        <p:spPr>
          <a:xfrm>
            <a:off x="7372350" y="24288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43" name="training-grid-r1-c6">
            <a:extLst>
              <a:ext uri="{FF2B5EF4-FFF2-40B4-BE49-F238E27FC236}">
                <a16:creationId xmlns:a16="http://schemas.microsoft.com/office/drawing/2014/main" id="{7F584000-D036-4BD9-983C-4A4614EC6671}"/>
              </a:ext>
            </a:extLst>
          </p:cNvPr>
          <p:cNvSpPr>
            <a:spLocks noGrp="1"/>
          </p:cNvSpPr>
          <p:nvPr/>
        </p:nvSpPr>
        <p:spPr>
          <a:xfrm>
            <a:off x="7762875" y="24288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44" name="training-grid-r1-c7">
            <a:extLst>
              <a:ext uri="{FF2B5EF4-FFF2-40B4-BE49-F238E27FC236}">
                <a16:creationId xmlns:a16="http://schemas.microsoft.com/office/drawing/2014/main" id="{EBDC5788-ACB6-46CE-BA60-D9A4E82CDC24}"/>
              </a:ext>
            </a:extLst>
          </p:cNvPr>
          <p:cNvSpPr>
            <a:spLocks noGrp="1"/>
          </p:cNvSpPr>
          <p:nvPr/>
        </p:nvSpPr>
        <p:spPr>
          <a:xfrm>
            <a:off x="8153400" y="24288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45" name="training-grid-r1-c8">
            <a:extLst>
              <a:ext uri="{FF2B5EF4-FFF2-40B4-BE49-F238E27FC236}">
                <a16:creationId xmlns:a16="http://schemas.microsoft.com/office/drawing/2014/main" id="{9E791108-48F7-456F-8BFD-CF45304DFF95}"/>
              </a:ext>
            </a:extLst>
          </p:cNvPr>
          <p:cNvSpPr>
            <a:spLocks noGrp="1"/>
          </p:cNvSpPr>
          <p:nvPr/>
        </p:nvSpPr>
        <p:spPr>
          <a:xfrm>
            <a:off x="8543925" y="24288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46" name="training-grid-r1-c9">
            <a:extLst>
              <a:ext uri="{FF2B5EF4-FFF2-40B4-BE49-F238E27FC236}">
                <a16:creationId xmlns:a16="http://schemas.microsoft.com/office/drawing/2014/main" id="{0E4815A2-BE50-409D-BEAD-868579D8CFC1}"/>
              </a:ext>
            </a:extLst>
          </p:cNvPr>
          <p:cNvSpPr>
            <a:spLocks noGrp="1"/>
          </p:cNvSpPr>
          <p:nvPr/>
        </p:nvSpPr>
        <p:spPr>
          <a:xfrm>
            <a:off x="8934450" y="24288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47" name="training-grid-r1-c10">
            <a:extLst>
              <a:ext uri="{FF2B5EF4-FFF2-40B4-BE49-F238E27FC236}">
                <a16:creationId xmlns:a16="http://schemas.microsoft.com/office/drawing/2014/main" id="{2A0F99C9-3DA4-4AD4-A60C-5E3276519D14}"/>
              </a:ext>
            </a:extLst>
          </p:cNvPr>
          <p:cNvSpPr>
            <a:spLocks noGrp="1"/>
          </p:cNvSpPr>
          <p:nvPr/>
        </p:nvSpPr>
        <p:spPr>
          <a:xfrm>
            <a:off x="9324975" y="24288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48" name="training-grid-r1-c11">
            <a:extLst>
              <a:ext uri="{FF2B5EF4-FFF2-40B4-BE49-F238E27FC236}">
                <a16:creationId xmlns:a16="http://schemas.microsoft.com/office/drawing/2014/main" id="{ABE00209-90A9-4BFF-97A8-CACF0FD45AF3}"/>
              </a:ext>
            </a:extLst>
          </p:cNvPr>
          <p:cNvSpPr>
            <a:spLocks noGrp="1"/>
          </p:cNvSpPr>
          <p:nvPr/>
        </p:nvSpPr>
        <p:spPr>
          <a:xfrm>
            <a:off x="9715500" y="24288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B4</a:t>
            </a:r>
          </a:p>
        </p:txBody>
      </p:sp>
      <p:sp>
        <p:nvSpPr>
          <p:cNvPr id="49" name="training-grid-r1-c12">
            <a:extLst>
              <a:ext uri="{FF2B5EF4-FFF2-40B4-BE49-F238E27FC236}">
                <a16:creationId xmlns:a16="http://schemas.microsoft.com/office/drawing/2014/main" id="{C9CD362A-6466-4499-846E-E32803689505}"/>
              </a:ext>
            </a:extLst>
          </p:cNvPr>
          <p:cNvSpPr>
            <a:spLocks noGrp="1"/>
          </p:cNvSpPr>
          <p:nvPr/>
        </p:nvSpPr>
        <p:spPr>
          <a:xfrm>
            <a:off x="10106025" y="24288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B3</a:t>
            </a:r>
          </a:p>
        </p:txBody>
      </p:sp>
      <p:sp>
        <p:nvSpPr>
          <p:cNvPr id="50" name="training-grid-r1-c13">
            <a:extLst>
              <a:ext uri="{FF2B5EF4-FFF2-40B4-BE49-F238E27FC236}">
                <a16:creationId xmlns:a16="http://schemas.microsoft.com/office/drawing/2014/main" id="{39BB3B0D-6C2A-4389-8381-86939C9A5B08}"/>
              </a:ext>
            </a:extLst>
          </p:cNvPr>
          <p:cNvSpPr>
            <a:spLocks noGrp="1"/>
          </p:cNvSpPr>
          <p:nvPr/>
        </p:nvSpPr>
        <p:spPr>
          <a:xfrm>
            <a:off x="10496550" y="24288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B2</a:t>
            </a:r>
          </a:p>
        </p:txBody>
      </p:sp>
      <p:sp>
        <p:nvSpPr>
          <p:cNvPr id="51" name="training-grid-r1-c14">
            <a:extLst>
              <a:ext uri="{FF2B5EF4-FFF2-40B4-BE49-F238E27FC236}">
                <a16:creationId xmlns:a16="http://schemas.microsoft.com/office/drawing/2014/main" id="{302E80B9-ECF1-4B25-A9FB-0A07AA394B5C}"/>
              </a:ext>
            </a:extLst>
          </p:cNvPr>
          <p:cNvSpPr>
            <a:spLocks noGrp="1"/>
          </p:cNvSpPr>
          <p:nvPr/>
        </p:nvSpPr>
        <p:spPr>
          <a:xfrm>
            <a:off x="10887075" y="24288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D95514A-CC46-432D-BB64-2872DC329F7E}"/>
              </a:ext>
            </a:extLst>
          </p:cNvPr>
          <p:cNvSpPr>
            <a:spLocks noGrp="1"/>
          </p:cNvSpPr>
          <p:nvPr/>
        </p:nvSpPr>
        <p:spPr>
          <a:xfrm>
            <a:off x="4762500" y="3038475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1</a:t>
            </a:r>
          </a:p>
        </p:txBody>
      </p:sp>
      <p:sp>
        <p:nvSpPr>
          <p:cNvPr id="53" name="training-grid-r2-c1">
            <a:extLst>
              <a:ext uri="{FF2B5EF4-FFF2-40B4-BE49-F238E27FC236}">
                <a16:creationId xmlns:a16="http://schemas.microsoft.com/office/drawing/2014/main" id="{1F86895B-9A27-4132-ADF2-517C6A9A6E10}"/>
              </a:ext>
            </a:extLst>
          </p:cNvPr>
          <p:cNvSpPr>
            <a:spLocks noGrp="1"/>
          </p:cNvSpPr>
          <p:nvPr/>
        </p:nvSpPr>
        <p:spPr>
          <a:xfrm>
            <a:off x="5810250" y="30384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54" name="training-grid-r2-c2">
            <a:extLst>
              <a:ext uri="{FF2B5EF4-FFF2-40B4-BE49-F238E27FC236}">
                <a16:creationId xmlns:a16="http://schemas.microsoft.com/office/drawing/2014/main" id="{C0B6F457-D73E-455F-B593-51CF4F8F52D7}"/>
              </a:ext>
            </a:extLst>
          </p:cNvPr>
          <p:cNvSpPr>
            <a:spLocks noGrp="1"/>
          </p:cNvSpPr>
          <p:nvPr/>
        </p:nvSpPr>
        <p:spPr>
          <a:xfrm>
            <a:off x="6200775" y="30384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F1</a:t>
            </a:r>
          </a:p>
        </p:txBody>
      </p:sp>
      <p:sp>
        <p:nvSpPr>
          <p:cNvPr id="55" name="training-grid-r2-c3">
            <a:extLst>
              <a:ext uri="{FF2B5EF4-FFF2-40B4-BE49-F238E27FC236}">
                <a16:creationId xmlns:a16="http://schemas.microsoft.com/office/drawing/2014/main" id="{5A7B6E92-2D4D-4F1F-B58A-A551BB586611}"/>
              </a:ext>
            </a:extLst>
          </p:cNvPr>
          <p:cNvSpPr>
            <a:spLocks noGrp="1"/>
          </p:cNvSpPr>
          <p:nvPr/>
        </p:nvSpPr>
        <p:spPr>
          <a:xfrm>
            <a:off x="6591300" y="30384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F2</a:t>
            </a:r>
          </a:p>
        </p:txBody>
      </p:sp>
      <p:sp>
        <p:nvSpPr>
          <p:cNvPr id="56" name="training-grid-r2-c4">
            <a:extLst>
              <a:ext uri="{FF2B5EF4-FFF2-40B4-BE49-F238E27FC236}">
                <a16:creationId xmlns:a16="http://schemas.microsoft.com/office/drawing/2014/main" id="{F322099E-B7EB-45AB-AB7A-8F08CB35FDE7}"/>
              </a:ext>
            </a:extLst>
          </p:cNvPr>
          <p:cNvSpPr>
            <a:spLocks noGrp="1"/>
          </p:cNvSpPr>
          <p:nvPr/>
        </p:nvSpPr>
        <p:spPr>
          <a:xfrm>
            <a:off x="6981825" y="30384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F3</a:t>
            </a:r>
          </a:p>
        </p:txBody>
      </p:sp>
      <p:sp>
        <p:nvSpPr>
          <p:cNvPr id="57" name="training-grid-r2-c5">
            <a:extLst>
              <a:ext uri="{FF2B5EF4-FFF2-40B4-BE49-F238E27FC236}">
                <a16:creationId xmlns:a16="http://schemas.microsoft.com/office/drawing/2014/main" id="{77CD2DD7-8CC9-4555-B2FA-3246091DB017}"/>
              </a:ext>
            </a:extLst>
          </p:cNvPr>
          <p:cNvSpPr>
            <a:spLocks noGrp="1"/>
          </p:cNvSpPr>
          <p:nvPr/>
        </p:nvSpPr>
        <p:spPr>
          <a:xfrm>
            <a:off x="7372350" y="30384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F4</a:t>
            </a:r>
          </a:p>
        </p:txBody>
      </p:sp>
      <p:sp>
        <p:nvSpPr>
          <p:cNvPr id="58" name="training-grid-r2-c6">
            <a:extLst>
              <a:ext uri="{FF2B5EF4-FFF2-40B4-BE49-F238E27FC236}">
                <a16:creationId xmlns:a16="http://schemas.microsoft.com/office/drawing/2014/main" id="{867ABAEF-E08E-49DF-A966-882B69A37CE1}"/>
              </a:ext>
            </a:extLst>
          </p:cNvPr>
          <p:cNvSpPr>
            <a:spLocks noGrp="1"/>
          </p:cNvSpPr>
          <p:nvPr/>
        </p:nvSpPr>
        <p:spPr>
          <a:xfrm>
            <a:off x="7762875" y="30384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59" name="training-grid-r2-c7">
            <a:extLst>
              <a:ext uri="{FF2B5EF4-FFF2-40B4-BE49-F238E27FC236}">
                <a16:creationId xmlns:a16="http://schemas.microsoft.com/office/drawing/2014/main" id="{5E69932E-E30F-48BE-B36A-7DF346A36679}"/>
              </a:ext>
            </a:extLst>
          </p:cNvPr>
          <p:cNvSpPr>
            <a:spLocks noGrp="1"/>
          </p:cNvSpPr>
          <p:nvPr/>
        </p:nvSpPr>
        <p:spPr>
          <a:xfrm>
            <a:off x="8153400" y="30384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60" name="training-grid-r2-c8">
            <a:extLst>
              <a:ext uri="{FF2B5EF4-FFF2-40B4-BE49-F238E27FC236}">
                <a16:creationId xmlns:a16="http://schemas.microsoft.com/office/drawing/2014/main" id="{47DA7700-88D4-4206-85B2-77F716126B76}"/>
              </a:ext>
            </a:extLst>
          </p:cNvPr>
          <p:cNvSpPr>
            <a:spLocks noGrp="1"/>
          </p:cNvSpPr>
          <p:nvPr/>
        </p:nvSpPr>
        <p:spPr>
          <a:xfrm>
            <a:off x="8543925" y="30384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61" name="training-grid-r2-c9">
            <a:extLst>
              <a:ext uri="{FF2B5EF4-FFF2-40B4-BE49-F238E27FC236}">
                <a16:creationId xmlns:a16="http://schemas.microsoft.com/office/drawing/2014/main" id="{A64ACD35-2BD6-4E6C-970E-06B7F019BF3C}"/>
              </a:ext>
            </a:extLst>
          </p:cNvPr>
          <p:cNvSpPr>
            <a:spLocks noGrp="1"/>
          </p:cNvSpPr>
          <p:nvPr/>
        </p:nvSpPr>
        <p:spPr>
          <a:xfrm>
            <a:off x="8934450" y="30384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62" name="training-grid-r2-c10">
            <a:extLst>
              <a:ext uri="{FF2B5EF4-FFF2-40B4-BE49-F238E27FC236}">
                <a16:creationId xmlns:a16="http://schemas.microsoft.com/office/drawing/2014/main" id="{30E2C5C8-AEBB-45AB-A75E-244036FE3B5F}"/>
              </a:ext>
            </a:extLst>
          </p:cNvPr>
          <p:cNvSpPr>
            <a:spLocks noGrp="1"/>
          </p:cNvSpPr>
          <p:nvPr/>
        </p:nvSpPr>
        <p:spPr>
          <a:xfrm>
            <a:off x="9324975" y="30384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B4</a:t>
            </a:r>
          </a:p>
        </p:txBody>
      </p:sp>
      <p:sp>
        <p:nvSpPr>
          <p:cNvPr id="63" name="training-grid-r2-c11">
            <a:extLst>
              <a:ext uri="{FF2B5EF4-FFF2-40B4-BE49-F238E27FC236}">
                <a16:creationId xmlns:a16="http://schemas.microsoft.com/office/drawing/2014/main" id="{1F35650D-770B-4248-B88D-0335CFB26FA3}"/>
              </a:ext>
            </a:extLst>
          </p:cNvPr>
          <p:cNvSpPr>
            <a:spLocks noGrp="1"/>
          </p:cNvSpPr>
          <p:nvPr/>
        </p:nvSpPr>
        <p:spPr>
          <a:xfrm>
            <a:off x="9715500" y="30384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B3</a:t>
            </a:r>
          </a:p>
        </p:txBody>
      </p:sp>
      <p:sp>
        <p:nvSpPr>
          <p:cNvPr id="64" name="training-grid-r2-c12">
            <a:extLst>
              <a:ext uri="{FF2B5EF4-FFF2-40B4-BE49-F238E27FC236}">
                <a16:creationId xmlns:a16="http://schemas.microsoft.com/office/drawing/2014/main" id="{999561C7-B4F5-4550-9A03-EAFE4A12EA7C}"/>
              </a:ext>
            </a:extLst>
          </p:cNvPr>
          <p:cNvSpPr>
            <a:spLocks noGrp="1"/>
          </p:cNvSpPr>
          <p:nvPr/>
        </p:nvSpPr>
        <p:spPr>
          <a:xfrm>
            <a:off x="10106025" y="30384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B2</a:t>
            </a:r>
          </a:p>
        </p:txBody>
      </p:sp>
      <p:sp>
        <p:nvSpPr>
          <p:cNvPr id="65" name="training-grid-r2-c13">
            <a:extLst>
              <a:ext uri="{FF2B5EF4-FFF2-40B4-BE49-F238E27FC236}">
                <a16:creationId xmlns:a16="http://schemas.microsoft.com/office/drawing/2014/main" id="{4AC256F5-35CB-4020-8389-9FEB6D63722B}"/>
              </a:ext>
            </a:extLst>
          </p:cNvPr>
          <p:cNvSpPr>
            <a:spLocks noGrp="1"/>
          </p:cNvSpPr>
          <p:nvPr/>
        </p:nvSpPr>
        <p:spPr>
          <a:xfrm>
            <a:off x="10496550" y="30384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B1</a:t>
            </a:r>
          </a:p>
        </p:txBody>
      </p:sp>
      <p:sp>
        <p:nvSpPr>
          <p:cNvPr id="66" name="training-grid-r2-c14">
            <a:extLst>
              <a:ext uri="{FF2B5EF4-FFF2-40B4-BE49-F238E27FC236}">
                <a16:creationId xmlns:a16="http://schemas.microsoft.com/office/drawing/2014/main" id="{3F36DBF6-EAD1-44E1-95AB-51B51CC07753}"/>
              </a:ext>
            </a:extLst>
          </p:cNvPr>
          <p:cNvSpPr>
            <a:spLocks noGrp="1"/>
          </p:cNvSpPr>
          <p:nvPr/>
        </p:nvSpPr>
        <p:spPr>
          <a:xfrm>
            <a:off x="10887075" y="30384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563DDBE-BB97-4644-9CBE-9E13B7847E0F}"/>
              </a:ext>
            </a:extLst>
          </p:cNvPr>
          <p:cNvSpPr>
            <a:spLocks noGrp="1"/>
          </p:cNvSpPr>
          <p:nvPr/>
        </p:nvSpPr>
        <p:spPr>
          <a:xfrm>
            <a:off x="4762500" y="3648075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2</a:t>
            </a:r>
          </a:p>
        </p:txBody>
      </p:sp>
      <p:sp>
        <p:nvSpPr>
          <p:cNvPr id="68" name="training-grid-r3-c1">
            <a:extLst>
              <a:ext uri="{FF2B5EF4-FFF2-40B4-BE49-F238E27FC236}">
                <a16:creationId xmlns:a16="http://schemas.microsoft.com/office/drawing/2014/main" id="{4CAE5AD2-DDC4-4F02-8133-4809822317D9}"/>
              </a:ext>
            </a:extLst>
          </p:cNvPr>
          <p:cNvSpPr>
            <a:spLocks noGrp="1"/>
          </p:cNvSpPr>
          <p:nvPr/>
        </p:nvSpPr>
        <p:spPr>
          <a:xfrm>
            <a:off x="5810250" y="36480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69" name="training-grid-r3-c2">
            <a:extLst>
              <a:ext uri="{FF2B5EF4-FFF2-40B4-BE49-F238E27FC236}">
                <a16:creationId xmlns:a16="http://schemas.microsoft.com/office/drawing/2014/main" id="{537B3150-5499-441F-A757-477BF74B6990}"/>
              </a:ext>
            </a:extLst>
          </p:cNvPr>
          <p:cNvSpPr>
            <a:spLocks noGrp="1"/>
          </p:cNvSpPr>
          <p:nvPr/>
        </p:nvSpPr>
        <p:spPr>
          <a:xfrm>
            <a:off x="6200775" y="36480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70" name="training-grid-r3-c3">
            <a:extLst>
              <a:ext uri="{FF2B5EF4-FFF2-40B4-BE49-F238E27FC236}">
                <a16:creationId xmlns:a16="http://schemas.microsoft.com/office/drawing/2014/main" id="{72302142-DF8D-4DB7-96AC-DAE084AA6EBB}"/>
              </a:ext>
            </a:extLst>
          </p:cNvPr>
          <p:cNvSpPr>
            <a:spLocks noGrp="1"/>
          </p:cNvSpPr>
          <p:nvPr/>
        </p:nvSpPr>
        <p:spPr>
          <a:xfrm>
            <a:off x="6591300" y="36480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F1</a:t>
            </a:r>
          </a:p>
        </p:txBody>
      </p:sp>
      <p:sp>
        <p:nvSpPr>
          <p:cNvPr id="71" name="training-grid-r3-c4">
            <a:extLst>
              <a:ext uri="{FF2B5EF4-FFF2-40B4-BE49-F238E27FC236}">
                <a16:creationId xmlns:a16="http://schemas.microsoft.com/office/drawing/2014/main" id="{98D9DB04-0F43-47E7-AE39-CBDE67A2F32D}"/>
              </a:ext>
            </a:extLst>
          </p:cNvPr>
          <p:cNvSpPr>
            <a:spLocks noGrp="1"/>
          </p:cNvSpPr>
          <p:nvPr/>
        </p:nvSpPr>
        <p:spPr>
          <a:xfrm>
            <a:off x="6981825" y="36480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F2</a:t>
            </a:r>
          </a:p>
        </p:txBody>
      </p:sp>
      <p:sp>
        <p:nvSpPr>
          <p:cNvPr id="72" name="training-grid-r3-c5">
            <a:extLst>
              <a:ext uri="{FF2B5EF4-FFF2-40B4-BE49-F238E27FC236}">
                <a16:creationId xmlns:a16="http://schemas.microsoft.com/office/drawing/2014/main" id="{08D979DE-9C18-4C4E-B5D1-CC0C548FC53A}"/>
              </a:ext>
            </a:extLst>
          </p:cNvPr>
          <p:cNvSpPr>
            <a:spLocks noGrp="1"/>
          </p:cNvSpPr>
          <p:nvPr/>
        </p:nvSpPr>
        <p:spPr>
          <a:xfrm>
            <a:off x="7372350" y="36480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F3</a:t>
            </a:r>
          </a:p>
        </p:txBody>
      </p:sp>
      <p:sp>
        <p:nvSpPr>
          <p:cNvPr id="73" name="training-grid-r3-c6">
            <a:extLst>
              <a:ext uri="{FF2B5EF4-FFF2-40B4-BE49-F238E27FC236}">
                <a16:creationId xmlns:a16="http://schemas.microsoft.com/office/drawing/2014/main" id="{705FB916-580F-4E00-832E-6CF27F67317D}"/>
              </a:ext>
            </a:extLst>
          </p:cNvPr>
          <p:cNvSpPr>
            <a:spLocks noGrp="1"/>
          </p:cNvSpPr>
          <p:nvPr/>
        </p:nvSpPr>
        <p:spPr>
          <a:xfrm>
            <a:off x="7762875" y="36480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F4</a:t>
            </a:r>
          </a:p>
        </p:txBody>
      </p:sp>
      <p:sp>
        <p:nvSpPr>
          <p:cNvPr id="74" name="training-grid-r3-c7">
            <a:extLst>
              <a:ext uri="{FF2B5EF4-FFF2-40B4-BE49-F238E27FC236}">
                <a16:creationId xmlns:a16="http://schemas.microsoft.com/office/drawing/2014/main" id="{9E2CF07B-C8F3-4883-B344-B0A970E60F22}"/>
              </a:ext>
            </a:extLst>
          </p:cNvPr>
          <p:cNvSpPr>
            <a:spLocks noGrp="1"/>
          </p:cNvSpPr>
          <p:nvPr/>
        </p:nvSpPr>
        <p:spPr>
          <a:xfrm>
            <a:off x="8153400" y="36480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75" name="training-grid-r3-c8">
            <a:extLst>
              <a:ext uri="{FF2B5EF4-FFF2-40B4-BE49-F238E27FC236}">
                <a16:creationId xmlns:a16="http://schemas.microsoft.com/office/drawing/2014/main" id="{6EA66AF6-F4FC-4271-B4E2-F455DBC555AD}"/>
              </a:ext>
            </a:extLst>
          </p:cNvPr>
          <p:cNvSpPr>
            <a:spLocks noGrp="1"/>
          </p:cNvSpPr>
          <p:nvPr/>
        </p:nvSpPr>
        <p:spPr>
          <a:xfrm>
            <a:off x="8543925" y="36480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76" name="training-grid-r3-c9">
            <a:extLst>
              <a:ext uri="{FF2B5EF4-FFF2-40B4-BE49-F238E27FC236}">
                <a16:creationId xmlns:a16="http://schemas.microsoft.com/office/drawing/2014/main" id="{04EF121C-5869-4CDD-97FA-3331C68BB436}"/>
              </a:ext>
            </a:extLst>
          </p:cNvPr>
          <p:cNvSpPr>
            <a:spLocks noGrp="1"/>
          </p:cNvSpPr>
          <p:nvPr/>
        </p:nvSpPr>
        <p:spPr>
          <a:xfrm>
            <a:off x="8934450" y="36480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B4</a:t>
            </a:r>
          </a:p>
        </p:txBody>
      </p:sp>
      <p:sp>
        <p:nvSpPr>
          <p:cNvPr id="77" name="training-grid-r3-c10">
            <a:extLst>
              <a:ext uri="{FF2B5EF4-FFF2-40B4-BE49-F238E27FC236}">
                <a16:creationId xmlns:a16="http://schemas.microsoft.com/office/drawing/2014/main" id="{FF963DCA-C535-44EE-B2FE-964E122D40C5}"/>
              </a:ext>
            </a:extLst>
          </p:cNvPr>
          <p:cNvSpPr>
            <a:spLocks noGrp="1"/>
          </p:cNvSpPr>
          <p:nvPr/>
        </p:nvSpPr>
        <p:spPr>
          <a:xfrm>
            <a:off x="9324975" y="36480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B3</a:t>
            </a:r>
          </a:p>
        </p:txBody>
      </p:sp>
      <p:sp>
        <p:nvSpPr>
          <p:cNvPr id="78" name="training-grid-r3-c11">
            <a:extLst>
              <a:ext uri="{FF2B5EF4-FFF2-40B4-BE49-F238E27FC236}">
                <a16:creationId xmlns:a16="http://schemas.microsoft.com/office/drawing/2014/main" id="{E0C6F013-AC11-47FC-B5E5-C57C9DCDCD55}"/>
              </a:ext>
            </a:extLst>
          </p:cNvPr>
          <p:cNvSpPr>
            <a:spLocks noGrp="1"/>
          </p:cNvSpPr>
          <p:nvPr/>
        </p:nvSpPr>
        <p:spPr>
          <a:xfrm>
            <a:off x="9715500" y="36480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B2</a:t>
            </a:r>
          </a:p>
        </p:txBody>
      </p:sp>
      <p:sp>
        <p:nvSpPr>
          <p:cNvPr id="79" name="training-grid-r3-c12">
            <a:extLst>
              <a:ext uri="{FF2B5EF4-FFF2-40B4-BE49-F238E27FC236}">
                <a16:creationId xmlns:a16="http://schemas.microsoft.com/office/drawing/2014/main" id="{9E8F888B-0C15-4FA2-9ADC-692CCE987829}"/>
              </a:ext>
            </a:extLst>
          </p:cNvPr>
          <p:cNvSpPr>
            <a:spLocks noGrp="1"/>
          </p:cNvSpPr>
          <p:nvPr/>
        </p:nvSpPr>
        <p:spPr>
          <a:xfrm>
            <a:off x="10106025" y="36480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B1</a:t>
            </a:r>
          </a:p>
        </p:txBody>
      </p:sp>
      <p:sp>
        <p:nvSpPr>
          <p:cNvPr id="80" name="training-grid-r3-c13">
            <a:extLst>
              <a:ext uri="{FF2B5EF4-FFF2-40B4-BE49-F238E27FC236}">
                <a16:creationId xmlns:a16="http://schemas.microsoft.com/office/drawing/2014/main" id="{C89A129F-47D4-4766-82C9-B37791867629}"/>
              </a:ext>
            </a:extLst>
          </p:cNvPr>
          <p:cNvSpPr>
            <a:spLocks noGrp="1"/>
          </p:cNvSpPr>
          <p:nvPr/>
        </p:nvSpPr>
        <p:spPr>
          <a:xfrm>
            <a:off x="10496550" y="36480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81" name="training-grid-r3-c14">
            <a:extLst>
              <a:ext uri="{FF2B5EF4-FFF2-40B4-BE49-F238E27FC236}">
                <a16:creationId xmlns:a16="http://schemas.microsoft.com/office/drawing/2014/main" id="{E6B7D8A7-2556-450D-A8B8-3BA9C60B2FA6}"/>
              </a:ext>
            </a:extLst>
          </p:cNvPr>
          <p:cNvSpPr>
            <a:spLocks noGrp="1"/>
          </p:cNvSpPr>
          <p:nvPr/>
        </p:nvSpPr>
        <p:spPr>
          <a:xfrm>
            <a:off x="10887075" y="36480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71E2F16-22C7-494C-BDF3-0C67D6BECFA9}"/>
              </a:ext>
            </a:extLst>
          </p:cNvPr>
          <p:cNvSpPr>
            <a:spLocks noGrp="1"/>
          </p:cNvSpPr>
          <p:nvPr/>
        </p:nvSpPr>
        <p:spPr>
          <a:xfrm>
            <a:off x="4762500" y="4257675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3</a:t>
            </a:r>
          </a:p>
        </p:txBody>
      </p:sp>
      <p:sp>
        <p:nvSpPr>
          <p:cNvPr id="83" name="training-grid-r4-c1">
            <a:extLst>
              <a:ext uri="{FF2B5EF4-FFF2-40B4-BE49-F238E27FC236}">
                <a16:creationId xmlns:a16="http://schemas.microsoft.com/office/drawing/2014/main" id="{415CE4F2-68DA-444D-B023-06D28C6A03CE}"/>
              </a:ext>
            </a:extLst>
          </p:cNvPr>
          <p:cNvSpPr>
            <a:spLocks noGrp="1"/>
          </p:cNvSpPr>
          <p:nvPr/>
        </p:nvSpPr>
        <p:spPr>
          <a:xfrm>
            <a:off x="5810250" y="42576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84" name="training-grid-r4-c2">
            <a:extLst>
              <a:ext uri="{FF2B5EF4-FFF2-40B4-BE49-F238E27FC236}">
                <a16:creationId xmlns:a16="http://schemas.microsoft.com/office/drawing/2014/main" id="{FDD8AE62-5F69-419E-B3C7-E0D843F4A540}"/>
              </a:ext>
            </a:extLst>
          </p:cNvPr>
          <p:cNvSpPr>
            <a:spLocks noGrp="1"/>
          </p:cNvSpPr>
          <p:nvPr/>
        </p:nvSpPr>
        <p:spPr>
          <a:xfrm>
            <a:off x="6200775" y="42576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85" name="training-grid-r4-c3">
            <a:extLst>
              <a:ext uri="{FF2B5EF4-FFF2-40B4-BE49-F238E27FC236}">
                <a16:creationId xmlns:a16="http://schemas.microsoft.com/office/drawing/2014/main" id="{7B23FD52-5BCF-4C29-93D7-4B756C69A911}"/>
              </a:ext>
            </a:extLst>
          </p:cNvPr>
          <p:cNvSpPr>
            <a:spLocks noGrp="1"/>
          </p:cNvSpPr>
          <p:nvPr/>
        </p:nvSpPr>
        <p:spPr>
          <a:xfrm>
            <a:off x="6591300" y="42576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86" name="training-grid-r4-c4">
            <a:extLst>
              <a:ext uri="{FF2B5EF4-FFF2-40B4-BE49-F238E27FC236}">
                <a16:creationId xmlns:a16="http://schemas.microsoft.com/office/drawing/2014/main" id="{05B4AA22-2A78-4868-B419-AA8E8C5393D7}"/>
              </a:ext>
            </a:extLst>
          </p:cNvPr>
          <p:cNvSpPr>
            <a:spLocks noGrp="1"/>
          </p:cNvSpPr>
          <p:nvPr/>
        </p:nvSpPr>
        <p:spPr>
          <a:xfrm>
            <a:off x="6981825" y="42576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F1</a:t>
            </a:r>
          </a:p>
        </p:txBody>
      </p:sp>
      <p:sp>
        <p:nvSpPr>
          <p:cNvPr id="87" name="training-grid-r4-c5">
            <a:extLst>
              <a:ext uri="{FF2B5EF4-FFF2-40B4-BE49-F238E27FC236}">
                <a16:creationId xmlns:a16="http://schemas.microsoft.com/office/drawing/2014/main" id="{E8F23665-5B0E-4543-8515-29C564FB8BE4}"/>
              </a:ext>
            </a:extLst>
          </p:cNvPr>
          <p:cNvSpPr>
            <a:spLocks noGrp="1"/>
          </p:cNvSpPr>
          <p:nvPr/>
        </p:nvSpPr>
        <p:spPr>
          <a:xfrm>
            <a:off x="7372350" y="42576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F2</a:t>
            </a:r>
          </a:p>
        </p:txBody>
      </p:sp>
      <p:sp>
        <p:nvSpPr>
          <p:cNvPr id="88" name="training-grid-r4-c6">
            <a:extLst>
              <a:ext uri="{FF2B5EF4-FFF2-40B4-BE49-F238E27FC236}">
                <a16:creationId xmlns:a16="http://schemas.microsoft.com/office/drawing/2014/main" id="{43CF3FBA-A776-44A9-B81A-2666BD2592B1}"/>
              </a:ext>
            </a:extLst>
          </p:cNvPr>
          <p:cNvSpPr>
            <a:spLocks noGrp="1"/>
          </p:cNvSpPr>
          <p:nvPr/>
        </p:nvSpPr>
        <p:spPr>
          <a:xfrm>
            <a:off x="7762875" y="42576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F3</a:t>
            </a:r>
          </a:p>
        </p:txBody>
      </p:sp>
      <p:sp>
        <p:nvSpPr>
          <p:cNvPr id="89" name="training-grid-r4-c7">
            <a:extLst>
              <a:ext uri="{FF2B5EF4-FFF2-40B4-BE49-F238E27FC236}">
                <a16:creationId xmlns:a16="http://schemas.microsoft.com/office/drawing/2014/main" id="{59104B4F-7A28-442F-9780-D912FFA8DD31}"/>
              </a:ext>
            </a:extLst>
          </p:cNvPr>
          <p:cNvSpPr>
            <a:spLocks noGrp="1"/>
          </p:cNvSpPr>
          <p:nvPr/>
        </p:nvSpPr>
        <p:spPr>
          <a:xfrm>
            <a:off x="8153400" y="4257675"/>
            <a:ext cx="361950" cy="4953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F4</a:t>
            </a:r>
          </a:p>
        </p:txBody>
      </p:sp>
      <p:sp>
        <p:nvSpPr>
          <p:cNvPr id="90" name="training-grid-r4-c8">
            <a:extLst>
              <a:ext uri="{FF2B5EF4-FFF2-40B4-BE49-F238E27FC236}">
                <a16:creationId xmlns:a16="http://schemas.microsoft.com/office/drawing/2014/main" id="{B583164B-0FF6-4A16-8724-4F5A4B8675FF}"/>
              </a:ext>
            </a:extLst>
          </p:cNvPr>
          <p:cNvSpPr>
            <a:spLocks noGrp="1"/>
          </p:cNvSpPr>
          <p:nvPr/>
        </p:nvSpPr>
        <p:spPr>
          <a:xfrm>
            <a:off x="8543925" y="42576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B4</a:t>
            </a:r>
          </a:p>
        </p:txBody>
      </p:sp>
      <p:sp>
        <p:nvSpPr>
          <p:cNvPr id="91" name="training-grid-r4-c9">
            <a:extLst>
              <a:ext uri="{FF2B5EF4-FFF2-40B4-BE49-F238E27FC236}">
                <a16:creationId xmlns:a16="http://schemas.microsoft.com/office/drawing/2014/main" id="{7936E762-6BD2-4DC2-9EBD-CD41E6A20467}"/>
              </a:ext>
            </a:extLst>
          </p:cNvPr>
          <p:cNvSpPr>
            <a:spLocks noGrp="1"/>
          </p:cNvSpPr>
          <p:nvPr/>
        </p:nvSpPr>
        <p:spPr>
          <a:xfrm>
            <a:off x="8934450" y="42576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B3</a:t>
            </a:r>
          </a:p>
        </p:txBody>
      </p:sp>
      <p:sp>
        <p:nvSpPr>
          <p:cNvPr id="92" name="training-grid-r4-c10">
            <a:extLst>
              <a:ext uri="{FF2B5EF4-FFF2-40B4-BE49-F238E27FC236}">
                <a16:creationId xmlns:a16="http://schemas.microsoft.com/office/drawing/2014/main" id="{C8036442-F2AF-4871-83DB-E3972C745B53}"/>
              </a:ext>
            </a:extLst>
          </p:cNvPr>
          <p:cNvSpPr>
            <a:spLocks noGrp="1"/>
          </p:cNvSpPr>
          <p:nvPr/>
        </p:nvSpPr>
        <p:spPr>
          <a:xfrm>
            <a:off x="9324975" y="42576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B2</a:t>
            </a:r>
          </a:p>
        </p:txBody>
      </p:sp>
      <p:sp>
        <p:nvSpPr>
          <p:cNvPr id="93" name="training-grid-r4-c11">
            <a:extLst>
              <a:ext uri="{FF2B5EF4-FFF2-40B4-BE49-F238E27FC236}">
                <a16:creationId xmlns:a16="http://schemas.microsoft.com/office/drawing/2014/main" id="{F9719975-7C5E-4DE5-A1B2-BBF56A369455}"/>
              </a:ext>
            </a:extLst>
          </p:cNvPr>
          <p:cNvSpPr>
            <a:spLocks noGrp="1"/>
          </p:cNvSpPr>
          <p:nvPr/>
        </p:nvSpPr>
        <p:spPr>
          <a:xfrm>
            <a:off x="9715500" y="4257675"/>
            <a:ext cx="361950" cy="4953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B1</a:t>
            </a:r>
          </a:p>
        </p:txBody>
      </p:sp>
      <p:sp>
        <p:nvSpPr>
          <p:cNvPr id="94" name="training-grid-r4-c12">
            <a:extLst>
              <a:ext uri="{FF2B5EF4-FFF2-40B4-BE49-F238E27FC236}">
                <a16:creationId xmlns:a16="http://schemas.microsoft.com/office/drawing/2014/main" id="{6A2DFA9C-6B3A-4312-A036-373A21EDB549}"/>
              </a:ext>
            </a:extLst>
          </p:cNvPr>
          <p:cNvSpPr>
            <a:spLocks noGrp="1"/>
          </p:cNvSpPr>
          <p:nvPr/>
        </p:nvSpPr>
        <p:spPr>
          <a:xfrm>
            <a:off x="10106025" y="42576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95" name="training-grid-r4-c13">
            <a:extLst>
              <a:ext uri="{FF2B5EF4-FFF2-40B4-BE49-F238E27FC236}">
                <a16:creationId xmlns:a16="http://schemas.microsoft.com/office/drawing/2014/main" id="{08DC44F9-6EB0-49BC-9547-45D576EB4F7C}"/>
              </a:ext>
            </a:extLst>
          </p:cNvPr>
          <p:cNvSpPr>
            <a:spLocks noGrp="1"/>
          </p:cNvSpPr>
          <p:nvPr/>
        </p:nvSpPr>
        <p:spPr>
          <a:xfrm>
            <a:off x="10496550" y="42576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96" name="training-grid-r4-c14">
            <a:extLst>
              <a:ext uri="{FF2B5EF4-FFF2-40B4-BE49-F238E27FC236}">
                <a16:creationId xmlns:a16="http://schemas.microsoft.com/office/drawing/2014/main" id="{0FBD34DF-949F-4726-AFB9-612813E394A8}"/>
              </a:ext>
            </a:extLst>
          </p:cNvPr>
          <p:cNvSpPr>
            <a:spLocks noGrp="1"/>
          </p:cNvSpPr>
          <p:nvPr/>
        </p:nvSpPr>
        <p:spPr>
          <a:xfrm>
            <a:off x="10887075" y="4257675"/>
            <a:ext cx="361950" cy="4953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0590A33-CFC9-407E-B1E6-A6804093EA56}"/>
              </a:ext>
            </a:extLst>
          </p:cNvPr>
          <p:cNvSpPr>
            <a:spLocks noGrp="1"/>
          </p:cNvSpPr>
          <p:nvPr/>
        </p:nvSpPr>
        <p:spPr>
          <a:xfrm>
            <a:off x="5810250" y="4953000"/>
            <a:ext cx="270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FORWARD SWEEP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CE45043-79D8-4AB7-9A3F-F7F92EEA58FE}"/>
              </a:ext>
            </a:extLst>
          </p:cNvPr>
          <p:cNvSpPr>
            <a:spLocks noGrp="1"/>
          </p:cNvSpPr>
          <p:nvPr/>
        </p:nvSpPr>
        <p:spPr>
          <a:xfrm>
            <a:off x="8543925" y="4953000"/>
            <a:ext cx="270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BACKWARD SWEEP</a:t>
            </a:r>
          </a:p>
        </p:txBody>
      </p:sp>
      <p:sp>
        <p:nvSpPr>
          <p:cNvPr id="99" name="legend-forward-swatch">
            <a:extLst>
              <a:ext uri="{FF2B5EF4-FFF2-40B4-BE49-F238E27FC236}">
                <a16:creationId xmlns:a16="http://schemas.microsoft.com/office/drawing/2014/main" id="{0E5206E9-FFFA-4B5A-A519-1897F99389C1}"/>
              </a:ext>
            </a:extLst>
          </p:cNvPr>
          <p:cNvSpPr>
            <a:spLocks noGrp="1"/>
          </p:cNvSpPr>
          <p:nvPr/>
        </p:nvSpPr>
        <p:spPr>
          <a:xfrm>
            <a:off x="4762500" y="5334000"/>
            <a:ext cx="266700" cy="266700"/>
          </a:xfrm>
          <a:prstGeom prst="rect">
            <a:avLst/>
          </a:prstGeom>
          <a:solidFill>
            <a:srgbClr val="F6E5DB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3B52318-95D0-4561-9E1A-6E3D0CF05863}"/>
              </a:ext>
            </a:extLst>
          </p:cNvPr>
          <p:cNvSpPr>
            <a:spLocks noGrp="1"/>
          </p:cNvSpPr>
          <p:nvPr/>
        </p:nvSpPr>
        <p:spPr>
          <a:xfrm>
            <a:off x="5105400" y="5295900"/>
            <a:ext cx="933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forward</a:t>
            </a:r>
          </a:p>
        </p:txBody>
      </p:sp>
      <p:sp>
        <p:nvSpPr>
          <p:cNvPr id="101" name="legend-backward-swatch">
            <a:extLst>
              <a:ext uri="{FF2B5EF4-FFF2-40B4-BE49-F238E27FC236}">
                <a16:creationId xmlns:a16="http://schemas.microsoft.com/office/drawing/2014/main" id="{A9C9B78F-4D6B-4DCE-B5F9-35C3DEEB8878}"/>
              </a:ext>
            </a:extLst>
          </p:cNvPr>
          <p:cNvSpPr>
            <a:spLocks noGrp="1"/>
          </p:cNvSpPr>
          <p:nvPr/>
        </p:nvSpPr>
        <p:spPr>
          <a:xfrm>
            <a:off x="6143625" y="5334000"/>
            <a:ext cx="266700" cy="266700"/>
          </a:xfrm>
          <a:prstGeom prst="rect">
            <a:avLst/>
          </a:prstGeom>
          <a:solidFill>
            <a:srgbClr val="DB6C30"/>
          </a:solidFill>
          <a:ln w="14288">
            <a:solidFill>
              <a:srgbClr val="DB6C30"/>
            </a:solidFill>
            <a:prstDash val="solid"/>
          </a:ln>
        </p:spPr>
        <p:txBody>
          <a:bodyPr lIns="9525" tIns="9525" rIns="9525" bIns="9525" anchor="ctr"/>
          <a:lstStyle/>
          <a:p>
            <a:pPr algn="ctr"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B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48B7C16-305F-4C55-9958-AD2ECE193FEA}"/>
              </a:ext>
            </a:extLst>
          </p:cNvPr>
          <p:cNvSpPr>
            <a:spLocks noGrp="1"/>
          </p:cNvSpPr>
          <p:nvPr/>
        </p:nvSpPr>
        <p:spPr>
          <a:xfrm>
            <a:off x="6486525" y="5295900"/>
            <a:ext cx="1066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backward</a:t>
            </a:r>
          </a:p>
        </p:txBody>
      </p:sp>
      <p:sp>
        <p:nvSpPr>
          <p:cNvPr id="103" name="legend-idle-swatch">
            <a:extLst>
              <a:ext uri="{FF2B5EF4-FFF2-40B4-BE49-F238E27FC236}">
                <a16:creationId xmlns:a16="http://schemas.microsoft.com/office/drawing/2014/main" id="{6A988FA0-F17F-4B9D-9B5E-081BE5E46606}"/>
              </a:ext>
            </a:extLst>
          </p:cNvPr>
          <p:cNvSpPr>
            <a:spLocks noGrp="1"/>
          </p:cNvSpPr>
          <p:nvPr/>
        </p:nvSpPr>
        <p:spPr>
          <a:xfrm>
            <a:off x="7677150" y="5334000"/>
            <a:ext cx="266700" cy="266700"/>
          </a:xfrm>
          <a:prstGeom prst="rect">
            <a:avLst/>
          </a:prstGeom>
          <a:solidFill>
            <a:srgbClr val="E7E9EE"/>
          </a:solidFill>
          <a:ln w="9525">
            <a:solidFill>
              <a:srgbClr val="C7CBD2"/>
            </a:solidFill>
            <a:prstDash val="solid"/>
          </a:ln>
        </p:spPr>
        <p:txBody>
          <a:bodyPr lIns="9525" tIns="9525" rIns="9525" bIns="9525" anchor="ctr"/>
          <a:lstStyle/>
          <a:p>
            <a:endParaRPr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30CD280-CCDC-4C31-A3CD-5933387EBAFC}"/>
              </a:ext>
            </a:extLst>
          </p:cNvPr>
          <p:cNvSpPr>
            <a:spLocks noGrp="1"/>
          </p:cNvSpPr>
          <p:nvPr/>
        </p:nvSpPr>
        <p:spPr>
          <a:xfrm>
            <a:off x="8020050" y="5295900"/>
            <a:ext cx="135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bubble / idle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B75D2164-0A84-4AA7-81E8-CA0106CF3ED0}"/>
              </a:ext>
            </a:extLst>
          </p:cNvPr>
          <p:cNvSpPr>
            <a:spLocks noGrp="1"/>
          </p:cNvSpPr>
          <p:nvPr/>
        </p:nvSpPr>
        <p:spPr>
          <a:xfrm>
            <a:off x="9429750" y="525780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r"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32 / 56 slots busy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CP divides the sequence across workers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A58DA2A-B818-18A9-29C1-B697728D5BCE}" type="slidenum">
              <a:t>15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885AEF-E7E5-42C9-A6AA-0B1B5C68F28C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DIVIDES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9875DF-4E6D-4950-9F9E-DD7A14C9356F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Tokens along the sequence dimension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34BE04-55A9-496F-BF06-ED1C2411AB8D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A34D7A-3C95-479E-8C8D-04A402BDFB21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HOW IT WORKS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C5858F-A296-4BB6-AF24-C9C59042B432}"/>
              </a:ext>
            </a:extLst>
          </p:cNvPr>
          <p:cNvSpPr>
            <a:spLocks noGrp="1"/>
          </p:cNvSpPr>
          <p:nvPr/>
        </p:nvSpPr>
        <p:spPr>
          <a:xfrm>
            <a:off x="685800" y="2886075"/>
            <a:ext cx="3238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Each worker computes a sequence chunk. Attention exchanges K/V information across chunks.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618ABA-3E47-4E65-B971-63C1C539DE8D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DCD0D0-9412-4B40-854A-23C78C767CBC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MAIN COST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9533B1-45CF-4D12-9368-F54F07CCB361}"/>
              </a:ext>
            </a:extLst>
          </p:cNvPr>
          <p:cNvSpPr>
            <a:spLocks noGrp="1"/>
          </p:cNvSpPr>
          <p:nvPr/>
        </p:nvSpPr>
        <p:spPr>
          <a:xfrm>
            <a:off x="685800" y="4295775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Communication inside attention; weights remain replicated across CP ranks.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892429-E155-4B4E-A1E5-D9C067EAD272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Use when: long-context activations or KV cache dominate memory.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E32DF7-D89D-4A22-820A-0D4F8320E56C}"/>
              </a:ext>
            </a:extLst>
          </p:cNvPr>
          <p:cNvSpPr>
            <a:spLocks noGrp="1"/>
          </p:cNvSpPr>
          <p:nvPr/>
        </p:nvSpPr>
        <p:spPr>
          <a:xfrm>
            <a:off x="4238625" y="1476375"/>
            <a:ext cx="9525" cy="409575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E815DCB6-268C-402C-AF16-4EDE4424330C}"/>
              </a:ext>
            </a:extLst>
          </p:cNvPr>
          <p:cNvSpPr>
            <a:spLocks noGrp="1"/>
          </p:cNvSpPr>
          <p:nvPr/>
        </p:nvSpPr>
        <p:spPr>
          <a:xfrm>
            <a:off x="5429250" y="2143125"/>
            <a:ext cx="9525" cy="8096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C146EADC-AC67-4231-88C4-4D53F454AFAB}"/>
              </a:ext>
            </a:extLst>
          </p:cNvPr>
          <p:cNvSpPr>
            <a:spLocks noGrp="1"/>
          </p:cNvSpPr>
          <p:nvPr/>
        </p:nvSpPr>
        <p:spPr>
          <a:xfrm>
            <a:off x="7048500" y="2143125"/>
            <a:ext cx="9525" cy="8096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EB81A9E8-D096-4A64-B9D3-49C4202766C6}"/>
              </a:ext>
            </a:extLst>
          </p:cNvPr>
          <p:cNvSpPr>
            <a:spLocks noGrp="1"/>
          </p:cNvSpPr>
          <p:nvPr/>
        </p:nvSpPr>
        <p:spPr>
          <a:xfrm>
            <a:off x="8667750" y="2143125"/>
            <a:ext cx="9525" cy="8096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48420664-612C-414A-8D94-D91B22AD50DE}"/>
              </a:ext>
            </a:extLst>
          </p:cNvPr>
          <p:cNvSpPr>
            <a:spLocks noGrp="1"/>
          </p:cNvSpPr>
          <p:nvPr/>
        </p:nvSpPr>
        <p:spPr>
          <a:xfrm>
            <a:off x="10287000" y="2143125"/>
            <a:ext cx="9525" cy="8096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CBA98EED-919E-47F6-8715-42A4DA121757}"/>
              </a:ext>
            </a:extLst>
          </p:cNvPr>
          <p:cNvSpPr>
            <a:spLocks noGrp="1"/>
          </p:cNvSpPr>
          <p:nvPr/>
        </p:nvSpPr>
        <p:spPr>
          <a:xfrm>
            <a:off x="5429250" y="4524375"/>
            <a:ext cx="4857750" cy="952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0DEECBA-EA96-49C5-BDE3-F4615C0AABFC}"/>
              </a:ext>
            </a:extLst>
          </p:cNvPr>
          <p:cNvSpPr>
            <a:spLocks noGrp="1"/>
          </p:cNvSpPr>
          <p:nvPr/>
        </p:nvSpPr>
        <p:spPr>
          <a:xfrm>
            <a:off x="6334125" y="1476375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ONE SEQUENCE SPLIT INTO CHUNKS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067F0A-85DA-479E-8395-5503FCFDEFD1}"/>
              </a:ext>
            </a:extLst>
          </p:cNvPr>
          <p:cNvSpPr>
            <a:spLocks noGrp="1"/>
          </p:cNvSpPr>
          <p:nvPr/>
        </p:nvSpPr>
        <p:spPr>
          <a:xfrm>
            <a:off x="4762500" y="1857375"/>
            <a:ext cx="304800" cy="304800"/>
          </a:xfrm>
          <a:prstGeom prst="rect">
            <a:avLst/>
          </a:prstGeom>
          <a:solidFill>
            <a:srgbClr val="F6E5DB"/>
          </a:solidFill>
          <a:ln w="9525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DD1769-E1A4-483F-A270-E50A34C1C7BE}"/>
              </a:ext>
            </a:extLst>
          </p:cNvPr>
          <p:cNvSpPr>
            <a:spLocks noGrp="1"/>
          </p:cNvSpPr>
          <p:nvPr/>
        </p:nvSpPr>
        <p:spPr>
          <a:xfrm>
            <a:off x="5162550" y="1857375"/>
            <a:ext cx="304800" cy="304800"/>
          </a:xfrm>
          <a:prstGeom prst="rect">
            <a:avLst/>
          </a:prstGeom>
          <a:solidFill>
            <a:srgbClr val="F6E5DB"/>
          </a:solidFill>
          <a:ln w="9525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867734A-26FE-4C1C-A7C8-C4823291A326}"/>
              </a:ext>
            </a:extLst>
          </p:cNvPr>
          <p:cNvSpPr>
            <a:spLocks noGrp="1"/>
          </p:cNvSpPr>
          <p:nvPr/>
        </p:nvSpPr>
        <p:spPr>
          <a:xfrm>
            <a:off x="5562600" y="1857375"/>
            <a:ext cx="304800" cy="304800"/>
          </a:xfrm>
          <a:prstGeom prst="rect">
            <a:avLst/>
          </a:prstGeom>
          <a:solidFill>
            <a:srgbClr val="F6E5DB"/>
          </a:solidFill>
          <a:ln w="9525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65C29E-DEF8-45B9-B730-49F4E9612774}"/>
              </a:ext>
            </a:extLst>
          </p:cNvPr>
          <p:cNvSpPr>
            <a:spLocks noGrp="1"/>
          </p:cNvSpPr>
          <p:nvPr/>
        </p:nvSpPr>
        <p:spPr>
          <a:xfrm>
            <a:off x="5962650" y="1857375"/>
            <a:ext cx="304800" cy="304800"/>
          </a:xfrm>
          <a:prstGeom prst="rect">
            <a:avLst/>
          </a:prstGeom>
          <a:solidFill>
            <a:srgbClr val="F6E5DB"/>
          </a:solidFill>
          <a:ln w="9525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185938-4C5D-423B-9B12-0850FA254481}"/>
              </a:ext>
            </a:extLst>
          </p:cNvPr>
          <p:cNvSpPr>
            <a:spLocks noGrp="1"/>
          </p:cNvSpPr>
          <p:nvPr/>
        </p:nvSpPr>
        <p:spPr>
          <a:xfrm>
            <a:off x="6362700" y="1857375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2798A4-55D0-4E9D-9C10-51478FF86CC9}"/>
              </a:ext>
            </a:extLst>
          </p:cNvPr>
          <p:cNvSpPr>
            <a:spLocks noGrp="1"/>
          </p:cNvSpPr>
          <p:nvPr/>
        </p:nvSpPr>
        <p:spPr>
          <a:xfrm>
            <a:off x="6762750" y="1857375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91EBA86-93AD-4E7F-9458-588C4A18C766}"/>
              </a:ext>
            </a:extLst>
          </p:cNvPr>
          <p:cNvSpPr>
            <a:spLocks noGrp="1"/>
          </p:cNvSpPr>
          <p:nvPr/>
        </p:nvSpPr>
        <p:spPr>
          <a:xfrm>
            <a:off x="7162800" y="1857375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A79EF6C-D8FF-4194-8693-CFA094E0664E}"/>
              </a:ext>
            </a:extLst>
          </p:cNvPr>
          <p:cNvSpPr>
            <a:spLocks noGrp="1"/>
          </p:cNvSpPr>
          <p:nvPr/>
        </p:nvSpPr>
        <p:spPr>
          <a:xfrm>
            <a:off x="7562850" y="1857375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2F8D5EA-6AFC-47A3-9DCC-3694EC59D57B}"/>
              </a:ext>
            </a:extLst>
          </p:cNvPr>
          <p:cNvSpPr>
            <a:spLocks noGrp="1"/>
          </p:cNvSpPr>
          <p:nvPr/>
        </p:nvSpPr>
        <p:spPr>
          <a:xfrm>
            <a:off x="7962900" y="1857375"/>
            <a:ext cx="304800" cy="304800"/>
          </a:xfrm>
          <a:prstGeom prst="rect">
            <a:avLst/>
          </a:prstGeom>
          <a:solidFill>
            <a:srgbClr val="F6E5DB"/>
          </a:solidFill>
          <a:ln w="9525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631B950-85A2-440A-B27C-41119D870303}"/>
              </a:ext>
            </a:extLst>
          </p:cNvPr>
          <p:cNvSpPr>
            <a:spLocks noGrp="1"/>
          </p:cNvSpPr>
          <p:nvPr/>
        </p:nvSpPr>
        <p:spPr>
          <a:xfrm>
            <a:off x="8362950" y="1857375"/>
            <a:ext cx="304800" cy="304800"/>
          </a:xfrm>
          <a:prstGeom prst="rect">
            <a:avLst/>
          </a:prstGeom>
          <a:solidFill>
            <a:srgbClr val="F6E5DB"/>
          </a:solidFill>
          <a:ln w="9525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C0DC62E-0720-49FE-A50C-90F303144F77}"/>
              </a:ext>
            </a:extLst>
          </p:cNvPr>
          <p:cNvSpPr>
            <a:spLocks noGrp="1"/>
          </p:cNvSpPr>
          <p:nvPr/>
        </p:nvSpPr>
        <p:spPr>
          <a:xfrm>
            <a:off x="8763000" y="1857375"/>
            <a:ext cx="304800" cy="304800"/>
          </a:xfrm>
          <a:prstGeom prst="rect">
            <a:avLst/>
          </a:prstGeom>
          <a:solidFill>
            <a:srgbClr val="F6E5DB"/>
          </a:solidFill>
          <a:ln w="9525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6031E88-C15B-46A4-8AAD-D77C3B0E8763}"/>
              </a:ext>
            </a:extLst>
          </p:cNvPr>
          <p:cNvSpPr>
            <a:spLocks noGrp="1"/>
          </p:cNvSpPr>
          <p:nvPr/>
        </p:nvSpPr>
        <p:spPr>
          <a:xfrm>
            <a:off x="9163050" y="1857375"/>
            <a:ext cx="304800" cy="304800"/>
          </a:xfrm>
          <a:prstGeom prst="rect">
            <a:avLst/>
          </a:prstGeom>
          <a:solidFill>
            <a:srgbClr val="F6E5DB"/>
          </a:solidFill>
          <a:ln w="9525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1E97F72-A93A-400A-94F7-46230D6E6E4B}"/>
              </a:ext>
            </a:extLst>
          </p:cNvPr>
          <p:cNvSpPr>
            <a:spLocks noGrp="1"/>
          </p:cNvSpPr>
          <p:nvPr/>
        </p:nvSpPr>
        <p:spPr>
          <a:xfrm>
            <a:off x="9563100" y="1857375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7C7FC1-8FDB-4D76-9357-E4071AA4975D}"/>
              </a:ext>
            </a:extLst>
          </p:cNvPr>
          <p:cNvSpPr>
            <a:spLocks noGrp="1"/>
          </p:cNvSpPr>
          <p:nvPr/>
        </p:nvSpPr>
        <p:spPr>
          <a:xfrm>
            <a:off x="9963150" y="1857375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C32EE02-7014-4FAE-85B9-2B4CA4915BC9}"/>
              </a:ext>
            </a:extLst>
          </p:cNvPr>
          <p:cNvSpPr>
            <a:spLocks noGrp="1"/>
          </p:cNvSpPr>
          <p:nvPr/>
        </p:nvSpPr>
        <p:spPr>
          <a:xfrm>
            <a:off x="10363200" y="1857375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11F4AB7-0471-4B5F-B024-B74B60624375}"/>
              </a:ext>
            </a:extLst>
          </p:cNvPr>
          <p:cNvSpPr>
            <a:spLocks noGrp="1"/>
          </p:cNvSpPr>
          <p:nvPr/>
        </p:nvSpPr>
        <p:spPr>
          <a:xfrm>
            <a:off x="10763250" y="1857375"/>
            <a:ext cx="30480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83A461F-9A21-4432-BB1A-37080DA38362}"/>
              </a:ext>
            </a:extLst>
          </p:cNvPr>
          <p:cNvSpPr>
            <a:spLocks noGrp="1"/>
          </p:cNvSpPr>
          <p:nvPr/>
        </p:nvSpPr>
        <p:spPr>
          <a:xfrm>
            <a:off x="4762500" y="2952750"/>
            <a:ext cx="1333500" cy="1381125"/>
          </a:xfrm>
          <a:prstGeom prst="rect">
            <a:avLst/>
          </a:prstGeom>
          <a:noFill/>
          <a:ln w="14288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9F024C6-026D-421C-A1BA-A78CD8394899}"/>
              </a:ext>
            </a:extLst>
          </p:cNvPr>
          <p:cNvSpPr>
            <a:spLocks noGrp="1"/>
          </p:cNvSpPr>
          <p:nvPr/>
        </p:nvSpPr>
        <p:spPr>
          <a:xfrm>
            <a:off x="4857750" y="30099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F7A025A-03C2-4AB0-BA75-3C3940DC6D35}"/>
              </a:ext>
            </a:extLst>
          </p:cNvPr>
          <p:cNvSpPr>
            <a:spLocks noGrp="1"/>
          </p:cNvSpPr>
          <p:nvPr/>
        </p:nvSpPr>
        <p:spPr>
          <a:xfrm>
            <a:off x="4857750" y="3429000"/>
            <a:ext cx="114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Tokens 1-4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6EDED7F-FC07-4731-B081-B339AB8886E7}"/>
              </a:ext>
            </a:extLst>
          </p:cNvPr>
          <p:cNvSpPr>
            <a:spLocks noGrp="1"/>
          </p:cNvSpPr>
          <p:nvPr/>
        </p:nvSpPr>
        <p:spPr>
          <a:xfrm>
            <a:off x="6381750" y="2952750"/>
            <a:ext cx="1333500" cy="1381125"/>
          </a:xfrm>
          <a:prstGeom prst="rect">
            <a:avLst/>
          </a:prstGeom>
          <a:noFill/>
          <a:ln w="14288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E3FD974-4DFD-4608-ABFB-B6F9E754D256}"/>
              </a:ext>
            </a:extLst>
          </p:cNvPr>
          <p:cNvSpPr>
            <a:spLocks noGrp="1"/>
          </p:cNvSpPr>
          <p:nvPr/>
        </p:nvSpPr>
        <p:spPr>
          <a:xfrm>
            <a:off x="6477000" y="30099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0525B72-4BA8-477B-97BB-1D0E5D0463EF}"/>
              </a:ext>
            </a:extLst>
          </p:cNvPr>
          <p:cNvSpPr>
            <a:spLocks noGrp="1"/>
          </p:cNvSpPr>
          <p:nvPr/>
        </p:nvSpPr>
        <p:spPr>
          <a:xfrm>
            <a:off x="6477000" y="3429000"/>
            <a:ext cx="114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Tokens 5-8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D0D1B62-0131-411F-89DD-47915D5C960A}"/>
              </a:ext>
            </a:extLst>
          </p:cNvPr>
          <p:cNvSpPr>
            <a:spLocks noGrp="1"/>
          </p:cNvSpPr>
          <p:nvPr/>
        </p:nvSpPr>
        <p:spPr>
          <a:xfrm>
            <a:off x="8001000" y="2952750"/>
            <a:ext cx="1333500" cy="1381125"/>
          </a:xfrm>
          <a:prstGeom prst="rect">
            <a:avLst/>
          </a:prstGeom>
          <a:noFill/>
          <a:ln w="14288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FC87F37-5603-4386-90CA-359EA473FF2C}"/>
              </a:ext>
            </a:extLst>
          </p:cNvPr>
          <p:cNvSpPr>
            <a:spLocks noGrp="1"/>
          </p:cNvSpPr>
          <p:nvPr/>
        </p:nvSpPr>
        <p:spPr>
          <a:xfrm>
            <a:off x="8096250" y="30099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CF7D3DF-CBD9-4E2A-8AC4-3AA9D193823B}"/>
              </a:ext>
            </a:extLst>
          </p:cNvPr>
          <p:cNvSpPr>
            <a:spLocks noGrp="1"/>
          </p:cNvSpPr>
          <p:nvPr/>
        </p:nvSpPr>
        <p:spPr>
          <a:xfrm>
            <a:off x="8096250" y="3429000"/>
            <a:ext cx="114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Tokens 9-12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97884C4-82B5-4747-BB79-4F6557C4E13E}"/>
              </a:ext>
            </a:extLst>
          </p:cNvPr>
          <p:cNvSpPr>
            <a:spLocks noGrp="1"/>
          </p:cNvSpPr>
          <p:nvPr/>
        </p:nvSpPr>
        <p:spPr>
          <a:xfrm>
            <a:off x="9620250" y="2952750"/>
            <a:ext cx="1333500" cy="1381125"/>
          </a:xfrm>
          <a:prstGeom prst="rect">
            <a:avLst/>
          </a:prstGeom>
          <a:noFill/>
          <a:ln w="14288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33BD3DD-C72C-4A07-96D5-BB084CB80587}"/>
              </a:ext>
            </a:extLst>
          </p:cNvPr>
          <p:cNvSpPr>
            <a:spLocks noGrp="1"/>
          </p:cNvSpPr>
          <p:nvPr/>
        </p:nvSpPr>
        <p:spPr>
          <a:xfrm>
            <a:off x="9715500" y="30099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GPU 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4CF230F-2CF0-47E3-9B36-5EA3C386F6C6}"/>
              </a:ext>
            </a:extLst>
          </p:cNvPr>
          <p:cNvSpPr>
            <a:spLocks noGrp="1"/>
          </p:cNvSpPr>
          <p:nvPr/>
        </p:nvSpPr>
        <p:spPr>
          <a:xfrm>
            <a:off x="9715500" y="3429000"/>
            <a:ext cx="114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Tokens 13-16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EFFB3B6-07E7-43F2-A03A-C0E08BD2FE35}"/>
              </a:ext>
            </a:extLst>
          </p:cNvPr>
          <p:cNvSpPr>
            <a:spLocks noGrp="1"/>
          </p:cNvSpPr>
          <p:nvPr/>
        </p:nvSpPr>
        <p:spPr>
          <a:xfrm>
            <a:off x="6048375" y="4750518"/>
            <a:ext cx="361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Attention exchanges K/V across chunks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4C1266E-154B-4773-815A-5718576CCA45}"/>
              </a:ext>
            </a:extLst>
          </p:cNvPr>
          <p:cNvSpPr>
            <a:spLocks noGrp="1"/>
          </p:cNvSpPr>
          <p:nvPr/>
        </p:nvSpPr>
        <p:spPr>
          <a:xfrm>
            <a:off x="5810250" y="5322018"/>
            <a:ext cx="4191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Other layer operations remain local to each token chunk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EP routes tokens to distributed experts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8657AE-30A1-5A7A-6A7F-315D84436430}" type="slidenum">
              <a:rPr/>
              <a:t>16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5C6EA3-AF52-466A-85F8-D0333CA8C98A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DIVIDES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811AEF-A549-414B-9C47-E60EB1B73FB3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Sparse experts and their routed token workload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0683A9-1FC7-4F4C-80BB-415D659F882B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C65D34-9056-4512-A817-37C853CCC5F6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HOW IT WORKS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9587BE-0C43-40FD-9DB3-BC8ED6ED01A9}"/>
              </a:ext>
            </a:extLst>
          </p:cNvPr>
          <p:cNvSpPr>
            <a:spLocks noGrp="1"/>
          </p:cNvSpPr>
          <p:nvPr/>
        </p:nvSpPr>
        <p:spPr>
          <a:xfrm>
            <a:off x="685800" y="2886075"/>
            <a:ext cx="3238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A router selects a small subset of experts per token; expert outputs are returned to token order.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609BB2-8858-4A70-B19E-C7F22B69D416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32385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D85A9F-7C17-4EC2-8C02-14B37AF405B5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MAIN COST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777655-B022-4B44-A39C-3BCA1891104C}"/>
              </a:ext>
            </a:extLst>
          </p:cNvPr>
          <p:cNvSpPr>
            <a:spLocks noGrp="1"/>
          </p:cNvSpPr>
          <p:nvPr/>
        </p:nvSpPr>
        <p:spPr>
          <a:xfrm>
            <a:off x="685800" y="4295775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All-to-all token dispatch, load imbalance, and expert capacity limits.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3BF2BB-0F75-44A3-BB45-C1C2DFE96F85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Use when: the model is sparse MoE and expert weights or compute need distribution.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1F2398-27E4-4339-9287-E6851AD8A624}"/>
              </a:ext>
            </a:extLst>
          </p:cNvPr>
          <p:cNvSpPr>
            <a:spLocks noGrp="1"/>
          </p:cNvSpPr>
          <p:nvPr/>
        </p:nvSpPr>
        <p:spPr>
          <a:xfrm>
            <a:off x="4238625" y="1476375"/>
            <a:ext cx="9525" cy="409575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945E796D-1A33-4A7C-A665-E4E1FE9541B3}"/>
              </a:ext>
            </a:extLst>
          </p:cNvPr>
          <p:cNvSpPr>
            <a:spLocks noGrp="1"/>
          </p:cNvSpPr>
          <p:nvPr/>
        </p:nvSpPr>
        <p:spPr>
          <a:xfrm>
            <a:off x="5286375" y="2238375"/>
            <a:ext cx="1476375" cy="1095375"/>
          </a:xfrm>
          <a:prstGeom prst="line">
            <a:avLst/>
          </a:prstGeom>
          <a:noFill/>
          <a:ln w="14288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0D4E9B54-2C67-41F9-91E3-EF8B99F36113}"/>
              </a:ext>
            </a:extLst>
          </p:cNvPr>
          <p:cNvSpPr>
            <a:spLocks noGrp="1"/>
          </p:cNvSpPr>
          <p:nvPr/>
        </p:nvSpPr>
        <p:spPr>
          <a:xfrm>
            <a:off x="5285301" y="3154619"/>
            <a:ext cx="1477450" cy="179131"/>
          </a:xfrm>
          <a:prstGeom prst="line">
            <a:avLst/>
          </a:prstGeom>
          <a:noFill/>
          <a:ln w="14288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3F6E646E-EDB5-4B43-B3F3-0B1D244063D9}"/>
              </a:ext>
            </a:extLst>
          </p:cNvPr>
          <p:cNvSpPr>
            <a:spLocks noGrp="1"/>
          </p:cNvSpPr>
          <p:nvPr/>
        </p:nvSpPr>
        <p:spPr>
          <a:xfrm flipV="1">
            <a:off x="5305425" y="3324224"/>
            <a:ext cx="1457325" cy="664906"/>
          </a:xfrm>
          <a:prstGeom prst="line">
            <a:avLst/>
          </a:prstGeom>
          <a:noFill/>
          <a:ln w="14288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4719A3A6-10CB-461E-A629-4872EFA38425}"/>
              </a:ext>
            </a:extLst>
          </p:cNvPr>
          <p:cNvSpPr>
            <a:spLocks noGrp="1"/>
          </p:cNvSpPr>
          <p:nvPr/>
        </p:nvSpPr>
        <p:spPr>
          <a:xfrm flipV="1">
            <a:off x="5285301" y="3333750"/>
            <a:ext cx="1476374" cy="1550425"/>
          </a:xfrm>
          <a:prstGeom prst="line">
            <a:avLst/>
          </a:prstGeom>
          <a:noFill/>
          <a:ln w="14288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238CE8A6-96E4-4FD3-947F-E26C9627FAFF}"/>
              </a:ext>
            </a:extLst>
          </p:cNvPr>
          <p:cNvSpPr>
            <a:spLocks noGrp="1"/>
          </p:cNvSpPr>
          <p:nvPr/>
        </p:nvSpPr>
        <p:spPr>
          <a:xfrm flipV="1">
            <a:off x="7858124" y="2695575"/>
            <a:ext cx="999049" cy="623427"/>
          </a:xfrm>
          <a:prstGeom prst="line">
            <a:avLst/>
          </a:prstGeom>
          <a:noFill/>
          <a:ln w="23813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A7B87E9B-27BD-4278-AE6D-F11317790EC7}"/>
              </a:ext>
            </a:extLst>
          </p:cNvPr>
          <p:cNvSpPr>
            <a:spLocks noGrp="1"/>
          </p:cNvSpPr>
          <p:nvPr/>
        </p:nvSpPr>
        <p:spPr>
          <a:xfrm>
            <a:off x="7905750" y="3286124"/>
            <a:ext cx="2762250" cy="533401"/>
          </a:xfrm>
          <a:prstGeom prst="line">
            <a:avLst/>
          </a:prstGeom>
          <a:noFill/>
          <a:ln w="14288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A3614239-D648-4062-A700-7657246FE3F6}"/>
              </a:ext>
            </a:extLst>
          </p:cNvPr>
          <p:cNvSpPr>
            <a:spLocks noGrp="1"/>
          </p:cNvSpPr>
          <p:nvPr/>
        </p:nvSpPr>
        <p:spPr>
          <a:xfrm>
            <a:off x="7905750" y="3333750"/>
            <a:ext cx="952500" cy="952500"/>
          </a:xfrm>
          <a:prstGeom prst="line">
            <a:avLst/>
          </a:prstGeom>
          <a:noFill/>
          <a:ln w="14288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62A61770-0A98-4EE9-921D-2CE74168BABB}"/>
              </a:ext>
            </a:extLst>
          </p:cNvPr>
          <p:cNvSpPr>
            <a:spLocks noGrp="1"/>
          </p:cNvSpPr>
          <p:nvPr/>
        </p:nvSpPr>
        <p:spPr>
          <a:xfrm>
            <a:off x="7905750" y="3333750"/>
            <a:ext cx="2381250" cy="952500"/>
          </a:xfrm>
          <a:prstGeom prst="line">
            <a:avLst/>
          </a:prstGeom>
          <a:noFill/>
          <a:ln w="23813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CAD1BE-7165-43C5-881D-B410D266C043}"/>
              </a:ext>
            </a:extLst>
          </p:cNvPr>
          <p:cNvSpPr>
            <a:spLocks noGrp="1"/>
          </p:cNvSpPr>
          <p:nvPr/>
        </p:nvSpPr>
        <p:spPr>
          <a:xfrm>
            <a:off x="6572250" y="147637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ROUTER SELECTS EXPERTS PER TOKEN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6D7A006-2F2F-4F56-9108-5A6BF59A34CE}"/>
              </a:ext>
            </a:extLst>
          </p:cNvPr>
          <p:cNvSpPr>
            <a:spLocks noGrp="1"/>
          </p:cNvSpPr>
          <p:nvPr/>
        </p:nvSpPr>
        <p:spPr>
          <a:xfrm>
            <a:off x="4640826" y="1889944"/>
            <a:ext cx="645550" cy="645550"/>
          </a:xfrm>
          <a:prstGeom prst="ellipse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T1</a:t>
            </a:r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BF48D28A-A8F5-4C10-B86B-D199CC4D31CA}"/>
              </a:ext>
            </a:extLst>
          </p:cNvPr>
          <p:cNvSpPr>
            <a:spLocks noGrp="1"/>
          </p:cNvSpPr>
          <p:nvPr/>
        </p:nvSpPr>
        <p:spPr>
          <a:xfrm>
            <a:off x="6762750" y="2857500"/>
            <a:ext cx="1143000" cy="952500"/>
          </a:xfrm>
          <a:prstGeom prst="diamond">
            <a:avLst/>
          </a:prstGeom>
          <a:solidFill>
            <a:srgbClr val="DB6C30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20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8D7B3B-B6E8-4616-AB50-3EE292424BD7}"/>
              </a:ext>
            </a:extLst>
          </p:cNvPr>
          <p:cNvSpPr>
            <a:spLocks noGrp="1"/>
          </p:cNvSpPr>
          <p:nvPr/>
        </p:nvSpPr>
        <p:spPr>
          <a:xfrm>
            <a:off x="6667500" y="390525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Router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80365B7-0A4E-4A60-821A-E36B2CA97948}"/>
              </a:ext>
            </a:extLst>
          </p:cNvPr>
          <p:cNvSpPr>
            <a:spLocks noGrp="1"/>
          </p:cNvSpPr>
          <p:nvPr/>
        </p:nvSpPr>
        <p:spPr>
          <a:xfrm>
            <a:off x="8858250" y="2143125"/>
            <a:ext cx="1143000" cy="857250"/>
          </a:xfrm>
          <a:prstGeom prst="rect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Expert 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4B0FFA9-4109-4848-9C66-A3AE81A2ADA7}"/>
              </a:ext>
            </a:extLst>
          </p:cNvPr>
          <p:cNvSpPr>
            <a:spLocks noGrp="1"/>
          </p:cNvSpPr>
          <p:nvPr/>
        </p:nvSpPr>
        <p:spPr>
          <a:xfrm>
            <a:off x="10287000" y="2143125"/>
            <a:ext cx="1143000" cy="85725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Expert 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F3CDF3B-200D-484C-8029-F9D0A9927DA1}"/>
              </a:ext>
            </a:extLst>
          </p:cNvPr>
          <p:cNvSpPr>
            <a:spLocks noGrp="1"/>
          </p:cNvSpPr>
          <p:nvPr/>
        </p:nvSpPr>
        <p:spPr>
          <a:xfrm>
            <a:off x="8858250" y="3857625"/>
            <a:ext cx="1143000" cy="85725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Expert 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54CB5B-2BAD-4FDC-ABED-B5AB19BB47D8}"/>
              </a:ext>
            </a:extLst>
          </p:cNvPr>
          <p:cNvSpPr>
            <a:spLocks noGrp="1"/>
          </p:cNvSpPr>
          <p:nvPr/>
        </p:nvSpPr>
        <p:spPr>
          <a:xfrm>
            <a:off x="10287000" y="3857625"/>
            <a:ext cx="1143000" cy="857250"/>
          </a:xfrm>
          <a:prstGeom prst="rect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Expert 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38273EC-DA09-4D4C-8EB5-AB37DE3DD533}"/>
              </a:ext>
            </a:extLst>
          </p:cNvPr>
          <p:cNvSpPr>
            <a:spLocks noGrp="1"/>
          </p:cNvSpPr>
          <p:nvPr/>
        </p:nvSpPr>
        <p:spPr>
          <a:xfrm>
            <a:off x="6858000" y="5143500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Only selected experts execute each token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C2C7F6B-BA85-B01B-857F-398C5F520C82}"/>
              </a:ext>
            </a:extLst>
          </p:cNvPr>
          <p:cNvSpPr>
            <a:spLocks noGrp="1"/>
          </p:cNvSpPr>
          <p:nvPr/>
        </p:nvSpPr>
        <p:spPr>
          <a:xfrm>
            <a:off x="4639750" y="2763068"/>
            <a:ext cx="645550" cy="645550"/>
          </a:xfrm>
          <a:prstGeom prst="ellipse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T2</a:t>
            </a:r>
            <a:endParaRPr sz="1600" b="1" baseline="-25000">
              <a:solidFill>
                <a:srgbClr val="333639"/>
              </a:solidFill>
              <a:latin typeface="FlandersArtSans-Bold"/>
              <a:ea typeface="FlandersArtSans-Bold"/>
              <a:cs typeface="FlandersArtSans-Bold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E287120-87AF-5E36-B51B-C5963F34B762}"/>
              </a:ext>
            </a:extLst>
          </p:cNvPr>
          <p:cNvSpPr>
            <a:spLocks noGrp="1"/>
          </p:cNvSpPr>
          <p:nvPr/>
        </p:nvSpPr>
        <p:spPr>
          <a:xfrm>
            <a:off x="4639750" y="3636192"/>
            <a:ext cx="645550" cy="645550"/>
          </a:xfrm>
          <a:prstGeom prst="ellipse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T3</a:t>
            </a:r>
            <a:endParaRPr sz="1600" b="1" baseline="-25000">
              <a:solidFill>
                <a:srgbClr val="333639"/>
              </a:solidFill>
              <a:latin typeface="FlandersArtSans-Bold"/>
              <a:ea typeface="FlandersArtSans-Bold"/>
              <a:cs typeface="FlandersArtSans-Bold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8B28EF9-AEE2-C0B4-D033-09555FB7DBA9}"/>
              </a:ext>
            </a:extLst>
          </p:cNvPr>
          <p:cNvSpPr>
            <a:spLocks noGrp="1"/>
          </p:cNvSpPr>
          <p:nvPr/>
        </p:nvSpPr>
        <p:spPr>
          <a:xfrm>
            <a:off x="4664792" y="4509317"/>
            <a:ext cx="645550" cy="645550"/>
          </a:xfrm>
          <a:prstGeom prst="ellipse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T4</a:t>
            </a:r>
            <a:endParaRPr sz="1600" b="1" baseline="-25000">
              <a:solidFill>
                <a:srgbClr val="333639"/>
              </a:solidFill>
              <a:latin typeface="FlandersArtSans-Bold"/>
              <a:ea typeface="FlandersArtSans-Bold"/>
              <a:cs typeface="FlandersArtSans-Bold"/>
            </a:endParaRP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844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Inference: 4 TP pairs form four model replicas</a:t>
            </a:r>
            <a:endParaRPr lang="en-US" sz="4400" b="1" dirty="0"/>
          </a:p>
        </p:txBody>
      </p:sp>
      <p:sp>
        <p:nvSpPr>
          <p:cNvPr id="3" name="Text 1"/>
          <p:cNvSpPr/>
          <p:nvPr/>
        </p:nvSpPr>
        <p:spPr>
          <a:xfrm>
            <a:off x="658368" y="118872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DIVIDES TWO OBJECTS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8368" y="1472184"/>
            <a:ext cx="2944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TP divides each layer. Replication divides the incoming request stream.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2240280"/>
            <a:ext cx="2944368" cy="0"/>
          </a:xfrm>
          <a:prstGeom prst="line">
            <a:avLst/>
          </a:prstGeom>
          <a:noFill/>
          <a:ln w="1270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58368" y="240487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CREATES GROUPS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2688336"/>
            <a:ext cx="2944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Every GPU belongs to one TP pair and one complete model replica.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3383280"/>
            <a:ext cx="2944368" cy="0"/>
          </a:xfrm>
          <a:prstGeom prst="line">
            <a:avLst/>
          </a:prstGeom>
          <a:noFill/>
          <a:ln w="1270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658368" y="354787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TRADE-OFF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3831336"/>
            <a:ext cx="29443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A larger TP degree may reduce the number of independent replicas and therefore aggregate throughput.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" y="4846320"/>
            <a:ext cx="2944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Use the smallest TP degree that fits; spend remaining GPUs on replicas.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13248" y="12252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56A7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TP SHARD 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17536" y="12252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56A7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TP SHARD 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24528" y="1709928"/>
            <a:ext cx="1078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Replica 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58384" y="1618488"/>
            <a:ext cx="4389120" cy="768096"/>
          </a:xfrm>
          <a:prstGeom prst="rect">
            <a:avLst/>
          </a:prstGeom>
          <a:solidFill>
            <a:srgbClr val="FCF3ED"/>
          </a:solidFill>
          <a:ln w="1397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Shape 14"/>
          <p:cNvSpPr/>
          <p:nvPr/>
        </p:nvSpPr>
        <p:spPr>
          <a:xfrm>
            <a:off x="5724144" y="1709928"/>
            <a:ext cx="1225296" cy="585216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5779008" y="1737360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GPU 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28432" y="1709928"/>
            <a:ext cx="1225296" cy="585216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8083296" y="1737360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GPU 1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967728" y="2002536"/>
            <a:ext cx="1024128" cy="0"/>
          </a:xfrm>
          <a:prstGeom prst="line">
            <a:avLst/>
          </a:prstGeom>
          <a:noFill/>
          <a:ln w="17780">
            <a:solidFill>
              <a:srgbClr val="DB6C3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4224528" y="2560320"/>
            <a:ext cx="1078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Replica B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58384" y="2468880"/>
            <a:ext cx="4389120" cy="768096"/>
          </a:xfrm>
          <a:prstGeom prst="rect">
            <a:avLst/>
          </a:prstGeom>
          <a:solidFill>
            <a:srgbClr val="F5F6F8"/>
          </a:solidFill>
          <a:ln w="1397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Shape 21"/>
          <p:cNvSpPr/>
          <p:nvPr/>
        </p:nvSpPr>
        <p:spPr>
          <a:xfrm>
            <a:off x="5724144" y="2560320"/>
            <a:ext cx="1225296" cy="585216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5779008" y="2587752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GPU 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028432" y="2560320"/>
            <a:ext cx="1225296" cy="585216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8083296" y="2587752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GPU 3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967728" y="2852928"/>
            <a:ext cx="1024128" cy="0"/>
          </a:xfrm>
          <a:prstGeom prst="line">
            <a:avLst/>
          </a:prstGeom>
          <a:noFill/>
          <a:ln w="17780">
            <a:solidFill>
              <a:srgbClr val="DB6C3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4224528" y="3410712"/>
            <a:ext cx="1078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Replica C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58384" y="3319272"/>
            <a:ext cx="4389120" cy="768096"/>
          </a:xfrm>
          <a:prstGeom prst="rect">
            <a:avLst/>
          </a:prstGeom>
          <a:solidFill>
            <a:srgbClr val="FCF3ED"/>
          </a:solidFill>
          <a:ln w="1397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Shape 28"/>
          <p:cNvSpPr/>
          <p:nvPr/>
        </p:nvSpPr>
        <p:spPr>
          <a:xfrm>
            <a:off x="5724144" y="3410712"/>
            <a:ext cx="1225296" cy="585216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Text 29"/>
          <p:cNvSpPr/>
          <p:nvPr/>
        </p:nvSpPr>
        <p:spPr>
          <a:xfrm>
            <a:off x="5779008" y="3438144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GPU 4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028432" y="3410712"/>
            <a:ext cx="1225296" cy="585216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Text 31"/>
          <p:cNvSpPr/>
          <p:nvPr/>
        </p:nvSpPr>
        <p:spPr>
          <a:xfrm>
            <a:off x="8083296" y="3438144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GPU 5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967728" y="3703320"/>
            <a:ext cx="1024128" cy="0"/>
          </a:xfrm>
          <a:prstGeom prst="line">
            <a:avLst/>
          </a:prstGeom>
          <a:noFill/>
          <a:ln w="17780">
            <a:solidFill>
              <a:srgbClr val="DB6C3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Text 33"/>
          <p:cNvSpPr/>
          <p:nvPr/>
        </p:nvSpPr>
        <p:spPr>
          <a:xfrm>
            <a:off x="4224528" y="4261104"/>
            <a:ext cx="10789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Replica D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358384" y="4169664"/>
            <a:ext cx="4389120" cy="768096"/>
          </a:xfrm>
          <a:prstGeom prst="rect">
            <a:avLst/>
          </a:prstGeom>
          <a:solidFill>
            <a:srgbClr val="F5F6F8"/>
          </a:solidFill>
          <a:ln w="1397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7" name="Shape 35"/>
          <p:cNvSpPr/>
          <p:nvPr/>
        </p:nvSpPr>
        <p:spPr>
          <a:xfrm>
            <a:off x="5724144" y="4261104"/>
            <a:ext cx="1225296" cy="585216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Text 36"/>
          <p:cNvSpPr/>
          <p:nvPr/>
        </p:nvSpPr>
        <p:spPr>
          <a:xfrm>
            <a:off x="5779008" y="4288536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GPU 6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028432" y="4261104"/>
            <a:ext cx="1225296" cy="585216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0" name="Text 38"/>
          <p:cNvSpPr/>
          <p:nvPr/>
        </p:nvSpPr>
        <p:spPr>
          <a:xfrm>
            <a:off x="8083296" y="4288536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GPU 7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967728" y="4553712"/>
            <a:ext cx="1024128" cy="0"/>
          </a:xfrm>
          <a:prstGeom prst="line">
            <a:avLst/>
          </a:prstGeom>
          <a:noFill/>
          <a:ln w="17780">
            <a:solidFill>
              <a:srgbClr val="DB6C3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42" name="Text 40"/>
          <p:cNvSpPr/>
          <p:nvPr/>
        </p:nvSpPr>
        <p:spPr>
          <a:xfrm>
            <a:off x="5577840" y="5102352"/>
            <a:ext cx="4617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56A7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collectives stay inside each TP pair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224528" y="5559552"/>
            <a:ext cx="6821424" cy="0"/>
          </a:xfrm>
          <a:prstGeom prst="line">
            <a:avLst/>
          </a:prstGeom>
          <a:noFill/>
          <a:ln w="1270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4" name="Text 42"/>
          <p:cNvSpPr/>
          <p:nvPr/>
        </p:nvSpPr>
        <p:spPr>
          <a:xfrm>
            <a:off x="4425696" y="5623560"/>
            <a:ext cx="6419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TP 2  ×  replicas 4  =  8 GPUs</a:t>
            </a:r>
            <a:endParaRPr lang="en-US" sz="1800" dirty="0"/>
          </a:p>
        </p:txBody>
      </p:sp>
      <p:sp>
        <p:nvSpPr>
          <p:cNvPr id="120" name="Slide Number Placeholder 120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0000-0000-0000-000000000120}" type="slidenum">
              <a:rPr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844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Training: TP + PP + DP, different GPU groups</a:t>
            </a:r>
            <a:endParaRPr lang="en-US" sz="4400" b="1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10826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TP 4  ×  PP 2  ×  DP 2  =  16 GPUs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5120640" cy="3639312"/>
          </a:xfrm>
          <a:prstGeom prst="rect">
            <a:avLst/>
          </a:prstGeom>
          <a:solidFill>
            <a:srgbClr val="F5F6F8"/>
          </a:solidFill>
          <a:ln w="1270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822960" y="170078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Node 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127248" y="17007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PP stage 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267712"/>
            <a:ext cx="859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Replica 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82496" y="2157984"/>
            <a:ext cx="3611880" cy="786384"/>
          </a:xfrm>
          <a:prstGeom prst="rect">
            <a:avLst/>
          </a:prstGeom>
          <a:solidFill>
            <a:srgbClr val="FCF3ED"/>
          </a:solidFill>
          <a:ln w="1397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1773936" y="2267712"/>
            <a:ext cx="768096" cy="566928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1828800" y="229514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60904" y="2267712"/>
            <a:ext cx="768096" cy="566928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2715768" y="229514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47872" y="2267712"/>
            <a:ext cx="768096" cy="566928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3602736" y="229514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34840" y="2267712"/>
            <a:ext cx="768096" cy="566928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4489704" y="229514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822192"/>
            <a:ext cx="859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Replica B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682496" y="3712464"/>
            <a:ext cx="3611880" cy="786384"/>
          </a:xfrm>
          <a:prstGeom prst="rect">
            <a:avLst/>
          </a:prstGeom>
          <a:solidFill>
            <a:srgbClr val="FCF3ED"/>
          </a:solidFill>
          <a:ln w="1397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Shape 17"/>
          <p:cNvSpPr/>
          <p:nvPr/>
        </p:nvSpPr>
        <p:spPr>
          <a:xfrm>
            <a:off x="1773936" y="3822192"/>
            <a:ext cx="768096" cy="566928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1828800" y="384962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660904" y="3822192"/>
            <a:ext cx="768096" cy="566928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2715768" y="384962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547872" y="3822192"/>
            <a:ext cx="768096" cy="566928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3602736" y="384962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G6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34840" y="3822192"/>
            <a:ext cx="768096" cy="566928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4489704" y="384962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G7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73936" y="296265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TP group of 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82496" y="331012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56A70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DP groups pair corresponding TP shards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157984" y="2852928"/>
            <a:ext cx="0" cy="923544"/>
          </a:xfrm>
          <a:prstGeom prst="line">
            <a:avLst/>
          </a:prstGeom>
          <a:noFill/>
          <a:ln w="13970">
            <a:solidFill>
              <a:srgbClr val="656A7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Shape 28"/>
          <p:cNvSpPr/>
          <p:nvPr/>
        </p:nvSpPr>
        <p:spPr>
          <a:xfrm>
            <a:off x="3044952" y="2852928"/>
            <a:ext cx="0" cy="923544"/>
          </a:xfrm>
          <a:prstGeom prst="line">
            <a:avLst/>
          </a:prstGeom>
          <a:noFill/>
          <a:ln w="13970">
            <a:solidFill>
              <a:srgbClr val="656A7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Shape 29"/>
          <p:cNvSpPr/>
          <p:nvPr/>
        </p:nvSpPr>
        <p:spPr>
          <a:xfrm>
            <a:off x="3931920" y="2852928"/>
            <a:ext cx="0" cy="923544"/>
          </a:xfrm>
          <a:prstGeom prst="line">
            <a:avLst/>
          </a:prstGeom>
          <a:noFill/>
          <a:ln w="13970">
            <a:solidFill>
              <a:srgbClr val="656A7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Shape 30"/>
          <p:cNvSpPr/>
          <p:nvPr/>
        </p:nvSpPr>
        <p:spPr>
          <a:xfrm>
            <a:off x="4818888" y="2852928"/>
            <a:ext cx="0" cy="923544"/>
          </a:xfrm>
          <a:prstGeom prst="line">
            <a:avLst/>
          </a:prstGeom>
          <a:noFill/>
          <a:ln w="13970">
            <a:solidFill>
              <a:srgbClr val="656A7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Shape 31"/>
          <p:cNvSpPr/>
          <p:nvPr/>
        </p:nvSpPr>
        <p:spPr>
          <a:xfrm>
            <a:off x="6419088" y="1600200"/>
            <a:ext cx="5120640" cy="3639312"/>
          </a:xfrm>
          <a:prstGeom prst="rect">
            <a:avLst/>
          </a:prstGeom>
          <a:solidFill>
            <a:srgbClr val="F5F6F8"/>
          </a:solidFill>
          <a:ln w="1270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Text 32"/>
          <p:cNvSpPr/>
          <p:nvPr/>
        </p:nvSpPr>
        <p:spPr>
          <a:xfrm>
            <a:off x="6583680" y="170078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Node 1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887968" y="17007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PP stage 1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83680" y="2267712"/>
            <a:ext cx="859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Replica A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443216" y="2157984"/>
            <a:ext cx="3611880" cy="786384"/>
          </a:xfrm>
          <a:prstGeom prst="rect">
            <a:avLst/>
          </a:prstGeom>
          <a:solidFill>
            <a:srgbClr val="FCF3ED"/>
          </a:solidFill>
          <a:ln w="1397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Shape 36"/>
          <p:cNvSpPr/>
          <p:nvPr/>
        </p:nvSpPr>
        <p:spPr>
          <a:xfrm>
            <a:off x="7534656" y="2267712"/>
            <a:ext cx="768096" cy="566928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Text 37"/>
          <p:cNvSpPr/>
          <p:nvPr/>
        </p:nvSpPr>
        <p:spPr>
          <a:xfrm>
            <a:off x="7589520" y="229514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G8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21624" y="2267712"/>
            <a:ext cx="768096" cy="566928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1" name="Text 39"/>
          <p:cNvSpPr/>
          <p:nvPr/>
        </p:nvSpPr>
        <p:spPr>
          <a:xfrm>
            <a:off x="8476488" y="229514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G9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308592" y="2267712"/>
            <a:ext cx="768096" cy="566928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3" name="Text 41"/>
          <p:cNvSpPr/>
          <p:nvPr/>
        </p:nvSpPr>
        <p:spPr>
          <a:xfrm>
            <a:off x="9363456" y="229514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G10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195560" y="2267712"/>
            <a:ext cx="768096" cy="566928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5" name="Text 43"/>
          <p:cNvSpPr/>
          <p:nvPr/>
        </p:nvSpPr>
        <p:spPr>
          <a:xfrm>
            <a:off x="10250424" y="229514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G11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583680" y="3822192"/>
            <a:ext cx="859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Replica B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443216" y="3712464"/>
            <a:ext cx="3611880" cy="786384"/>
          </a:xfrm>
          <a:prstGeom prst="rect">
            <a:avLst/>
          </a:prstGeom>
          <a:solidFill>
            <a:srgbClr val="FCF3ED"/>
          </a:solidFill>
          <a:ln w="1397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8" name="Shape 46"/>
          <p:cNvSpPr/>
          <p:nvPr/>
        </p:nvSpPr>
        <p:spPr>
          <a:xfrm>
            <a:off x="7534656" y="3822192"/>
            <a:ext cx="768096" cy="566928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9" name="Text 47"/>
          <p:cNvSpPr/>
          <p:nvPr/>
        </p:nvSpPr>
        <p:spPr>
          <a:xfrm>
            <a:off x="7589520" y="384962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G12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421624" y="3822192"/>
            <a:ext cx="768096" cy="566928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1" name="Text 49"/>
          <p:cNvSpPr/>
          <p:nvPr/>
        </p:nvSpPr>
        <p:spPr>
          <a:xfrm>
            <a:off x="8476488" y="384962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G13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308592" y="3822192"/>
            <a:ext cx="768096" cy="566928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3" name="Text 51"/>
          <p:cNvSpPr/>
          <p:nvPr/>
        </p:nvSpPr>
        <p:spPr>
          <a:xfrm>
            <a:off x="9363456" y="384962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G14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0195560" y="3822192"/>
            <a:ext cx="768096" cy="566928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5" name="Text 53"/>
          <p:cNvSpPr/>
          <p:nvPr/>
        </p:nvSpPr>
        <p:spPr>
          <a:xfrm>
            <a:off x="10250424" y="3849624"/>
            <a:ext cx="658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G15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534656" y="296265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TP group of 4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443216" y="331012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56A70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DP groups pair corresponding TP shards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918704" y="2852928"/>
            <a:ext cx="0" cy="923544"/>
          </a:xfrm>
          <a:prstGeom prst="line">
            <a:avLst/>
          </a:prstGeom>
          <a:noFill/>
          <a:ln w="13970">
            <a:solidFill>
              <a:srgbClr val="656A7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59" name="Shape 57"/>
          <p:cNvSpPr/>
          <p:nvPr/>
        </p:nvSpPr>
        <p:spPr>
          <a:xfrm>
            <a:off x="8805672" y="2852928"/>
            <a:ext cx="0" cy="923544"/>
          </a:xfrm>
          <a:prstGeom prst="line">
            <a:avLst/>
          </a:prstGeom>
          <a:noFill/>
          <a:ln w="13970">
            <a:solidFill>
              <a:srgbClr val="656A7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60" name="Shape 58"/>
          <p:cNvSpPr/>
          <p:nvPr/>
        </p:nvSpPr>
        <p:spPr>
          <a:xfrm>
            <a:off x="9692640" y="2852928"/>
            <a:ext cx="0" cy="923544"/>
          </a:xfrm>
          <a:prstGeom prst="line">
            <a:avLst/>
          </a:prstGeom>
          <a:noFill/>
          <a:ln w="13970">
            <a:solidFill>
              <a:srgbClr val="656A7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61" name="Shape 59"/>
          <p:cNvSpPr/>
          <p:nvPr/>
        </p:nvSpPr>
        <p:spPr>
          <a:xfrm>
            <a:off x="10579608" y="2852928"/>
            <a:ext cx="0" cy="923544"/>
          </a:xfrm>
          <a:prstGeom prst="line">
            <a:avLst/>
          </a:prstGeom>
          <a:noFill/>
          <a:ln w="13970">
            <a:solidFill>
              <a:srgbClr val="656A7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62" name="Shape 60"/>
          <p:cNvSpPr/>
          <p:nvPr/>
        </p:nvSpPr>
        <p:spPr>
          <a:xfrm>
            <a:off x="5797296" y="2551176"/>
            <a:ext cx="585216" cy="0"/>
          </a:xfrm>
          <a:prstGeom prst="line">
            <a:avLst/>
          </a:prstGeom>
          <a:noFill/>
          <a:ln w="20320">
            <a:solidFill>
              <a:srgbClr val="DB6C30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63" name="Text 61"/>
          <p:cNvSpPr/>
          <p:nvPr/>
        </p:nvSpPr>
        <p:spPr>
          <a:xfrm>
            <a:off x="5852160" y="218541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PP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5797296" y="4105656"/>
            <a:ext cx="585216" cy="0"/>
          </a:xfrm>
          <a:prstGeom prst="line">
            <a:avLst/>
          </a:prstGeom>
          <a:noFill/>
          <a:ln w="20320">
            <a:solidFill>
              <a:srgbClr val="DB6C30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65" name="Text 63"/>
          <p:cNvSpPr/>
          <p:nvPr/>
        </p:nvSpPr>
        <p:spPr>
          <a:xfrm>
            <a:off x="5852160" y="373989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PP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58368" y="5422392"/>
            <a:ext cx="10881360" cy="0"/>
          </a:xfrm>
          <a:prstGeom prst="line">
            <a:avLst/>
          </a:prstGeom>
          <a:noFill/>
          <a:ln w="1270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7" name="Text 65"/>
          <p:cNvSpPr/>
          <p:nvPr/>
        </p:nvSpPr>
        <p:spPr>
          <a:xfrm>
            <a:off x="822960" y="5504688"/>
            <a:ext cx="10533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TP collectives and DP synchronization stay within nodes; PP point-to-point traffic crosses the node boundary.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22960" y="5797296"/>
            <a:ext cx="10533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56A7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FSDP refines the data-parallel axis; do not multiply DP × FSDP as independent dimensions.</a:t>
            </a:r>
            <a:endParaRPr lang="en-US" sz="1600" dirty="0"/>
          </a:p>
        </p:txBody>
      </p:sp>
      <p:sp>
        <p:nvSpPr>
          <p:cNvPr id="121" name="Slide Number Placeholder 121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0000-0000-0000-000000000121}" type="slidenum">
              <a:rPr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844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44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Communication pattern: topology sensitivity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58368" y="950976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Frequency and synchronization make placement matter more than the communication API name.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8368" y="1307592"/>
            <a:ext cx="987552" cy="411480"/>
          </a:xfrm>
          <a:prstGeom prst="rect">
            <a:avLst/>
          </a:prstGeom>
          <a:solidFill>
            <a:srgbClr val="333639"/>
          </a:solidFill>
          <a:ln w="12700">
            <a:solidFill>
              <a:srgbClr val="33363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749808" y="1307592"/>
            <a:ext cx="804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METHOD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45920" y="1307592"/>
            <a:ext cx="2688336" cy="411480"/>
          </a:xfrm>
          <a:prstGeom prst="rect">
            <a:avLst/>
          </a:prstGeom>
          <a:solidFill>
            <a:srgbClr val="333639"/>
          </a:solidFill>
          <a:ln w="12700">
            <a:solidFill>
              <a:srgbClr val="33363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1737360" y="1307592"/>
            <a:ext cx="2505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WHAT MOVES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34256" y="1307592"/>
            <a:ext cx="2212848" cy="411480"/>
          </a:xfrm>
          <a:prstGeom prst="rect">
            <a:avLst/>
          </a:prstGeom>
          <a:solidFill>
            <a:srgbClr val="333639"/>
          </a:solidFill>
          <a:ln w="12700">
            <a:solidFill>
              <a:srgbClr val="33363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4425696" y="1307592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CADENCE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47104" y="1307592"/>
            <a:ext cx="4956048" cy="411480"/>
          </a:xfrm>
          <a:prstGeom prst="rect">
            <a:avLst/>
          </a:prstGeom>
          <a:solidFill>
            <a:srgbClr val="333639"/>
          </a:solidFill>
          <a:ln w="12700">
            <a:solidFill>
              <a:srgbClr val="33363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6638544" y="1307592"/>
            <a:ext cx="4773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PLACEMENT CONSEQUENCE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8368" y="1719072"/>
            <a:ext cx="987552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3" name="Text 11"/>
          <p:cNvSpPr/>
          <p:nvPr/>
        </p:nvSpPr>
        <p:spPr>
          <a:xfrm>
            <a:off x="749808" y="1746504"/>
            <a:ext cx="804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DP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645920" y="1719072"/>
            <a:ext cx="2688336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1737360" y="1746504"/>
            <a:ext cx="25054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Gradient buckets: all-reduce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34256" y="1719072"/>
            <a:ext cx="2212848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4425696" y="1746504"/>
            <a:ext cx="2029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During backward; at accumulation boundary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47104" y="1719072"/>
            <a:ext cx="4956048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6638544" y="1746504"/>
            <a:ext cx="4773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Can cross nodes, but bandwidth and overlap determine scaling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8368" y="2359152"/>
            <a:ext cx="987552" cy="640080"/>
          </a:xfrm>
          <a:prstGeom prst="rect">
            <a:avLst/>
          </a:prstGeom>
          <a:solidFill>
            <a:srgbClr val="F5F6F8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749808" y="2386584"/>
            <a:ext cx="804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FSDP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645920" y="2359152"/>
            <a:ext cx="2688336" cy="640080"/>
          </a:xfrm>
          <a:prstGeom prst="rect">
            <a:avLst/>
          </a:prstGeom>
          <a:solidFill>
            <a:srgbClr val="F5F6F8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1737360" y="2386584"/>
            <a:ext cx="25054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Parameters: all-gather; gradients: reduce-scatter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334256" y="2359152"/>
            <a:ext cx="2212848" cy="640080"/>
          </a:xfrm>
          <a:prstGeom prst="rect">
            <a:avLst/>
          </a:prstGeom>
          <a:solidFill>
            <a:srgbClr val="F5F6F8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4425696" y="2386584"/>
            <a:ext cx="2029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Per wrapped layer or unit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47104" y="2359152"/>
            <a:ext cx="4956048" cy="640080"/>
          </a:xfrm>
          <a:prstGeom prst="rect">
            <a:avLst/>
          </a:prstGeom>
          <a:solidFill>
            <a:srgbClr val="F5F6F8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6638544" y="2386584"/>
            <a:ext cx="4773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Frequent state traffic; keep shard groups in fast domains when possible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58368" y="2999232"/>
            <a:ext cx="987552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Text 27"/>
          <p:cNvSpPr/>
          <p:nvPr/>
        </p:nvSpPr>
        <p:spPr>
          <a:xfrm>
            <a:off x="749808" y="3026664"/>
            <a:ext cx="804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TP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645920" y="2999232"/>
            <a:ext cx="2688336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Text 29"/>
          <p:cNvSpPr/>
          <p:nvPr/>
        </p:nvSpPr>
        <p:spPr>
          <a:xfrm>
            <a:off x="1737360" y="3026664"/>
            <a:ext cx="25054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Partial activations or results: reduce, gather or scatter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34256" y="2999232"/>
            <a:ext cx="2212848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3" name="Text 31"/>
          <p:cNvSpPr/>
          <p:nvPr/>
        </p:nvSpPr>
        <p:spPr>
          <a:xfrm>
            <a:off x="4425696" y="3026664"/>
            <a:ext cx="2029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Several collectives inside many layers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547104" y="2999232"/>
            <a:ext cx="4956048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Text 33"/>
          <p:cNvSpPr/>
          <p:nvPr/>
        </p:nvSpPr>
        <p:spPr>
          <a:xfrm>
            <a:off x="6638544" y="3026664"/>
            <a:ext cx="4773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Most latency-sensitive; normally keep TP within an NVLink/NVSwitch domain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58368" y="3639312"/>
            <a:ext cx="987552" cy="640080"/>
          </a:xfrm>
          <a:prstGeom prst="rect">
            <a:avLst/>
          </a:prstGeom>
          <a:solidFill>
            <a:srgbClr val="F5F6F8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7" name="Text 35"/>
          <p:cNvSpPr/>
          <p:nvPr/>
        </p:nvSpPr>
        <p:spPr>
          <a:xfrm>
            <a:off x="749808" y="3666744"/>
            <a:ext cx="804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PP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645920" y="3639312"/>
            <a:ext cx="2688336" cy="640080"/>
          </a:xfrm>
          <a:prstGeom prst="rect">
            <a:avLst/>
          </a:prstGeom>
          <a:solidFill>
            <a:srgbClr val="F5F6F8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Text 37"/>
          <p:cNvSpPr/>
          <p:nvPr/>
        </p:nvSpPr>
        <p:spPr>
          <a:xfrm>
            <a:off x="1737360" y="3666744"/>
            <a:ext cx="25054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Activations forward; gradients backward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334256" y="3639312"/>
            <a:ext cx="2212848" cy="640080"/>
          </a:xfrm>
          <a:prstGeom prst="rect">
            <a:avLst/>
          </a:prstGeom>
          <a:solidFill>
            <a:srgbClr val="F5F6F8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1" name="Text 39"/>
          <p:cNvSpPr/>
          <p:nvPr/>
        </p:nvSpPr>
        <p:spPr>
          <a:xfrm>
            <a:off x="4425696" y="3666744"/>
            <a:ext cx="2029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Per microbatch at each stage boundary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547104" y="3639312"/>
            <a:ext cx="4956048" cy="640080"/>
          </a:xfrm>
          <a:prstGeom prst="rect">
            <a:avLst/>
          </a:prstGeom>
          <a:solidFill>
            <a:srgbClr val="F5F6F8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3" name="Text 41"/>
          <p:cNvSpPr/>
          <p:nvPr/>
        </p:nvSpPr>
        <p:spPr>
          <a:xfrm>
            <a:off x="6638544" y="3666744"/>
            <a:ext cx="4773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Point-to-point traffic may cross slower boundaries; balance stages and benchmark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58368" y="4279392"/>
            <a:ext cx="987552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5" name="Text 43"/>
          <p:cNvSpPr/>
          <p:nvPr/>
        </p:nvSpPr>
        <p:spPr>
          <a:xfrm>
            <a:off x="749808" y="4306824"/>
            <a:ext cx="804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CP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645920" y="4279392"/>
            <a:ext cx="2688336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7" name="Text 45"/>
          <p:cNvSpPr/>
          <p:nvPr/>
        </p:nvSpPr>
        <p:spPr>
          <a:xfrm>
            <a:off x="1737360" y="4306824"/>
            <a:ext cx="25054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K/V or partial attention state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334256" y="4279392"/>
            <a:ext cx="2212848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9" name="Text 47"/>
          <p:cNvSpPr/>
          <p:nvPr/>
        </p:nvSpPr>
        <p:spPr>
          <a:xfrm>
            <a:off x="4425696" y="4306824"/>
            <a:ext cx="2029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Per attention layer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547104" y="4279392"/>
            <a:ext cx="4956048" cy="640080"/>
          </a:xfrm>
          <a:prstGeom prst="rect">
            <a:avLst/>
          </a:prstGeom>
          <a:solidFill>
            <a:srgbClr val="FFFFFF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1" name="Text 49"/>
          <p:cNvSpPr/>
          <p:nvPr/>
        </p:nvSpPr>
        <p:spPr>
          <a:xfrm>
            <a:off x="6638544" y="4306824"/>
            <a:ext cx="4773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High bandwidth demand; keep CP ranks strongly connected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58368" y="4919472"/>
            <a:ext cx="987552" cy="640080"/>
          </a:xfrm>
          <a:prstGeom prst="rect">
            <a:avLst/>
          </a:prstGeom>
          <a:solidFill>
            <a:srgbClr val="F5F6F8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3" name="Text 51"/>
          <p:cNvSpPr/>
          <p:nvPr/>
        </p:nvSpPr>
        <p:spPr>
          <a:xfrm>
            <a:off x="749808" y="4946904"/>
            <a:ext cx="804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EP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645920" y="4919472"/>
            <a:ext cx="2688336" cy="640080"/>
          </a:xfrm>
          <a:prstGeom prst="rect">
            <a:avLst/>
          </a:prstGeom>
          <a:solidFill>
            <a:srgbClr val="F5F6F8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5" name="Text 53"/>
          <p:cNvSpPr/>
          <p:nvPr/>
        </p:nvSpPr>
        <p:spPr>
          <a:xfrm>
            <a:off x="1737360" y="4946904"/>
            <a:ext cx="25054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Tokens dispatched and returned: all-to-all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334256" y="4919472"/>
            <a:ext cx="2212848" cy="640080"/>
          </a:xfrm>
          <a:prstGeom prst="rect">
            <a:avLst/>
          </a:prstGeom>
          <a:solidFill>
            <a:srgbClr val="F5F6F8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7" name="Text 55"/>
          <p:cNvSpPr/>
          <p:nvPr/>
        </p:nvSpPr>
        <p:spPr>
          <a:xfrm>
            <a:off x="4425696" y="4946904"/>
            <a:ext cx="2029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Per MoE layer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547104" y="4919472"/>
            <a:ext cx="4956048" cy="640080"/>
          </a:xfrm>
          <a:prstGeom prst="rect">
            <a:avLst/>
          </a:prstGeom>
          <a:solidFill>
            <a:srgbClr val="F5F6F8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9" name="Text 57"/>
          <p:cNvSpPr/>
          <p:nvPr/>
        </p:nvSpPr>
        <p:spPr>
          <a:xfrm>
            <a:off x="6638544" y="4946904"/>
            <a:ext cx="4773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Needs high bisection bandwidth and balanced token routing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58368" y="5650992"/>
            <a:ext cx="10844784" cy="0"/>
          </a:xfrm>
          <a:prstGeom prst="line">
            <a:avLst/>
          </a:prstGeom>
          <a:noFill/>
          <a:ln w="1270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1" name="Text 59"/>
          <p:cNvSpPr/>
          <p:nvPr/>
        </p:nvSpPr>
        <p:spPr>
          <a:xfrm>
            <a:off x="804672" y="5715000"/>
            <a:ext cx="10552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Rule: keep frequent collectives local. CPU offload is host-device staging, governed by the CPU-GPU link rather than a GPU process group.</a:t>
            </a:r>
            <a:endParaRPr lang="en-US" sz="1600" dirty="0"/>
          </a:p>
        </p:txBody>
      </p:sp>
      <p:sp>
        <p:nvSpPr>
          <p:cNvPr id="130" name="Slide Number Placeholder 130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0000-0000-0000-000000000130}" type="slidenum">
              <a:rPr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844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44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Memory reduction: avoid model parallelism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58368" y="950976"/>
            <a:ext cx="10844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Match the lever to the memory object; each option trades a different resource.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8368" y="1307592"/>
            <a:ext cx="5230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TRAINING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27648" y="1307592"/>
            <a:ext cx="5157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INFERENCE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89904" y="1298448"/>
            <a:ext cx="0" cy="4032504"/>
          </a:xfrm>
          <a:prstGeom prst="line">
            <a:avLst/>
          </a:prstGeom>
          <a:noFill/>
          <a:ln w="1270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658368" y="1682496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Mixed or reduced precision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1984248"/>
            <a:ext cx="251057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Reduces: parameters, gradients and activations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78159" y="1984248"/>
            <a:ext cx="251057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56A70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Cost: numerical range; optimizer state may remain wider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" y="2523744"/>
            <a:ext cx="5230368" cy="0"/>
          </a:xfrm>
          <a:prstGeom prst="line">
            <a:avLst/>
          </a:prstGeom>
          <a:noFill/>
          <a:ln w="1016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658368" y="2596896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Activation checkpointing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" y="2898648"/>
            <a:ext cx="251057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Reduces: saved forward activations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78159" y="2898648"/>
            <a:ext cx="251057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56A70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Cost: recompute forward work during backward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" y="3438144"/>
            <a:ext cx="5230368" cy="0"/>
          </a:xfrm>
          <a:prstGeom prst="line">
            <a:avLst/>
          </a:prstGeom>
          <a:noFill/>
          <a:ln w="1016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658368" y="3511296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Smaller microbatch + accumulation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" y="3813048"/>
            <a:ext cx="251057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Reduces: the activation peak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78159" y="3813048"/>
            <a:ext cx="251057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56A70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Cost: kernel efficiency; preserve intended global batch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8368" y="4352544"/>
            <a:ext cx="5230368" cy="0"/>
          </a:xfrm>
          <a:prstGeom prst="line">
            <a:avLst/>
          </a:prstGeom>
          <a:noFill/>
          <a:ln w="1016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658368" y="4425696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Optimizer-state reduction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8368" y="4727448"/>
            <a:ext cx="251057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Reduces: persistent optimizer memory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78159" y="4727448"/>
            <a:ext cx="251057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56A70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Cost: low-precision or alternate optimizers require validation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8368" y="5266944"/>
            <a:ext cx="5230368" cy="0"/>
          </a:xfrm>
          <a:prstGeom prst="line">
            <a:avLst/>
          </a:prstGeom>
          <a:noFill/>
          <a:ln w="1016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6327648" y="1682496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Weight quantization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327648" y="1984248"/>
            <a:ext cx="247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Reduces: weight bytes and memory bandwidth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09400" y="1984248"/>
            <a:ext cx="247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56A70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Cost: accuracy and kernel support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27648" y="2523744"/>
            <a:ext cx="5157216" cy="0"/>
          </a:xfrm>
          <a:prstGeom prst="line">
            <a:avLst/>
          </a:prstGeom>
          <a:noFill/>
          <a:ln w="1016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6327648" y="2596896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Limit context or concurrency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327648" y="2898648"/>
            <a:ext cx="247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Reduces: KV cache directly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009400" y="2898648"/>
            <a:ext cx="247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56A70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Cost: request length or service capacity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27648" y="3438144"/>
            <a:ext cx="5157216" cy="0"/>
          </a:xfrm>
          <a:prstGeom prst="line">
            <a:avLst/>
          </a:prstGeom>
          <a:noFill/>
          <a:ln w="1016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Text 29"/>
          <p:cNvSpPr/>
          <p:nvPr/>
        </p:nvSpPr>
        <p:spPr>
          <a:xfrm>
            <a:off x="6327648" y="3511296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KV quantization or paged allocation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327648" y="3813048"/>
            <a:ext cx="247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Reduces: bytes per entry or unused reservation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09400" y="3813048"/>
            <a:ext cx="247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56A70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Cost: runtime complexity, indirection or latency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27648" y="4352544"/>
            <a:ext cx="5157216" cy="0"/>
          </a:xfrm>
          <a:prstGeom prst="line">
            <a:avLst/>
          </a:prstGeom>
          <a:noFill/>
          <a:ln w="1016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Text 33"/>
          <p:cNvSpPr/>
          <p:nvPr/>
        </p:nvSpPr>
        <p:spPr>
          <a:xfrm>
            <a:off x="6327648" y="4425696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Memory-efficient attention and kernels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327648" y="4727448"/>
            <a:ext cx="247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Reduces: temporary and intermediate tensors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009400" y="4727448"/>
            <a:ext cx="2475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56A70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Cost: hardware, shape and backend constraints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27648" y="5266944"/>
            <a:ext cx="5157216" cy="0"/>
          </a:xfrm>
          <a:prstGeom prst="line">
            <a:avLst/>
          </a:prstGeom>
          <a:noFill/>
          <a:ln w="1016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9" name="Shape 37"/>
          <p:cNvSpPr/>
          <p:nvPr/>
        </p:nvSpPr>
        <p:spPr>
          <a:xfrm>
            <a:off x="658368" y="5449824"/>
            <a:ext cx="10826496" cy="0"/>
          </a:xfrm>
          <a:prstGeom prst="line">
            <a:avLst/>
          </a:prstGeom>
          <a:noFill/>
          <a:ln w="1270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0" name="Text 38"/>
          <p:cNvSpPr/>
          <p:nvPr/>
        </p:nvSpPr>
        <p:spPr>
          <a:xfrm>
            <a:off x="822960" y="5532120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If these levers are insufficient, CPU or NVMe offload adds capacity by paying storage and host-device traffic.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22960" y="5824728"/>
            <a:ext cx="10497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56A7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Several apply to both columns; combine cautiously and remeasure.</a:t>
            </a:r>
            <a:endParaRPr lang="en-US" sz="1600" dirty="0"/>
          </a:p>
        </p:txBody>
      </p:sp>
      <p:sp>
        <p:nvSpPr>
          <p:cNvPr id="140" name="Slide Number Placeholder 140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0000-0000-0000-000000000140}" type="slidenum">
              <a:rPr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Training offload</a:t>
            </a:r>
            <a:endParaRPr lang="en-US" sz="4400" b="1" dirty="0"/>
          </a:p>
        </p:txBody>
      </p:sp>
      <p:sp>
        <p:nvSpPr>
          <p:cNvPr id="3" name="Text 1"/>
          <p:cNvSpPr/>
          <p:nvPr/>
        </p:nvSpPr>
        <p:spPr>
          <a:xfrm>
            <a:off x="658368" y="113385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OFFLOADS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8368" y="138988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Optimizer state and optimizer work first; optionally parameters and gradients.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2103120"/>
            <a:ext cx="2971800" cy="0"/>
          </a:xfrm>
          <a:prstGeom prst="line">
            <a:avLst/>
          </a:prstGeom>
          <a:noFill/>
          <a:ln w="1270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658368" y="224942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2505456"/>
            <a:ext cx="2971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The GPU runs forward and backward. FSDP or ZeRO stages state through host memory when it is needed.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3419856"/>
            <a:ext cx="2971800" cy="0"/>
          </a:xfrm>
          <a:prstGeom prst="line">
            <a:avLst/>
          </a:prstGeom>
          <a:noFill/>
          <a:ln w="1270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658368" y="356616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MAIN COST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3822192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Host-device traffic, CPU work, and pressure on host RAM and link bandwidth.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" y="4709160"/>
            <a:ext cx="2971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Use when: sharding and checkpointing still do not fit, and capacity matters more than step time.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87952" y="114300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56A7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HOST RAM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57616" y="114300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56A7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GPU HBM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87952" y="1481328"/>
            <a:ext cx="2907792" cy="3584448"/>
          </a:xfrm>
          <a:prstGeom prst="rect">
            <a:avLst/>
          </a:prstGeom>
          <a:solidFill>
            <a:srgbClr val="ECEEF1"/>
          </a:solidFill>
          <a:ln w="1270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8357616" y="1481328"/>
            <a:ext cx="2852928" cy="3584448"/>
          </a:xfrm>
          <a:prstGeom prst="rect">
            <a:avLst/>
          </a:prstGeom>
          <a:solidFill>
            <a:srgbClr val="FCF3E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Shape 14"/>
          <p:cNvSpPr/>
          <p:nvPr/>
        </p:nvSpPr>
        <p:spPr>
          <a:xfrm>
            <a:off x="4507992" y="1828800"/>
            <a:ext cx="2267712" cy="822960"/>
          </a:xfrm>
          <a:prstGeom prst="rect">
            <a:avLst/>
          </a:prstGeom>
          <a:solidFill>
            <a:srgbClr val="F8E7DD"/>
          </a:solidFill>
          <a:ln w="1270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4617720" y="1874520"/>
            <a:ext cx="2048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Optimizer state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+ optimizer step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07992" y="3346704"/>
            <a:ext cx="2267712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4617720" y="3392424"/>
            <a:ext cx="2048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Parameters + gradients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(optional)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677656" y="2212848"/>
            <a:ext cx="2212848" cy="1097280"/>
          </a:xfrm>
          <a:prstGeom prst="rect">
            <a:avLst/>
          </a:prstGeom>
          <a:solidFill>
            <a:srgbClr val="F8E7DD"/>
          </a:solidFill>
          <a:ln w="1270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8787384" y="2258568"/>
            <a:ext cx="1993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Forward + backward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GPU compute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32320" y="2240280"/>
            <a:ext cx="1207008" cy="0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  <a:head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23" name="Text 21"/>
          <p:cNvSpPr/>
          <p:nvPr/>
        </p:nvSpPr>
        <p:spPr>
          <a:xfrm>
            <a:off x="7114032" y="1874520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gradients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132320" y="2862072"/>
            <a:ext cx="1207008" cy="0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7104888" y="294436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updated params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132320" y="3694176"/>
            <a:ext cx="1207008" cy="0"/>
          </a:xfrm>
          <a:prstGeom prst="line">
            <a:avLst/>
          </a:prstGeom>
          <a:noFill/>
          <a:ln w="16510">
            <a:solidFill>
              <a:srgbClr val="656A70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7168896" y="335584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56A70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prefetch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132320" y="4251960"/>
            <a:ext cx="1207008" cy="0"/>
          </a:xfrm>
          <a:prstGeom prst="line">
            <a:avLst/>
          </a:prstGeom>
          <a:noFill/>
          <a:ln w="16510">
            <a:solidFill>
              <a:srgbClr val="656A70"/>
            </a:solidFill>
            <a:prstDash val="solid"/>
            <a:head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Text 27"/>
          <p:cNvSpPr/>
          <p:nvPr/>
        </p:nvSpPr>
        <p:spPr>
          <a:xfrm>
            <a:off x="7168896" y="4334256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56A70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offload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187952" y="5413248"/>
            <a:ext cx="7022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Offload the largest cold state first; streaming parameters from host for every layer is the more expensive fallback.</a:t>
            </a:r>
            <a:endParaRPr lang="en-US" sz="1600" dirty="0"/>
          </a:p>
        </p:txBody>
      </p:sp>
      <p:sp>
        <p:nvSpPr>
          <p:cNvPr id="100" name="Slide Number Placeholder 100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0000-0000-0000-000000000100}" type="slidenum">
              <a:rPr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835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Inference offload</a:t>
            </a:r>
            <a:endParaRPr lang="en-US" sz="4400" b="1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5257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A  KEEP SOME LAYERS ON THE CPU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8368" y="148132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CPU computes its assigned layers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58368" y="1847088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56A70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Only activations cross the boundary, but CPU layer compute is usually much slower.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41248" y="2816352"/>
            <a:ext cx="1737360" cy="987552"/>
          </a:xfrm>
          <a:prstGeom prst="rect">
            <a:avLst/>
          </a:prstGeom>
          <a:solidFill>
            <a:srgbClr val="F8E7DD"/>
          </a:solidFill>
          <a:ln w="1270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950976" y="2862072"/>
            <a:ext cx="15179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GPU layers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GPU compute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95344" y="2816352"/>
            <a:ext cx="1737360" cy="987552"/>
          </a:xfrm>
          <a:prstGeom prst="rect">
            <a:avLst/>
          </a:prstGeom>
          <a:solidFill>
            <a:srgbClr val="ECEEF1"/>
          </a:solidFill>
          <a:ln w="1270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4005072" y="2862072"/>
            <a:ext cx="15179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CPU layers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CPU compute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615184" y="3310128"/>
            <a:ext cx="1225296" cy="0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2651760" y="29443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activations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4087368"/>
            <a:ext cx="4791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56A7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Static placement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9048" y="1115568"/>
            <a:ext cx="0" cy="3959352"/>
          </a:xfrm>
          <a:prstGeom prst="line">
            <a:avLst/>
          </a:prstGeom>
          <a:noFill/>
          <a:ln w="1270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6364224" y="114300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B  STREAM WEIGHTS TO THE GPU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64224" y="14813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GPU computes each layer as weights arrive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364224" y="184708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56A70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Inactive weights stay in RAM or NVMe; prefetching tries to hide transfer time.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65392" y="2816352"/>
            <a:ext cx="1810512" cy="987552"/>
          </a:xfrm>
          <a:prstGeom prst="rect">
            <a:avLst/>
          </a:prstGeom>
          <a:solidFill>
            <a:srgbClr val="ECEEF1"/>
          </a:solidFill>
          <a:ln w="1270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6675120" y="2862072"/>
            <a:ext cx="159105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Inactive layer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weights in RAM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582912" y="2816352"/>
            <a:ext cx="1737360" cy="987552"/>
          </a:xfrm>
          <a:prstGeom prst="rect">
            <a:avLst/>
          </a:prstGeom>
          <a:solidFill>
            <a:srgbClr val="F8E7DD"/>
          </a:solidFill>
          <a:ln w="1270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9692640" y="2862072"/>
            <a:ext cx="15179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Current layer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GPU compute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412480" y="3310128"/>
            <a:ext cx="1115568" cy="0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8439912" y="29443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prefetch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65392" y="408736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56A7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Release the GPU copy after use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8368" y="5074920"/>
            <a:ext cx="10826496" cy="0"/>
          </a:xfrm>
          <a:prstGeom prst="line">
            <a:avLst/>
          </a:prstGeom>
          <a:noFill/>
          <a:ln w="1270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822960" y="5266944"/>
            <a:ext cx="10497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CPU execution avoids repeated weight transfers but spends CPU compute. Streaming preserves GPU math but can move model-sized data for every generated token.</a:t>
            </a:r>
            <a:endParaRPr lang="en-US" sz="1600" dirty="0"/>
          </a:p>
        </p:txBody>
      </p:sp>
      <p:sp>
        <p:nvSpPr>
          <p:cNvPr id="101" name="Slide Number Placeholder 101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0000-0000-0000-000000000101}" type="slidenum">
              <a:rPr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844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Peak memory: object lifetimes</a:t>
            </a:r>
            <a:endParaRPr lang="en-US" sz="4400" b="1" dirty="0"/>
          </a:p>
        </p:txBody>
      </p:sp>
      <p:sp>
        <p:nvSpPr>
          <p:cNvPr id="3" name="Text 1"/>
          <p:cNvSpPr/>
          <p:nvPr/>
        </p:nvSpPr>
        <p:spPr>
          <a:xfrm>
            <a:off x="658368" y="1106424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TRAINING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56A70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The maximum may not appear until backward or the first optimizer step.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103120" y="1938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56A7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LOAD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16936" y="2075688"/>
            <a:ext cx="201168" cy="0"/>
          </a:xfrm>
          <a:prstGeom prst="line">
            <a:avLst/>
          </a:prstGeom>
          <a:noFill/>
          <a:ln w="17780">
            <a:solidFill>
              <a:srgbClr val="DB6C30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5"/>
          <p:cNvSpPr/>
          <p:nvPr/>
        </p:nvSpPr>
        <p:spPr>
          <a:xfrm>
            <a:off x="3017520" y="1938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FWD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31336" y="2075688"/>
            <a:ext cx="201168" cy="0"/>
          </a:xfrm>
          <a:prstGeom prst="line">
            <a:avLst/>
          </a:prstGeom>
          <a:noFill/>
          <a:ln w="17780">
            <a:solidFill>
              <a:srgbClr val="DB6C30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3931920" y="1938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BWD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45736" y="2075688"/>
            <a:ext cx="201168" cy="0"/>
          </a:xfrm>
          <a:prstGeom prst="line">
            <a:avLst/>
          </a:prstGeom>
          <a:noFill/>
          <a:ln w="17780">
            <a:solidFill>
              <a:srgbClr val="DB6C30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4846320" y="1938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STEP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" y="2350008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Parameters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103120" y="2404872"/>
            <a:ext cx="841248" cy="310896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Shape 12"/>
          <p:cNvSpPr/>
          <p:nvPr/>
        </p:nvSpPr>
        <p:spPr>
          <a:xfrm>
            <a:off x="3017520" y="2404872"/>
            <a:ext cx="841248" cy="310896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3931920" y="2404872"/>
            <a:ext cx="841248" cy="310896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Shape 14"/>
          <p:cNvSpPr/>
          <p:nvPr/>
        </p:nvSpPr>
        <p:spPr>
          <a:xfrm>
            <a:off x="4846320" y="2404872"/>
            <a:ext cx="841248" cy="310896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5"/>
          <p:cNvSpPr/>
          <p:nvPr/>
        </p:nvSpPr>
        <p:spPr>
          <a:xfrm>
            <a:off x="658368" y="2816352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Activations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103120" y="2871216"/>
            <a:ext cx="84124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Shape 17"/>
          <p:cNvSpPr/>
          <p:nvPr/>
        </p:nvSpPr>
        <p:spPr>
          <a:xfrm>
            <a:off x="3017520" y="2871216"/>
            <a:ext cx="841248" cy="310896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Shape 18"/>
          <p:cNvSpPr/>
          <p:nvPr/>
        </p:nvSpPr>
        <p:spPr>
          <a:xfrm>
            <a:off x="3931920" y="2871216"/>
            <a:ext cx="841248" cy="310896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>
            <a:off x="4846320" y="2871216"/>
            <a:ext cx="84124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658368" y="3282696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Gradients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103120" y="3337560"/>
            <a:ext cx="84124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Shape 22"/>
          <p:cNvSpPr/>
          <p:nvPr/>
        </p:nvSpPr>
        <p:spPr>
          <a:xfrm>
            <a:off x="3017520" y="3337560"/>
            <a:ext cx="84124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5" name="Shape 23"/>
          <p:cNvSpPr/>
          <p:nvPr/>
        </p:nvSpPr>
        <p:spPr>
          <a:xfrm>
            <a:off x="3931920" y="3337560"/>
            <a:ext cx="841248" cy="310896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Shape 24"/>
          <p:cNvSpPr/>
          <p:nvPr/>
        </p:nvSpPr>
        <p:spPr>
          <a:xfrm>
            <a:off x="4846320" y="3337560"/>
            <a:ext cx="841248" cy="310896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7" name="Text 25"/>
          <p:cNvSpPr/>
          <p:nvPr/>
        </p:nvSpPr>
        <p:spPr>
          <a:xfrm>
            <a:off x="658368" y="3749040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Optimizer state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103120" y="3803904"/>
            <a:ext cx="84124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9" name="Shape 27"/>
          <p:cNvSpPr/>
          <p:nvPr/>
        </p:nvSpPr>
        <p:spPr>
          <a:xfrm>
            <a:off x="3017520" y="3803904"/>
            <a:ext cx="84124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Shape 28"/>
          <p:cNvSpPr/>
          <p:nvPr/>
        </p:nvSpPr>
        <p:spPr>
          <a:xfrm>
            <a:off x="3931920" y="3803904"/>
            <a:ext cx="84124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Shape 29"/>
          <p:cNvSpPr/>
          <p:nvPr/>
        </p:nvSpPr>
        <p:spPr>
          <a:xfrm>
            <a:off x="4846320" y="3803904"/>
            <a:ext cx="841248" cy="310896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Text 30"/>
          <p:cNvSpPr/>
          <p:nvPr/>
        </p:nvSpPr>
        <p:spPr>
          <a:xfrm>
            <a:off x="658368" y="4215384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Temporary buffers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103120" y="4270248"/>
            <a:ext cx="84124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Shape 32"/>
          <p:cNvSpPr/>
          <p:nvPr/>
        </p:nvSpPr>
        <p:spPr>
          <a:xfrm>
            <a:off x="3017520" y="4270248"/>
            <a:ext cx="841248" cy="310896"/>
          </a:xfrm>
          <a:prstGeom prst="rect">
            <a:avLst/>
          </a:prstGeom>
          <a:solidFill>
            <a:srgbClr val="ECEEF1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5" name="Shape 33"/>
          <p:cNvSpPr/>
          <p:nvPr/>
        </p:nvSpPr>
        <p:spPr>
          <a:xfrm>
            <a:off x="3931920" y="4270248"/>
            <a:ext cx="841248" cy="310896"/>
          </a:xfrm>
          <a:prstGeom prst="rect">
            <a:avLst/>
          </a:prstGeom>
          <a:solidFill>
            <a:srgbClr val="ECEEF1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Shape 34"/>
          <p:cNvSpPr/>
          <p:nvPr/>
        </p:nvSpPr>
        <p:spPr>
          <a:xfrm>
            <a:off x="4846320" y="4270248"/>
            <a:ext cx="841248" cy="310896"/>
          </a:xfrm>
          <a:prstGeom prst="rect">
            <a:avLst/>
          </a:prstGeom>
          <a:solidFill>
            <a:srgbClr val="ECEEF1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7" name="Shape 35"/>
          <p:cNvSpPr/>
          <p:nvPr/>
        </p:nvSpPr>
        <p:spPr>
          <a:xfrm>
            <a:off x="6080760" y="1078992"/>
            <a:ext cx="0" cy="3904488"/>
          </a:xfrm>
          <a:prstGeom prst="line">
            <a:avLst/>
          </a:prstGeom>
          <a:noFill/>
          <a:ln w="1270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Text 36"/>
          <p:cNvSpPr/>
          <p:nvPr/>
        </p:nvSpPr>
        <p:spPr>
          <a:xfrm>
            <a:off x="6345936" y="1106424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INFERENCE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45936" y="1417320"/>
            <a:ext cx="5138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56A70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Weights establish the baseline; prefill and decode add different peaks.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763256" y="1938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56A7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LOAD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851392" y="2075688"/>
            <a:ext cx="201168" cy="0"/>
          </a:xfrm>
          <a:prstGeom prst="line">
            <a:avLst/>
          </a:prstGeom>
          <a:noFill/>
          <a:ln w="17780">
            <a:solidFill>
              <a:srgbClr val="DB6C30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42" name="Text 40"/>
          <p:cNvSpPr/>
          <p:nvPr/>
        </p:nvSpPr>
        <p:spPr>
          <a:xfrm>
            <a:off x="8951976" y="1938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PREFILL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040112" y="2075688"/>
            <a:ext cx="201168" cy="0"/>
          </a:xfrm>
          <a:prstGeom prst="line">
            <a:avLst/>
          </a:prstGeom>
          <a:noFill/>
          <a:ln w="17780">
            <a:solidFill>
              <a:srgbClr val="DB6C30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44" name="Text 42"/>
          <p:cNvSpPr/>
          <p:nvPr/>
        </p:nvSpPr>
        <p:spPr>
          <a:xfrm>
            <a:off x="10140696" y="1938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DECODE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45936" y="2350008"/>
            <a:ext cx="130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Weights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763256" y="2404872"/>
            <a:ext cx="1115568" cy="310896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7" name="Shape 45"/>
          <p:cNvSpPr/>
          <p:nvPr/>
        </p:nvSpPr>
        <p:spPr>
          <a:xfrm>
            <a:off x="8951976" y="2404872"/>
            <a:ext cx="1115568" cy="310896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8" name="Shape 46"/>
          <p:cNvSpPr/>
          <p:nvPr/>
        </p:nvSpPr>
        <p:spPr>
          <a:xfrm>
            <a:off x="10140696" y="2404872"/>
            <a:ext cx="1115568" cy="310896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9" name="Text 47"/>
          <p:cNvSpPr/>
          <p:nvPr/>
        </p:nvSpPr>
        <p:spPr>
          <a:xfrm>
            <a:off x="6345936" y="2816352"/>
            <a:ext cx="130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Activations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7763256" y="2871216"/>
            <a:ext cx="111556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1" name="Shape 49"/>
          <p:cNvSpPr/>
          <p:nvPr/>
        </p:nvSpPr>
        <p:spPr>
          <a:xfrm>
            <a:off x="8951976" y="2871216"/>
            <a:ext cx="1115568" cy="310896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2" name="Shape 50"/>
          <p:cNvSpPr/>
          <p:nvPr/>
        </p:nvSpPr>
        <p:spPr>
          <a:xfrm>
            <a:off x="10140696" y="2871216"/>
            <a:ext cx="1115568" cy="310896"/>
          </a:xfrm>
          <a:prstGeom prst="rect">
            <a:avLst/>
          </a:prstGeom>
          <a:solidFill>
            <a:srgbClr val="ECEEF1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3" name="Text 51"/>
          <p:cNvSpPr/>
          <p:nvPr/>
        </p:nvSpPr>
        <p:spPr>
          <a:xfrm>
            <a:off x="6345936" y="3282696"/>
            <a:ext cx="130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KV cache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7763256" y="3337560"/>
            <a:ext cx="111556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5" name="Shape 53"/>
          <p:cNvSpPr/>
          <p:nvPr/>
        </p:nvSpPr>
        <p:spPr>
          <a:xfrm>
            <a:off x="8951976" y="3337560"/>
            <a:ext cx="1115568" cy="310896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6" name="Shape 54"/>
          <p:cNvSpPr/>
          <p:nvPr/>
        </p:nvSpPr>
        <p:spPr>
          <a:xfrm>
            <a:off x="10140696" y="3337560"/>
            <a:ext cx="1115568" cy="310896"/>
          </a:xfrm>
          <a:prstGeom prst="rect">
            <a:avLst/>
          </a:prstGeom>
          <a:solidFill>
            <a:srgbClr val="F8E7DD"/>
          </a:solidFill>
          <a:ln w="1524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7" name="Text 55"/>
          <p:cNvSpPr/>
          <p:nvPr/>
        </p:nvSpPr>
        <p:spPr>
          <a:xfrm>
            <a:off x="6345936" y="3749040"/>
            <a:ext cx="1307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Workspaces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763256" y="3803904"/>
            <a:ext cx="111556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5F6F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9" name="Shape 57"/>
          <p:cNvSpPr/>
          <p:nvPr/>
        </p:nvSpPr>
        <p:spPr>
          <a:xfrm>
            <a:off x="8951976" y="3803904"/>
            <a:ext cx="1115568" cy="310896"/>
          </a:xfrm>
          <a:prstGeom prst="rect">
            <a:avLst/>
          </a:prstGeom>
          <a:solidFill>
            <a:srgbClr val="ECEEF1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0" name="Shape 58"/>
          <p:cNvSpPr/>
          <p:nvPr/>
        </p:nvSpPr>
        <p:spPr>
          <a:xfrm>
            <a:off x="10140696" y="3803904"/>
            <a:ext cx="1115568" cy="310896"/>
          </a:xfrm>
          <a:prstGeom prst="rect">
            <a:avLst/>
          </a:prstGeom>
          <a:solidFill>
            <a:srgbClr val="ECEEF1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1" name="Text 59"/>
          <p:cNvSpPr/>
          <p:nvPr/>
        </p:nvSpPr>
        <p:spPr>
          <a:xfrm>
            <a:off x="8951976" y="42245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grows with tokens and concurrent sequences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116568" y="4645152"/>
            <a:ext cx="2048256" cy="0"/>
          </a:xfrm>
          <a:prstGeom prst="line">
            <a:avLst/>
          </a:prstGeom>
          <a:noFill/>
          <a:ln w="17780">
            <a:solidFill>
              <a:srgbClr val="DB6C30"/>
            </a:solidFill>
            <a:prstDash val="solid"/>
            <a:tailEnd type="triangle"/>
          </a:ln>
        </p:spPr>
        <p:txBody>
          <a:bodyPr/>
          <a:lstStyle/>
          <a:p>
            <a:endParaRPr lang="LID4096"/>
          </a:p>
        </p:txBody>
      </p:sp>
      <p:sp>
        <p:nvSpPr>
          <p:cNvPr id="63" name="Shape 61"/>
          <p:cNvSpPr/>
          <p:nvPr/>
        </p:nvSpPr>
        <p:spPr>
          <a:xfrm>
            <a:off x="658368" y="5120640"/>
            <a:ext cx="10826496" cy="0"/>
          </a:xfrm>
          <a:prstGeom prst="line">
            <a:avLst/>
          </a:prstGeom>
          <a:noFill/>
          <a:ln w="1270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4" name="Text 62"/>
          <p:cNvSpPr/>
          <p:nvPr/>
        </p:nvSpPr>
        <p:spPr>
          <a:xfrm>
            <a:off x="804672" y="5303520"/>
            <a:ext cx="10533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Measure the peak, then identify which object created it. Presence is shown schematically; band size is not a byte count.</a:t>
            </a:r>
            <a:endParaRPr lang="en-US" sz="1600" dirty="0"/>
          </a:p>
        </p:txBody>
      </p:sp>
      <p:sp>
        <p:nvSpPr>
          <p:cNvPr id="110" name="Slide Number Placeholder 110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0000-0000-0000-000000000110}" type="slidenum">
              <a:rPr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10844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Change one variable and observe what grows</a:t>
            </a:r>
            <a:endParaRPr lang="en-US" sz="4400" b="1" dirty="0"/>
          </a:p>
        </p:txBody>
      </p:sp>
      <p:sp>
        <p:nvSpPr>
          <p:cNvPr id="3" name="Shape 1"/>
          <p:cNvSpPr/>
          <p:nvPr/>
        </p:nvSpPr>
        <p:spPr>
          <a:xfrm>
            <a:off x="749808" y="1225296"/>
            <a:ext cx="475488" cy="475488"/>
          </a:xfrm>
          <a:prstGeom prst="ellipse">
            <a:avLst/>
          </a:prstGeom>
          <a:solidFill>
            <a:srgbClr val="DB6C30"/>
          </a:solidFill>
          <a:ln w="1270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749808" y="1225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89888" y="1207008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Warm up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89888" y="1508760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56A70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Include compilation and a complete step or request cycle.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9808" y="2286000"/>
            <a:ext cx="475488" cy="475488"/>
          </a:xfrm>
          <a:prstGeom prst="ellipse">
            <a:avLst/>
          </a:prstGeom>
          <a:solidFill>
            <a:srgbClr val="DB6C30"/>
          </a:solidFill>
          <a:ln w="1270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749808" y="2286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89888" y="226771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Record phase peaks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89888" y="2569464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56A70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Measure after load, forward, backward, step, prefill or decode.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9808" y="3346704"/>
            <a:ext cx="475488" cy="475488"/>
          </a:xfrm>
          <a:prstGeom prst="ellipse">
            <a:avLst/>
          </a:prstGeom>
          <a:solidFill>
            <a:srgbClr val="DB6C30"/>
          </a:solidFill>
          <a:ln w="1270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749808" y="3346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89888" y="332841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Vary one input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89888" y="3630168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56A70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Change microbatch, sequence, concurrency or parallel degree.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9808" y="4407408"/>
            <a:ext cx="475488" cy="475488"/>
          </a:xfrm>
          <a:prstGeom prst="ellipse">
            <a:avLst/>
          </a:prstGeom>
          <a:solidFill>
            <a:srgbClr val="DB6C30"/>
          </a:solidFill>
          <a:ln w="12700">
            <a:solidFill>
              <a:srgbClr val="DB6C3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749808" y="4407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89888" y="438912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33639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Attribute the slope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89888" y="4690872"/>
            <a:ext cx="2395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56A70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Target the object whose memory or time grows.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151376" y="1316736"/>
            <a:ext cx="2578608" cy="402336"/>
          </a:xfrm>
          <a:prstGeom prst="rect">
            <a:avLst/>
          </a:prstGeom>
          <a:solidFill>
            <a:srgbClr val="333639"/>
          </a:solidFill>
          <a:ln w="12700">
            <a:solidFill>
              <a:srgbClr val="33363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4261104" y="1316736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OBSERVATION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29984" y="1316736"/>
            <a:ext cx="1755648" cy="402336"/>
          </a:xfrm>
          <a:prstGeom prst="rect">
            <a:avLst/>
          </a:prstGeom>
          <a:solidFill>
            <a:srgbClr val="333639"/>
          </a:solidFill>
          <a:ln w="12700">
            <a:solidFill>
              <a:srgbClr val="33363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6839712" y="1316736"/>
            <a:ext cx="1536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LIKELY LIMIT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485632" y="1316736"/>
            <a:ext cx="2926080" cy="402336"/>
          </a:xfrm>
          <a:prstGeom prst="rect">
            <a:avLst/>
          </a:prstGeom>
          <a:solidFill>
            <a:srgbClr val="333639"/>
          </a:solidFill>
          <a:ln w="12700">
            <a:solidFill>
              <a:srgbClr val="33363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8595360" y="1316736"/>
            <a:ext cx="2706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CANDIDATE RESPONSE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151376" y="1719072"/>
            <a:ext cx="2578608" cy="676656"/>
          </a:xfrm>
          <a:prstGeom prst="rect">
            <a:avLst/>
          </a:prstGeom>
          <a:solidFill>
            <a:srgbClr val="FFFFFF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4261104" y="1755648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High immediately after load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729984" y="1719072"/>
            <a:ext cx="1755648" cy="676656"/>
          </a:xfrm>
          <a:prstGeom prst="rect">
            <a:avLst/>
          </a:prstGeom>
          <a:solidFill>
            <a:srgbClr val="FFFFFF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6839712" y="1755648"/>
            <a:ext cx="1536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Weights or state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485632" y="1719072"/>
            <a:ext cx="2926080" cy="676656"/>
          </a:xfrm>
          <a:prstGeom prst="rect">
            <a:avLst/>
          </a:prstGeom>
          <a:solidFill>
            <a:srgbClr val="FFFFFF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8595360" y="1755648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Reduce precision; shard; TP or offload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151376" y="2395728"/>
            <a:ext cx="2578608" cy="676656"/>
          </a:xfrm>
          <a:prstGeom prst="rect">
            <a:avLst/>
          </a:prstGeom>
          <a:solidFill>
            <a:srgbClr val="F5F6F8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2" name="Text 30"/>
          <p:cNvSpPr/>
          <p:nvPr/>
        </p:nvSpPr>
        <p:spPr>
          <a:xfrm>
            <a:off x="4261104" y="2432304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Rises with training microbatch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729984" y="2395728"/>
            <a:ext cx="1755648" cy="676656"/>
          </a:xfrm>
          <a:prstGeom prst="rect">
            <a:avLst/>
          </a:prstGeom>
          <a:solidFill>
            <a:srgbClr val="F5F6F8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4" name="Text 32"/>
          <p:cNvSpPr/>
          <p:nvPr/>
        </p:nvSpPr>
        <p:spPr>
          <a:xfrm>
            <a:off x="6839712" y="2432304"/>
            <a:ext cx="1536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Activations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485632" y="2395728"/>
            <a:ext cx="2926080" cy="676656"/>
          </a:xfrm>
          <a:prstGeom prst="rect">
            <a:avLst/>
          </a:prstGeom>
          <a:solidFill>
            <a:srgbClr val="F5F6F8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Text 34"/>
          <p:cNvSpPr/>
          <p:nvPr/>
        </p:nvSpPr>
        <p:spPr>
          <a:xfrm>
            <a:off x="8595360" y="2432304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Smaller microbatch; checkpoint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151376" y="3072384"/>
            <a:ext cx="2578608" cy="676656"/>
          </a:xfrm>
          <a:prstGeom prst="rect">
            <a:avLst/>
          </a:prstGeom>
          <a:solidFill>
            <a:srgbClr val="FFFFFF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8" name="Text 36"/>
          <p:cNvSpPr/>
          <p:nvPr/>
        </p:nvSpPr>
        <p:spPr>
          <a:xfrm>
            <a:off x="4261104" y="3108960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Rises with sequence or concurrency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729984" y="3072384"/>
            <a:ext cx="1755648" cy="676656"/>
          </a:xfrm>
          <a:prstGeom prst="rect">
            <a:avLst/>
          </a:prstGeom>
          <a:solidFill>
            <a:srgbClr val="FFFFFF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0" name="Text 38"/>
          <p:cNvSpPr/>
          <p:nvPr/>
        </p:nvSpPr>
        <p:spPr>
          <a:xfrm>
            <a:off x="6839712" y="3108960"/>
            <a:ext cx="1536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Activations / KV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485632" y="3072384"/>
            <a:ext cx="2926080" cy="676656"/>
          </a:xfrm>
          <a:prstGeom prst="rect">
            <a:avLst/>
          </a:prstGeom>
          <a:solidFill>
            <a:srgbClr val="FFFFFF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2" name="Text 40"/>
          <p:cNvSpPr/>
          <p:nvPr/>
        </p:nvSpPr>
        <p:spPr>
          <a:xfrm>
            <a:off x="8595360" y="3108960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CP; cache or workload controls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151376" y="3749040"/>
            <a:ext cx="2578608" cy="676656"/>
          </a:xfrm>
          <a:prstGeom prst="rect">
            <a:avLst/>
          </a:prstGeom>
          <a:solidFill>
            <a:srgbClr val="F5F6F8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4" name="Text 42"/>
          <p:cNvSpPr/>
          <p:nvPr/>
        </p:nvSpPr>
        <p:spPr>
          <a:xfrm>
            <a:off x="4261104" y="3785616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One layer reaches the peak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729984" y="3749040"/>
            <a:ext cx="1755648" cy="676656"/>
          </a:xfrm>
          <a:prstGeom prst="rect">
            <a:avLst/>
          </a:prstGeom>
          <a:solidFill>
            <a:srgbClr val="F5F6F8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6" name="Text 44"/>
          <p:cNvSpPr/>
          <p:nvPr/>
        </p:nvSpPr>
        <p:spPr>
          <a:xfrm>
            <a:off x="6839712" y="3785616"/>
            <a:ext cx="1536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Layer / workspace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485632" y="3749040"/>
            <a:ext cx="2926080" cy="676656"/>
          </a:xfrm>
          <a:prstGeom prst="rect">
            <a:avLst/>
          </a:prstGeom>
          <a:solidFill>
            <a:srgbClr val="F5F6F8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8" name="Text 46"/>
          <p:cNvSpPr/>
          <p:nvPr/>
        </p:nvSpPr>
        <p:spPr>
          <a:xfrm>
            <a:off x="8595360" y="3785616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Minimal TP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151376" y="4425696"/>
            <a:ext cx="2578608" cy="676656"/>
          </a:xfrm>
          <a:prstGeom prst="rect">
            <a:avLst/>
          </a:prstGeom>
          <a:solidFill>
            <a:srgbClr val="FFFFFF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0" name="Text 48"/>
          <p:cNvSpPr/>
          <p:nvPr/>
        </p:nvSpPr>
        <p:spPr>
          <a:xfrm>
            <a:off x="4261104" y="4462272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Fits, but workers wait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729984" y="4425696"/>
            <a:ext cx="1755648" cy="676656"/>
          </a:xfrm>
          <a:prstGeom prst="rect">
            <a:avLst/>
          </a:prstGeom>
          <a:solidFill>
            <a:srgbClr val="FFFFFF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2" name="Text 50"/>
          <p:cNvSpPr/>
          <p:nvPr/>
        </p:nvSpPr>
        <p:spPr>
          <a:xfrm>
            <a:off x="6839712" y="4462272"/>
            <a:ext cx="15361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333639"/>
                </a:solidFill>
                <a:latin typeface="FlandersArtSans-Regular" pitchFamily="34" charset="0"/>
                <a:ea typeface="FlandersArtSans-Regular" pitchFamily="34" charset="-122"/>
                <a:cs typeface="FlandersArtSans-Regular" pitchFamily="34" charset="-120"/>
              </a:rPr>
              <a:t>Communication / idle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485632" y="4425696"/>
            <a:ext cx="2926080" cy="676656"/>
          </a:xfrm>
          <a:prstGeom prst="rect">
            <a:avLst/>
          </a:prstGeom>
          <a:solidFill>
            <a:srgbClr val="FFFFFF"/>
          </a:solidFill>
          <a:ln w="889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4" name="Text 52"/>
          <p:cNvSpPr/>
          <p:nvPr/>
        </p:nvSpPr>
        <p:spPr>
          <a:xfrm>
            <a:off x="8595360" y="4462272"/>
            <a:ext cx="27066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Remap or reduce parallel degree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58368" y="5413248"/>
            <a:ext cx="10826496" cy="0"/>
          </a:xfrm>
          <a:prstGeom prst="line">
            <a:avLst/>
          </a:prstGeom>
          <a:noFill/>
          <a:ln w="12700">
            <a:solidFill>
              <a:srgbClr val="C7CBD2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56" name="Text 54"/>
          <p:cNvSpPr/>
          <p:nvPr/>
        </p:nvSpPr>
        <p:spPr>
          <a:xfrm>
            <a:off x="822960" y="5559552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B6C30"/>
                </a:solidFill>
                <a:latin typeface="FlandersArtSans-Bold" pitchFamily="34" charset="0"/>
                <a:ea typeface="FlandersArtSans-Bold" pitchFamily="34" charset="-122"/>
                <a:cs typeface="FlandersArtSans-Bold" pitchFamily="34" charset="-120"/>
              </a:rPr>
              <a:t>Hold global batch, sequence length, precision, checkpointing and service objective constant when comparing alternatives.</a:t>
            </a:r>
            <a:endParaRPr lang="en-US" sz="1600" dirty="0"/>
          </a:p>
        </p:txBody>
      </p:sp>
      <p:sp>
        <p:nvSpPr>
          <p:cNvPr id="111" name="Slide Number Placeholder 111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0000-0000-0000-000000000111}" type="slidenum">
              <a:rPr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822"/>
            <a:ext cx="10515600" cy="1325563"/>
          </a:xfrm>
        </p:spPr>
        <p:txBody>
          <a:bodyPr/>
          <a:lstStyle/>
          <a:p>
            <a:r>
              <a:rPr dirty="0"/>
              <a:t>Training: match method to bottleneck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7BEEEC-A170-5376-2B6E-CB54687B0CB1}" type="slidenum">
              <a:rPr/>
              <a:t>25</a:t>
            </a:fld>
            <a:endParaRPr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554B8D5E-5076-4EAC-ABE5-6AECA0FC1CE1}"/>
              </a:ext>
            </a:extLst>
          </p:cNvPr>
          <p:cNvSpPr>
            <a:spLocks noGrp="1"/>
          </p:cNvSpPr>
          <p:nvPr/>
        </p:nvSpPr>
        <p:spPr>
          <a:xfrm>
            <a:off x="2162175" y="2143125"/>
            <a:ext cx="9525" cy="6191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ABEE3989-5522-41B7-88D6-7423F892A9C9}"/>
              </a:ext>
            </a:extLst>
          </p:cNvPr>
          <p:cNvSpPr>
            <a:spLocks noGrp="1"/>
          </p:cNvSpPr>
          <p:nvPr/>
        </p:nvSpPr>
        <p:spPr>
          <a:xfrm>
            <a:off x="3638550" y="1838325"/>
            <a:ext cx="457200" cy="952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66B82C31-A662-4097-B70C-E50DB9EB9E30}"/>
              </a:ext>
            </a:extLst>
          </p:cNvPr>
          <p:cNvSpPr>
            <a:spLocks noGrp="1"/>
          </p:cNvSpPr>
          <p:nvPr/>
        </p:nvSpPr>
        <p:spPr>
          <a:xfrm>
            <a:off x="4095750" y="1838325"/>
            <a:ext cx="9525" cy="324802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28317BEB-52BF-48D6-A5CA-EA88F041F978}"/>
              </a:ext>
            </a:extLst>
          </p:cNvPr>
          <p:cNvSpPr>
            <a:spLocks noGrp="1"/>
          </p:cNvSpPr>
          <p:nvPr/>
        </p:nvSpPr>
        <p:spPr>
          <a:xfrm>
            <a:off x="4095750" y="2114550"/>
            <a:ext cx="428625" cy="952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C2C0F130-9A62-4FEF-A1A2-3D269EA0223C}"/>
              </a:ext>
            </a:extLst>
          </p:cNvPr>
          <p:cNvSpPr>
            <a:spLocks noGrp="1"/>
          </p:cNvSpPr>
          <p:nvPr/>
        </p:nvSpPr>
        <p:spPr>
          <a:xfrm>
            <a:off x="4095750" y="2743200"/>
            <a:ext cx="428625" cy="952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6A3E5AE5-7B58-41D2-B51F-4833921F01C1}"/>
              </a:ext>
            </a:extLst>
          </p:cNvPr>
          <p:cNvSpPr>
            <a:spLocks noGrp="1"/>
          </p:cNvSpPr>
          <p:nvPr/>
        </p:nvSpPr>
        <p:spPr>
          <a:xfrm>
            <a:off x="4095750" y="3371850"/>
            <a:ext cx="428625" cy="952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925B3A94-A820-4153-8A8B-F79C7EE4C983}"/>
              </a:ext>
            </a:extLst>
          </p:cNvPr>
          <p:cNvSpPr>
            <a:spLocks noGrp="1"/>
          </p:cNvSpPr>
          <p:nvPr/>
        </p:nvSpPr>
        <p:spPr>
          <a:xfrm>
            <a:off x="4095750" y="4000500"/>
            <a:ext cx="428625" cy="952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E091FA13-288A-4FFE-A5FB-4878895C0B28}"/>
              </a:ext>
            </a:extLst>
          </p:cNvPr>
          <p:cNvSpPr>
            <a:spLocks noGrp="1"/>
          </p:cNvSpPr>
          <p:nvPr/>
        </p:nvSpPr>
        <p:spPr>
          <a:xfrm>
            <a:off x="4095750" y="4629150"/>
            <a:ext cx="428625" cy="952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4295DF9D-634B-4B35-A457-8812D48FC48F}"/>
              </a:ext>
            </a:extLst>
          </p:cNvPr>
          <p:cNvSpPr>
            <a:spLocks noGrp="1"/>
          </p:cNvSpPr>
          <p:nvPr/>
        </p:nvSpPr>
        <p:spPr>
          <a:xfrm>
            <a:off x="7000875" y="2114550"/>
            <a:ext cx="762000" cy="95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07E43009-48F8-4683-A80B-E917E71B7C15}"/>
              </a:ext>
            </a:extLst>
          </p:cNvPr>
          <p:cNvSpPr>
            <a:spLocks noGrp="1"/>
          </p:cNvSpPr>
          <p:nvPr/>
        </p:nvSpPr>
        <p:spPr>
          <a:xfrm>
            <a:off x="7000875" y="2743200"/>
            <a:ext cx="762000" cy="95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656277A1-7DE0-46EF-BB34-68DEFB9520C0}"/>
              </a:ext>
            </a:extLst>
          </p:cNvPr>
          <p:cNvSpPr>
            <a:spLocks noGrp="1"/>
          </p:cNvSpPr>
          <p:nvPr/>
        </p:nvSpPr>
        <p:spPr>
          <a:xfrm>
            <a:off x="7000875" y="3371850"/>
            <a:ext cx="762000" cy="95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30068005-FC0F-48E1-B6CD-AA72A9AD9272}"/>
              </a:ext>
            </a:extLst>
          </p:cNvPr>
          <p:cNvSpPr>
            <a:spLocks noGrp="1"/>
          </p:cNvSpPr>
          <p:nvPr/>
        </p:nvSpPr>
        <p:spPr>
          <a:xfrm>
            <a:off x="7000875" y="4000500"/>
            <a:ext cx="762000" cy="95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A442E00A-CF90-427C-A718-AD48A7D57871}"/>
              </a:ext>
            </a:extLst>
          </p:cNvPr>
          <p:cNvSpPr>
            <a:spLocks noGrp="1"/>
          </p:cNvSpPr>
          <p:nvPr/>
        </p:nvSpPr>
        <p:spPr>
          <a:xfrm>
            <a:off x="7000875" y="4629150"/>
            <a:ext cx="762000" cy="95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53F951-B8F5-430A-AC0D-B99930028102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2952750" cy="628650"/>
          </a:xfrm>
          <a:prstGeom prst="rect">
            <a:avLst/>
          </a:prstGeom>
          <a:solidFill>
            <a:srgbClr val="FFFFFF"/>
          </a:solidFill>
          <a:ln w="19050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Does one complete training copy fit?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DD5A55-29B0-48BB-ACE4-DF3458B9DD34}"/>
              </a:ext>
            </a:extLst>
          </p:cNvPr>
          <p:cNvSpPr>
            <a:spLocks noGrp="1"/>
          </p:cNvSpPr>
          <p:nvPr/>
        </p:nvSpPr>
        <p:spPr>
          <a:xfrm>
            <a:off x="2257425" y="2314575"/>
            <a:ext cx="514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YES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DE891F-0794-408F-81AA-B337BEAE4F60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2952750" cy="876300"/>
          </a:xfrm>
          <a:prstGeom prst="rect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1 GPU, or DDP for throughput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0EE42B-5EF7-40B7-B759-AF951ADDB35C}"/>
              </a:ext>
            </a:extLst>
          </p:cNvPr>
          <p:cNvSpPr>
            <a:spLocks noGrp="1"/>
          </p:cNvSpPr>
          <p:nvPr/>
        </p:nvSpPr>
        <p:spPr>
          <a:xfrm>
            <a:off x="4495800" y="1428750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NO: IDENTIFY THE DOMINANT MEMORY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CA88535-DCC2-498E-A773-48061FAE6CDB}"/>
              </a:ext>
            </a:extLst>
          </p:cNvPr>
          <p:cNvSpPr>
            <a:spLocks noGrp="1"/>
          </p:cNvSpPr>
          <p:nvPr/>
        </p:nvSpPr>
        <p:spPr>
          <a:xfrm>
            <a:off x="4524375" y="1866900"/>
            <a:ext cx="2476500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Persistent state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481510-CDFD-485A-AA11-ABD88CD45F57}"/>
              </a:ext>
            </a:extLst>
          </p:cNvPr>
          <p:cNvSpPr>
            <a:spLocks noGrp="1"/>
          </p:cNvSpPr>
          <p:nvPr/>
        </p:nvSpPr>
        <p:spPr>
          <a:xfrm>
            <a:off x="7762875" y="1866900"/>
            <a:ext cx="3667125" cy="495300"/>
          </a:xfrm>
          <a:prstGeom prst="rect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FSDP / ZeRO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2C3060E-E6BE-473C-B253-AF5D8CA72E91}"/>
              </a:ext>
            </a:extLst>
          </p:cNvPr>
          <p:cNvSpPr>
            <a:spLocks noGrp="1"/>
          </p:cNvSpPr>
          <p:nvPr/>
        </p:nvSpPr>
        <p:spPr>
          <a:xfrm>
            <a:off x="4524375" y="2495550"/>
            <a:ext cx="2476500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Activations or sequence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75732F-BA53-4197-9D5F-7707D0E0992A}"/>
              </a:ext>
            </a:extLst>
          </p:cNvPr>
          <p:cNvSpPr>
            <a:spLocks noGrp="1"/>
          </p:cNvSpPr>
          <p:nvPr/>
        </p:nvSpPr>
        <p:spPr>
          <a:xfrm>
            <a:off x="7762875" y="2495550"/>
            <a:ext cx="3667125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Checkpointing, smaller microbatch, CP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A990CC1-D5B6-47C6-9A0C-3C5FE0154385}"/>
              </a:ext>
            </a:extLst>
          </p:cNvPr>
          <p:cNvSpPr>
            <a:spLocks noGrp="1"/>
          </p:cNvSpPr>
          <p:nvPr/>
        </p:nvSpPr>
        <p:spPr>
          <a:xfrm>
            <a:off x="4524375" y="3124200"/>
            <a:ext cx="2476500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One layer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3EC3318-CCA4-4E66-A2DA-44AFF69312C6}"/>
              </a:ext>
            </a:extLst>
          </p:cNvPr>
          <p:cNvSpPr>
            <a:spLocks noGrp="1"/>
          </p:cNvSpPr>
          <p:nvPr/>
        </p:nvSpPr>
        <p:spPr>
          <a:xfrm>
            <a:off x="7762875" y="3124200"/>
            <a:ext cx="3667125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Minimal TP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6FF4830-8F59-4165-92B4-96FCD15DC0C6}"/>
              </a:ext>
            </a:extLst>
          </p:cNvPr>
          <p:cNvSpPr>
            <a:spLocks noGrp="1"/>
          </p:cNvSpPr>
          <p:nvPr/>
        </p:nvSpPr>
        <p:spPr>
          <a:xfrm>
            <a:off x="4524375" y="3752850"/>
            <a:ext cx="2476500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Depth or node boundary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84F592-8A07-4817-8DBC-3F7B482242EB}"/>
              </a:ext>
            </a:extLst>
          </p:cNvPr>
          <p:cNvSpPr>
            <a:spLocks noGrp="1"/>
          </p:cNvSpPr>
          <p:nvPr/>
        </p:nvSpPr>
        <p:spPr>
          <a:xfrm>
            <a:off x="7762875" y="3752850"/>
            <a:ext cx="3667125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PP; keep TP local if also needed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EE830AF-4720-4699-8547-51A18AC4C012}"/>
              </a:ext>
            </a:extLst>
          </p:cNvPr>
          <p:cNvSpPr>
            <a:spLocks noGrp="1"/>
          </p:cNvSpPr>
          <p:nvPr/>
        </p:nvSpPr>
        <p:spPr>
          <a:xfrm>
            <a:off x="4524375" y="4381500"/>
            <a:ext cx="2476500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Sparse experts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F3966E3-A2DD-4B91-9403-EBD6BE06C43D}"/>
              </a:ext>
            </a:extLst>
          </p:cNvPr>
          <p:cNvSpPr>
            <a:spLocks noGrp="1"/>
          </p:cNvSpPr>
          <p:nvPr/>
        </p:nvSpPr>
        <p:spPr>
          <a:xfrm>
            <a:off x="7762875" y="4381500"/>
            <a:ext cx="3667125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EP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5171F4D-8F02-499A-8C1A-ECDF9180F972}"/>
              </a:ext>
            </a:extLst>
          </p:cNvPr>
          <p:cNvSpPr>
            <a:spLocks noGrp="1"/>
          </p:cNvSpPr>
          <p:nvPr/>
        </p:nvSpPr>
        <p:spPr>
          <a:xfrm>
            <a:off x="3667125" y="5219700"/>
            <a:ext cx="7762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Use the smallest model-parallel degree that fits; spend remaining GPUs on data parallelism.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Inference: separate fit from service objective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394428-F1DC-E5F6-DB0C-7DE31F3D8A23}" type="slidenum">
              <a:rPr/>
              <a:t>26</a:t>
            </a:fld>
            <a:endParaRPr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836B9AA8-132E-4834-BD00-A46D48546972}"/>
              </a:ext>
            </a:extLst>
          </p:cNvPr>
          <p:cNvSpPr>
            <a:spLocks noGrp="1"/>
          </p:cNvSpPr>
          <p:nvPr/>
        </p:nvSpPr>
        <p:spPr>
          <a:xfrm flipV="1">
            <a:off x="3648382" y="3286125"/>
            <a:ext cx="457200" cy="9524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476AAB94-A505-4300-9AAF-38AF21EFF38C}"/>
              </a:ext>
            </a:extLst>
          </p:cNvPr>
          <p:cNvSpPr>
            <a:spLocks noGrp="1"/>
          </p:cNvSpPr>
          <p:nvPr/>
        </p:nvSpPr>
        <p:spPr>
          <a:xfrm>
            <a:off x="4095750" y="2038350"/>
            <a:ext cx="9525" cy="2952750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BA43CE67-EA56-4D6A-AF00-6414A8286113}"/>
              </a:ext>
            </a:extLst>
          </p:cNvPr>
          <p:cNvSpPr>
            <a:spLocks noGrp="1"/>
          </p:cNvSpPr>
          <p:nvPr/>
        </p:nvSpPr>
        <p:spPr>
          <a:xfrm>
            <a:off x="4095750" y="2038350"/>
            <a:ext cx="523875" cy="952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73CA93D1-40A2-4CCF-A92B-1414436393E3}"/>
              </a:ext>
            </a:extLst>
          </p:cNvPr>
          <p:cNvSpPr>
            <a:spLocks noGrp="1"/>
          </p:cNvSpPr>
          <p:nvPr/>
        </p:nvSpPr>
        <p:spPr>
          <a:xfrm>
            <a:off x="4095750" y="2895600"/>
            <a:ext cx="523875" cy="952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0A8073CB-FA67-4FD8-9030-20C4FC1BCCC3}"/>
              </a:ext>
            </a:extLst>
          </p:cNvPr>
          <p:cNvSpPr>
            <a:spLocks noGrp="1"/>
          </p:cNvSpPr>
          <p:nvPr/>
        </p:nvSpPr>
        <p:spPr>
          <a:xfrm>
            <a:off x="4095750" y="4133850"/>
            <a:ext cx="523875" cy="952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DA1DB66D-9098-410C-898D-71B2444C27D6}"/>
              </a:ext>
            </a:extLst>
          </p:cNvPr>
          <p:cNvSpPr>
            <a:spLocks noGrp="1"/>
          </p:cNvSpPr>
          <p:nvPr/>
        </p:nvSpPr>
        <p:spPr>
          <a:xfrm>
            <a:off x="4095750" y="4991100"/>
            <a:ext cx="523875" cy="9525"/>
          </a:xfrm>
          <a:prstGeom prst="line">
            <a:avLst/>
          </a:prstGeom>
          <a:noFill/>
          <a:ln w="1905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0F92A091-8548-422D-A35F-C9137BE7B6ED}"/>
              </a:ext>
            </a:extLst>
          </p:cNvPr>
          <p:cNvSpPr>
            <a:spLocks noGrp="1"/>
          </p:cNvSpPr>
          <p:nvPr/>
        </p:nvSpPr>
        <p:spPr>
          <a:xfrm>
            <a:off x="7000875" y="2038350"/>
            <a:ext cx="762000" cy="95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BFF3828D-D51F-41E6-B86D-40369AD28EB9}"/>
              </a:ext>
            </a:extLst>
          </p:cNvPr>
          <p:cNvSpPr>
            <a:spLocks noGrp="1"/>
          </p:cNvSpPr>
          <p:nvPr/>
        </p:nvSpPr>
        <p:spPr>
          <a:xfrm>
            <a:off x="7000875" y="2895600"/>
            <a:ext cx="762000" cy="95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D7AF7825-7B17-4060-AF73-E2279B7E51AC}"/>
              </a:ext>
            </a:extLst>
          </p:cNvPr>
          <p:cNvSpPr>
            <a:spLocks noGrp="1"/>
          </p:cNvSpPr>
          <p:nvPr/>
        </p:nvSpPr>
        <p:spPr>
          <a:xfrm>
            <a:off x="7000875" y="4133850"/>
            <a:ext cx="762000" cy="95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C012E085-7E9E-41AB-A6D0-3367322F8FED}"/>
              </a:ext>
            </a:extLst>
          </p:cNvPr>
          <p:cNvSpPr>
            <a:spLocks noGrp="1"/>
          </p:cNvSpPr>
          <p:nvPr/>
        </p:nvSpPr>
        <p:spPr>
          <a:xfrm>
            <a:off x="7000875" y="4991100"/>
            <a:ext cx="762000" cy="9525"/>
          </a:xfrm>
          <a:prstGeom prst="line">
            <a:avLst/>
          </a:prstGeom>
          <a:noFill/>
          <a:ln w="19050">
            <a:solidFill>
              <a:srgbClr val="68717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7BF144-52DF-4E4E-BEEE-E4025A55FA7A}"/>
              </a:ext>
            </a:extLst>
          </p:cNvPr>
          <p:cNvSpPr>
            <a:spLocks noGrp="1"/>
          </p:cNvSpPr>
          <p:nvPr/>
        </p:nvSpPr>
        <p:spPr>
          <a:xfrm>
            <a:off x="685800" y="2954285"/>
            <a:ext cx="2952750" cy="742950"/>
          </a:xfrm>
          <a:prstGeom prst="rect">
            <a:avLst/>
          </a:prstGeom>
          <a:solidFill>
            <a:srgbClr val="FFFFFF"/>
          </a:solidFill>
          <a:ln w="19050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Does one model replica fit on one GPU?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BF5130-79AF-4616-9BDF-B59C405BA823}"/>
              </a:ext>
            </a:extLst>
          </p:cNvPr>
          <p:cNvSpPr>
            <a:spLocks noGrp="1"/>
          </p:cNvSpPr>
          <p:nvPr/>
        </p:nvSpPr>
        <p:spPr>
          <a:xfrm>
            <a:off x="4619625" y="14287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YES: CHOOSE THE SERVICE OBJECTIVE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AFEB2B3-4150-4E05-9F28-FBFC28F72A43}"/>
              </a:ext>
            </a:extLst>
          </p:cNvPr>
          <p:cNvSpPr>
            <a:spLocks noGrp="1"/>
          </p:cNvSpPr>
          <p:nvPr/>
        </p:nvSpPr>
        <p:spPr>
          <a:xfrm>
            <a:off x="4619625" y="35242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NO: IDENTIFY THE CAPACITY LIMIT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6617E3-521B-4795-B068-3B59BD4190B2}"/>
              </a:ext>
            </a:extLst>
          </p:cNvPr>
          <p:cNvSpPr>
            <a:spLocks noGrp="1"/>
          </p:cNvSpPr>
          <p:nvPr/>
        </p:nvSpPr>
        <p:spPr>
          <a:xfrm>
            <a:off x="4619625" y="1790700"/>
            <a:ext cx="2381250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Aggregate throughput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F6EB18C-2EEA-45D4-B0DD-373362EE148F}"/>
              </a:ext>
            </a:extLst>
          </p:cNvPr>
          <p:cNvSpPr>
            <a:spLocks noGrp="1"/>
          </p:cNvSpPr>
          <p:nvPr/>
        </p:nvSpPr>
        <p:spPr>
          <a:xfrm>
            <a:off x="7762875" y="1790700"/>
            <a:ext cx="3667125" cy="495300"/>
          </a:xfrm>
          <a:prstGeom prst="rect">
            <a:avLst/>
          </a:prstGeom>
          <a:solidFill>
            <a:srgbClr val="F6E5DB"/>
          </a:solidFill>
          <a:ln w="11906">
            <a:solidFill>
              <a:srgbClr val="DB6C30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Replicate complete models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FD9664-83A4-490A-A2E7-A77F3B3158EE}"/>
              </a:ext>
            </a:extLst>
          </p:cNvPr>
          <p:cNvSpPr>
            <a:spLocks noGrp="1"/>
          </p:cNvSpPr>
          <p:nvPr/>
        </p:nvSpPr>
        <p:spPr>
          <a:xfrm>
            <a:off x="4619625" y="2647950"/>
            <a:ext cx="2381250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Lower request latency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5A3937-0E1C-40F9-9E75-DB158CCA9678}"/>
              </a:ext>
            </a:extLst>
          </p:cNvPr>
          <p:cNvSpPr>
            <a:spLocks noGrp="1"/>
          </p:cNvSpPr>
          <p:nvPr/>
        </p:nvSpPr>
        <p:spPr>
          <a:xfrm>
            <a:off x="7762875" y="2647950"/>
            <a:ext cx="3667125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Benchmark 1 GPU vs minimal TP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5756E8-DE6A-4003-89D7-FC78EBD0B9BF}"/>
              </a:ext>
            </a:extLst>
          </p:cNvPr>
          <p:cNvSpPr>
            <a:spLocks noGrp="1"/>
          </p:cNvSpPr>
          <p:nvPr/>
        </p:nvSpPr>
        <p:spPr>
          <a:xfrm>
            <a:off x="4619625" y="3886200"/>
            <a:ext cx="2381250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Weights dominate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CEFA39-1A53-436F-8159-4B83B45561E9}"/>
              </a:ext>
            </a:extLst>
          </p:cNvPr>
          <p:cNvSpPr>
            <a:spLocks noGrp="1"/>
          </p:cNvSpPr>
          <p:nvPr/>
        </p:nvSpPr>
        <p:spPr>
          <a:xfrm>
            <a:off x="7762875" y="3886200"/>
            <a:ext cx="3667125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TP in a fast domain; PP across nodes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7B43492-F0EA-4D81-8B8D-26DB0DDCAE45}"/>
              </a:ext>
            </a:extLst>
          </p:cNvPr>
          <p:cNvSpPr>
            <a:spLocks noGrp="1"/>
          </p:cNvSpPr>
          <p:nvPr/>
        </p:nvSpPr>
        <p:spPr>
          <a:xfrm>
            <a:off x="4619625" y="4743450"/>
            <a:ext cx="2381250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KV cache or context dominates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5F42B8-25AC-4D3D-ACF0-D8EED01C9EF9}"/>
              </a:ext>
            </a:extLst>
          </p:cNvPr>
          <p:cNvSpPr>
            <a:spLocks noGrp="1"/>
          </p:cNvSpPr>
          <p:nvPr/>
        </p:nvSpPr>
        <p:spPr>
          <a:xfrm>
            <a:off x="7762875" y="4743450"/>
            <a:ext cx="3667125" cy="495300"/>
          </a:xfrm>
          <a:prstGeom prst="rect">
            <a:avLst/>
          </a:prstGeom>
          <a:solidFill>
            <a:srgbClr val="FFFFFF"/>
          </a:solidFill>
          <a:ln w="11906">
            <a:solidFill>
              <a:srgbClr val="C7CBD2"/>
            </a:solidFill>
            <a:prstDash val="solid"/>
          </a:ln>
        </p:spPr>
        <p:txBody>
          <a:bodyPr lIns="133350" tIns="76200" rIns="133350" bIns="7620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Reduce concurrency/context; quantize or shard cache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A1C49B-A6F5-4710-9EA5-ABBA4DA86FC8}"/>
              </a:ext>
            </a:extLst>
          </p:cNvPr>
          <p:cNvSpPr>
            <a:spLocks noGrp="1"/>
          </p:cNvSpPr>
          <p:nvPr/>
        </p:nvSpPr>
        <p:spPr>
          <a:xfrm>
            <a:off x="3000375" y="5353050"/>
            <a:ext cx="8429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One GPU still too large: quantization or CPU/NVMe offload trades speed for capacity.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 optimizer state dominates, shard state first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DB16885-0D3F-A391-B669-3211DB3B26E8}" type="slidenum">
              <a:rPr/>
              <a:t>27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F2A985-ED2B-419A-934C-AF7E75D6CA53}"/>
              </a:ext>
            </a:extLst>
          </p:cNvPr>
          <p:cNvSpPr>
            <a:spLocks noGrp="1"/>
          </p:cNvSpPr>
          <p:nvPr/>
        </p:nvSpPr>
        <p:spPr>
          <a:xfrm>
            <a:off x="685800" y="1684389"/>
            <a:ext cx="2857500" cy="2258654"/>
          </a:xfrm>
          <a:prstGeom prst="rect">
            <a:avLst/>
          </a:prstGeom>
          <a:solidFill>
            <a:srgbClr val="F6E5DB"/>
          </a:solidFill>
          <a:ln w="0">
            <a:solidFill>
              <a:srgbClr val="F6E5DB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C68C09-C8D8-454A-8CDF-F404690964F0}"/>
              </a:ext>
            </a:extLst>
          </p:cNvPr>
          <p:cNvSpPr>
            <a:spLocks noGrp="1"/>
          </p:cNvSpPr>
          <p:nvPr/>
        </p:nvSpPr>
        <p:spPr>
          <a:xfrm>
            <a:off x="914400" y="1874889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SCENARIO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C03A88-DD35-48F7-BE43-A0D84D6C055D}"/>
              </a:ext>
            </a:extLst>
          </p:cNvPr>
          <p:cNvSpPr>
            <a:spLocks noGrp="1"/>
          </p:cNvSpPr>
          <p:nvPr/>
        </p:nvSpPr>
        <p:spPr>
          <a:xfrm>
            <a:off x="914400" y="2208264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8 GPUs x 80 GB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1DC3B6-1FF3-491A-9098-B6F30912A110}"/>
              </a:ext>
            </a:extLst>
          </p:cNvPr>
          <p:cNvSpPr>
            <a:spLocks noGrp="1"/>
          </p:cNvSpPr>
          <p:nvPr/>
        </p:nvSpPr>
        <p:spPr>
          <a:xfrm>
            <a:off x="914400" y="2732139"/>
            <a:ext cx="2381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Parameters fit per GPU.</a:t>
            </a:r>
          </a:p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Optimizer state does not.</a:t>
            </a:r>
          </a:p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Sequences are moderate.</a:t>
            </a:r>
          </a:p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Goal: training throughput.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7DFD47-6268-456B-8474-D7CE8CB38EA4}"/>
              </a:ext>
            </a:extLst>
          </p:cNvPr>
          <p:cNvSpPr>
            <a:spLocks noGrp="1"/>
          </p:cNvSpPr>
          <p:nvPr/>
        </p:nvSpPr>
        <p:spPr>
          <a:xfrm>
            <a:off x="4191000" y="14287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REASONING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F5289A-A1A8-4440-A13C-2955BB14226C}"/>
              </a:ext>
            </a:extLst>
          </p:cNvPr>
          <p:cNvSpPr>
            <a:spLocks noGrp="1"/>
          </p:cNvSpPr>
          <p:nvPr/>
        </p:nvSpPr>
        <p:spPr>
          <a:xfrm>
            <a:off x="4191000" y="18097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CCD127-62AD-4EE3-AC72-EDB1B757A86D}"/>
              </a:ext>
            </a:extLst>
          </p:cNvPr>
          <p:cNvSpPr>
            <a:spLocks noGrp="1"/>
          </p:cNvSpPr>
          <p:nvPr/>
        </p:nvSpPr>
        <p:spPr>
          <a:xfrm>
            <a:off x="4781550" y="1790700"/>
            <a:ext cx="617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Locate the limiting object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06C2C8-AE44-4F00-9490-4CC9204A0C7B}"/>
              </a:ext>
            </a:extLst>
          </p:cNvPr>
          <p:cNvSpPr>
            <a:spLocks noGrp="1"/>
          </p:cNvSpPr>
          <p:nvPr/>
        </p:nvSpPr>
        <p:spPr>
          <a:xfrm>
            <a:off x="4781550" y="2066925"/>
            <a:ext cx="6172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Persistent training state is the measured constraint.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24DC5A-F035-40FD-AA6F-05B9DC63CF2A}"/>
              </a:ext>
            </a:extLst>
          </p:cNvPr>
          <p:cNvSpPr>
            <a:spLocks noGrp="1"/>
          </p:cNvSpPr>
          <p:nvPr/>
        </p:nvSpPr>
        <p:spPr>
          <a:xfrm>
            <a:off x="4781550" y="2590800"/>
            <a:ext cx="619125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07A6C0-1346-41C3-956E-E33ABDE7CA51}"/>
              </a:ext>
            </a:extLst>
          </p:cNvPr>
          <p:cNvSpPr>
            <a:spLocks noGrp="1"/>
          </p:cNvSpPr>
          <p:nvPr/>
        </p:nvSpPr>
        <p:spPr>
          <a:xfrm>
            <a:off x="4191000" y="28003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A805AE-D852-40A4-B98E-31337C7048A0}"/>
              </a:ext>
            </a:extLst>
          </p:cNvPr>
          <p:cNvSpPr>
            <a:spLocks noGrp="1"/>
          </p:cNvSpPr>
          <p:nvPr/>
        </p:nvSpPr>
        <p:spPr>
          <a:xfrm>
            <a:off x="4781550" y="2781300"/>
            <a:ext cx="617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Select the matching method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1377F4-A20C-48D8-9B63-F91EFAE2566A}"/>
              </a:ext>
            </a:extLst>
          </p:cNvPr>
          <p:cNvSpPr>
            <a:spLocks noGrp="1"/>
          </p:cNvSpPr>
          <p:nvPr/>
        </p:nvSpPr>
        <p:spPr>
          <a:xfrm>
            <a:off x="4781550" y="3057525"/>
            <a:ext cx="6172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Use FSDP / ZeRO full sharding before introducing layer-wise model parallelism.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AE0FF9-75D3-4FE4-B7C4-214851AB1F89}"/>
              </a:ext>
            </a:extLst>
          </p:cNvPr>
          <p:cNvSpPr>
            <a:spLocks noGrp="1"/>
          </p:cNvSpPr>
          <p:nvPr/>
        </p:nvSpPr>
        <p:spPr>
          <a:xfrm>
            <a:off x="4781550" y="3657600"/>
            <a:ext cx="619125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F1D2F2-7FBB-4EE6-A01B-25D8B1197282}"/>
              </a:ext>
            </a:extLst>
          </p:cNvPr>
          <p:cNvSpPr>
            <a:spLocks noGrp="1"/>
          </p:cNvSpPr>
          <p:nvPr/>
        </p:nvSpPr>
        <p:spPr>
          <a:xfrm>
            <a:off x="4191000" y="38671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0A15D9-7416-40CA-B6FB-5365681A3EC6}"/>
              </a:ext>
            </a:extLst>
          </p:cNvPr>
          <p:cNvSpPr>
            <a:spLocks noGrp="1"/>
          </p:cNvSpPr>
          <p:nvPr/>
        </p:nvSpPr>
        <p:spPr>
          <a:xfrm>
            <a:off x="4781550" y="3848100"/>
            <a:ext cx="617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Scale conservatively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5AD06B-00E1-4DB1-BA14-E6AA42D557BA}"/>
              </a:ext>
            </a:extLst>
          </p:cNvPr>
          <p:cNvSpPr>
            <a:spLocks noGrp="1"/>
          </p:cNvSpPr>
          <p:nvPr/>
        </p:nvSpPr>
        <p:spPr>
          <a:xfrm>
            <a:off x="4781550" y="4124325"/>
            <a:ext cx="6172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Use the smallest shard group that fits; use extra groups for data parallel throughput.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E33765-4C83-4919-B73D-BD920E8802A6}"/>
              </a:ext>
            </a:extLst>
          </p:cNvPr>
          <p:cNvSpPr>
            <a:spLocks noGrp="1"/>
          </p:cNvSpPr>
          <p:nvPr/>
        </p:nvSpPr>
        <p:spPr>
          <a:xfrm>
            <a:off x="4191000" y="4705350"/>
            <a:ext cx="123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WHY NOT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4D68B1-E9F0-4759-A37D-3661903B8BC9}"/>
              </a:ext>
            </a:extLst>
          </p:cNvPr>
          <p:cNvSpPr>
            <a:spLocks noGrp="1"/>
          </p:cNvSpPr>
          <p:nvPr/>
        </p:nvSpPr>
        <p:spPr>
          <a:xfrm>
            <a:off x="4191000" y="495300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TP: layers fit.   PP: depth is not limiting.   CPU offload: unnecessary host traffic.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E69E21-8F40-4837-8CA4-AB1E0897342C}"/>
              </a:ext>
            </a:extLst>
          </p:cNvPr>
          <p:cNvSpPr>
            <a:spLocks noGrp="1"/>
          </p:cNvSpPr>
          <p:nvPr/>
        </p:nvSpPr>
        <p:spPr>
          <a:xfrm>
            <a:off x="685800" y="5600700"/>
            <a:ext cx="10744200" cy="28575"/>
          </a:xfrm>
          <a:prstGeom prst="rect">
            <a:avLst/>
          </a:prstGeom>
          <a:solidFill>
            <a:srgbClr val="DB6C30"/>
          </a:solidFill>
          <a:ln w="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644372-5A43-4D80-944E-C9A31C184DDF}"/>
              </a:ext>
            </a:extLst>
          </p:cNvPr>
          <p:cNvSpPr>
            <a:spLocks noGrp="1"/>
          </p:cNvSpPr>
          <p:nvPr/>
        </p:nvSpPr>
        <p:spPr>
          <a:xfrm>
            <a:off x="685800" y="5314950"/>
            <a:ext cx="1074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Choice: FSDP / ZeRO first; add activation checkpointing only if later measurements justify it.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Weights need 2.5 GPUs: minimum</a:t>
            </a:r>
            <a:br/>
            <a:r>
              <a:t>TP = 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DD23107-4986-8758-3A93-3D74F35908CC}" type="slidenum">
              <a:t>28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CE8EE-5ADC-4A76-B26F-E30681B68233}"/>
              </a:ext>
            </a:extLst>
          </p:cNvPr>
          <p:cNvSpPr>
            <a:spLocks noGrp="1"/>
          </p:cNvSpPr>
          <p:nvPr/>
        </p:nvSpPr>
        <p:spPr>
          <a:xfrm>
            <a:off x="685800" y="1713888"/>
            <a:ext cx="2857500" cy="2596787"/>
          </a:xfrm>
          <a:prstGeom prst="rect">
            <a:avLst/>
          </a:prstGeom>
          <a:solidFill>
            <a:srgbClr val="F6E5DB"/>
          </a:solidFill>
          <a:ln w="0">
            <a:solidFill>
              <a:srgbClr val="F6E5DB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D6CFF3-EE38-4EB3-9EFA-1994C31E95D6}"/>
              </a:ext>
            </a:extLst>
          </p:cNvPr>
          <p:cNvSpPr>
            <a:spLocks noGrp="1"/>
          </p:cNvSpPr>
          <p:nvPr/>
        </p:nvSpPr>
        <p:spPr>
          <a:xfrm>
            <a:off x="914400" y="1904388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SCENARIO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01AB1B-7AD0-4D10-9C56-F3E13BAE5239}"/>
              </a:ext>
            </a:extLst>
          </p:cNvPr>
          <p:cNvSpPr>
            <a:spLocks noGrp="1"/>
          </p:cNvSpPr>
          <p:nvPr/>
        </p:nvSpPr>
        <p:spPr>
          <a:xfrm>
            <a:off x="914400" y="2237763"/>
            <a:ext cx="238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4 fast-connected GPUs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3951AA-EA5C-4CE8-91DD-DB439034BA48}"/>
              </a:ext>
            </a:extLst>
          </p:cNvPr>
          <p:cNvSpPr>
            <a:spLocks noGrp="1"/>
          </p:cNvSpPr>
          <p:nvPr/>
        </p:nvSpPr>
        <p:spPr>
          <a:xfrm>
            <a:off x="914400" y="2837838"/>
            <a:ext cx="2381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Weights need 2.5 GPU memories.</a:t>
            </a:r>
          </a:p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KV cache fits.</a:t>
            </a:r>
          </a:p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Batch is small.</a:t>
            </a:r>
          </a:p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Goal: low request latency.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C41F4B-A48D-4AC6-8733-16FE31491E3A}"/>
              </a:ext>
            </a:extLst>
          </p:cNvPr>
          <p:cNvSpPr>
            <a:spLocks noGrp="1"/>
          </p:cNvSpPr>
          <p:nvPr/>
        </p:nvSpPr>
        <p:spPr>
          <a:xfrm>
            <a:off x="4191000" y="14287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REASONING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F64757-63A4-4ED2-AF4B-D686C8B896A1}"/>
              </a:ext>
            </a:extLst>
          </p:cNvPr>
          <p:cNvSpPr>
            <a:spLocks noGrp="1"/>
          </p:cNvSpPr>
          <p:nvPr/>
        </p:nvSpPr>
        <p:spPr>
          <a:xfrm>
            <a:off x="4191000" y="18097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D42E7D-D408-40B9-94FC-56D3D7FBB810}"/>
              </a:ext>
            </a:extLst>
          </p:cNvPr>
          <p:cNvSpPr>
            <a:spLocks noGrp="1"/>
          </p:cNvSpPr>
          <p:nvPr/>
        </p:nvSpPr>
        <p:spPr>
          <a:xfrm>
            <a:off x="4781550" y="1790700"/>
            <a:ext cx="617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Capacity requires several GPUs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ABEB20-3092-43BE-B67A-F38D3F0F8062}"/>
              </a:ext>
            </a:extLst>
          </p:cNvPr>
          <p:cNvSpPr>
            <a:spLocks noGrp="1"/>
          </p:cNvSpPr>
          <p:nvPr/>
        </p:nvSpPr>
        <p:spPr>
          <a:xfrm>
            <a:off x="4781550" y="2066925"/>
            <a:ext cx="6172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A complete replica cannot fit on one device.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8655DC-AF5B-497A-BD18-4F5E4F6CB6DF}"/>
              </a:ext>
            </a:extLst>
          </p:cNvPr>
          <p:cNvSpPr>
            <a:spLocks noGrp="1"/>
          </p:cNvSpPr>
          <p:nvPr/>
        </p:nvSpPr>
        <p:spPr>
          <a:xfrm>
            <a:off x="4781550" y="2590800"/>
            <a:ext cx="619125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33150E-BBD9-4E3E-97F1-747E52C4697C}"/>
              </a:ext>
            </a:extLst>
          </p:cNvPr>
          <p:cNvSpPr>
            <a:spLocks noGrp="1"/>
          </p:cNvSpPr>
          <p:nvPr/>
        </p:nvSpPr>
        <p:spPr>
          <a:xfrm>
            <a:off x="4191000" y="28003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02F4D8-1D6E-4993-B1B2-6DFD762C8AA3}"/>
              </a:ext>
            </a:extLst>
          </p:cNvPr>
          <p:cNvSpPr>
            <a:spLocks noGrp="1"/>
          </p:cNvSpPr>
          <p:nvPr/>
        </p:nvSpPr>
        <p:spPr>
          <a:xfrm>
            <a:off x="4781550" y="2781300"/>
            <a:ext cx="617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Use the minimum feasible degree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0ACB92-CAF7-4EA6-8CD3-5C6A371ABEB7}"/>
              </a:ext>
            </a:extLst>
          </p:cNvPr>
          <p:cNvSpPr>
            <a:spLocks noGrp="1"/>
          </p:cNvSpPr>
          <p:nvPr/>
        </p:nvSpPr>
        <p:spPr>
          <a:xfrm>
            <a:off x="4781550" y="3057525"/>
            <a:ext cx="6172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Equal tensor shards require TP = 4; TP = 2 cannot hold the weights.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5B613D-9FC3-4E06-BCFC-EBBEF2292EB2}"/>
              </a:ext>
            </a:extLst>
          </p:cNvPr>
          <p:cNvSpPr>
            <a:spLocks noGrp="1"/>
          </p:cNvSpPr>
          <p:nvPr/>
        </p:nvSpPr>
        <p:spPr>
          <a:xfrm>
            <a:off x="4781550" y="3657600"/>
            <a:ext cx="619125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1A72B2-7801-416B-8D34-B698CEE06AE2}"/>
              </a:ext>
            </a:extLst>
          </p:cNvPr>
          <p:cNvSpPr>
            <a:spLocks noGrp="1"/>
          </p:cNvSpPr>
          <p:nvPr/>
        </p:nvSpPr>
        <p:spPr>
          <a:xfrm>
            <a:off x="4191000" y="38671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205FB3-3240-45B3-804D-9CA42D30902F}"/>
              </a:ext>
            </a:extLst>
          </p:cNvPr>
          <p:cNvSpPr>
            <a:spLocks noGrp="1"/>
          </p:cNvSpPr>
          <p:nvPr/>
        </p:nvSpPr>
        <p:spPr>
          <a:xfrm>
            <a:off x="4781550" y="3848100"/>
            <a:ext cx="6172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Verify the latency target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F45611-E0DA-4C59-8CBC-19412C282184}"/>
              </a:ext>
            </a:extLst>
          </p:cNvPr>
          <p:cNvSpPr>
            <a:spLocks noGrp="1"/>
          </p:cNvSpPr>
          <p:nvPr/>
        </p:nvSpPr>
        <p:spPr>
          <a:xfrm>
            <a:off x="4781550" y="4124325"/>
            <a:ext cx="6172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Benchmark collective cost, kernel efficiency, and the real request distribution.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B34B34-B663-4748-8607-3D7302D40E6E}"/>
              </a:ext>
            </a:extLst>
          </p:cNvPr>
          <p:cNvSpPr>
            <a:spLocks noGrp="1"/>
          </p:cNvSpPr>
          <p:nvPr/>
        </p:nvSpPr>
        <p:spPr>
          <a:xfrm>
            <a:off x="4191000" y="4705350"/>
            <a:ext cx="123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WHY NOT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0988E1-57BC-45FB-8BF3-7CBB582834D2}"/>
              </a:ext>
            </a:extLst>
          </p:cNvPr>
          <p:cNvSpPr>
            <a:spLocks noGrp="1"/>
          </p:cNvSpPr>
          <p:nvPr/>
        </p:nvSpPr>
        <p:spPr>
          <a:xfrm>
            <a:off x="4191000" y="4953000"/>
            <a:ext cx="685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Replicas: no fit.   CPU offload: host traffic.   PP: small-batch bubbles.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06DE88-2F4F-48F5-A57B-D484C9F1111F}"/>
              </a:ext>
            </a:extLst>
          </p:cNvPr>
          <p:cNvSpPr>
            <a:spLocks noGrp="1"/>
          </p:cNvSpPr>
          <p:nvPr/>
        </p:nvSpPr>
        <p:spPr>
          <a:xfrm>
            <a:off x="685800" y="5600700"/>
            <a:ext cx="10744200" cy="28575"/>
          </a:xfrm>
          <a:prstGeom prst="rect">
            <a:avLst/>
          </a:prstGeom>
          <a:solidFill>
            <a:srgbClr val="DB6C30"/>
          </a:solidFill>
          <a:ln w="0">
            <a:solidFill>
              <a:srgbClr val="DB6C3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A545BDB-9BB7-41C3-99C5-C77152924A0C}"/>
              </a:ext>
            </a:extLst>
          </p:cNvPr>
          <p:cNvSpPr>
            <a:spLocks noGrp="1"/>
          </p:cNvSpPr>
          <p:nvPr/>
        </p:nvSpPr>
        <p:spPr>
          <a:xfrm>
            <a:off x="685800" y="5314950"/>
            <a:ext cx="10744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Choice: minimal TP inside the fast communication domain, then benchmark actual latency.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Choose a base strategy; justify one addition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27921A4-25C4-3DB4-06B1-32693CEE2241}" type="slidenum">
              <a:rPr/>
              <a:t>29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01EAFE-EAF6-4758-86CB-69867BC104D0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3429000" cy="2876550"/>
          </a:xfrm>
          <a:prstGeom prst="rect">
            <a:avLst/>
          </a:prstGeom>
          <a:solidFill>
            <a:srgbClr val="F6E5DB"/>
          </a:solidFill>
          <a:ln w="0">
            <a:solidFill>
              <a:srgbClr val="F6E5DB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E85895-44B1-4A19-9050-DBCB542F1FDC}"/>
              </a:ext>
            </a:extLst>
          </p:cNvPr>
          <p:cNvSpPr>
            <a:spLocks noGrp="1"/>
          </p:cNvSpPr>
          <p:nvPr/>
        </p:nvSpPr>
        <p:spPr>
          <a:xfrm>
            <a:off x="914400" y="192405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SCENARIO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018943-7CFD-49CE-9B21-EF29C36316D5}"/>
              </a:ext>
            </a:extLst>
          </p:cNvPr>
          <p:cNvSpPr>
            <a:spLocks noGrp="1"/>
          </p:cNvSpPr>
          <p:nvPr/>
        </p:nvSpPr>
        <p:spPr>
          <a:xfrm>
            <a:off x="914400" y="2257425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0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16 GPUs: 2 nodes x 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DDBFFD-8EA0-419C-8DD2-A158D5865ABF}"/>
              </a:ext>
            </a:extLst>
          </p:cNvPr>
          <p:cNvSpPr>
            <a:spLocks noGrp="1"/>
          </p:cNvSpPr>
          <p:nvPr/>
        </p:nvSpPr>
        <p:spPr>
          <a:xfrm>
            <a:off x="914400" y="2828925"/>
            <a:ext cx="29527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Training state needs 5 GPU memories.</a:t>
            </a:r>
          </a:p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One transformer block fits.</a:t>
            </a:r>
          </a:p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Long sequences dominate activations.</a:t>
            </a:r>
          </a:p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Goal: throughput.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A060CC-9DF5-4F40-856B-EED9BA7E3561}"/>
              </a:ext>
            </a:extLst>
          </p:cNvPr>
          <p:cNvSpPr>
            <a:spLocks noGrp="1"/>
          </p:cNvSpPr>
          <p:nvPr/>
        </p:nvSpPr>
        <p:spPr>
          <a:xfrm>
            <a:off x="4667250" y="15240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68717C"/>
                </a:solidFill>
                <a:latin typeface="FlandersArtSans-Bold"/>
                <a:ea typeface="FlandersArtSans-Bold"/>
                <a:cs typeface="FlandersArtSans-Bold"/>
              </a:rPr>
              <a:t>CANDIDATE METHODS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8507E6-0CB8-4BDF-9B16-AB32528CCA42}"/>
              </a:ext>
            </a:extLst>
          </p:cNvPr>
          <p:cNvSpPr>
            <a:spLocks noGrp="1"/>
          </p:cNvSpPr>
          <p:nvPr/>
        </p:nvSpPr>
        <p:spPr>
          <a:xfrm>
            <a:off x="4667250" y="1952625"/>
            <a:ext cx="228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25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5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E8A580-3E6C-4207-8E87-31447930AF08}"/>
              </a:ext>
            </a:extLst>
          </p:cNvPr>
          <p:cNvSpPr>
            <a:spLocks noGrp="1"/>
          </p:cNvSpPr>
          <p:nvPr/>
        </p:nvSpPr>
        <p:spPr>
          <a:xfrm>
            <a:off x="4905375" y="19526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DDP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AC1A2F-7554-4567-86E2-C64F052B1365}"/>
              </a:ext>
            </a:extLst>
          </p:cNvPr>
          <p:cNvSpPr>
            <a:spLocks noGrp="1"/>
          </p:cNvSpPr>
          <p:nvPr/>
        </p:nvSpPr>
        <p:spPr>
          <a:xfrm>
            <a:off x="6286500" y="1952625"/>
            <a:ext cx="228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25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5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•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F19F4E-E910-47A3-93EE-A4A2E4793150}"/>
              </a:ext>
            </a:extLst>
          </p:cNvPr>
          <p:cNvSpPr>
            <a:spLocks noGrp="1"/>
          </p:cNvSpPr>
          <p:nvPr/>
        </p:nvSpPr>
        <p:spPr>
          <a:xfrm>
            <a:off x="6524625" y="19526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FSDP / ZeRO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3AA4B7-5C46-414B-AC34-E048ED2DE512}"/>
              </a:ext>
            </a:extLst>
          </p:cNvPr>
          <p:cNvSpPr>
            <a:spLocks noGrp="1"/>
          </p:cNvSpPr>
          <p:nvPr/>
        </p:nvSpPr>
        <p:spPr>
          <a:xfrm>
            <a:off x="4667250" y="2581275"/>
            <a:ext cx="228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25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5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•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758903-CC3E-41A6-A360-F6F2D32A1B73}"/>
              </a:ext>
            </a:extLst>
          </p:cNvPr>
          <p:cNvSpPr>
            <a:spLocks noGrp="1"/>
          </p:cNvSpPr>
          <p:nvPr/>
        </p:nvSpPr>
        <p:spPr>
          <a:xfrm>
            <a:off x="4905375" y="25812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TP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6EE493-B74A-4F39-86CD-9279EF2B3CF8}"/>
              </a:ext>
            </a:extLst>
          </p:cNvPr>
          <p:cNvSpPr>
            <a:spLocks noGrp="1"/>
          </p:cNvSpPr>
          <p:nvPr/>
        </p:nvSpPr>
        <p:spPr>
          <a:xfrm>
            <a:off x="6286500" y="2581275"/>
            <a:ext cx="228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25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5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•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A277CE-EDEA-4B79-A4CF-37797049B1AD}"/>
              </a:ext>
            </a:extLst>
          </p:cNvPr>
          <p:cNvSpPr>
            <a:spLocks noGrp="1"/>
          </p:cNvSpPr>
          <p:nvPr/>
        </p:nvSpPr>
        <p:spPr>
          <a:xfrm>
            <a:off x="6524625" y="25812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PP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D35DE3-CC43-44CD-814B-6D9D785212C3}"/>
              </a:ext>
            </a:extLst>
          </p:cNvPr>
          <p:cNvSpPr>
            <a:spLocks noGrp="1"/>
          </p:cNvSpPr>
          <p:nvPr/>
        </p:nvSpPr>
        <p:spPr>
          <a:xfrm>
            <a:off x="4667250" y="3209925"/>
            <a:ext cx="228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25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5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•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9959EB-3DBD-4944-BBCD-804A13B4A0CF}"/>
              </a:ext>
            </a:extLst>
          </p:cNvPr>
          <p:cNvSpPr>
            <a:spLocks noGrp="1"/>
          </p:cNvSpPr>
          <p:nvPr/>
        </p:nvSpPr>
        <p:spPr>
          <a:xfrm>
            <a:off x="4905375" y="32099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CP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F9F401-21B1-48F8-ADCC-87796D48EDC7}"/>
              </a:ext>
            </a:extLst>
          </p:cNvPr>
          <p:cNvSpPr>
            <a:spLocks noGrp="1"/>
          </p:cNvSpPr>
          <p:nvPr/>
        </p:nvSpPr>
        <p:spPr>
          <a:xfrm>
            <a:off x="6286500" y="3209925"/>
            <a:ext cx="228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25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5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•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C42BA88-2920-4BEC-9976-90CAB6E8B4E4}"/>
              </a:ext>
            </a:extLst>
          </p:cNvPr>
          <p:cNvSpPr>
            <a:spLocks noGrp="1"/>
          </p:cNvSpPr>
          <p:nvPr/>
        </p:nvSpPr>
        <p:spPr>
          <a:xfrm>
            <a:off x="6524625" y="320992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CPU offload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39411E-1942-413A-9F01-BE97E0801220}"/>
              </a:ext>
            </a:extLst>
          </p:cNvPr>
          <p:cNvSpPr>
            <a:spLocks noGrp="1"/>
          </p:cNvSpPr>
          <p:nvPr/>
        </p:nvSpPr>
        <p:spPr>
          <a:xfrm>
            <a:off x="7953375" y="1524000"/>
            <a:ext cx="9525" cy="352425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763B63D-5D5E-4542-9B91-BC6C8A1DF577}"/>
              </a:ext>
            </a:extLst>
          </p:cNvPr>
          <p:cNvSpPr>
            <a:spLocks noGrp="1"/>
          </p:cNvSpPr>
          <p:nvPr/>
        </p:nvSpPr>
        <p:spPr>
          <a:xfrm>
            <a:off x="8429625" y="152400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YOUR TASK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969833C-8261-4E6F-BC4E-D9C13620ABFD}"/>
              </a:ext>
            </a:extLst>
          </p:cNvPr>
          <p:cNvSpPr>
            <a:spLocks noGrp="1"/>
          </p:cNvSpPr>
          <p:nvPr/>
        </p:nvSpPr>
        <p:spPr>
          <a:xfrm>
            <a:off x="8429625" y="19526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BD85E6-366D-419A-A395-DFC5B0AEE8ED}"/>
              </a:ext>
            </a:extLst>
          </p:cNvPr>
          <p:cNvSpPr>
            <a:spLocks noGrp="1"/>
          </p:cNvSpPr>
          <p:nvPr/>
        </p:nvSpPr>
        <p:spPr>
          <a:xfrm>
            <a:off x="9020175" y="1933575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Choose a base strategy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E86CB7F-4995-4181-8BC7-30C2280E4993}"/>
              </a:ext>
            </a:extLst>
          </p:cNvPr>
          <p:cNvSpPr>
            <a:spLocks noGrp="1"/>
          </p:cNvSpPr>
          <p:nvPr/>
        </p:nvSpPr>
        <p:spPr>
          <a:xfrm>
            <a:off x="9020175" y="2209800"/>
            <a:ext cx="2266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Name the primary bottleneck it removes.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BFEB1D4-E22B-44CC-A81C-C3BBD25E3F1B}"/>
              </a:ext>
            </a:extLst>
          </p:cNvPr>
          <p:cNvSpPr>
            <a:spLocks noGrp="1"/>
          </p:cNvSpPr>
          <p:nvPr/>
        </p:nvSpPr>
        <p:spPr>
          <a:xfrm>
            <a:off x="8429625" y="29527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55EBF55-2464-4C0E-9192-690247F0AF5B}"/>
              </a:ext>
            </a:extLst>
          </p:cNvPr>
          <p:cNvSpPr>
            <a:spLocks noGrp="1"/>
          </p:cNvSpPr>
          <p:nvPr/>
        </p:nvSpPr>
        <p:spPr>
          <a:xfrm>
            <a:off x="9020175" y="2933700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Add one method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4AE3D69-9F8E-4F7D-B6D2-BB0B6B766458}"/>
              </a:ext>
            </a:extLst>
          </p:cNvPr>
          <p:cNvSpPr>
            <a:spLocks noGrp="1"/>
          </p:cNvSpPr>
          <p:nvPr/>
        </p:nvSpPr>
        <p:spPr>
          <a:xfrm>
            <a:off x="9020175" y="3209925"/>
            <a:ext cx="2266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Name the distinct limit it removes.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8931379-D578-4D1F-B9A9-A55B08B8C408}"/>
              </a:ext>
            </a:extLst>
          </p:cNvPr>
          <p:cNvSpPr>
            <a:spLocks noGrp="1"/>
          </p:cNvSpPr>
          <p:nvPr/>
        </p:nvSpPr>
        <p:spPr>
          <a:xfrm>
            <a:off x="8429625" y="395287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2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C6F7AC2-10DD-47DB-8B4F-6EA45576EE72}"/>
              </a:ext>
            </a:extLst>
          </p:cNvPr>
          <p:cNvSpPr>
            <a:spLocks noGrp="1"/>
          </p:cNvSpPr>
          <p:nvPr/>
        </p:nvSpPr>
        <p:spPr>
          <a:xfrm>
            <a:off x="9020175" y="3933825"/>
            <a:ext cx="2266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8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Reject two alternatives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15C2B9-0F02-44B4-9BE8-38476CDC5265}"/>
              </a:ext>
            </a:extLst>
          </p:cNvPr>
          <p:cNvSpPr>
            <a:spLocks noGrp="1"/>
          </p:cNvSpPr>
          <p:nvPr/>
        </p:nvSpPr>
        <p:spPr>
          <a:xfrm>
            <a:off x="9020175" y="4210050"/>
            <a:ext cx="2266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t"/>
          <a:lstStyle/>
          <a:p>
            <a:pPr algn="l">
              <a:buNone/>
              <a:def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68717C"/>
                </a:solidFill>
                <a:latin typeface="FlandersArtSans-Regular"/>
                <a:ea typeface="FlandersArtSans-Regular"/>
                <a:cs typeface="FlandersArtSans-Regular"/>
              </a:rPr>
              <a:t>Give concrete memory or communication reasons.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07DFBA6-23CA-469D-8507-81A8898A27EC}"/>
              </a:ext>
            </a:extLst>
          </p:cNvPr>
          <p:cNvSpPr>
            <a:spLocks noGrp="1"/>
          </p:cNvSpPr>
          <p:nvPr/>
        </p:nvSpPr>
        <p:spPr>
          <a:xfrm>
            <a:off x="2476500" y="5295900"/>
            <a:ext cx="857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ctr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A defensible answer names the bottleneck, divided object, and communication consequence.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lookup: bottleneck to response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A83FA91-883A-0168-8075-96CEB9DCA3C2}" type="slidenum">
              <a:rPr/>
              <a:t>30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7AA7D7-025A-405B-87A7-BBF05684F4EF}"/>
              </a:ext>
            </a:extLst>
          </p:cNvPr>
          <p:cNvSpPr>
            <a:spLocks noGrp="1"/>
          </p:cNvSpPr>
          <p:nvPr/>
        </p:nvSpPr>
        <p:spPr>
          <a:xfrm>
            <a:off x="742950" y="1809752"/>
            <a:ext cx="10591800" cy="400050"/>
          </a:xfrm>
          <a:prstGeom prst="rect">
            <a:avLst/>
          </a:prstGeom>
          <a:solidFill>
            <a:srgbClr val="333639"/>
          </a:solidFill>
          <a:ln w="0">
            <a:solidFill>
              <a:srgbClr val="333639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E1862C-384E-448D-AD00-23CBAD550DC2}"/>
              </a:ext>
            </a:extLst>
          </p:cNvPr>
          <p:cNvSpPr>
            <a:spLocks noGrp="1"/>
          </p:cNvSpPr>
          <p:nvPr/>
        </p:nvSpPr>
        <p:spPr>
          <a:xfrm>
            <a:off x="895350" y="1809752"/>
            <a:ext cx="3409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QUESTION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6C5F2A-8F9A-4852-BC4F-F9D5F365B81C}"/>
              </a:ext>
            </a:extLst>
          </p:cNvPr>
          <p:cNvSpPr>
            <a:spLocks noGrp="1"/>
          </p:cNvSpPr>
          <p:nvPr/>
        </p:nvSpPr>
        <p:spPr>
          <a:xfrm>
            <a:off x="4610100" y="1809752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IF YES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CF2A27-35F4-41C6-9664-2EF2B3CCD5C5}"/>
              </a:ext>
            </a:extLst>
          </p:cNvPr>
          <p:cNvSpPr>
            <a:spLocks noGrp="1"/>
          </p:cNvSpPr>
          <p:nvPr/>
        </p:nvSpPr>
        <p:spPr>
          <a:xfrm>
            <a:off x="7753350" y="1809752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IF NO / NEXT CHECK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6A5F19-E15C-42F4-9B89-A0DE06734D69}"/>
              </a:ext>
            </a:extLst>
          </p:cNvPr>
          <p:cNvSpPr>
            <a:spLocks noGrp="1"/>
          </p:cNvSpPr>
          <p:nvPr/>
        </p:nvSpPr>
        <p:spPr>
          <a:xfrm>
            <a:off x="4457700" y="1809752"/>
            <a:ext cx="9525" cy="411480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8528D1-D7AD-4C77-8E1C-B1759083423E}"/>
              </a:ext>
            </a:extLst>
          </p:cNvPr>
          <p:cNvSpPr>
            <a:spLocks noGrp="1"/>
          </p:cNvSpPr>
          <p:nvPr/>
        </p:nvSpPr>
        <p:spPr>
          <a:xfrm>
            <a:off x="7600950" y="1809752"/>
            <a:ext cx="9525" cy="411480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E8ED5E-6C4F-4A26-87CA-C672B95C5440}"/>
              </a:ext>
            </a:extLst>
          </p:cNvPr>
          <p:cNvSpPr>
            <a:spLocks noGrp="1"/>
          </p:cNvSpPr>
          <p:nvPr/>
        </p:nvSpPr>
        <p:spPr>
          <a:xfrm>
            <a:off x="742950" y="2952752"/>
            <a:ext cx="105918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F85FBA-6919-4E86-ACEB-B6E7C7DEB8E5}"/>
              </a:ext>
            </a:extLst>
          </p:cNvPr>
          <p:cNvSpPr>
            <a:spLocks noGrp="1"/>
          </p:cNvSpPr>
          <p:nvPr/>
        </p:nvSpPr>
        <p:spPr>
          <a:xfrm>
            <a:off x="895350" y="2209802"/>
            <a:ext cx="3409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One complete training copy fits?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0F989C-761D-45E0-91FE-038B7C61C990}"/>
              </a:ext>
            </a:extLst>
          </p:cNvPr>
          <p:cNvSpPr>
            <a:spLocks noGrp="1"/>
          </p:cNvSpPr>
          <p:nvPr/>
        </p:nvSpPr>
        <p:spPr>
          <a:xfrm>
            <a:off x="4610100" y="2209802"/>
            <a:ext cx="2838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1 GPU, or DDP for throughput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1245E0-9A1B-44B0-BC91-40F7AD958D70}"/>
              </a:ext>
            </a:extLst>
          </p:cNvPr>
          <p:cNvSpPr>
            <a:spLocks noGrp="1"/>
          </p:cNvSpPr>
          <p:nvPr/>
        </p:nvSpPr>
        <p:spPr>
          <a:xfrm>
            <a:off x="7753350" y="2209802"/>
            <a:ext cx="342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Identify dominant memory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8D6FAF-A8C8-49BE-8C59-0203D7AD0C3C}"/>
              </a:ext>
            </a:extLst>
          </p:cNvPr>
          <p:cNvSpPr>
            <a:spLocks noGrp="1"/>
          </p:cNvSpPr>
          <p:nvPr/>
        </p:nvSpPr>
        <p:spPr>
          <a:xfrm>
            <a:off x="742950" y="2952752"/>
            <a:ext cx="10591800" cy="742950"/>
          </a:xfrm>
          <a:prstGeom prst="rect">
            <a:avLst/>
          </a:prstGeom>
          <a:solidFill>
            <a:srgbClr val="F0F1F4"/>
          </a:solidFill>
          <a:ln w="0">
            <a:solidFill>
              <a:srgbClr val="F0F1F4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BB8E07-CAA3-4BE0-9F83-4B7E73552BA2}"/>
              </a:ext>
            </a:extLst>
          </p:cNvPr>
          <p:cNvSpPr>
            <a:spLocks noGrp="1"/>
          </p:cNvSpPr>
          <p:nvPr/>
        </p:nvSpPr>
        <p:spPr>
          <a:xfrm>
            <a:off x="742950" y="3695702"/>
            <a:ext cx="105918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41FA82-7FA0-4DB0-B67B-E2FD02F8F2C5}"/>
              </a:ext>
            </a:extLst>
          </p:cNvPr>
          <p:cNvSpPr>
            <a:spLocks noGrp="1"/>
          </p:cNvSpPr>
          <p:nvPr/>
        </p:nvSpPr>
        <p:spPr>
          <a:xfrm>
            <a:off x="895350" y="2952752"/>
            <a:ext cx="3409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Persistent state dominates?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6EB707-8F5C-42B6-AB97-71058E0576A5}"/>
              </a:ext>
            </a:extLst>
          </p:cNvPr>
          <p:cNvSpPr>
            <a:spLocks noGrp="1"/>
          </p:cNvSpPr>
          <p:nvPr/>
        </p:nvSpPr>
        <p:spPr>
          <a:xfrm>
            <a:off x="4610100" y="2952752"/>
            <a:ext cx="2838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FSDP / ZeRO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F75B022-453D-41D8-8773-49AB5D87F325}"/>
              </a:ext>
            </a:extLst>
          </p:cNvPr>
          <p:cNvSpPr>
            <a:spLocks noGrp="1"/>
          </p:cNvSpPr>
          <p:nvPr/>
        </p:nvSpPr>
        <p:spPr>
          <a:xfrm>
            <a:off x="7753350" y="2952752"/>
            <a:ext cx="342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Check activations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DE942-6869-420D-8959-B1879A0EC7E5}"/>
              </a:ext>
            </a:extLst>
          </p:cNvPr>
          <p:cNvSpPr>
            <a:spLocks noGrp="1"/>
          </p:cNvSpPr>
          <p:nvPr/>
        </p:nvSpPr>
        <p:spPr>
          <a:xfrm>
            <a:off x="742950" y="4438652"/>
            <a:ext cx="105918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EBB893-9376-498D-8546-231DD66B93EC}"/>
              </a:ext>
            </a:extLst>
          </p:cNvPr>
          <p:cNvSpPr>
            <a:spLocks noGrp="1"/>
          </p:cNvSpPr>
          <p:nvPr/>
        </p:nvSpPr>
        <p:spPr>
          <a:xfrm>
            <a:off x="895350" y="3695702"/>
            <a:ext cx="3409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Long sequence / activations dominate?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11948F0-0695-4232-A0B4-F97194319FFA}"/>
              </a:ext>
            </a:extLst>
          </p:cNvPr>
          <p:cNvSpPr>
            <a:spLocks noGrp="1"/>
          </p:cNvSpPr>
          <p:nvPr/>
        </p:nvSpPr>
        <p:spPr>
          <a:xfrm>
            <a:off x="4610100" y="3695702"/>
            <a:ext cx="2838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Checkpoint, microbatch, CP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687885-6297-490D-8E53-2767D39667F3}"/>
              </a:ext>
            </a:extLst>
          </p:cNvPr>
          <p:cNvSpPr>
            <a:spLocks noGrp="1"/>
          </p:cNvSpPr>
          <p:nvPr/>
        </p:nvSpPr>
        <p:spPr>
          <a:xfrm>
            <a:off x="7753350" y="3695702"/>
            <a:ext cx="342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Check one layer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15682A-27D4-4855-9CE1-CEA89989E284}"/>
              </a:ext>
            </a:extLst>
          </p:cNvPr>
          <p:cNvSpPr>
            <a:spLocks noGrp="1"/>
          </p:cNvSpPr>
          <p:nvPr/>
        </p:nvSpPr>
        <p:spPr>
          <a:xfrm>
            <a:off x="742950" y="4438652"/>
            <a:ext cx="10591800" cy="742950"/>
          </a:xfrm>
          <a:prstGeom prst="rect">
            <a:avLst/>
          </a:prstGeom>
          <a:solidFill>
            <a:srgbClr val="F0F1F4"/>
          </a:solidFill>
          <a:ln w="0">
            <a:solidFill>
              <a:srgbClr val="F0F1F4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A2B81C-12A7-409D-BD3D-FDB2FF0AA136}"/>
              </a:ext>
            </a:extLst>
          </p:cNvPr>
          <p:cNvSpPr>
            <a:spLocks noGrp="1"/>
          </p:cNvSpPr>
          <p:nvPr/>
        </p:nvSpPr>
        <p:spPr>
          <a:xfrm>
            <a:off x="742950" y="5181602"/>
            <a:ext cx="105918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5E4DE8C-3A59-4332-8D1D-E2D64B4D9603}"/>
              </a:ext>
            </a:extLst>
          </p:cNvPr>
          <p:cNvSpPr>
            <a:spLocks noGrp="1"/>
          </p:cNvSpPr>
          <p:nvPr/>
        </p:nvSpPr>
        <p:spPr>
          <a:xfrm>
            <a:off x="895350" y="4438652"/>
            <a:ext cx="3409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A single layer does not fit?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AE9C1EE-B08D-4399-9C98-D2482B8800A0}"/>
              </a:ext>
            </a:extLst>
          </p:cNvPr>
          <p:cNvSpPr>
            <a:spLocks noGrp="1"/>
          </p:cNvSpPr>
          <p:nvPr/>
        </p:nvSpPr>
        <p:spPr>
          <a:xfrm>
            <a:off x="4610100" y="4438652"/>
            <a:ext cx="2838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Minimal TP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B03D633-EFE2-4684-9EBC-3E43127D379C}"/>
              </a:ext>
            </a:extLst>
          </p:cNvPr>
          <p:cNvSpPr>
            <a:spLocks noGrp="1"/>
          </p:cNvSpPr>
          <p:nvPr/>
        </p:nvSpPr>
        <p:spPr>
          <a:xfrm>
            <a:off x="7753350" y="4438652"/>
            <a:ext cx="342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Check depth / nodes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5DE3C6-3809-499F-86D5-E095774F2E54}"/>
              </a:ext>
            </a:extLst>
          </p:cNvPr>
          <p:cNvSpPr>
            <a:spLocks noGrp="1"/>
          </p:cNvSpPr>
          <p:nvPr/>
        </p:nvSpPr>
        <p:spPr>
          <a:xfrm>
            <a:off x="742950" y="5924552"/>
            <a:ext cx="105918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ECF97C-2B2E-47DC-9617-43F0AD970DA9}"/>
              </a:ext>
            </a:extLst>
          </p:cNvPr>
          <p:cNvSpPr>
            <a:spLocks noGrp="1"/>
          </p:cNvSpPr>
          <p:nvPr/>
        </p:nvSpPr>
        <p:spPr>
          <a:xfrm>
            <a:off x="895350" y="5181602"/>
            <a:ext cx="3409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Depth or node boundary dominates?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00C543-7651-4F92-85A9-9AA1CB32648E}"/>
              </a:ext>
            </a:extLst>
          </p:cNvPr>
          <p:cNvSpPr>
            <a:spLocks noGrp="1"/>
          </p:cNvSpPr>
          <p:nvPr/>
        </p:nvSpPr>
        <p:spPr>
          <a:xfrm>
            <a:off x="4610100" y="5181602"/>
            <a:ext cx="2838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PP; keep TP local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EEEB985-8707-4BB2-B29F-6FF1DDD572DC}"/>
              </a:ext>
            </a:extLst>
          </p:cNvPr>
          <p:cNvSpPr>
            <a:spLocks noGrp="1"/>
          </p:cNvSpPr>
          <p:nvPr/>
        </p:nvSpPr>
        <p:spPr>
          <a:xfrm>
            <a:off x="7753350" y="5181602"/>
            <a:ext cx="342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EP for MoE; offload as fallback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33F2209-C9A9-40A3-89FD-8354D2D4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 lookup: goal and capacity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F00DA-BA1F-1800-8271-6B0ABAA2D9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C9C7607-4BA3-B4DC-A00F-2E67A9FCFF7E}" type="slidenum">
              <a:rPr/>
              <a:t>31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8CF07F-E5CD-46BA-8E51-B08B44C9A1BD}"/>
              </a:ext>
            </a:extLst>
          </p:cNvPr>
          <p:cNvSpPr>
            <a:spLocks noGrp="1"/>
          </p:cNvSpPr>
          <p:nvPr/>
        </p:nvSpPr>
        <p:spPr>
          <a:xfrm>
            <a:off x="742950" y="1504950"/>
            <a:ext cx="10591800" cy="400050"/>
          </a:xfrm>
          <a:prstGeom prst="rect">
            <a:avLst/>
          </a:prstGeom>
          <a:solidFill>
            <a:srgbClr val="333639"/>
          </a:solidFill>
          <a:ln w="0">
            <a:solidFill>
              <a:srgbClr val="333639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A430C4-D046-4B26-B199-9ED72CFCE430}"/>
              </a:ext>
            </a:extLst>
          </p:cNvPr>
          <p:cNvSpPr>
            <a:spLocks noGrp="1"/>
          </p:cNvSpPr>
          <p:nvPr/>
        </p:nvSpPr>
        <p:spPr>
          <a:xfrm>
            <a:off x="895350" y="1504950"/>
            <a:ext cx="3409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QUESTION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E67B2E-6900-4B66-A01D-9BFEFDA9E522}"/>
              </a:ext>
            </a:extLst>
          </p:cNvPr>
          <p:cNvSpPr>
            <a:spLocks noGrp="1"/>
          </p:cNvSpPr>
          <p:nvPr/>
        </p:nvSpPr>
        <p:spPr>
          <a:xfrm>
            <a:off x="4610100" y="1504950"/>
            <a:ext cx="2838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IF YES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032D85-29ED-4CBC-998A-FB6E21D64896}"/>
              </a:ext>
            </a:extLst>
          </p:cNvPr>
          <p:cNvSpPr>
            <a:spLocks noGrp="1"/>
          </p:cNvSpPr>
          <p:nvPr/>
        </p:nvSpPr>
        <p:spPr>
          <a:xfrm>
            <a:off x="7753350" y="150495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FFFFFF"/>
                </a:solidFill>
                <a:latin typeface="FlandersArtSans-Bold"/>
                <a:ea typeface="FlandersArtSans-Bold"/>
                <a:cs typeface="FlandersArtSans-Bold"/>
              </a:rPr>
              <a:t>IF NO / NEXT CHECK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5CD867-152B-42EF-BE80-3E9DE1B2D362}"/>
              </a:ext>
            </a:extLst>
          </p:cNvPr>
          <p:cNvSpPr>
            <a:spLocks noGrp="1"/>
          </p:cNvSpPr>
          <p:nvPr/>
        </p:nvSpPr>
        <p:spPr>
          <a:xfrm>
            <a:off x="4457700" y="1504950"/>
            <a:ext cx="9525" cy="411480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0BD7EF-C8B0-4E9D-B349-6F44822C0750}"/>
              </a:ext>
            </a:extLst>
          </p:cNvPr>
          <p:cNvSpPr>
            <a:spLocks noGrp="1"/>
          </p:cNvSpPr>
          <p:nvPr/>
        </p:nvSpPr>
        <p:spPr>
          <a:xfrm>
            <a:off x="7600950" y="1504950"/>
            <a:ext cx="9525" cy="4114800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DDC395-15D6-4184-89EC-EC9D2A1720D2}"/>
              </a:ext>
            </a:extLst>
          </p:cNvPr>
          <p:cNvSpPr>
            <a:spLocks noGrp="1"/>
          </p:cNvSpPr>
          <p:nvPr/>
        </p:nvSpPr>
        <p:spPr>
          <a:xfrm>
            <a:off x="742950" y="2647950"/>
            <a:ext cx="105918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0CA694-45FA-4444-9059-5082AC423602}"/>
              </a:ext>
            </a:extLst>
          </p:cNvPr>
          <p:cNvSpPr>
            <a:spLocks noGrp="1"/>
          </p:cNvSpPr>
          <p:nvPr/>
        </p:nvSpPr>
        <p:spPr>
          <a:xfrm>
            <a:off x="895350" y="1905000"/>
            <a:ext cx="3409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One complete replica fits?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5747DC-E4F3-4A55-A59B-D5E961677BE1}"/>
              </a:ext>
            </a:extLst>
          </p:cNvPr>
          <p:cNvSpPr>
            <a:spLocks noGrp="1"/>
          </p:cNvSpPr>
          <p:nvPr/>
        </p:nvSpPr>
        <p:spPr>
          <a:xfrm>
            <a:off x="4610100" y="1905000"/>
            <a:ext cx="2838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Throughput: replicas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2F0C43-39A7-4B80-8422-F03086030561}"/>
              </a:ext>
            </a:extLst>
          </p:cNvPr>
          <p:cNvSpPr>
            <a:spLocks noGrp="1"/>
          </p:cNvSpPr>
          <p:nvPr/>
        </p:nvSpPr>
        <p:spPr>
          <a:xfrm>
            <a:off x="7753350" y="1905000"/>
            <a:ext cx="342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Identify capacity limit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BA0A9D-40DF-4966-B397-E16EEBC90B35}"/>
              </a:ext>
            </a:extLst>
          </p:cNvPr>
          <p:cNvSpPr>
            <a:spLocks noGrp="1"/>
          </p:cNvSpPr>
          <p:nvPr/>
        </p:nvSpPr>
        <p:spPr>
          <a:xfrm>
            <a:off x="742950" y="2647950"/>
            <a:ext cx="10591800" cy="742950"/>
          </a:xfrm>
          <a:prstGeom prst="rect">
            <a:avLst/>
          </a:prstGeom>
          <a:solidFill>
            <a:srgbClr val="F0F1F4"/>
          </a:solidFill>
          <a:ln w="0">
            <a:solidFill>
              <a:srgbClr val="F0F1F4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44B5F4-FACB-4E05-8692-F8C63C270E70}"/>
              </a:ext>
            </a:extLst>
          </p:cNvPr>
          <p:cNvSpPr>
            <a:spLocks noGrp="1"/>
          </p:cNvSpPr>
          <p:nvPr/>
        </p:nvSpPr>
        <p:spPr>
          <a:xfrm>
            <a:off x="742950" y="3390900"/>
            <a:ext cx="105918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FB234F-04C0-4C8F-92CA-1918ECFA346D}"/>
              </a:ext>
            </a:extLst>
          </p:cNvPr>
          <p:cNvSpPr>
            <a:spLocks noGrp="1"/>
          </p:cNvSpPr>
          <p:nvPr/>
        </p:nvSpPr>
        <p:spPr>
          <a:xfrm>
            <a:off x="895350" y="2647950"/>
            <a:ext cx="3409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Latency target, replica fits?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0A3ADC-CD02-447B-AEAD-F6C6FA85314C}"/>
              </a:ext>
            </a:extLst>
          </p:cNvPr>
          <p:cNvSpPr>
            <a:spLocks noGrp="1"/>
          </p:cNvSpPr>
          <p:nvPr/>
        </p:nvSpPr>
        <p:spPr>
          <a:xfrm>
            <a:off x="4610100" y="2647950"/>
            <a:ext cx="2838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Benchmark 1 GPU vs minimal TP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3F7961-3286-4E8C-94AD-B66F242F026C}"/>
              </a:ext>
            </a:extLst>
          </p:cNvPr>
          <p:cNvSpPr>
            <a:spLocks noGrp="1"/>
          </p:cNvSpPr>
          <p:nvPr/>
        </p:nvSpPr>
        <p:spPr>
          <a:xfrm>
            <a:off x="7753350" y="2647950"/>
            <a:ext cx="342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Weights or KV cache?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B88868-A62E-4951-97C8-EDD495FFB6FD}"/>
              </a:ext>
            </a:extLst>
          </p:cNvPr>
          <p:cNvSpPr>
            <a:spLocks noGrp="1"/>
          </p:cNvSpPr>
          <p:nvPr/>
        </p:nvSpPr>
        <p:spPr>
          <a:xfrm>
            <a:off x="742950" y="4133850"/>
            <a:ext cx="105918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DA1906-7302-4A4F-8BC6-9F8B12E05C1A}"/>
              </a:ext>
            </a:extLst>
          </p:cNvPr>
          <p:cNvSpPr>
            <a:spLocks noGrp="1"/>
          </p:cNvSpPr>
          <p:nvPr/>
        </p:nvSpPr>
        <p:spPr>
          <a:xfrm>
            <a:off x="895350" y="3390900"/>
            <a:ext cx="3409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Weights dominate?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D92FEF-C502-4D79-9024-4E50C7220244}"/>
              </a:ext>
            </a:extLst>
          </p:cNvPr>
          <p:cNvSpPr>
            <a:spLocks noGrp="1"/>
          </p:cNvSpPr>
          <p:nvPr/>
        </p:nvSpPr>
        <p:spPr>
          <a:xfrm>
            <a:off x="4610100" y="3390900"/>
            <a:ext cx="2838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TP in fast domain; PP across nodes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0B9B7B3-CF3D-4276-8D71-5B7BDF7E3850}"/>
              </a:ext>
            </a:extLst>
          </p:cNvPr>
          <p:cNvSpPr>
            <a:spLocks noGrp="1"/>
          </p:cNvSpPr>
          <p:nvPr/>
        </p:nvSpPr>
        <p:spPr>
          <a:xfrm>
            <a:off x="7753350" y="3390900"/>
            <a:ext cx="342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Inspect KV / context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935C69-ED5C-4F48-AFC0-347E3BAD6BCA}"/>
              </a:ext>
            </a:extLst>
          </p:cNvPr>
          <p:cNvSpPr>
            <a:spLocks noGrp="1"/>
          </p:cNvSpPr>
          <p:nvPr/>
        </p:nvSpPr>
        <p:spPr>
          <a:xfrm>
            <a:off x="742950" y="4133850"/>
            <a:ext cx="10591800" cy="742950"/>
          </a:xfrm>
          <a:prstGeom prst="rect">
            <a:avLst/>
          </a:prstGeom>
          <a:solidFill>
            <a:srgbClr val="F0F1F4"/>
          </a:solidFill>
          <a:ln w="0">
            <a:solidFill>
              <a:srgbClr val="F0F1F4"/>
            </a:solidFill>
            <a:prstDash val="solid"/>
          </a:ln>
        </p:spPr>
        <p:txBody>
          <a:bodyPr lIns="133350" tIns="76200" rIns="133350" bIns="76200" anchor="ctr"/>
          <a:lstStyle/>
          <a:p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697BB86-B936-467F-A317-D44345A831BF}"/>
              </a:ext>
            </a:extLst>
          </p:cNvPr>
          <p:cNvSpPr>
            <a:spLocks noGrp="1"/>
          </p:cNvSpPr>
          <p:nvPr/>
        </p:nvSpPr>
        <p:spPr>
          <a:xfrm>
            <a:off x="742950" y="4876800"/>
            <a:ext cx="105918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9C4A545-92F4-4EA1-813F-A504A4358E3A}"/>
              </a:ext>
            </a:extLst>
          </p:cNvPr>
          <p:cNvSpPr>
            <a:spLocks noGrp="1"/>
          </p:cNvSpPr>
          <p:nvPr/>
        </p:nvSpPr>
        <p:spPr>
          <a:xfrm>
            <a:off x="895350" y="4133850"/>
            <a:ext cx="3409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KV cache dominates?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7CB7014-B2D7-400E-92B3-B515B336ADBD}"/>
              </a:ext>
            </a:extLst>
          </p:cNvPr>
          <p:cNvSpPr>
            <a:spLocks noGrp="1"/>
          </p:cNvSpPr>
          <p:nvPr/>
        </p:nvSpPr>
        <p:spPr>
          <a:xfrm>
            <a:off x="4610100" y="4133850"/>
            <a:ext cx="2838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Reduce concurrency/context; quantize or shard cache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09736C2-D56D-4131-A58C-B9AF01489353}"/>
              </a:ext>
            </a:extLst>
          </p:cNvPr>
          <p:cNvSpPr>
            <a:spLocks noGrp="1"/>
          </p:cNvSpPr>
          <p:nvPr/>
        </p:nvSpPr>
        <p:spPr>
          <a:xfrm>
            <a:off x="7753350" y="4133850"/>
            <a:ext cx="342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Check architecture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186BA8-0039-4CE4-A16F-1CC7A36B92C8}"/>
              </a:ext>
            </a:extLst>
          </p:cNvPr>
          <p:cNvSpPr>
            <a:spLocks noGrp="1"/>
          </p:cNvSpPr>
          <p:nvPr/>
        </p:nvSpPr>
        <p:spPr>
          <a:xfrm>
            <a:off x="742950" y="5619750"/>
            <a:ext cx="10591800" cy="9525"/>
          </a:xfrm>
          <a:prstGeom prst="rect">
            <a:avLst/>
          </a:prstGeom>
          <a:solidFill>
            <a:srgbClr val="C7CBD2"/>
          </a:solidFill>
          <a:ln w="0">
            <a:solidFill>
              <a:srgbClr val="C7CBD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E35C30-414E-4A87-B91C-8A49B8F974BF}"/>
              </a:ext>
            </a:extLst>
          </p:cNvPr>
          <p:cNvSpPr>
            <a:spLocks noGrp="1"/>
          </p:cNvSpPr>
          <p:nvPr/>
        </p:nvSpPr>
        <p:spPr>
          <a:xfrm>
            <a:off x="895350" y="4876800"/>
            <a:ext cx="34099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333639"/>
                </a:solidFill>
                <a:latin typeface="FlandersArtSans-Bold"/>
                <a:ea typeface="FlandersArtSans-Bold"/>
                <a:cs typeface="FlandersArtSans-Bold"/>
              </a:rPr>
              <a:t>Sparse MoE?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A39C94D-B5DB-4F82-8C91-9B123A740DCF}"/>
              </a:ext>
            </a:extLst>
          </p:cNvPr>
          <p:cNvSpPr>
            <a:spLocks noGrp="1"/>
          </p:cNvSpPr>
          <p:nvPr/>
        </p:nvSpPr>
        <p:spPr>
          <a:xfrm>
            <a:off x="4610100" y="4876800"/>
            <a:ext cx="2838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defRPr>
            </a:pPr>
            <a:r>
              <a:rPr sz="1600" b="1">
                <a:solidFill>
                  <a:srgbClr val="DB6C30"/>
                </a:solidFill>
                <a:latin typeface="FlandersArtSans-Bold"/>
                <a:ea typeface="FlandersArtSans-Bold"/>
                <a:cs typeface="FlandersArtSans-Bold"/>
              </a:rPr>
              <a:t>EP, usually within fast domain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F28F9CD-A5CB-4767-B410-35CA07E8E4DB}"/>
              </a:ext>
            </a:extLst>
          </p:cNvPr>
          <p:cNvSpPr>
            <a:spLocks noGrp="1"/>
          </p:cNvSpPr>
          <p:nvPr/>
        </p:nvSpPr>
        <p:spPr>
          <a:xfrm>
            <a:off x="7753350" y="4876800"/>
            <a:ext cx="3429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19050" rIns="0" bIns="19050" anchor="ctr"/>
          <a:lstStyle/>
          <a:p>
            <a:pPr algn="l">
              <a:buNone/>
              <a:def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defRPr>
            </a:pPr>
            <a:r>
              <a:rPr sz="1600" b="0">
                <a:solidFill>
                  <a:srgbClr val="333639"/>
                </a:solidFill>
                <a:latin typeface="FlandersArtSans-Regular"/>
                <a:ea typeface="FlandersArtSans-Regular"/>
                <a:cs typeface="FlandersArtSans-Regular"/>
              </a:rPr>
              <a:t>1 GPU only: quantize / offload</a:t>
            </a:r>
          </a:p>
        </p:txBody>
      </p:sp>
    </p:spTree>
    <p:extLst>
      <p:ext uri="{BB962C8B-B14F-4D97-AF65-F5344CB8AC3E}">
        <p14:creationId xmlns:p14="http://schemas.microsoft.com/office/powerpoint/2010/main" val="245245773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9">
      <a:dk1>
        <a:srgbClr val="333639"/>
      </a:dk1>
      <a:lt1>
        <a:srgbClr val="F4F5FC"/>
      </a:lt1>
      <a:dk2>
        <a:srgbClr val="353A42"/>
      </a:dk2>
      <a:lt2>
        <a:srgbClr val="FFFFFF"/>
      </a:lt2>
      <a:accent1>
        <a:srgbClr val="DB6C30"/>
      </a:accent1>
      <a:accent2>
        <a:srgbClr val="DB6C30"/>
      </a:accent2>
      <a:accent3>
        <a:srgbClr val="DB6C30"/>
      </a:accent3>
      <a:accent4>
        <a:srgbClr val="DB6C30"/>
      </a:accent4>
      <a:accent5>
        <a:srgbClr val="DB6C30"/>
      </a:accent5>
      <a:accent6>
        <a:srgbClr val="AAB2BD"/>
      </a:accent6>
      <a:hlink>
        <a:srgbClr val="F8960D"/>
      </a:hlink>
      <a:folHlink>
        <a:srgbClr val="D70444"/>
      </a:folHlink>
    </a:clrScheme>
    <a:fontScheme name="VSC">
      <a:majorFont>
        <a:latin typeface="FlandersArtSans-Bold"/>
        <a:ea typeface=""/>
        <a:cs typeface=""/>
      </a:majorFont>
      <a:minorFont>
        <a:latin typeface="FlandersArtSans-Regular"/>
        <a:ea typeface=""/>
        <a:cs typeface=""/>
      </a:minorFont>
    </a:fontScheme>
    <a:fmtScheme name="Custom 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Custom 9">
      <a:dk1>
        <a:srgbClr val="333639"/>
      </a:dk1>
      <a:lt1>
        <a:srgbClr val="F4F5FC"/>
      </a:lt1>
      <a:dk2>
        <a:srgbClr val="353A42"/>
      </a:dk2>
      <a:lt2>
        <a:srgbClr val="FFFFFF"/>
      </a:lt2>
      <a:accent1>
        <a:srgbClr val="DB6C30"/>
      </a:accent1>
      <a:accent2>
        <a:srgbClr val="DB6C30"/>
      </a:accent2>
      <a:accent3>
        <a:srgbClr val="DB6C30"/>
      </a:accent3>
      <a:accent4>
        <a:srgbClr val="DB6C30"/>
      </a:accent4>
      <a:accent5>
        <a:srgbClr val="DB6C30"/>
      </a:accent5>
      <a:accent6>
        <a:srgbClr val="AAB2BD"/>
      </a:accent6>
      <a:hlink>
        <a:srgbClr val="F8960D"/>
      </a:hlink>
      <a:folHlink>
        <a:srgbClr val="D70444"/>
      </a:folHlink>
    </a:clrScheme>
    <a:fontScheme name="VSC">
      <a:majorFont>
        <a:latin typeface="FlandersArtSans-Bold"/>
        <a:ea typeface=""/>
        <a:cs typeface=""/>
      </a:majorFont>
      <a:minorFont>
        <a:latin typeface="FlandersArtSans-Regular"/>
        <a:ea typeface=""/>
        <a:cs typeface=""/>
      </a:minorFont>
    </a:fontScheme>
    <a:fmtScheme name="Custom 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4592</Words>
  <Application>Microsoft Office PowerPoint</Application>
  <DocSecurity>0</DocSecurity>
  <PresentationFormat>Widescreen</PresentationFormat>
  <Paragraphs>856</Paragraphs>
  <Slides>31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Consolas</vt:lpstr>
      <vt:lpstr>FlandersArtSans-Bold</vt:lpstr>
      <vt:lpstr>FlandersArtSans-Medium</vt:lpstr>
      <vt:lpstr>FlandersArtSans-Regular</vt:lpstr>
      <vt:lpstr>1_Office Theme</vt:lpstr>
      <vt:lpstr>Multi-GPU machine learning</vt:lpstr>
      <vt:lpstr>PowerPoint Presentation</vt:lpstr>
      <vt:lpstr>PowerPoint Presentation</vt:lpstr>
      <vt:lpstr>Introduction</vt:lpstr>
      <vt:lpstr>Hardware determines which choices exist</vt:lpstr>
      <vt:lpstr>Parallelism methods divide different objects</vt:lpstr>
      <vt:lpstr>DP splits batches across model replicas</vt:lpstr>
      <vt:lpstr>FSDP shards persistent state across workers</vt:lpstr>
      <vt:lpstr>PowerPoint Presentation</vt:lpstr>
      <vt:lpstr>TP divides the work inside each layer</vt:lpstr>
      <vt:lpstr>PP divides model depth into stages</vt:lpstr>
      <vt:lpstr>Pipeline bubbles are idle stage-time slots</vt:lpstr>
      <vt:lpstr>One microbatch creates a training bubble</vt:lpstr>
      <vt:lpstr>Microbatches reduce the bubble fraction</vt:lpstr>
      <vt:lpstr>CP divides the sequence across workers</vt:lpstr>
      <vt:lpstr>EP routes tokens to distributed experts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Training: match method to bottleneck</vt:lpstr>
      <vt:lpstr>Inference: separate fit from service objective</vt:lpstr>
      <vt:lpstr>If optimizer state dominates, shard state first</vt:lpstr>
      <vt:lpstr>Weights need 2.5 GPUs: minimum TP = 4</vt:lpstr>
      <vt:lpstr>Choose a base strategy; justify one addition</vt:lpstr>
      <vt:lpstr>Training lookup: bottleneck to response</vt:lpstr>
      <vt:lpstr>Inference lookup: goal and capacity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Geert Jan Bex</cp:lastModifiedBy>
  <cp:revision>8</cp:revision>
  <dcterms:created xsi:type="dcterms:W3CDTF">2026-09-01T13:57:21Z</dcterms:created>
  <dcterms:modified xsi:type="dcterms:W3CDTF">2026-09-08T06:45:48Z</dcterms:modified>
</cp:coreProperties>
</file>