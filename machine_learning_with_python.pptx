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66"/>
  </p:notesMasterIdLst>
  <p:sldIdLst>
    <p:sldId id="257" r:id="rId2"/>
    <p:sldId id="281" r:id="rId3"/>
    <p:sldId id="784" r:id="rId4"/>
    <p:sldId id="258" r:id="rId5"/>
    <p:sldId id="259" r:id="rId6"/>
    <p:sldId id="260" r:id="rId7"/>
    <p:sldId id="261" r:id="rId8"/>
    <p:sldId id="266" r:id="rId9"/>
    <p:sldId id="265" r:id="rId10"/>
    <p:sldId id="274" r:id="rId11"/>
    <p:sldId id="267" r:id="rId12"/>
    <p:sldId id="277" r:id="rId13"/>
    <p:sldId id="268" r:id="rId14"/>
    <p:sldId id="262" r:id="rId15"/>
    <p:sldId id="273" r:id="rId16"/>
    <p:sldId id="276" r:id="rId17"/>
    <p:sldId id="751" r:id="rId18"/>
    <p:sldId id="263" r:id="rId19"/>
    <p:sldId id="761" r:id="rId20"/>
    <p:sldId id="754" r:id="rId21"/>
    <p:sldId id="779" r:id="rId22"/>
    <p:sldId id="762" r:id="rId23"/>
    <p:sldId id="755" r:id="rId24"/>
    <p:sldId id="760" r:id="rId25"/>
    <p:sldId id="756" r:id="rId26"/>
    <p:sldId id="757" r:id="rId27"/>
    <p:sldId id="758" r:id="rId28"/>
    <p:sldId id="759" r:id="rId29"/>
    <p:sldId id="763" r:id="rId30"/>
    <p:sldId id="764" r:id="rId31"/>
    <p:sldId id="765" r:id="rId32"/>
    <p:sldId id="766" r:id="rId33"/>
    <p:sldId id="768" r:id="rId34"/>
    <p:sldId id="767" r:id="rId35"/>
    <p:sldId id="771" r:id="rId36"/>
    <p:sldId id="772" r:id="rId37"/>
    <p:sldId id="773" r:id="rId38"/>
    <p:sldId id="774" r:id="rId39"/>
    <p:sldId id="775" r:id="rId40"/>
    <p:sldId id="776" r:id="rId41"/>
    <p:sldId id="777" r:id="rId42"/>
    <p:sldId id="785" r:id="rId43"/>
    <p:sldId id="778" r:id="rId44"/>
    <p:sldId id="780" r:id="rId45"/>
    <p:sldId id="781" r:id="rId46"/>
    <p:sldId id="783" r:id="rId47"/>
    <p:sldId id="264" r:id="rId48"/>
    <p:sldId id="270" r:id="rId49"/>
    <p:sldId id="271" r:id="rId50"/>
    <p:sldId id="272" r:id="rId51"/>
    <p:sldId id="279" r:id="rId52"/>
    <p:sldId id="280" r:id="rId53"/>
    <p:sldId id="275" r:id="rId54"/>
    <p:sldId id="278" r:id="rId55"/>
    <p:sldId id="269" r:id="rId56"/>
    <p:sldId id="282" r:id="rId57"/>
    <p:sldId id="283" r:id="rId58"/>
    <p:sldId id="286" r:id="rId59"/>
    <p:sldId id="287" r:id="rId60"/>
    <p:sldId id="285" r:id="rId61"/>
    <p:sldId id="288" r:id="rId62"/>
    <p:sldId id="284" r:id="rId63"/>
    <p:sldId id="769" r:id="rId64"/>
    <p:sldId id="770" r:id="rId6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7909F8CD-7950-4357-AE6E-4FA8C309AE03}">
          <p14:sldIdLst>
            <p14:sldId id="257"/>
            <p14:sldId id="281"/>
            <p14:sldId id="784"/>
          </p14:sldIdLst>
        </p14:section>
        <p14:section name="Introduction" id="{857C6A2F-A767-4067-AE01-714D1130F04F}">
          <p14:sldIdLst>
            <p14:sldId id="258"/>
            <p14:sldId id="259"/>
            <p14:sldId id="260"/>
            <p14:sldId id="261"/>
            <p14:sldId id="266"/>
            <p14:sldId id="265"/>
            <p14:sldId id="274"/>
            <p14:sldId id="267"/>
            <p14:sldId id="277"/>
            <p14:sldId id="268"/>
            <p14:sldId id="262"/>
            <p14:sldId id="273"/>
            <p14:sldId id="276"/>
          </p14:sldIdLst>
        </p14:section>
        <p14:section name="scikit-learn" id="{82873838-D687-4616-BE1C-69F7C2075341}">
          <p14:sldIdLst>
            <p14:sldId id="751"/>
            <p14:sldId id="263"/>
            <p14:sldId id="761"/>
            <p14:sldId id="754"/>
            <p14:sldId id="779"/>
            <p14:sldId id="762"/>
            <p14:sldId id="755"/>
            <p14:sldId id="760"/>
            <p14:sldId id="756"/>
            <p14:sldId id="757"/>
            <p14:sldId id="758"/>
            <p14:sldId id="759"/>
            <p14:sldId id="763"/>
            <p14:sldId id="764"/>
            <p14:sldId id="765"/>
            <p14:sldId id="766"/>
            <p14:sldId id="768"/>
            <p14:sldId id="767"/>
            <p14:sldId id="771"/>
            <p14:sldId id="772"/>
            <p14:sldId id="773"/>
            <p14:sldId id="774"/>
            <p14:sldId id="775"/>
            <p14:sldId id="776"/>
            <p14:sldId id="777"/>
            <p14:sldId id="785"/>
            <p14:sldId id="778"/>
            <p14:sldId id="780"/>
            <p14:sldId id="781"/>
          </p14:sldIdLst>
        </p14:section>
        <p14:section name="Keras" id="{9F3F42B8-B707-44BB-A726-56CA00C9AC2D}">
          <p14:sldIdLst>
            <p14:sldId id="783"/>
            <p14:sldId id="264"/>
            <p14:sldId id="270"/>
            <p14:sldId id="271"/>
            <p14:sldId id="272"/>
            <p14:sldId id="279"/>
            <p14:sldId id="280"/>
            <p14:sldId id="275"/>
            <p14:sldId id="278"/>
            <p14:sldId id="269"/>
            <p14:sldId id="282"/>
            <p14:sldId id="283"/>
            <p14:sldId id="286"/>
            <p14:sldId id="287"/>
            <p14:sldId id="285"/>
            <p14:sldId id="288"/>
          </p14:sldIdLst>
        </p14:section>
        <p14:section name="Conclusions" id="{A9B2E2E8-EE28-4C08-9F33-76B98F6A83CB}">
          <p14:sldIdLst>
            <p14:sldId id="284"/>
            <p14:sldId id="769"/>
            <p14:sldId id="7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292" autoAdjust="0"/>
    <p:restoredTop sz="95597" autoAdjust="0"/>
  </p:normalViewPr>
  <p:slideViewPr>
    <p:cSldViewPr snapToGrid="0">
      <p:cViewPr varScale="1">
        <p:scale>
          <a:sx n="70" d="100"/>
          <a:sy n="70" d="100"/>
        </p:scale>
        <p:origin x="43" y="32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4286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BF5F7A3-80FA-4DE8-9E10-D5FD6AAF4E4C}" type="datetimeFigureOut">
              <a:rPr lang="en-US" smtClean="0"/>
              <a:t>2026-01-12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DAAB5DE-4D54-4E1E-B02D-B50369E95D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82652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dnuggets.com/2018/07/why-machine-learning-project-fail.html" TargetMode="External"/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hlinkClick r:id="rId3"/>
              </a:rPr>
              <a:t>https://www.kdnuggets.com/2018/07/why-machine-learning-project-fail.html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DAAB5DE-4D54-4E1E-B02D-B50369E95D41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06703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47648" y="392643"/>
            <a:ext cx="1844351" cy="718699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4175985" y="-3456972"/>
            <a:ext cx="3833929" cy="1219810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l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452396" y="6352792"/>
            <a:ext cx="2743200" cy="365125"/>
          </a:xfrm>
          <a:prstGeom prst="rect">
            <a:avLst/>
          </a:prstGeom>
        </p:spPr>
        <p:txBody>
          <a:bodyPr/>
          <a:lstStyle/>
          <a:p>
            <a:fld id="{12D417FB-DB75-4510-8AD7-5416595AADD8}" type="datetime1">
              <a:rPr lang="en-US" smtClean="0"/>
              <a:t>2026-01-12</a:t>
            </a:fld>
            <a:endParaRPr lang="en-US"/>
          </a:p>
        </p:txBody>
      </p:sp>
      <p:sp>
        <p:nvSpPr>
          <p:cNvPr id="5" name="Footer Placeholder 4" hidden="1"/>
          <p:cNvSpPr>
            <a:spLocks noGrp="1"/>
          </p:cNvSpPr>
          <p:nvPr>
            <p:ph type="ftr" sz="quarter" idx="11"/>
          </p:nvPr>
        </p:nvSpPr>
        <p:spPr>
          <a:xfrm>
            <a:off x="8610599" y="6356350"/>
            <a:ext cx="2121243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vscentrum.be</a:t>
            </a:r>
          </a:p>
        </p:txBody>
      </p:sp>
      <p:sp>
        <p:nvSpPr>
          <p:cNvPr id="8" name="Rectangle 6"/>
          <p:cNvSpPr/>
          <p:nvPr userDrawn="1"/>
        </p:nvSpPr>
        <p:spPr>
          <a:xfrm flipH="1">
            <a:off x="0" y="4725859"/>
            <a:ext cx="12192000" cy="2162432"/>
          </a:xfrm>
          <a:custGeom>
            <a:avLst/>
            <a:gdLst>
              <a:gd name="connsiteX0" fmla="*/ 0 w 12192000"/>
              <a:gd name="connsiteY0" fmla="*/ 0 h 2162432"/>
              <a:gd name="connsiteX1" fmla="*/ 12192000 w 12192000"/>
              <a:gd name="connsiteY1" fmla="*/ 0 h 2162432"/>
              <a:gd name="connsiteX2" fmla="*/ 12192000 w 12192000"/>
              <a:gd name="connsiteY2" fmla="*/ 2162432 h 2162432"/>
              <a:gd name="connsiteX3" fmla="*/ 0 w 12192000"/>
              <a:gd name="connsiteY3" fmla="*/ 2162432 h 2162432"/>
              <a:gd name="connsiteX4" fmla="*/ 0 w 12192000"/>
              <a:gd name="connsiteY4" fmla="*/ 0 h 2162432"/>
              <a:gd name="connsiteX0" fmla="*/ 0 w 12192000"/>
              <a:gd name="connsiteY0" fmla="*/ 1169773 h 2162432"/>
              <a:gd name="connsiteX1" fmla="*/ 12192000 w 12192000"/>
              <a:gd name="connsiteY1" fmla="*/ 0 h 2162432"/>
              <a:gd name="connsiteX2" fmla="*/ 12192000 w 12192000"/>
              <a:gd name="connsiteY2" fmla="*/ 2162432 h 2162432"/>
              <a:gd name="connsiteX3" fmla="*/ 0 w 12192000"/>
              <a:gd name="connsiteY3" fmla="*/ 2162432 h 2162432"/>
              <a:gd name="connsiteX4" fmla="*/ 0 w 12192000"/>
              <a:gd name="connsiteY4" fmla="*/ 1169773 h 2162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192000" h="2162432">
                <a:moveTo>
                  <a:pt x="0" y="1169773"/>
                </a:moveTo>
                <a:lnTo>
                  <a:pt x="12192000" y="0"/>
                </a:lnTo>
                <a:lnTo>
                  <a:pt x="12192000" y="2162432"/>
                </a:lnTo>
                <a:lnTo>
                  <a:pt x="0" y="2162432"/>
                </a:lnTo>
                <a:lnTo>
                  <a:pt x="0" y="1169773"/>
                </a:lnTo>
                <a:close/>
              </a:path>
            </a:pathLst>
          </a:cu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 userDrawn="1"/>
        </p:nvSpPr>
        <p:spPr>
          <a:xfrm>
            <a:off x="0" y="4695568"/>
            <a:ext cx="12192000" cy="2162432"/>
          </a:xfrm>
          <a:custGeom>
            <a:avLst/>
            <a:gdLst>
              <a:gd name="connsiteX0" fmla="*/ 0 w 12192000"/>
              <a:gd name="connsiteY0" fmla="*/ 0 h 2162432"/>
              <a:gd name="connsiteX1" fmla="*/ 12192000 w 12192000"/>
              <a:gd name="connsiteY1" fmla="*/ 0 h 2162432"/>
              <a:gd name="connsiteX2" fmla="*/ 12192000 w 12192000"/>
              <a:gd name="connsiteY2" fmla="*/ 2162432 h 2162432"/>
              <a:gd name="connsiteX3" fmla="*/ 0 w 12192000"/>
              <a:gd name="connsiteY3" fmla="*/ 2162432 h 2162432"/>
              <a:gd name="connsiteX4" fmla="*/ 0 w 12192000"/>
              <a:gd name="connsiteY4" fmla="*/ 0 h 2162432"/>
              <a:gd name="connsiteX0" fmla="*/ 0 w 12192000"/>
              <a:gd name="connsiteY0" fmla="*/ 1169773 h 2162432"/>
              <a:gd name="connsiteX1" fmla="*/ 12192000 w 12192000"/>
              <a:gd name="connsiteY1" fmla="*/ 0 h 2162432"/>
              <a:gd name="connsiteX2" fmla="*/ 12192000 w 12192000"/>
              <a:gd name="connsiteY2" fmla="*/ 2162432 h 2162432"/>
              <a:gd name="connsiteX3" fmla="*/ 0 w 12192000"/>
              <a:gd name="connsiteY3" fmla="*/ 2162432 h 2162432"/>
              <a:gd name="connsiteX4" fmla="*/ 0 w 12192000"/>
              <a:gd name="connsiteY4" fmla="*/ 1169773 h 2162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192000" h="2162432">
                <a:moveTo>
                  <a:pt x="0" y="1169773"/>
                </a:moveTo>
                <a:lnTo>
                  <a:pt x="12192000" y="0"/>
                </a:lnTo>
                <a:lnTo>
                  <a:pt x="12192000" y="2162432"/>
                </a:lnTo>
                <a:lnTo>
                  <a:pt x="0" y="2162432"/>
                </a:lnTo>
                <a:lnTo>
                  <a:pt x="0" y="1169773"/>
                </a:lnTo>
                <a:close/>
              </a:path>
            </a:pathLst>
          </a:custGeom>
          <a:solidFill>
            <a:srgbClr val="DB6D3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9" name="Picture 18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8344" y="5970673"/>
            <a:ext cx="3997596" cy="710771"/>
          </a:xfrm>
          <a:prstGeom prst="rect">
            <a:avLst/>
          </a:prstGeom>
        </p:spPr>
      </p:pic>
      <p:sp>
        <p:nvSpPr>
          <p:cNvPr id="20" name="TextBox 19"/>
          <p:cNvSpPr txBox="1"/>
          <p:nvPr userDrawn="1"/>
        </p:nvSpPr>
        <p:spPr>
          <a:xfrm>
            <a:off x="10347648" y="6245614"/>
            <a:ext cx="17914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  <a:latin typeface="FlandersArtSans-Medium" panose="00000600000000000000" pitchFamily="2" charset="0"/>
              </a:rPr>
              <a:t>vscentrum</a:t>
            </a:r>
            <a:r>
              <a:rPr lang="en-US" dirty="0">
                <a:solidFill>
                  <a:schemeClr val="bg2"/>
                </a:solidFill>
              </a:rPr>
              <a:t>.be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5A1C33-475D-474A-A037-DDAF3DC7AF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91669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5A1C33-475D-474A-A037-DDAF3DC7AF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8792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5A1C33-475D-474A-A037-DDAF3DC7AF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61534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5A1C33-475D-474A-A037-DDAF3DC7AF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5771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Full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vscentrum.be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2448-FEEC-49E8-9588-2DF1F90D57C2}" type="slidenum">
              <a:rPr lang="en-US" smtClean="0"/>
              <a:t>‹#›</a:t>
            </a:fld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89934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Header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vscentrum.be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2448-FEEC-49E8-9588-2DF1F90D57C2}" type="slidenum">
              <a:rPr lang="en-US" smtClean="0"/>
              <a:t>‹#›</a:t>
            </a:fld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2514600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96713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ingl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vscentrum.be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2448-FEEC-49E8-9588-2DF1F90D57C2}" type="slidenum">
              <a:rPr lang="en-US" smtClean="0"/>
              <a:t>‹#›</a:t>
            </a:fld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3"/>
          </p:nvPr>
        </p:nvSpPr>
        <p:spPr>
          <a:xfrm>
            <a:off x="1028700" y="2514600"/>
            <a:ext cx="5067300" cy="3273552"/>
          </a:xfrm>
          <a:prstGeom prst="roundRect">
            <a:avLst>
              <a:gd name="adj" fmla="val 935"/>
            </a:avLst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92854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vscentrum.be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2448-FEEC-49E8-9588-2DF1F90D57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10946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 Work #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vscentrum.be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2448-FEEC-49E8-9588-2DF1F90D57C2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Picture Placeholder 2"/>
          <p:cNvSpPr>
            <a:spLocks noGrp="1"/>
          </p:cNvSpPr>
          <p:nvPr>
            <p:ph type="pic" sz="quarter" idx="14"/>
          </p:nvPr>
        </p:nvSpPr>
        <p:spPr>
          <a:xfrm>
            <a:off x="1028700" y="2522575"/>
            <a:ext cx="1600200" cy="1600200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  <p:sp>
        <p:nvSpPr>
          <p:cNvPr id="12" name="Picture Placeholder 2"/>
          <p:cNvSpPr>
            <a:spLocks noGrp="1"/>
          </p:cNvSpPr>
          <p:nvPr>
            <p:ph type="pic" sz="quarter" idx="15"/>
          </p:nvPr>
        </p:nvSpPr>
        <p:spPr>
          <a:xfrm>
            <a:off x="3038475" y="2522575"/>
            <a:ext cx="1600200" cy="1600200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  <p:sp>
        <p:nvSpPr>
          <p:cNvPr id="13" name="Picture Placeholder 2"/>
          <p:cNvSpPr>
            <a:spLocks noGrp="1"/>
          </p:cNvSpPr>
          <p:nvPr>
            <p:ph type="pic" sz="quarter" idx="16"/>
          </p:nvPr>
        </p:nvSpPr>
        <p:spPr>
          <a:xfrm>
            <a:off x="5048250" y="2522575"/>
            <a:ext cx="1600200" cy="1600200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  <p:sp>
        <p:nvSpPr>
          <p:cNvPr id="14" name="Picture Placeholder 2"/>
          <p:cNvSpPr>
            <a:spLocks noGrp="1"/>
          </p:cNvSpPr>
          <p:nvPr>
            <p:ph type="pic" sz="quarter" idx="17"/>
          </p:nvPr>
        </p:nvSpPr>
        <p:spPr>
          <a:xfrm>
            <a:off x="7058025" y="2522575"/>
            <a:ext cx="1600200" cy="1600200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  <p:sp>
        <p:nvSpPr>
          <p:cNvPr id="15" name="Picture Placeholder 2"/>
          <p:cNvSpPr>
            <a:spLocks noGrp="1"/>
          </p:cNvSpPr>
          <p:nvPr>
            <p:ph type="pic" sz="quarter" idx="18"/>
          </p:nvPr>
        </p:nvSpPr>
        <p:spPr>
          <a:xfrm>
            <a:off x="9067800" y="2522575"/>
            <a:ext cx="1600200" cy="1600200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11130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 Work #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vscentrum.be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2448-FEEC-49E8-9588-2DF1F90D57C2}" type="slidenum">
              <a:rPr lang="en-US" smtClean="0"/>
              <a:t>‹#›</a:t>
            </a:fld>
            <a:endParaRPr lang="en-US"/>
          </a:p>
        </p:txBody>
      </p:sp>
      <p:sp>
        <p:nvSpPr>
          <p:cNvPr id="4" name="Rounded Rectangle 3"/>
          <p:cNvSpPr/>
          <p:nvPr userDrawn="1"/>
        </p:nvSpPr>
        <p:spPr>
          <a:xfrm>
            <a:off x="2413589" y="2520359"/>
            <a:ext cx="3572541" cy="1481328"/>
          </a:xfrm>
          <a:prstGeom prst="roundRect">
            <a:avLst>
              <a:gd name="adj" fmla="val 3747"/>
            </a:avLst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 userDrawn="1"/>
        </p:nvSpPr>
        <p:spPr>
          <a:xfrm>
            <a:off x="2413589" y="4309872"/>
            <a:ext cx="3572541" cy="1481328"/>
          </a:xfrm>
          <a:prstGeom prst="roundRect">
            <a:avLst>
              <a:gd name="adj" fmla="val 3747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 userDrawn="1"/>
        </p:nvSpPr>
        <p:spPr>
          <a:xfrm>
            <a:off x="7590759" y="4309872"/>
            <a:ext cx="3572541" cy="1481328"/>
          </a:xfrm>
          <a:prstGeom prst="roundRect">
            <a:avLst>
              <a:gd name="adj" fmla="val 3747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ounded Rectangle 11"/>
          <p:cNvSpPr/>
          <p:nvPr userDrawn="1"/>
        </p:nvSpPr>
        <p:spPr>
          <a:xfrm>
            <a:off x="7590759" y="2520359"/>
            <a:ext cx="3572541" cy="1481328"/>
          </a:xfrm>
          <a:prstGeom prst="roundRect">
            <a:avLst>
              <a:gd name="adj" fmla="val 3747"/>
            </a:avLst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Picture Placeholder 2"/>
          <p:cNvSpPr>
            <a:spLocks noGrp="1"/>
          </p:cNvSpPr>
          <p:nvPr>
            <p:ph type="pic" sz="quarter" idx="14"/>
          </p:nvPr>
        </p:nvSpPr>
        <p:spPr>
          <a:xfrm>
            <a:off x="1028700" y="2525233"/>
            <a:ext cx="1475709" cy="1475709"/>
          </a:xfrm>
          <a:prstGeom prst="roundRect">
            <a:avLst>
              <a:gd name="adj" fmla="val 3179"/>
            </a:avLst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  <p:sp>
        <p:nvSpPr>
          <p:cNvPr id="15" name="Picture Placeholder 2"/>
          <p:cNvSpPr>
            <a:spLocks noGrp="1"/>
          </p:cNvSpPr>
          <p:nvPr>
            <p:ph type="pic" sz="quarter" idx="15"/>
          </p:nvPr>
        </p:nvSpPr>
        <p:spPr>
          <a:xfrm>
            <a:off x="6210744" y="2519614"/>
            <a:ext cx="1475709" cy="1475709"/>
          </a:xfrm>
          <a:prstGeom prst="roundRect">
            <a:avLst>
              <a:gd name="adj" fmla="val 3179"/>
            </a:avLst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  <p:sp>
        <p:nvSpPr>
          <p:cNvPr id="16" name="Picture Placeholder 2"/>
          <p:cNvSpPr>
            <a:spLocks noGrp="1"/>
          </p:cNvSpPr>
          <p:nvPr>
            <p:ph type="pic" sz="quarter" idx="16"/>
          </p:nvPr>
        </p:nvSpPr>
        <p:spPr>
          <a:xfrm>
            <a:off x="1028700" y="4314746"/>
            <a:ext cx="1475709" cy="1475709"/>
          </a:xfrm>
          <a:prstGeom prst="roundRect">
            <a:avLst>
              <a:gd name="adj" fmla="val 3179"/>
            </a:avLst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  <p:sp>
        <p:nvSpPr>
          <p:cNvPr id="17" name="Picture Placeholder 2"/>
          <p:cNvSpPr>
            <a:spLocks noGrp="1"/>
          </p:cNvSpPr>
          <p:nvPr>
            <p:ph type="pic" sz="quarter" idx="17"/>
          </p:nvPr>
        </p:nvSpPr>
        <p:spPr>
          <a:xfrm>
            <a:off x="6210744" y="4314746"/>
            <a:ext cx="1475709" cy="1475709"/>
          </a:xfrm>
          <a:prstGeom prst="roundRect">
            <a:avLst>
              <a:gd name="adj" fmla="val 3179"/>
            </a:avLst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34547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ortfolio #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vscentrum.be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2448-FEEC-49E8-9588-2DF1F90D57C2}" type="slidenum">
              <a:rPr lang="en-US" smtClean="0"/>
              <a:t>‹#›</a:t>
            </a:fld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3"/>
          </p:nvPr>
        </p:nvSpPr>
        <p:spPr>
          <a:xfrm>
            <a:off x="1024318" y="2513013"/>
            <a:ext cx="2295144" cy="2295144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  <p:sp>
        <p:nvSpPr>
          <p:cNvPr id="10" name="Picture Placeholder 2"/>
          <p:cNvSpPr>
            <a:spLocks noGrp="1"/>
          </p:cNvSpPr>
          <p:nvPr>
            <p:ph type="pic" sz="quarter" idx="14"/>
          </p:nvPr>
        </p:nvSpPr>
        <p:spPr>
          <a:xfrm>
            <a:off x="3638931" y="2513013"/>
            <a:ext cx="2295144" cy="2295144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  <p:sp>
        <p:nvSpPr>
          <p:cNvPr id="11" name="Picture Placeholder 2"/>
          <p:cNvSpPr>
            <a:spLocks noGrp="1"/>
          </p:cNvSpPr>
          <p:nvPr>
            <p:ph type="pic" sz="quarter" idx="15"/>
          </p:nvPr>
        </p:nvSpPr>
        <p:spPr>
          <a:xfrm>
            <a:off x="6253162" y="2510219"/>
            <a:ext cx="2295144" cy="2295144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  <p:sp>
        <p:nvSpPr>
          <p:cNvPr id="12" name="Picture Placeholder 2"/>
          <p:cNvSpPr>
            <a:spLocks noGrp="1"/>
          </p:cNvSpPr>
          <p:nvPr>
            <p:ph type="pic" sz="quarter" idx="16"/>
          </p:nvPr>
        </p:nvSpPr>
        <p:spPr>
          <a:xfrm>
            <a:off x="8867393" y="2510219"/>
            <a:ext cx="2295144" cy="2295144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02066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ortfolio #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vscentrum.be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2448-FEEC-49E8-9588-2DF1F90D57C2}" type="slidenum">
              <a:rPr lang="en-US" smtClean="0"/>
              <a:t>‹#›</a:t>
            </a:fld>
            <a:endParaRPr lang="en-US"/>
          </a:p>
        </p:txBody>
      </p:sp>
      <p:sp>
        <p:nvSpPr>
          <p:cNvPr id="6" name="Picture Placeholder 2"/>
          <p:cNvSpPr>
            <a:spLocks noGrp="1"/>
          </p:cNvSpPr>
          <p:nvPr>
            <p:ph type="pic" sz="quarter" idx="20"/>
          </p:nvPr>
        </p:nvSpPr>
        <p:spPr>
          <a:xfrm>
            <a:off x="6096000" y="685800"/>
            <a:ext cx="2487613" cy="5486400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  <p:sp>
        <p:nvSpPr>
          <p:cNvPr id="10" name="Picture Placeholder 2"/>
          <p:cNvSpPr>
            <a:spLocks noGrp="1"/>
          </p:cNvSpPr>
          <p:nvPr>
            <p:ph type="pic" sz="quarter" idx="21"/>
          </p:nvPr>
        </p:nvSpPr>
        <p:spPr>
          <a:xfrm>
            <a:off x="8678863" y="685800"/>
            <a:ext cx="2487613" cy="5486400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158323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ortfolio #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vscentrum.be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2448-FEEC-49E8-9588-2DF1F90D57C2}" type="slidenum">
              <a:rPr lang="en-US" smtClean="0"/>
              <a:t>‹#›</a:t>
            </a:fld>
            <a:endParaRPr lang="en-US"/>
          </a:p>
        </p:txBody>
      </p:sp>
      <p:sp>
        <p:nvSpPr>
          <p:cNvPr id="6" name="Picture Placeholder 2"/>
          <p:cNvSpPr>
            <a:spLocks noGrp="1"/>
          </p:cNvSpPr>
          <p:nvPr>
            <p:ph type="pic" sz="quarter" idx="19"/>
          </p:nvPr>
        </p:nvSpPr>
        <p:spPr>
          <a:xfrm>
            <a:off x="1028700" y="2514599"/>
            <a:ext cx="5029200" cy="3275013"/>
          </a:xfrm>
          <a:prstGeom prst="roundRect">
            <a:avLst>
              <a:gd name="adj" fmla="val 1492"/>
            </a:avLst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  <p:sp>
        <p:nvSpPr>
          <p:cNvPr id="7" name="Picture Placeholder 2"/>
          <p:cNvSpPr>
            <a:spLocks noGrp="1"/>
          </p:cNvSpPr>
          <p:nvPr>
            <p:ph type="pic" sz="quarter" idx="20"/>
          </p:nvPr>
        </p:nvSpPr>
        <p:spPr>
          <a:xfrm>
            <a:off x="6134100" y="2514598"/>
            <a:ext cx="5029200" cy="3275013"/>
          </a:xfrm>
          <a:prstGeom prst="roundRect">
            <a:avLst>
              <a:gd name="adj" fmla="val 1492"/>
            </a:avLst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839178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ortfolio #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vscentrum.be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2448-FEEC-49E8-9588-2DF1F90D57C2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Picture Placeholder 2"/>
          <p:cNvSpPr>
            <a:spLocks noGrp="1"/>
          </p:cNvSpPr>
          <p:nvPr>
            <p:ph type="pic" sz="quarter" idx="13"/>
          </p:nvPr>
        </p:nvSpPr>
        <p:spPr>
          <a:xfrm>
            <a:off x="1042878" y="3141919"/>
            <a:ext cx="1828800" cy="1828800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  <p:sp>
        <p:nvSpPr>
          <p:cNvPr id="11" name="Picture Placeholder 2"/>
          <p:cNvSpPr>
            <a:spLocks noGrp="1"/>
          </p:cNvSpPr>
          <p:nvPr>
            <p:ph type="pic" sz="quarter" idx="14"/>
          </p:nvPr>
        </p:nvSpPr>
        <p:spPr>
          <a:xfrm>
            <a:off x="2804638" y="3141919"/>
            <a:ext cx="1828800" cy="1828800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  <p:sp>
        <p:nvSpPr>
          <p:cNvPr id="12" name="Picture Placeholder 2"/>
          <p:cNvSpPr>
            <a:spLocks noGrp="1"/>
          </p:cNvSpPr>
          <p:nvPr>
            <p:ph type="pic" sz="quarter" idx="15"/>
          </p:nvPr>
        </p:nvSpPr>
        <p:spPr>
          <a:xfrm>
            <a:off x="7569193" y="3141919"/>
            <a:ext cx="1828800" cy="1828800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  <p:sp>
        <p:nvSpPr>
          <p:cNvPr id="13" name="Picture Placeholder 2"/>
          <p:cNvSpPr>
            <a:spLocks noGrp="1"/>
          </p:cNvSpPr>
          <p:nvPr>
            <p:ph type="pic" sz="quarter" idx="16"/>
          </p:nvPr>
        </p:nvSpPr>
        <p:spPr>
          <a:xfrm>
            <a:off x="9330953" y="3141919"/>
            <a:ext cx="1828800" cy="1828800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792729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Mock Up #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vscentrum.be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2448-FEEC-49E8-9588-2DF1F90D57C2}" type="slidenum">
              <a:rPr lang="en-US" smtClean="0"/>
              <a:t>‹#›</a:t>
            </a:fld>
            <a:endParaRPr lang="en-US"/>
          </a:p>
        </p:txBody>
      </p:sp>
      <p:sp>
        <p:nvSpPr>
          <p:cNvPr id="5" name="Picture Placeholder 2"/>
          <p:cNvSpPr>
            <a:spLocks noGrp="1"/>
          </p:cNvSpPr>
          <p:nvPr>
            <p:ph type="pic" sz="quarter" idx="13"/>
          </p:nvPr>
        </p:nvSpPr>
        <p:spPr>
          <a:xfrm>
            <a:off x="1152524" y="2681288"/>
            <a:ext cx="4943475" cy="3109912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051240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Mock Up #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vscentrum.be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2448-FEEC-49E8-9588-2DF1F90D57C2}" type="slidenum">
              <a:rPr lang="en-US" smtClean="0"/>
              <a:t>‹#›</a:t>
            </a:fld>
            <a:endParaRPr lang="en-US"/>
          </a:p>
        </p:txBody>
      </p:sp>
      <p:sp>
        <p:nvSpPr>
          <p:cNvPr id="5" name="Picture Placeholder 2"/>
          <p:cNvSpPr>
            <a:spLocks noGrp="1"/>
          </p:cNvSpPr>
          <p:nvPr>
            <p:ph type="pic" sz="quarter" idx="13"/>
          </p:nvPr>
        </p:nvSpPr>
        <p:spPr>
          <a:xfrm>
            <a:off x="6816725" y="2211388"/>
            <a:ext cx="4208463" cy="2541587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808445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Mock Up #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vscentrum.be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2448-FEEC-49E8-9588-2DF1F90D57C2}" type="slidenum">
              <a:rPr lang="en-US" smtClean="0"/>
              <a:t>‹#›</a:t>
            </a:fld>
            <a:endParaRPr lang="en-US"/>
          </a:p>
        </p:txBody>
      </p:sp>
      <p:sp>
        <p:nvSpPr>
          <p:cNvPr id="7" name="Picture Placeholder 2"/>
          <p:cNvSpPr>
            <a:spLocks noGrp="1"/>
          </p:cNvSpPr>
          <p:nvPr>
            <p:ph type="pic" sz="quarter" idx="13"/>
          </p:nvPr>
        </p:nvSpPr>
        <p:spPr>
          <a:xfrm>
            <a:off x="6861175" y="2692400"/>
            <a:ext cx="3910013" cy="2952750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562804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act 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vscentrum.be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2448-FEEC-49E8-9588-2DF1F90D57C2}" type="slidenum">
              <a:rPr lang="en-US" smtClean="0"/>
              <a:t>‹#›</a:t>
            </a:fld>
            <a:endParaRPr lang="en-US"/>
          </a:p>
        </p:txBody>
      </p:sp>
      <p:sp>
        <p:nvSpPr>
          <p:cNvPr id="7" name="Picture Placeholder 2"/>
          <p:cNvSpPr>
            <a:spLocks noGrp="1"/>
          </p:cNvSpPr>
          <p:nvPr>
            <p:ph type="pic" sz="quarter" idx="22"/>
          </p:nvPr>
        </p:nvSpPr>
        <p:spPr>
          <a:xfrm>
            <a:off x="1028700" y="685800"/>
            <a:ext cx="5067300" cy="5486400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734206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General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35500059"/>
      </p:ext>
    </p:extLst>
  </p:cSld>
  <p:clrMapOvr>
    <a:masterClrMapping/>
  </p:clrMapOvr>
  <p:transition advClick="0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48E59-F64F-416B-85C7-F58EA54BAF31}" type="datetime1">
              <a:rPr lang="nl-BE" smtClean="0"/>
              <a:t>12/01/2026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9326968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5C3B5-60AD-4494-9CFA-8B02B158E887}" type="datetime1">
              <a:rPr lang="nl-BE" smtClean="0"/>
              <a:t>12/01/2026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94866267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4894A8-27B8-4F4D-B345-90FD4A1447E9}" type="datetime1">
              <a:rPr lang="nl-BE" smtClean="0"/>
              <a:t>12/01/2026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250460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0EF99-E673-4972-A23A-EB3FD1F7D254}" type="datetime1">
              <a:rPr lang="nl-BE" smtClean="0"/>
              <a:t>12/01/2026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9489917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>
            <a:off x="3720" y="6130213"/>
            <a:ext cx="12188280" cy="727788"/>
          </a:xfrm>
          <a:custGeom>
            <a:avLst/>
            <a:gdLst>
              <a:gd name="connsiteX0" fmla="*/ 0 w 12192000"/>
              <a:gd name="connsiteY0" fmla="*/ 0 h 1268963"/>
              <a:gd name="connsiteX1" fmla="*/ 12192000 w 12192000"/>
              <a:gd name="connsiteY1" fmla="*/ 0 h 1268963"/>
              <a:gd name="connsiteX2" fmla="*/ 12192000 w 12192000"/>
              <a:gd name="connsiteY2" fmla="*/ 1268963 h 1268963"/>
              <a:gd name="connsiteX3" fmla="*/ 0 w 12192000"/>
              <a:gd name="connsiteY3" fmla="*/ 1268963 h 1268963"/>
              <a:gd name="connsiteX4" fmla="*/ 0 w 12192000"/>
              <a:gd name="connsiteY4" fmla="*/ 0 h 1268963"/>
              <a:gd name="connsiteX0" fmla="*/ 0 w 12210662"/>
              <a:gd name="connsiteY0" fmla="*/ 877077 h 1268963"/>
              <a:gd name="connsiteX1" fmla="*/ 12210662 w 12210662"/>
              <a:gd name="connsiteY1" fmla="*/ 0 h 1268963"/>
              <a:gd name="connsiteX2" fmla="*/ 12210662 w 12210662"/>
              <a:gd name="connsiteY2" fmla="*/ 1268963 h 1268963"/>
              <a:gd name="connsiteX3" fmla="*/ 18662 w 12210662"/>
              <a:gd name="connsiteY3" fmla="*/ 1268963 h 1268963"/>
              <a:gd name="connsiteX4" fmla="*/ 0 w 12210662"/>
              <a:gd name="connsiteY4" fmla="*/ 877077 h 1268963"/>
              <a:gd name="connsiteX0" fmla="*/ 0 w 12210662"/>
              <a:gd name="connsiteY0" fmla="*/ 335902 h 727788"/>
              <a:gd name="connsiteX1" fmla="*/ 12210662 w 12210662"/>
              <a:gd name="connsiteY1" fmla="*/ 0 h 727788"/>
              <a:gd name="connsiteX2" fmla="*/ 12210662 w 12210662"/>
              <a:gd name="connsiteY2" fmla="*/ 727788 h 727788"/>
              <a:gd name="connsiteX3" fmla="*/ 18662 w 12210662"/>
              <a:gd name="connsiteY3" fmla="*/ 727788 h 727788"/>
              <a:gd name="connsiteX4" fmla="*/ 0 w 12210662"/>
              <a:gd name="connsiteY4" fmla="*/ 335902 h 727788"/>
              <a:gd name="connsiteX0" fmla="*/ 9330 w 12192000"/>
              <a:gd name="connsiteY0" fmla="*/ 335902 h 727788"/>
              <a:gd name="connsiteX1" fmla="*/ 12192000 w 12192000"/>
              <a:gd name="connsiteY1" fmla="*/ 0 h 727788"/>
              <a:gd name="connsiteX2" fmla="*/ 12192000 w 12192000"/>
              <a:gd name="connsiteY2" fmla="*/ 727788 h 727788"/>
              <a:gd name="connsiteX3" fmla="*/ 0 w 12192000"/>
              <a:gd name="connsiteY3" fmla="*/ 727788 h 727788"/>
              <a:gd name="connsiteX4" fmla="*/ 9330 w 12192000"/>
              <a:gd name="connsiteY4" fmla="*/ 335902 h 727788"/>
              <a:gd name="connsiteX0" fmla="*/ 3720 w 12192000"/>
              <a:gd name="connsiteY0" fmla="*/ 335902 h 727788"/>
              <a:gd name="connsiteX1" fmla="*/ 12192000 w 12192000"/>
              <a:gd name="connsiteY1" fmla="*/ 0 h 727788"/>
              <a:gd name="connsiteX2" fmla="*/ 12192000 w 12192000"/>
              <a:gd name="connsiteY2" fmla="*/ 727788 h 727788"/>
              <a:gd name="connsiteX3" fmla="*/ 0 w 12192000"/>
              <a:gd name="connsiteY3" fmla="*/ 727788 h 727788"/>
              <a:gd name="connsiteX4" fmla="*/ 3720 w 12192000"/>
              <a:gd name="connsiteY4" fmla="*/ 335902 h 727788"/>
              <a:gd name="connsiteX0" fmla="*/ 0 w 12188280"/>
              <a:gd name="connsiteY0" fmla="*/ 335902 h 727788"/>
              <a:gd name="connsiteX1" fmla="*/ 12188280 w 12188280"/>
              <a:gd name="connsiteY1" fmla="*/ 0 h 727788"/>
              <a:gd name="connsiteX2" fmla="*/ 12188280 w 12188280"/>
              <a:gd name="connsiteY2" fmla="*/ 727788 h 727788"/>
              <a:gd name="connsiteX3" fmla="*/ 1890 w 12188280"/>
              <a:gd name="connsiteY3" fmla="*/ 727788 h 727788"/>
              <a:gd name="connsiteX4" fmla="*/ 0 w 12188280"/>
              <a:gd name="connsiteY4" fmla="*/ 335902 h 7277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188280" h="727788">
                <a:moveTo>
                  <a:pt x="0" y="335902"/>
                </a:moveTo>
                <a:lnTo>
                  <a:pt x="12188280" y="0"/>
                </a:lnTo>
                <a:lnTo>
                  <a:pt x="12188280" y="727788"/>
                </a:lnTo>
                <a:lnTo>
                  <a:pt x="1890" y="727788"/>
                </a:lnTo>
                <a:lnTo>
                  <a:pt x="0" y="335902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844850" y="6384344"/>
            <a:ext cx="5023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fld id="{CF5A1C33-475D-474A-A037-DDAF3DC7AF09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2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17239" y="6229445"/>
            <a:ext cx="1426467" cy="5760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14638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/4.0/deed.ast" TargetMode="External"/><Relationship Id="rId2" Type="http://schemas.openxmlformats.org/officeDocument/2006/relationships/hyperlink" Target="mailto:geertjan.bex@uhasselt.be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bit.ly/40h3frb" TargetMode="External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0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hyperlink" Target="https://tinyclouds.org/colorize/" TargetMode="Externa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s://ai.googleblog.com/2014/09/building-deeper-understanding-of-images.html" TargetMode="Externa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hyperlink" Target="https://www.youtube.com/watch?v=V1eYniJ0Rnk" TargetMode="Externa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://www.grdjournals.com/uploads/article/GRDJE/V02/I05/0176/GRDJEV02I050176.pdf" TargetMode="External"/><Relationship Id="rId2" Type="http://schemas.openxmlformats.org/officeDocument/2006/relationships/image" Target="../media/image12.emf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0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0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0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0.xml"/><Relationship Id="rId4" Type="http://schemas.openxmlformats.org/officeDocument/2006/relationships/image" Target="../media/image23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0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Python-for-machine-learning/tree/master/source-code/scikit-learn" TargetMode="External"/><Relationship Id="rId1" Type="http://schemas.openxmlformats.org/officeDocument/2006/relationships/slideLayout" Target="../slideLayouts/slideLayout2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hyperlink" Target="https://scikit-learn.org/stable/" TargetMode="External"/><Relationship Id="rId1" Type="http://schemas.openxmlformats.org/officeDocument/2006/relationships/slideLayout" Target="../slideLayouts/slideLayout20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://worldhappiness.report/" TargetMode="External"/><Relationship Id="rId1" Type="http://schemas.openxmlformats.org/officeDocument/2006/relationships/slideLayout" Target="../slideLayouts/slideLayout20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World_Happiness_Report" TargetMode="External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Python-for-machine-learning/tree/master/source-code/keras" TargetMode="External"/><Relationship Id="rId1" Type="http://schemas.openxmlformats.org/officeDocument/2006/relationships/slideLayout" Target="../slideLayouts/slideLayout21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hyperlink" Target="https://keras.io/" TargetMode="External"/><Relationship Id="rId1" Type="http://schemas.openxmlformats.org/officeDocument/2006/relationships/slideLayout" Target="../slideLayouts/slideLayout20.xml"/><Relationship Id="rId4" Type="http://schemas.openxmlformats.org/officeDocument/2006/relationships/image" Target="../media/image35.png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0.png"/><Relationship Id="rId13" Type="http://schemas.openxmlformats.org/officeDocument/2006/relationships/image" Target="../media/image350.png"/><Relationship Id="rId18" Type="http://schemas.openxmlformats.org/officeDocument/2006/relationships/image" Target="../media/image40.png"/><Relationship Id="rId3" Type="http://schemas.openxmlformats.org/officeDocument/2006/relationships/image" Target="../media/image37.jpeg"/><Relationship Id="rId7" Type="http://schemas.openxmlformats.org/officeDocument/2006/relationships/image" Target="../media/image290.png"/><Relationship Id="rId12" Type="http://schemas.openxmlformats.org/officeDocument/2006/relationships/image" Target="../media/image340.png"/><Relationship Id="rId17" Type="http://schemas.openxmlformats.org/officeDocument/2006/relationships/image" Target="../media/image39.png"/><Relationship Id="rId2" Type="http://schemas.openxmlformats.org/officeDocument/2006/relationships/image" Target="../media/image36.png"/><Relationship Id="rId16" Type="http://schemas.openxmlformats.org/officeDocument/2006/relationships/image" Target="../media/image380.png"/><Relationship Id="rId1" Type="http://schemas.openxmlformats.org/officeDocument/2006/relationships/slideLayout" Target="../slideLayouts/slideLayout20.xml"/><Relationship Id="rId6" Type="http://schemas.openxmlformats.org/officeDocument/2006/relationships/image" Target="../media/image280.png"/><Relationship Id="rId11" Type="http://schemas.openxmlformats.org/officeDocument/2006/relationships/image" Target="../media/image330.png"/><Relationship Id="rId5" Type="http://schemas.openxmlformats.org/officeDocument/2006/relationships/image" Target="../media/image38.png"/><Relationship Id="rId15" Type="http://schemas.openxmlformats.org/officeDocument/2006/relationships/image" Target="../media/image370.png"/><Relationship Id="rId10" Type="http://schemas.openxmlformats.org/officeDocument/2006/relationships/image" Target="../media/image320.png"/><Relationship Id="rId4" Type="http://schemas.openxmlformats.org/officeDocument/2006/relationships/image" Target="../media/image270.png"/><Relationship Id="rId9" Type="http://schemas.openxmlformats.org/officeDocument/2006/relationships/image" Target="../media/image310.png"/><Relationship Id="rId14" Type="http://schemas.openxmlformats.org/officeDocument/2006/relationships/image" Target="../media/image360.png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0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0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0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0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0.xml"/><Relationship Id="rId4" Type="http://schemas.openxmlformats.org/officeDocument/2006/relationships/image" Target="../media/image47.png"/></Relationships>
</file>

<file path=ppt/slides/_rels/slide5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3" Type="http://schemas.openxmlformats.org/officeDocument/2006/relationships/image" Target="../media/image48.png"/><Relationship Id="rId7" Type="http://schemas.openxmlformats.org/officeDocument/2006/relationships/image" Target="../media/image51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0.xml"/><Relationship Id="rId6" Type="http://schemas.openxmlformats.org/officeDocument/2006/relationships/image" Target="../media/image50.png"/><Relationship Id="rId11" Type="http://schemas.openxmlformats.org/officeDocument/2006/relationships/image" Target="../media/image55.png"/><Relationship Id="rId5" Type="http://schemas.openxmlformats.org/officeDocument/2006/relationships/image" Target="../media/image49.png"/><Relationship Id="rId10" Type="http://schemas.openxmlformats.org/officeDocument/2006/relationships/image" Target="../media/image54.png"/><Relationship Id="rId4" Type="http://schemas.openxmlformats.org/officeDocument/2006/relationships/image" Target="../media/image47.png"/><Relationship Id="rId9" Type="http://schemas.openxmlformats.org/officeDocument/2006/relationships/image" Target="../media/image53.png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jpeg"/><Relationship Id="rId2" Type="http://schemas.openxmlformats.org/officeDocument/2006/relationships/image" Target="../media/image56.jpeg"/><Relationship Id="rId1" Type="http://schemas.openxmlformats.org/officeDocument/2006/relationships/slideLayout" Target="../slideLayouts/slideLayout20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0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3.png"/><Relationship Id="rId5" Type="http://schemas.openxmlformats.org/officeDocument/2006/relationships/image" Target="../media/image62.png"/><Relationship Id="rId4" Type="http://schemas.openxmlformats.org/officeDocument/2006/relationships/image" Target="../media/image61.png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jpg"/><Relationship Id="rId2" Type="http://schemas.openxmlformats.org/officeDocument/2006/relationships/hyperlink" Target="http://inspirobot.me/" TargetMode="External"/><Relationship Id="rId1" Type="http://schemas.openxmlformats.org/officeDocument/2006/relationships/slideLayout" Target="../slideLayouts/slideLayout20.xml"/><Relationship Id="rId5" Type="http://schemas.openxmlformats.org/officeDocument/2006/relationships/image" Target="../media/image66.jpg"/><Relationship Id="rId4" Type="http://schemas.openxmlformats.org/officeDocument/2006/relationships/image" Target="../media/image65.jpg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leriomaggio/deep-learning-keras-tensorflow" TargetMode="External"/><Relationship Id="rId1" Type="http://schemas.openxmlformats.org/officeDocument/2006/relationships/slideLayout" Target="../slideLayouts/slideLayout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b="1" dirty="0"/>
              <a:t>Machine learning with Python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509963"/>
            <a:ext cx="9144000" cy="1655762"/>
          </a:xfrm>
        </p:spPr>
        <p:txBody>
          <a:bodyPr>
            <a:normAutofit/>
          </a:bodyPr>
          <a:lstStyle/>
          <a:p>
            <a:pPr algn="l"/>
            <a:r>
              <a:rPr lang="en-US" sz="2800" dirty="0"/>
              <a:t>Geert Jan Bex (</a:t>
            </a:r>
            <a:r>
              <a:rPr lang="en-US" sz="2800" dirty="0">
                <a:hlinkClick r:id="rId2"/>
              </a:rPr>
              <a:t>geertjan.bex@uhasselt.be</a:t>
            </a:r>
            <a:r>
              <a:rPr lang="en-US" sz="2800" dirty="0"/>
              <a:t>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67785B8-8E3C-4512-97FD-25CAA594590E}"/>
              </a:ext>
            </a:extLst>
          </p:cNvPr>
          <p:cNvSpPr txBox="1"/>
          <p:nvPr/>
        </p:nvSpPr>
        <p:spPr>
          <a:xfrm>
            <a:off x="467169" y="4502383"/>
            <a:ext cx="74242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License</a:t>
            </a:r>
            <a:r>
              <a:rPr lang="en-US" dirty="0"/>
              <a:t>: this presentation is released under the Creative Commons CC BY 4.0,</a:t>
            </a:r>
            <a:br>
              <a:rPr lang="en-US" dirty="0"/>
            </a:br>
            <a:r>
              <a:rPr lang="en-US" dirty="0"/>
              <a:t>see </a:t>
            </a:r>
            <a:r>
              <a:rPr lang="en-US" dirty="0">
                <a:hlinkClick r:id="rId3"/>
              </a:rPr>
              <a:t>https://creativecommons.org/licenses/by/4.0/deed.ast</a:t>
            </a:r>
            <a:endParaRPr lang="nl-BE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E8C05AB-73D0-3874-3825-82B44AB8B7D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6829"/>
          <a:stretch/>
        </p:blipFill>
        <p:spPr bwMode="auto">
          <a:xfrm>
            <a:off x="467169" y="226357"/>
            <a:ext cx="1534493" cy="14226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9635267"/>
      </p:ext>
    </p:extLst>
  </p:cSld>
  <p:clrMapOvr>
    <a:masterClrMapping/>
  </p:clrMapOvr>
  <p:transition spd="med">
    <p:pull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B2CEC010-2C91-4CDD-574B-3CD7EE785D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5755" y="104192"/>
            <a:ext cx="5326224" cy="5326224"/>
          </a:xfrm>
          <a:prstGeom prst="rect">
            <a:avLst/>
          </a:prstGeom>
        </p:spPr>
      </p:pic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</a:t>
            </a:fld>
            <a:endParaRPr lang="nl-BE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5121924-8AEA-4C8F-95FA-4768DA10573C}"/>
              </a:ext>
            </a:extLst>
          </p:cNvPr>
          <p:cNvSpPr txBox="1"/>
          <p:nvPr/>
        </p:nvSpPr>
        <p:spPr>
          <a:xfrm>
            <a:off x="3741672" y="5244860"/>
            <a:ext cx="40943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hlinkClick r:id="rId3"/>
              </a:rPr>
              <a:t>https://bit.ly/40h3frb</a:t>
            </a:r>
            <a:r>
              <a:rPr lang="en-GB" sz="3200" dirty="0"/>
              <a:t> </a:t>
            </a:r>
            <a:endParaRPr lang="en-BE" sz="3200" dirty="0"/>
          </a:p>
        </p:txBody>
      </p:sp>
    </p:spTree>
    <p:extLst>
      <p:ext uri="{BB962C8B-B14F-4D97-AF65-F5344CB8AC3E}">
        <p14:creationId xmlns:p14="http://schemas.microsoft.com/office/powerpoint/2010/main" val="20287280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DE5F573-6165-481B-AC47-5C89E7A1B5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2448-FEEC-49E8-9588-2DF1F90D57C2}" type="slidenum">
              <a:rPr lang="en-US" smtClean="0"/>
              <a:t>3</a:t>
            </a:fld>
            <a:endParaRPr lang="en-US"/>
          </a:p>
        </p:txBody>
      </p:sp>
      <p:pic>
        <p:nvPicPr>
          <p:cNvPr id="4" name="Picture 3" descr="Qr code&#10;&#10;Description automatically generated">
            <a:extLst>
              <a:ext uri="{FF2B5EF4-FFF2-40B4-BE49-F238E27FC236}">
                <a16:creationId xmlns:a16="http://schemas.microsoft.com/office/drawing/2014/main" id="{78E97EA1-949E-42CD-9ADA-2D8F1E3284C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1314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Machine learning is making great strides</a:t>
            </a:r>
          </a:p>
          <a:p>
            <a:pPr lvl="1"/>
            <a:r>
              <a:rPr lang="en-US" dirty="0"/>
              <a:t>Large, good data sets</a:t>
            </a:r>
          </a:p>
          <a:p>
            <a:pPr lvl="1"/>
            <a:r>
              <a:rPr lang="en-US" dirty="0"/>
              <a:t>Compute power</a:t>
            </a:r>
          </a:p>
          <a:p>
            <a:pPr lvl="1"/>
            <a:r>
              <a:rPr lang="en-US" dirty="0"/>
              <a:t>Progress in algorithms</a:t>
            </a:r>
          </a:p>
          <a:p>
            <a:r>
              <a:rPr lang="en-US" dirty="0"/>
              <a:t>Many interesting applications</a:t>
            </a:r>
          </a:p>
          <a:p>
            <a:pPr lvl="1"/>
            <a:r>
              <a:rPr lang="en-US" dirty="0" err="1"/>
              <a:t>commericial</a:t>
            </a:r>
            <a:endParaRPr lang="en-US" dirty="0"/>
          </a:p>
          <a:p>
            <a:pPr lvl="1"/>
            <a:r>
              <a:rPr lang="en-US" dirty="0"/>
              <a:t>scientific</a:t>
            </a:r>
          </a:p>
          <a:p>
            <a:r>
              <a:rPr lang="en-US" dirty="0"/>
              <a:t>Links with artificial intelligence</a:t>
            </a:r>
          </a:p>
          <a:p>
            <a:pPr lvl="1"/>
            <a:r>
              <a:rPr lang="en-US" dirty="0"/>
              <a:t>However, AI </a:t>
            </a:r>
            <a:r>
              <a:rPr lang="en-US" dirty="0">
                <a:sym typeface="Symbol" panose="05050102010706020507" pitchFamily="18" charset="2"/>
              </a:rPr>
              <a:t></a:t>
            </a:r>
            <a:r>
              <a:rPr lang="en-US" dirty="0"/>
              <a:t> machine learning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</a:t>
            </a:fld>
            <a:endParaRPr lang="nl-BE"/>
          </a:p>
        </p:txBody>
      </p:sp>
      <p:pic>
        <p:nvPicPr>
          <p:cNvPr id="3074" name="Picture 2" descr="Image result for artificial intelligence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69246" y="2597524"/>
            <a:ext cx="4591779" cy="26389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199449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Machine learning tasks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Supervised learning</a:t>
            </a:r>
          </a:p>
          <a:p>
            <a:pPr lvl="1"/>
            <a:r>
              <a:rPr lang="en-US" dirty="0"/>
              <a:t>regression: predict numerical values</a:t>
            </a:r>
          </a:p>
          <a:p>
            <a:pPr lvl="1"/>
            <a:r>
              <a:rPr lang="en-US" dirty="0"/>
              <a:t>classification: predict categorical values, i.e., labels</a:t>
            </a:r>
          </a:p>
          <a:p>
            <a:r>
              <a:rPr lang="en-US" dirty="0"/>
              <a:t>Unsupervised learning</a:t>
            </a:r>
          </a:p>
          <a:p>
            <a:pPr lvl="1"/>
            <a:r>
              <a:rPr lang="en-US" dirty="0"/>
              <a:t>clustering: group data according to "distance"</a:t>
            </a:r>
          </a:p>
          <a:p>
            <a:pPr lvl="1"/>
            <a:r>
              <a:rPr lang="en-US" dirty="0"/>
              <a:t>association: find frequent co-occurrences</a:t>
            </a:r>
          </a:p>
          <a:p>
            <a:pPr lvl="1"/>
            <a:r>
              <a:rPr lang="en-US" dirty="0"/>
              <a:t>link prediction: discover relationships in data</a:t>
            </a:r>
          </a:p>
          <a:p>
            <a:pPr lvl="1"/>
            <a:r>
              <a:rPr lang="en-US" dirty="0"/>
              <a:t>data reduction: project features to fewer features</a:t>
            </a:r>
          </a:p>
          <a:p>
            <a:r>
              <a:rPr lang="en-US" dirty="0"/>
              <a:t>Reinforcement learning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873944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Regression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dirty="0"/>
              <a:t>Colorize B&amp;W images automatically</a:t>
            </a:r>
          </a:p>
          <a:p>
            <a:r>
              <a:rPr lang="en-US" dirty="0">
                <a:hlinkClick r:id="rId2"/>
              </a:rPr>
              <a:t>https://tinyclouds.org/colorize/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5A1C33-475D-474A-A037-DDAF3DC7AF09}" type="slidenum">
              <a:rPr lang="en-US" smtClean="0"/>
              <a:t>6</a:t>
            </a:fld>
            <a:endParaRPr lang="en-US"/>
          </a:p>
        </p:txBody>
      </p:sp>
      <p:pic>
        <p:nvPicPr>
          <p:cNvPr id="1028" name="Picture 4" descr="Colorization of Black and White Photographs"/>
          <p:cNvPicPr>
            <a:picLocks noGrp="1" noChangeAspect="1" noChangeArrowheads="1"/>
          </p:cNvPicPr>
          <p:nvPr>
            <p:ph type="pic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01" r="6201"/>
          <a:stretch>
            <a:fillRect/>
          </a:stretch>
        </p:blipFill>
        <p:spPr bwMode="auto"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251217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Classification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5A1C33-475D-474A-A037-DDAF3DC7AF09}" type="slidenum">
              <a:rPr lang="en-US" smtClean="0"/>
              <a:t>7</a:t>
            </a:fld>
            <a:endParaRPr lang="en-US"/>
          </a:p>
        </p:txBody>
      </p:sp>
      <p:sp>
        <p:nvSpPr>
          <p:cNvPr id="6" name="Text Placeholder 5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dirty="0"/>
              <a:t>Object recognition</a:t>
            </a:r>
          </a:p>
          <a:p>
            <a:r>
              <a:rPr lang="en-US" dirty="0">
                <a:hlinkClick r:id="rId2"/>
              </a:rPr>
              <a:t>https://ai.googleblog.com/2014/09/building-deeper-understanding-of-images.html</a:t>
            </a:r>
            <a:endParaRPr lang="en-US" dirty="0"/>
          </a:p>
        </p:txBody>
      </p:sp>
      <p:pic>
        <p:nvPicPr>
          <p:cNvPr id="2052" name="Picture 4" descr="Automatic Object Detection"/>
          <p:cNvPicPr>
            <a:picLocks noGrp="1" noChangeAspect="1" noChangeArrowheads="1"/>
          </p:cNvPicPr>
          <p:nvPr>
            <p:ph type="pic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08" r="4308"/>
          <a:stretch>
            <a:fillRect/>
          </a:stretch>
        </p:blipFill>
        <p:spPr bwMode="auto"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015197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Reinforcement learning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BE" dirty="0"/>
              <a:t>Learning to play Break Out</a:t>
            </a:r>
          </a:p>
          <a:p>
            <a:r>
              <a:rPr lang="en-US" dirty="0">
                <a:hlinkClick r:id="rId2"/>
              </a:rPr>
              <a:t>https://www.youtube.com/watch?v=V1eYniJ0Rnk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5A1C33-475D-474A-A037-DDAF3DC7AF09}" type="slidenum">
              <a:rPr lang="en-US" smtClean="0"/>
              <a:t>8</a:t>
            </a:fld>
            <a:endParaRPr lang="en-US"/>
          </a:p>
        </p:txBody>
      </p:sp>
      <p:pic>
        <p:nvPicPr>
          <p:cNvPr id="6146" name="Picture 2" descr="https://i.ytimg.com/vi/V1eYniJ0Rnk/maxresdefault.jpg"/>
          <p:cNvPicPr>
            <a:picLocks noGrp="1" noChangeAspect="1" noChangeArrowheads="1"/>
          </p:cNvPicPr>
          <p:nvPr>
            <p:ph type="pic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381" r="14381"/>
          <a:stretch>
            <a:fillRect/>
          </a:stretch>
        </p:blipFill>
        <p:spPr bwMode="auto"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811118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Clustering</a:t>
            </a:r>
            <a:endParaRPr lang="en-US" dirty="0"/>
          </a:p>
        </p:txBody>
      </p:sp>
      <p:pic>
        <p:nvPicPr>
          <p:cNvPr id="6" name="Picture Placeholder 5"/>
          <p:cNvPicPr>
            <a:picLocks noGrp="1" noChangeAspect="1"/>
          </p:cNvPicPr>
          <p:nvPr>
            <p:ph type="pic" idx="1"/>
          </p:nvPr>
        </p:nvPicPr>
        <p:blipFill>
          <a:blip r:embed="rId2"/>
          <a:srcRect t="24205" b="24205"/>
          <a:stretch>
            <a:fillRect/>
          </a:stretch>
        </p:blipFill>
        <p:spPr>
          <a:prstGeom prst="rect">
            <a:avLst/>
          </a:prstGeom>
        </p:spPr>
      </p:pic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BE" dirty="0"/>
              <a:t>Crime prediction using k-means clustering</a:t>
            </a:r>
          </a:p>
          <a:p>
            <a:r>
              <a:rPr lang="en-US" dirty="0">
                <a:hlinkClick r:id="rId3"/>
              </a:rPr>
              <a:t>http://www.grdjournals.com/uploads/article/GRDJE/V02/I05/0176/GRDJEV02I050176.pdf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5A1C33-475D-474A-A037-DDAF3DC7AF0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66111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Applications in science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5A1C33-475D-474A-A037-DDAF3DC7AF09}" type="slidenum">
              <a:rPr lang="en-US" smtClean="0"/>
              <a:t>10</a:t>
            </a:fld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1142288">
            <a:off x="5669279" y="2174425"/>
            <a:ext cx="4894761" cy="2332883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23078">
            <a:off x="6285548" y="1023394"/>
            <a:ext cx="5131390" cy="1585814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1075860">
            <a:off x="652476" y="1956171"/>
            <a:ext cx="5390469" cy="2003914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298512">
            <a:off x="1387941" y="3627307"/>
            <a:ext cx="3919537" cy="2143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31838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Machine learning algorithms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BE" dirty="0"/>
              <a:t>Regression:</a:t>
            </a:r>
            <a:br>
              <a:rPr lang="en-BE" dirty="0"/>
            </a:br>
            <a:r>
              <a:rPr lang="en-BE" dirty="0"/>
              <a:t>Ridge regression, Support Vector Machines, Random Forest,</a:t>
            </a:r>
            <a:br>
              <a:rPr lang="en-BE" dirty="0"/>
            </a:br>
            <a:r>
              <a:rPr lang="en-BE" dirty="0"/>
              <a:t>Multilayer Neural Networks, Deep Neural Networks, ...</a:t>
            </a:r>
          </a:p>
          <a:p>
            <a:endParaRPr lang="en-BE" dirty="0"/>
          </a:p>
          <a:p>
            <a:r>
              <a:rPr lang="en-BE" dirty="0"/>
              <a:t>Classification:</a:t>
            </a:r>
            <a:br>
              <a:rPr lang="en-BE" dirty="0"/>
            </a:br>
            <a:r>
              <a:rPr lang="en-BE" dirty="0"/>
              <a:t>Naive Base, Support Vector Machines,</a:t>
            </a:r>
            <a:br>
              <a:rPr lang="en-BE" dirty="0"/>
            </a:br>
            <a:r>
              <a:rPr lang="en-BE" dirty="0"/>
              <a:t>Random Forest, Multilayer Neural Networks,</a:t>
            </a:r>
            <a:br>
              <a:rPr lang="en-BE" dirty="0"/>
            </a:br>
            <a:r>
              <a:rPr lang="en-BE" dirty="0"/>
              <a:t>Deep Neural Networks, ...</a:t>
            </a:r>
          </a:p>
          <a:p>
            <a:endParaRPr lang="en-BE" dirty="0"/>
          </a:p>
          <a:p>
            <a:r>
              <a:rPr lang="en-BE" dirty="0"/>
              <a:t>Clustering:</a:t>
            </a:r>
            <a:br>
              <a:rPr lang="en-BE" dirty="0"/>
            </a:br>
            <a:r>
              <a:rPr lang="en-BE" dirty="0"/>
              <a:t>k-Means, Hierarchical Clustering, ...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</a:t>
            </a:fld>
            <a:endParaRPr lang="nl-BE"/>
          </a:p>
        </p:txBody>
      </p:sp>
      <p:sp>
        <p:nvSpPr>
          <p:cNvPr id="5" name="Rectangle 4"/>
          <p:cNvSpPr/>
          <p:nvPr/>
        </p:nvSpPr>
        <p:spPr>
          <a:xfrm>
            <a:off x="1140823" y="4319453"/>
            <a:ext cx="3230880" cy="383175"/>
          </a:xfrm>
          <a:prstGeom prst="rect">
            <a:avLst/>
          </a:prstGeom>
          <a:noFill/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178" name="Picture 10" descr="Image result for support vector machine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10778" y="3196046"/>
            <a:ext cx="2117199" cy="20889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537C55D9-AF40-43E1-95B9-7D63F913EEBC}"/>
              </a:ext>
            </a:extLst>
          </p:cNvPr>
          <p:cNvSpPr/>
          <p:nvPr/>
        </p:nvSpPr>
        <p:spPr>
          <a:xfrm>
            <a:off x="1097279" y="5504786"/>
            <a:ext cx="1247988" cy="383175"/>
          </a:xfrm>
          <a:prstGeom prst="rect">
            <a:avLst/>
          </a:prstGeom>
          <a:noFill/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383824E-31B2-4CB1-B877-BB0502CF8221}"/>
              </a:ext>
            </a:extLst>
          </p:cNvPr>
          <p:cNvSpPr/>
          <p:nvPr/>
        </p:nvSpPr>
        <p:spPr>
          <a:xfrm>
            <a:off x="1140823" y="3638680"/>
            <a:ext cx="1602377" cy="383175"/>
          </a:xfrm>
          <a:prstGeom prst="rect">
            <a:avLst/>
          </a:prstGeom>
          <a:noFill/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DC827CC-711B-44B2-A36E-5EF35AD20D4D}"/>
              </a:ext>
            </a:extLst>
          </p:cNvPr>
          <p:cNvSpPr/>
          <p:nvPr/>
        </p:nvSpPr>
        <p:spPr>
          <a:xfrm>
            <a:off x="1097279" y="2153385"/>
            <a:ext cx="2433321" cy="383175"/>
          </a:xfrm>
          <a:prstGeom prst="rect">
            <a:avLst/>
          </a:prstGeom>
          <a:noFill/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16481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8" grpId="0" animBg="1"/>
      <p:bldP spid="10" grpId="0" animBg="1"/>
      <p:bldP spid="11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Issues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BE" dirty="0"/>
              <a:t>Many machine learning/AI projects fail</a:t>
            </a:r>
            <a:br>
              <a:rPr lang="en-BE" dirty="0"/>
            </a:br>
            <a:r>
              <a:rPr lang="en-BE" dirty="0"/>
              <a:t>(Gartner claims 85 %)</a:t>
            </a:r>
          </a:p>
          <a:p>
            <a:endParaRPr lang="en-BE" dirty="0"/>
          </a:p>
          <a:p>
            <a:endParaRPr lang="en-BE" dirty="0"/>
          </a:p>
          <a:p>
            <a:r>
              <a:rPr lang="en-BE" dirty="0"/>
              <a:t>Ethics, e.g., Amazon has/had</a:t>
            </a:r>
            <a:br>
              <a:rPr lang="en-BE" dirty="0"/>
            </a:br>
            <a:r>
              <a:rPr lang="en-BE" dirty="0"/>
              <a:t>sub-par employees fired by an AI</a:t>
            </a:r>
            <a:br>
              <a:rPr lang="en-BE" dirty="0"/>
            </a:br>
            <a:r>
              <a:rPr lang="en-BE" dirty="0"/>
              <a:t>automatically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12</a:t>
            </a:fld>
            <a:endParaRPr lang="nl-BE"/>
          </a:p>
        </p:txBody>
      </p:sp>
      <p:pic>
        <p:nvPicPr>
          <p:cNvPr id="7170" name="Picture 2" descr="Image result for terminator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18339" y="3531479"/>
            <a:ext cx="3044940" cy="18327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4" name="Picture 6" descr="Image result for project failure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75638" y="1549470"/>
            <a:ext cx="2844698" cy="14633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960213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Reasons for failure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BE" dirty="0"/>
              <a:t>Asking the wrong question</a:t>
            </a:r>
          </a:p>
          <a:p>
            <a:r>
              <a:rPr lang="en-BE" dirty="0"/>
              <a:t>Trying to solve the wrong problem</a:t>
            </a:r>
          </a:p>
          <a:p>
            <a:r>
              <a:rPr lang="en-BE" dirty="0"/>
              <a:t>Not having enough data</a:t>
            </a:r>
          </a:p>
          <a:p>
            <a:r>
              <a:rPr lang="en-BE" dirty="0"/>
              <a:t>Not having the right data</a:t>
            </a:r>
          </a:p>
          <a:p>
            <a:r>
              <a:rPr lang="en-BE" dirty="0"/>
              <a:t>Having too much data</a:t>
            </a:r>
          </a:p>
          <a:p>
            <a:r>
              <a:rPr lang="en-BE" dirty="0"/>
              <a:t>Hiring the wrong people</a:t>
            </a:r>
          </a:p>
          <a:p>
            <a:r>
              <a:rPr lang="en-BE" dirty="0"/>
              <a:t>Using the wrong tools</a:t>
            </a:r>
          </a:p>
          <a:p>
            <a:r>
              <a:rPr lang="en-BE" dirty="0"/>
              <a:t>Not having the right model</a:t>
            </a:r>
          </a:p>
          <a:p>
            <a:r>
              <a:rPr lang="en-BE" dirty="0"/>
              <a:t>Not having the right yardstick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13</a:t>
            </a:fld>
            <a:endParaRPr lang="nl-BE"/>
          </a:p>
        </p:txBody>
      </p:sp>
      <p:pic>
        <p:nvPicPr>
          <p:cNvPr id="8196" name="Picture 4" descr="Related image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56206" y="2300158"/>
            <a:ext cx="3937307" cy="29529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197491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96969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96969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96969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96969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96969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96969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96969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96969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96969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Frameworks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Programming languages</a:t>
            </a:r>
          </a:p>
          <a:p>
            <a:pPr lvl="1"/>
            <a:r>
              <a:rPr lang="en-US" dirty="0"/>
              <a:t>Python</a:t>
            </a:r>
          </a:p>
          <a:p>
            <a:pPr lvl="1"/>
            <a:r>
              <a:rPr lang="en-US" dirty="0"/>
              <a:t>R</a:t>
            </a:r>
          </a:p>
          <a:p>
            <a:pPr lvl="1"/>
            <a:r>
              <a:rPr lang="en-US" dirty="0"/>
              <a:t>C++</a:t>
            </a:r>
            <a:endParaRPr lang="en-BE" dirty="0"/>
          </a:p>
          <a:p>
            <a:pPr lvl="1"/>
            <a:r>
              <a:rPr lang="en-BE" dirty="0"/>
              <a:t>...</a:t>
            </a:r>
            <a:endParaRPr lang="en-US" dirty="0"/>
          </a:p>
          <a:p>
            <a:r>
              <a:rPr lang="en-US" dirty="0"/>
              <a:t>Many libraries</a:t>
            </a:r>
          </a:p>
          <a:p>
            <a:pPr lvl="1"/>
            <a:r>
              <a:rPr lang="en-US" dirty="0" err="1"/>
              <a:t>scikit</a:t>
            </a:r>
            <a:r>
              <a:rPr lang="en-US" dirty="0"/>
              <a:t>-learn</a:t>
            </a:r>
          </a:p>
          <a:p>
            <a:pPr lvl="1"/>
            <a:r>
              <a:rPr lang="en-US" dirty="0" err="1"/>
              <a:t>PyTorch</a:t>
            </a:r>
            <a:endParaRPr lang="en-US" dirty="0"/>
          </a:p>
          <a:p>
            <a:pPr lvl="1"/>
            <a:r>
              <a:rPr lang="en-US" dirty="0" err="1"/>
              <a:t>TensorFlow</a:t>
            </a:r>
            <a:endParaRPr lang="en-US" dirty="0"/>
          </a:p>
          <a:p>
            <a:pPr lvl="1"/>
            <a:r>
              <a:rPr lang="en-US" dirty="0" err="1"/>
              <a:t>Keras</a:t>
            </a:r>
            <a:endParaRPr lang="en-US" dirty="0"/>
          </a:p>
          <a:p>
            <a:pPr lvl="1"/>
            <a:r>
              <a:rPr lang="en-US" dirty="0"/>
              <a:t>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14</a:t>
            </a:fld>
            <a:endParaRPr lang="nl-BE"/>
          </a:p>
        </p:txBody>
      </p:sp>
      <p:grpSp>
        <p:nvGrpSpPr>
          <p:cNvPr id="9" name="Group 8"/>
          <p:cNvGrpSpPr/>
          <p:nvPr/>
        </p:nvGrpSpPr>
        <p:grpSpPr>
          <a:xfrm>
            <a:off x="3976382" y="3680111"/>
            <a:ext cx="6082018" cy="492685"/>
            <a:chOff x="1630431" y="3327488"/>
            <a:chExt cx="6082018" cy="492685"/>
          </a:xfrm>
        </p:grpSpPr>
        <p:sp>
          <p:nvSpPr>
            <p:cNvPr id="5" name="TextBox 4"/>
            <p:cNvSpPr txBox="1"/>
            <p:nvPr/>
          </p:nvSpPr>
          <p:spPr>
            <a:xfrm>
              <a:off x="4542137" y="3327488"/>
              <a:ext cx="3170312" cy="40011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classic machine learning</a:t>
              </a:r>
            </a:p>
          </p:txBody>
        </p:sp>
        <p:cxnSp>
          <p:nvCxnSpPr>
            <p:cNvPr id="7" name="Straight Arrow Connector 6"/>
            <p:cNvCxnSpPr>
              <a:stCxn id="5" idx="1"/>
            </p:cNvCxnSpPr>
            <p:nvPr/>
          </p:nvCxnSpPr>
          <p:spPr>
            <a:xfrm flipH="1">
              <a:off x="1630431" y="3527543"/>
              <a:ext cx="2911706" cy="292630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/>
          <p:cNvGrpSpPr/>
          <p:nvPr/>
        </p:nvGrpSpPr>
        <p:grpSpPr>
          <a:xfrm>
            <a:off x="3976382" y="4473640"/>
            <a:ext cx="6082018" cy="1311348"/>
            <a:chOff x="2452382" y="4006506"/>
            <a:chExt cx="6082018" cy="1311348"/>
          </a:xfrm>
        </p:grpSpPr>
        <p:grpSp>
          <p:nvGrpSpPr>
            <p:cNvPr id="10" name="Group 9"/>
            <p:cNvGrpSpPr/>
            <p:nvPr/>
          </p:nvGrpSpPr>
          <p:grpSpPr>
            <a:xfrm>
              <a:off x="2668406" y="4206100"/>
              <a:ext cx="5865994" cy="456080"/>
              <a:chOff x="1846455" y="3399712"/>
              <a:chExt cx="5865994" cy="456080"/>
            </a:xfrm>
          </p:grpSpPr>
          <p:sp>
            <p:nvSpPr>
              <p:cNvPr id="11" name="TextBox 10"/>
              <p:cNvSpPr txBox="1"/>
              <p:nvPr/>
            </p:nvSpPr>
            <p:spPr>
              <a:xfrm>
                <a:off x="4542137" y="3399712"/>
                <a:ext cx="3170312" cy="40011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deep learning frameworks</a:t>
                </a:r>
              </a:p>
            </p:txBody>
          </p:sp>
          <p:cxnSp>
            <p:nvCxnSpPr>
              <p:cNvPr id="12" name="Straight Arrow Connector 11"/>
              <p:cNvCxnSpPr>
                <a:stCxn id="11" idx="1"/>
                <a:endCxn id="15" idx="1"/>
              </p:cNvCxnSpPr>
              <p:nvPr/>
            </p:nvCxnSpPr>
            <p:spPr>
              <a:xfrm flipH="1">
                <a:off x="1846455" y="3599767"/>
                <a:ext cx="2695682" cy="256025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5" name="Right Brace 14"/>
            <p:cNvSpPr/>
            <p:nvPr/>
          </p:nvSpPr>
          <p:spPr>
            <a:xfrm>
              <a:off x="2452382" y="4006506"/>
              <a:ext cx="216024" cy="1311348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9" name="TextBox 18"/>
          <p:cNvSpPr txBox="1"/>
          <p:nvPr/>
        </p:nvSpPr>
        <p:spPr>
          <a:xfrm>
            <a:off x="7434132" y="2345659"/>
            <a:ext cx="3406702" cy="461665"/>
          </a:xfrm>
          <a:prstGeom prst="rect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2400" dirty="0"/>
              <a:t>Fast-evolving ecosystem!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534318" y="4114482"/>
            <a:ext cx="1656184" cy="391978"/>
          </a:xfrm>
          <a:prstGeom prst="round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ounded Rectangle 15"/>
          <p:cNvSpPr/>
          <p:nvPr/>
        </p:nvSpPr>
        <p:spPr>
          <a:xfrm>
            <a:off x="1534318" y="5152004"/>
            <a:ext cx="1656184" cy="391978"/>
          </a:xfrm>
          <a:prstGeom prst="round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ounded Rectangle 16"/>
          <p:cNvSpPr/>
          <p:nvPr/>
        </p:nvSpPr>
        <p:spPr>
          <a:xfrm>
            <a:off x="1534318" y="2227653"/>
            <a:ext cx="1656184" cy="391978"/>
          </a:xfrm>
          <a:prstGeom prst="round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88016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9" grpId="0" animBg="1"/>
      <p:bldP spid="20" grpId="0" animBg="1"/>
      <p:bldP spid="16" grpId="0" animBg="1"/>
      <p:bldP spid="1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Data pipelines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BE" dirty="0"/>
              <a:t>Data ingestion</a:t>
            </a:r>
          </a:p>
          <a:p>
            <a:pPr lvl="1"/>
            <a:r>
              <a:rPr lang="en-BE" dirty="0"/>
              <a:t>CSV/JSON/XML/H5 files, RDBMS, NoSQL, HTTP,...</a:t>
            </a:r>
          </a:p>
          <a:p>
            <a:r>
              <a:rPr lang="en-BE" dirty="0"/>
              <a:t>Data cleaning</a:t>
            </a:r>
          </a:p>
          <a:p>
            <a:pPr lvl="1"/>
            <a:r>
              <a:rPr lang="en-BE" dirty="0"/>
              <a:t>outliers/invalid values? </a:t>
            </a:r>
            <a:r>
              <a:rPr lang="en-BE" dirty="0">
                <a:sym typeface="Symbol" panose="05050102010706020507" pitchFamily="18" charset="2"/>
              </a:rPr>
              <a:t></a:t>
            </a:r>
            <a:r>
              <a:rPr lang="en-BE" dirty="0"/>
              <a:t> filter</a:t>
            </a:r>
          </a:p>
          <a:p>
            <a:pPr lvl="1"/>
            <a:r>
              <a:rPr lang="en-BE" dirty="0"/>
              <a:t>missing values? </a:t>
            </a:r>
            <a:r>
              <a:rPr lang="en-BE" dirty="0">
                <a:sym typeface="Symbol" panose="05050102010706020507" pitchFamily="18" charset="2"/>
              </a:rPr>
              <a:t></a:t>
            </a:r>
            <a:r>
              <a:rPr lang="en-BE" dirty="0"/>
              <a:t> impute</a:t>
            </a:r>
          </a:p>
          <a:p>
            <a:r>
              <a:rPr lang="en-BE" dirty="0"/>
              <a:t>Data transformation</a:t>
            </a:r>
          </a:p>
          <a:p>
            <a:pPr lvl="1"/>
            <a:r>
              <a:rPr lang="en-BE" dirty="0"/>
              <a:t>scaling/normalization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15</a:t>
            </a:fld>
            <a:endParaRPr lang="nl-BE"/>
          </a:p>
        </p:txBody>
      </p:sp>
      <p:grpSp>
        <p:nvGrpSpPr>
          <p:cNvPr id="5" name="Group 4"/>
          <p:cNvGrpSpPr/>
          <p:nvPr/>
        </p:nvGrpSpPr>
        <p:grpSpPr>
          <a:xfrm>
            <a:off x="5529943" y="2856412"/>
            <a:ext cx="6472554" cy="3151187"/>
            <a:chOff x="5529943" y="2856412"/>
            <a:chExt cx="6472554" cy="3151187"/>
          </a:xfrm>
        </p:grpSpPr>
        <p:pic>
          <p:nvPicPr>
            <p:cNvPr id="12290" name="Picture 2" descr="Data Pipeline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529943" y="3680977"/>
              <a:ext cx="6472554" cy="232662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" name="TextBox 5"/>
            <p:cNvSpPr txBox="1"/>
            <p:nvPr/>
          </p:nvSpPr>
          <p:spPr>
            <a:xfrm>
              <a:off x="7532915" y="2856412"/>
              <a:ext cx="3084499" cy="461665"/>
            </a:xfrm>
            <a:prstGeom prst="rect">
              <a:avLst/>
            </a:prstGeom>
          </p:spPr>
          <p:style>
            <a:lnRef idx="3">
              <a:schemeClr val="lt1"/>
            </a:lnRef>
            <a:fillRef idx="1">
              <a:schemeClr val="accent3"/>
            </a:fillRef>
            <a:effectRef idx="1">
              <a:schemeClr val="accent3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r>
                <a:rPr lang="en-BE" sz="2400" i="1" dirty="0"/>
                <a:t>Must</a:t>
              </a:r>
              <a:r>
                <a:rPr lang="en-BE" dirty="0"/>
                <a:t> be done systematically</a:t>
              </a:r>
              <a:endParaRPr lang="en-US" dirty="0"/>
            </a:p>
          </p:txBody>
        </p:sp>
      </p:grpSp>
      <p:pic>
        <p:nvPicPr>
          <p:cNvPr id="8" name="Picture 2" descr="Logo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72937" y="5218151"/>
            <a:ext cx="1954023" cy="7083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292" name="Picture 4" descr="Logo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29943" y="1596618"/>
            <a:ext cx="3188335" cy="6642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799281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Supervised learning: methodology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BE" dirty="0"/>
              <a:t>Select model, e.g., random forest, (deep) neural network, ...</a:t>
            </a:r>
          </a:p>
          <a:p>
            <a:r>
              <a:rPr lang="en-BE" dirty="0"/>
              <a:t>Train model, i.e., determine parameters</a:t>
            </a:r>
          </a:p>
          <a:p>
            <a:pPr lvl="1"/>
            <a:r>
              <a:rPr lang="en-BE" dirty="0"/>
              <a:t>Data: input + output</a:t>
            </a:r>
          </a:p>
          <a:p>
            <a:pPr lvl="2"/>
            <a:r>
              <a:rPr lang="en-BE" dirty="0"/>
              <a:t>training data </a:t>
            </a:r>
            <a:r>
              <a:rPr lang="en-BE" dirty="0">
                <a:sym typeface="Symbol" panose="05050102010706020507" pitchFamily="18" charset="2"/>
              </a:rPr>
              <a:t></a:t>
            </a:r>
            <a:r>
              <a:rPr lang="en-BE" dirty="0"/>
              <a:t> determine model parameters</a:t>
            </a:r>
          </a:p>
          <a:p>
            <a:pPr lvl="2"/>
            <a:r>
              <a:rPr lang="en-BE" dirty="0"/>
              <a:t>validation data </a:t>
            </a:r>
            <a:r>
              <a:rPr lang="en-BE" dirty="0">
                <a:sym typeface="Symbol" panose="05050102010706020507" pitchFamily="18" charset="2"/>
              </a:rPr>
              <a:t></a:t>
            </a:r>
            <a:r>
              <a:rPr lang="en-BE" dirty="0"/>
              <a:t> yardstick to avoid overfitting</a:t>
            </a:r>
          </a:p>
          <a:p>
            <a:r>
              <a:rPr lang="en-BE" dirty="0"/>
              <a:t>Test model</a:t>
            </a:r>
          </a:p>
          <a:p>
            <a:pPr lvl="1"/>
            <a:r>
              <a:rPr lang="en-BE" dirty="0"/>
              <a:t>Data: input + output</a:t>
            </a:r>
          </a:p>
          <a:p>
            <a:pPr lvl="2"/>
            <a:r>
              <a:rPr lang="en-BE" dirty="0"/>
              <a:t>testing data </a:t>
            </a:r>
            <a:r>
              <a:rPr lang="en-BE" dirty="0">
                <a:sym typeface="Symbol" panose="05050102010706020507" pitchFamily="18" charset="2"/>
              </a:rPr>
              <a:t></a:t>
            </a:r>
            <a:r>
              <a:rPr lang="en-BE" dirty="0"/>
              <a:t> final scoring of the model</a:t>
            </a:r>
          </a:p>
          <a:p>
            <a:r>
              <a:rPr lang="en-BE" dirty="0"/>
              <a:t>Production</a:t>
            </a:r>
          </a:p>
          <a:p>
            <a:pPr lvl="1"/>
            <a:r>
              <a:rPr lang="en-BE" dirty="0"/>
              <a:t>Data: input </a:t>
            </a:r>
            <a:r>
              <a:rPr lang="en-BE" dirty="0">
                <a:sym typeface="Symbol" panose="05050102010706020507" pitchFamily="18" charset="2"/>
              </a:rPr>
              <a:t></a:t>
            </a:r>
            <a:r>
              <a:rPr lang="en-BE" dirty="0"/>
              <a:t> predict output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16</a:t>
            </a:fld>
            <a:endParaRPr lang="nl-BE"/>
          </a:p>
        </p:txBody>
      </p:sp>
      <p:pic>
        <p:nvPicPr>
          <p:cNvPr id="15362" name="Picture 2" descr="Image result for overfitti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81258" y="2833152"/>
            <a:ext cx="3876584" cy="1448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/>
          <p:cNvSpPr txBox="1"/>
          <p:nvPr/>
        </p:nvSpPr>
        <p:spPr>
          <a:xfrm>
            <a:off x="7226038" y="5172892"/>
            <a:ext cx="4629794" cy="646331"/>
          </a:xfrm>
          <a:prstGeom prst="rect">
            <a:avLst/>
          </a:prstGeom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BE" dirty="0"/>
              <a:t>Experiment with underfitting and overfitting:</a:t>
            </a:r>
          </a:p>
          <a:p>
            <a:r>
              <a:rPr lang="en-BE" dirty="0">
                <a:latin typeface="Inconsolata" panose="00000509000000000000" pitchFamily="49" charset="0"/>
              </a:rPr>
              <a:t>010_underfitting_overfitting.ipynb</a:t>
            </a:r>
            <a:endParaRPr lang="en-US" dirty="0">
              <a:latin typeface="Inconsolata" panose="00000509000000000000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584273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scikit</a:t>
            </a:r>
            <a:r>
              <a:rPr lang="en-US" dirty="0"/>
              <a:t>-learn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GB" sz="1800" dirty="0">
                <a:hlinkClick r:id="rId2"/>
              </a:rPr>
              <a:t>https://github.com/gjbex/Python-for-machine-learning/tree/master/source-code/scikit-learn</a:t>
            </a:r>
            <a:r>
              <a:rPr lang="en-GB" sz="1800" dirty="0"/>
              <a:t> </a:t>
            </a:r>
            <a:endParaRPr lang="en-US" sz="2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26802236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scikit</a:t>
            </a:r>
            <a:r>
              <a:rPr lang="en-US" dirty="0"/>
              <a:t>-learn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Nice end-to-end framework</a:t>
            </a:r>
          </a:p>
          <a:p>
            <a:pPr lvl="1"/>
            <a:r>
              <a:rPr lang="en-US" dirty="0"/>
              <a:t>data exploration (+ pandas + </a:t>
            </a:r>
            <a:r>
              <a:rPr lang="en-US" dirty="0" err="1"/>
              <a:t>holoviews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data preprocessing (+ pandas)</a:t>
            </a:r>
          </a:p>
          <a:p>
            <a:pPr lvl="2"/>
            <a:r>
              <a:rPr lang="en-US" dirty="0"/>
              <a:t>cleaning/missing values</a:t>
            </a:r>
          </a:p>
          <a:p>
            <a:pPr lvl="2"/>
            <a:r>
              <a:rPr lang="en-US" dirty="0"/>
              <a:t>normalization</a:t>
            </a:r>
          </a:p>
          <a:p>
            <a:pPr lvl="1"/>
            <a:r>
              <a:rPr lang="en-US" dirty="0"/>
              <a:t>training</a:t>
            </a:r>
          </a:p>
          <a:p>
            <a:pPr lvl="1"/>
            <a:r>
              <a:rPr lang="en-US" dirty="0"/>
              <a:t>testing</a:t>
            </a:r>
          </a:p>
          <a:p>
            <a:pPr lvl="1"/>
            <a:r>
              <a:rPr lang="en-US" dirty="0"/>
              <a:t>application</a:t>
            </a:r>
          </a:p>
          <a:p>
            <a:r>
              <a:rPr lang="en-US" dirty="0"/>
              <a:t>"Classic" machine learning only</a:t>
            </a:r>
          </a:p>
          <a:p>
            <a:r>
              <a:rPr lang="en-US" dirty="0">
                <a:hlinkClick r:id="rId2"/>
              </a:rPr>
              <a:t>https://scikit-learn.org/stable/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18</a:t>
            </a:fld>
            <a:endParaRPr lang="nl-BE"/>
          </a:p>
        </p:txBody>
      </p:sp>
      <p:pic>
        <p:nvPicPr>
          <p:cNvPr id="4098" name="Picture 2" descr="Logo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84880" y="3355989"/>
            <a:ext cx="3560297" cy="12906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560340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Machine learning tasks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Supervised learning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regression</a:t>
            </a:r>
            <a:r>
              <a:rPr lang="en-US" dirty="0"/>
              <a:t>: predict numerical values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classification</a:t>
            </a:r>
            <a:r>
              <a:rPr lang="en-US" dirty="0"/>
              <a:t>: predict categorical values, i.e., labels</a:t>
            </a:r>
          </a:p>
          <a:p>
            <a:r>
              <a:rPr lang="en-US" dirty="0"/>
              <a:t>Unsupervised learning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clustering</a:t>
            </a:r>
            <a:r>
              <a:rPr lang="en-US" dirty="0"/>
              <a:t>: group data according to "distance"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6366135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World happiness index 2015 &amp; 2016</a:t>
            </a:r>
            <a:br>
              <a:rPr lang="en-US" dirty="0"/>
            </a:br>
            <a:r>
              <a:rPr lang="en-US" sz="2400" dirty="0"/>
              <a:t>(</a:t>
            </a:r>
            <a:r>
              <a:rPr lang="en-US" sz="2400" dirty="0">
                <a:hlinkClick r:id="rId2"/>
              </a:rPr>
              <a:t>http://worldhappiness.report/</a:t>
            </a:r>
            <a:r>
              <a:rPr lang="en-US" sz="2400" dirty="0"/>
              <a:t>)</a:t>
            </a:r>
            <a:endParaRPr lang="en-US" dirty="0"/>
          </a:p>
          <a:p>
            <a:r>
              <a:rPr lang="en-US" dirty="0"/>
              <a:t>Happiness score for country based on</a:t>
            </a:r>
          </a:p>
          <a:p>
            <a:pPr lvl="1"/>
            <a:r>
              <a:rPr lang="en-US" dirty="0"/>
              <a:t>economic factors (GDP)</a:t>
            </a:r>
          </a:p>
          <a:p>
            <a:pPr lvl="1"/>
            <a:r>
              <a:rPr lang="en-US" dirty="0"/>
              <a:t>family situation (social network)</a:t>
            </a:r>
          </a:p>
          <a:p>
            <a:pPr lvl="1"/>
            <a:r>
              <a:rPr lang="en-US" dirty="0"/>
              <a:t>health care (life expectancy)</a:t>
            </a:r>
          </a:p>
          <a:p>
            <a:pPr lvl="1"/>
            <a:r>
              <a:rPr lang="en-US" dirty="0"/>
              <a:t>freedom</a:t>
            </a:r>
          </a:p>
          <a:p>
            <a:pPr lvl="1"/>
            <a:r>
              <a:rPr lang="en-US" dirty="0"/>
              <a:t>trust (government corruption)</a:t>
            </a:r>
          </a:p>
          <a:p>
            <a:pPr lvl="1"/>
            <a:r>
              <a:rPr lang="en-US" dirty="0"/>
              <a:t>generosity</a:t>
            </a:r>
          </a:p>
          <a:p>
            <a:pPr lvl="1"/>
            <a:r>
              <a:rPr lang="en-US" dirty="0"/>
              <a:t>dystopia residual</a:t>
            </a:r>
          </a:p>
          <a:p>
            <a:r>
              <a:rPr lang="en-US" dirty="0"/>
              <a:t>Geographical region, e.g.,</a:t>
            </a:r>
          </a:p>
          <a:p>
            <a:pPr lvl="1"/>
            <a:r>
              <a:rPr lang="en-US" dirty="0"/>
              <a:t>Western Europe, Southern Asia,…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20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7539685" y="3671335"/>
            <a:ext cx="2839239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quantitative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39685" y="5449055"/>
            <a:ext cx="2854576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800" dirty="0"/>
              <a:t>categorical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76620" y="1324228"/>
            <a:ext cx="1917641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training: 2015</a:t>
            </a:r>
            <a:br>
              <a:rPr lang="en-US" sz="2400" dirty="0"/>
            </a:br>
            <a:r>
              <a:rPr lang="en-US" sz="2400" dirty="0"/>
              <a:t>test: 2016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8270984" y="1739725"/>
            <a:ext cx="1773242" cy="1465088"/>
            <a:chOff x="6746984" y="1739725"/>
            <a:chExt cx="1773242" cy="1465088"/>
          </a:xfrm>
        </p:grpSpPr>
        <p:sp>
          <p:nvSpPr>
            <p:cNvPr id="8" name="Rounded Rectangle 7"/>
            <p:cNvSpPr/>
            <p:nvPr/>
          </p:nvSpPr>
          <p:spPr>
            <a:xfrm>
              <a:off x="6974904" y="1739725"/>
              <a:ext cx="1341512" cy="415499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746984" y="2743148"/>
              <a:ext cx="1773242" cy="461665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solidFill>
                    <a:srgbClr val="C00000"/>
                  </a:solidFill>
                </a:rPr>
                <a:t>don't touch!</a:t>
              </a:r>
            </a:p>
          </p:txBody>
        </p:sp>
        <p:cxnSp>
          <p:nvCxnSpPr>
            <p:cNvPr id="11" name="Straight Arrow Connector 10"/>
            <p:cNvCxnSpPr>
              <a:stCxn id="9" idx="0"/>
              <a:endCxn id="8" idx="2"/>
            </p:cNvCxnSpPr>
            <p:nvPr/>
          </p:nvCxnSpPr>
          <p:spPr>
            <a:xfrm flipV="1">
              <a:off x="7633605" y="2155224"/>
              <a:ext cx="12055" cy="587924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15043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7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World happiness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21</a:t>
            </a:fld>
            <a:endParaRPr lang="nl-BE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00" b="1001"/>
          <a:stretch/>
        </p:blipFill>
        <p:spPr>
          <a:xfrm>
            <a:off x="1800225" y="1844824"/>
            <a:ext cx="8591550" cy="3888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519936" y="6093297"/>
            <a:ext cx="444224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hlinkClick r:id="rId3"/>
              </a:rPr>
              <a:t>https://en.wikipedia.org/wiki/World_Happiness_Report</a:t>
            </a:r>
            <a:r>
              <a:rPr lang="en-US" sz="14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04647389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Task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Given</a:t>
            </a:r>
          </a:p>
          <a:p>
            <a:pPr lvl="1"/>
            <a:r>
              <a:rPr lang="en-US" dirty="0"/>
              <a:t>economy</a:t>
            </a:r>
          </a:p>
          <a:p>
            <a:pPr lvl="1"/>
            <a:r>
              <a:rPr lang="en-US" dirty="0"/>
              <a:t>family</a:t>
            </a:r>
          </a:p>
          <a:p>
            <a:pPr lvl="1"/>
            <a:r>
              <a:rPr lang="en-US" dirty="0"/>
              <a:t>health</a:t>
            </a:r>
          </a:p>
          <a:p>
            <a:pPr lvl="1"/>
            <a:r>
              <a:rPr lang="en-US" dirty="0"/>
              <a:t>freedom</a:t>
            </a:r>
          </a:p>
          <a:p>
            <a:pPr lvl="1"/>
            <a:r>
              <a:rPr lang="en-US" dirty="0"/>
              <a:t>trust</a:t>
            </a:r>
          </a:p>
          <a:p>
            <a:pPr lvl="1"/>
            <a:r>
              <a:rPr lang="en-US" dirty="0"/>
              <a:t>generosity</a:t>
            </a:r>
          </a:p>
          <a:p>
            <a:pPr lvl="1"/>
            <a:r>
              <a:rPr lang="en-US" dirty="0"/>
              <a:t>dystopia residual</a:t>
            </a:r>
          </a:p>
          <a:p>
            <a:pPr lvl="1"/>
            <a:r>
              <a:rPr lang="en-US" dirty="0"/>
              <a:t>region</a:t>
            </a:r>
          </a:p>
          <a:p>
            <a:r>
              <a:rPr lang="en-US" dirty="0"/>
              <a:t>Predict happiness score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22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7459464" y="3105834"/>
            <a:ext cx="2291012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3600" dirty="0"/>
              <a:t>Regression</a:t>
            </a:r>
          </a:p>
        </p:txBody>
      </p:sp>
    </p:spTree>
    <p:extLst>
      <p:ext uri="{BB962C8B-B14F-4D97-AF65-F5344CB8AC3E}">
        <p14:creationId xmlns:p14="http://schemas.microsoft.com/office/powerpoint/2010/main" val="19299922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Let's peek…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23</a:t>
            </a:fld>
            <a:endParaRPr lang="nl-BE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051"/>
          <a:stretch/>
        </p:blipFill>
        <p:spPr>
          <a:xfrm>
            <a:off x="1887247" y="1844824"/>
            <a:ext cx="8316416" cy="3307582"/>
          </a:xfrm>
          <a:prstGeom prst="rect">
            <a:avLst/>
          </a:prstGeom>
        </p:spPr>
      </p:pic>
      <p:grpSp>
        <p:nvGrpSpPr>
          <p:cNvPr id="7" name="Group 6"/>
          <p:cNvGrpSpPr/>
          <p:nvPr/>
        </p:nvGrpSpPr>
        <p:grpSpPr>
          <a:xfrm>
            <a:off x="5447928" y="4653136"/>
            <a:ext cx="4896544" cy="1465088"/>
            <a:chOff x="6746984" y="1739725"/>
            <a:chExt cx="4896544" cy="1465088"/>
          </a:xfrm>
        </p:grpSpPr>
        <p:sp>
          <p:nvSpPr>
            <p:cNvPr id="8" name="Rounded Rectangle 7"/>
            <p:cNvSpPr/>
            <p:nvPr/>
          </p:nvSpPr>
          <p:spPr>
            <a:xfrm>
              <a:off x="6974904" y="1739725"/>
              <a:ext cx="4668624" cy="415499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746984" y="2743148"/>
              <a:ext cx="1406154" cy="461665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solidFill>
                    <a:srgbClr val="C00000"/>
                  </a:solidFill>
                </a:rPr>
                <a:t>Rescaling</a:t>
              </a:r>
            </a:p>
          </p:txBody>
        </p:sp>
        <p:cxnSp>
          <p:nvCxnSpPr>
            <p:cNvPr id="10" name="Straight Arrow Connector 9"/>
            <p:cNvCxnSpPr>
              <a:stCxn id="9" idx="0"/>
              <a:endCxn id="8" idx="2"/>
            </p:cNvCxnSpPr>
            <p:nvPr/>
          </p:nvCxnSpPr>
          <p:spPr>
            <a:xfrm flipV="1">
              <a:off x="7450061" y="2155224"/>
              <a:ext cx="1859155" cy="587924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299915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Missing values?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24</a:t>
            </a:fld>
            <a:endParaRPr lang="nl-BE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5890" y="1484785"/>
            <a:ext cx="5818262" cy="3546289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51984" y="2437296"/>
            <a:ext cx="4616202" cy="281327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2207568" y="5668523"/>
            <a:ext cx="5445722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No </a:t>
            </a:r>
            <a:r>
              <a:rPr lang="en-US" sz="2800" dirty="0" err="1"/>
              <a:t>NaNs</a:t>
            </a:r>
            <a:r>
              <a:rPr lang="en-US" sz="2800" dirty="0"/>
              <a:t>, otherwise, use </a:t>
            </a:r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Imputer</a:t>
            </a:r>
          </a:p>
        </p:txBody>
      </p:sp>
    </p:spTree>
    <p:extLst>
      <p:ext uri="{BB962C8B-B14F-4D97-AF65-F5344CB8AC3E}">
        <p14:creationId xmlns:p14="http://schemas.microsoft.com/office/powerpoint/2010/main" val="13011552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Extracting 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Part of machine learning pipeline</a:t>
            </a:r>
          </a:p>
          <a:p>
            <a:pPr lvl="1"/>
            <a:r>
              <a:rPr lang="en-US" dirty="0"/>
              <a:t>fit + transform</a:t>
            </a:r>
          </a:p>
          <a:p>
            <a:r>
              <a:rPr lang="en-US" dirty="0"/>
              <a:t>Extracting columns from pandas data frame</a:t>
            </a:r>
            <a:endParaRPr lang="en-BE" dirty="0"/>
          </a:p>
          <a:p>
            <a:r>
              <a:rPr lang="en-BE" dirty="0"/>
              <a:t>Transform data</a:t>
            </a:r>
          </a:p>
          <a:p>
            <a:pPr lvl="1"/>
            <a:r>
              <a:rPr lang="en-BE" dirty="0"/>
              <a:t>scale numerical features to [0, 1]</a:t>
            </a:r>
          </a:p>
          <a:p>
            <a:pPr lvl="1"/>
            <a:r>
              <a:rPr lang="en-BE" dirty="0"/>
              <a:t>one-hot encoding for regions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4832125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Numerical attributes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Extract, then scale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26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12477" y="2294870"/>
            <a:ext cx="8363272" cy="230832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sklearn.compose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ColumnTransformer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</a:t>
            </a:r>
            <a:endParaRPr lang="en-BE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sklearn.preprocessing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MinMaxScaler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num_attr_names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data_2015.columns[5:13]</a:t>
            </a:r>
          </a:p>
          <a:p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pt-BR" dirty="0">
                <a:latin typeface="Courier New" pitchFamily="49" charset="0"/>
                <a:cs typeface="Courier New" pitchFamily="49" charset="0"/>
              </a:rPr>
              <a:t>num_attrs_transformer = ColumnTransformer(</a:t>
            </a:r>
            <a:r>
              <a:rPr lang="en-BE" dirty="0">
                <a:latin typeface="Courier New" pitchFamily="49" charset="0"/>
                <a:cs typeface="Courier New" pitchFamily="49" charset="0"/>
              </a:rPr>
              <a:t>[</a:t>
            </a:r>
          </a:p>
          <a:p>
            <a:r>
              <a:rPr lang="en-BE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pt-BR" dirty="0">
                <a:latin typeface="Courier New" pitchFamily="49" charset="0"/>
                <a:cs typeface="Courier New" pitchFamily="49" charset="0"/>
              </a:rPr>
              <a:t>('minimax', MinMaxScaler(), num_attr_names)</a:t>
            </a:r>
            <a:endParaRPr lang="en-BE" dirty="0">
              <a:latin typeface="Courier New" pitchFamily="49" charset="0"/>
              <a:cs typeface="Courier New" pitchFamily="49" charset="0"/>
            </a:endParaRPr>
          </a:p>
          <a:p>
            <a:r>
              <a:rPr lang="pt-BR" dirty="0">
                <a:latin typeface="Courier New" pitchFamily="49" charset="0"/>
                <a:cs typeface="Courier New" pitchFamily="49" charset="0"/>
              </a:rPr>
              <a:t>])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6" name="Group 5"/>
          <p:cNvGrpSpPr/>
          <p:nvPr/>
        </p:nvGrpSpPr>
        <p:grpSpPr>
          <a:xfrm>
            <a:off x="2063310" y="4365105"/>
            <a:ext cx="2005677" cy="1266295"/>
            <a:chOff x="6963738" y="3252117"/>
            <a:chExt cx="2005677" cy="1266295"/>
          </a:xfrm>
        </p:grpSpPr>
        <p:sp>
          <p:nvSpPr>
            <p:cNvPr id="7" name="TextBox 6"/>
            <p:cNvSpPr txBox="1"/>
            <p:nvPr/>
          </p:nvSpPr>
          <p:spPr>
            <a:xfrm>
              <a:off x="6963738" y="4149080"/>
              <a:ext cx="2005677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name of operation</a:t>
              </a:r>
            </a:p>
          </p:txBody>
        </p:sp>
        <p:cxnSp>
          <p:nvCxnSpPr>
            <p:cNvPr id="8" name="Straight Arrow Connector 7"/>
            <p:cNvCxnSpPr/>
            <p:nvPr/>
          </p:nvCxnSpPr>
          <p:spPr>
            <a:xfrm flipV="1">
              <a:off x="8044102" y="3252117"/>
              <a:ext cx="216023" cy="89696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4269122" y="4412654"/>
            <a:ext cx="2343911" cy="1220289"/>
            <a:chOff x="6963738" y="3298123"/>
            <a:chExt cx="2343911" cy="1220289"/>
          </a:xfrm>
        </p:grpSpPr>
        <p:sp>
          <p:nvSpPr>
            <p:cNvPr id="12" name="TextBox 11"/>
            <p:cNvSpPr txBox="1"/>
            <p:nvPr/>
          </p:nvSpPr>
          <p:spPr>
            <a:xfrm>
              <a:off x="6963738" y="4149080"/>
              <a:ext cx="2343911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operation constructor</a:t>
              </a:r>
            </a:p>
          </p:txBody>
        </p:sp>
        <p:cxnSp>
          <p:nvCxnSpPr>
            <p:cNvPr id="13" name="Straight Arrow Connector 12"/>
            <p:cNvCxnSpPr/>
            <p:nvPr/>
          </p:nvCxnSpPr>
          <p:spPr>
            <a:xfrm flipH="1" flipV="1">
              <a:off x="7998529" y="3298123"/>
              <a:ext cx="45573" cy="850959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/>
          <p:cNvGrpSpPr/>
          <p:nvPr/>
        </p:nvGrpSpPr>
        <p:grpSpPr>
          <a:xfrm>
            <a:off x="6779382" y="4509121"/>
            <a:ext cx="1600118" cy="1122278"/>
            <a:chOff x="6963738" y="3396134"/>
            <a:chExt cx="1600118" cy="1122278"/>
          </a:xfrm>
        </p:grpSpPr>
        <p:sp>
          <p:nvSpPr>
            <p:cNvPr id="20" name="TextBox 19"/>
            <p:cNvSpPr txBox="1"/>
            <p:nvPr/>
          </p:nvSpPr>
          <p:spPr>
            <a:xfrm>
              <a:off x="6963738" y="4149080"/>
              <a:ext cx="160011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BE" dirty="0"/>
                <a:t>column names</a:t>
              </a:r>
              <a:endParaRPr lang="en-US" dirty="0"/>
            </a:p>
          </p:txBody>
        </p:sp>
        <p:cxnSp>
          <p:nvCxnSpPr>
            <p:cNvPr id="21" name="Straight Arrow Connector 20"/>
            <p:cNvCxnSpPr>
              <a:stCxn id="20" idx="0"/>
            </p:cNvCxnSpPr>
            <p:nvPr/>
          </p:nvCxnSpPr>
          <p:spPr>
            <a:xfrm flipH="1" flipV="1">
              <a:off x="7742798" y="3396134"/>
              <a:ext cx="20999" cy="75294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979414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Categorical attribute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Extract, then create one-hot attributes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27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4381483"/>
            <a:ext cx="8363272" cy="175432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sklearn.preprocessing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OneHotEncoder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endParaRPr lang="en-BE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region_transformer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ColumnTransformer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</a:t>
            </a:r>
            <a:endParaRPr lang="en-BE" dirty="0">
              <a:latin typeface="Courier New" pitchFamily="49" charset="0"/>
              <a:cs typeface="Courier New" pitchFamily="49" charset="0"/>
            </a:endParaRPr>
          </a:p>
          <a:p>
            <a:r>
              <a:rPr lang="en-BE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one_hot_encoder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OneHotEncoder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(categories='auto'),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['Region'])</a:t>
            </a:r>
            <a:endParaRPr lang="en-BE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])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1631505" y="2204864"/>
          <a:ext cx="3103405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5918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4421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Country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Region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Belgium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Western Europe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Canada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North America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Germany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Western Europe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943872" y="2204864"/>
          <a:ext cx="5616624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15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4678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3224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7606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Country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Western</a:t>
                      </a:r>
                      <a:r>
                        <a:rPr lang="en-US" baseline="0" dirty="0"/>
                        <a:t> Europe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Northren</a:t>
                      </a:r>
                      <a:r>
                        <a:rPr lang="en-US" dirty="0"/>
                        <a:t> America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Belgium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Canada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Germany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Curved Up Arrow 8"/>
          <p:cNvSpPr/>
          <p:nvPr/>
        </p:nvSpPr>
        <p:spPr>
          <a:xfrm>
            <a:off x="4223792" y="3861048"/>
            <a:ext cx="3168352" cy="432048"/>
          </a:xfrm>
          <a:prstGeom prst="curvedUpArrow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276816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9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Combining pipelines &amp; execution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Both pipelines must be executed, results combined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Run data through pipeline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28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323642"/>
            <a:ext cx="8363272" cy="175432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sklearn.pipeline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FeatureUnion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preparation_pipeline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FeatureUnion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transformer_list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=[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('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region_attr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region_attr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_</a:t>
            </a:r>
            <a:r>
              <a:rPr lang="en-BE" dirty="0">
                <a:latin typeface="Courier New" pitchFamily="49" charset="0"/>
                <a:cs typeface="Courier New" pitchFamily="49" charset="0"/>
              </a:rPr>
              <a:t>transformer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('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num_attrs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num_attrs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_</a:t>
            </a:r>
            <a:r>
              <a:rPr lang="en-BE" dirty="0">
                <a:latin typeface="Courier New" pitchFamily="49" charset="0"/>
                <a:cs typeface="Courier New" pitchFamily="49" charset="0"/>
              </a:rPr>
              <a:t>transformer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])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81200" y="4901581"/>
            <a:ext cx="8363272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train_data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preparation_pipeline.fit_transform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(data_2015)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2063552" y="5358502"/>
            <a:ext cx="1435008" cy="698212"/>
            <a:chOff x="6963738" y="3820200"/>
            <a:chExt cx="1435008" cy="698212"/>
          </a:xfrm>
        </p:grpSpPr>
        <p:sp>
          <p:nvSpPr>
            <p:cNvPr id="8" name="TextBox 7"/>
            <p:cNvSpPr txBox="1"/>
            <p:nvPr/>
          </p:nvSpPr>
          <p:spPr>
            <a:xfrm>
              <a:off x="6963738" y="4149080"/>
              <a:ext cx="143500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numpy</a:t>
              </a:r>
              <a:r>
                <a:rPr lang="en-US" dirty="0"/>
                <a:t> array</a:t>
              </a:r>
            </a:p>
          </p:txBody>
        </p:sp>
        <p:cxnSp>
          <p:nvCxnSpPr>
            <p:cNvPr id="9" name="Straight Arrow Connector 8"/>
            <p:cNvCxnSpPr>
              <a:stCxn id="8" idx="0"/>
            </p:cNvCxnSpPr>
            <p:nvPr/>
          </p:nvCxnSpPr>
          <p:spPr>
            <a:xfrm flipV="1">
              <a:off x="7681242" y="3820200"/>
              <a:ext cx="146592" cy="328880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Box 12"/>
          <p:cNvSpPr txBox="1"/>
          <p:nvPr/>
        </p:nvSpPr>
        <p:spPr>
          <a:xfrm>
            <a:off x="4870504" y="5513660"/>
            <a:ext cx="4269117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3200" dirty="0"/>
              <a:t>Ready to start training!</a:t>
            </a:r>
          </a:p>
        </p:txBody>
      </p:sp>
    </p:spTree>
    <p:extLst>
      <p:ext uri="{BB962C8B-B14F-4D97-AF65-F5344CB8AC3E}">
        <p14:creationId xmlns:p14="http://schemas.microsoft.com/office/powerpoint/2010/main" val="36741054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13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Training &amp; prediction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Create learning algorithm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Train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Predict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29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298000"/>
            <a:ext cx="7283152" cy="92333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itchFamily="49" charset="0"/>
                <a:cs typeface="Courier New" pitchFamily="49" charset="0"/>
              </a:rPr>
              <a:t>from</a:t>
            </a:r>
            <a:r>
              <a:rPr lang="fr-FR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fr-FR" dirty="0" err="1">
                <a:latin typeface="Courier New" pitchFamily="49" charset="0"/>
                <a:cs typeface="Courier New" pitchFamily="49" charset="0"/>
              </a:rPr>
              <a:t>sklearn.linear_model</a:t>
            </a:r>
            <a:r>
              <a:rPr lang="fr-FR" dirty="0">
                <a:latin typeface="Courier New" pitchFamily="49" charset="0"/>
                <a:cs typeface="Courier New" pitchFamily="49" charset="0"/>
              </a:rPr>
              <a:t> import Ridge</a:t>
            </a:r>
          </a:p>
          <a:p>
            <a:endParaRPr lang="fr-FR" dirty="0">
              <a:latin typeface="Courier New" pitchFamily="49" charset="0"/>
              <a:cs typeface="Courier New" pitchFamily="49" charset="0"/>
            </a:endParaRPr>
          </a:p>
          <a:p>
            <a:r>
              <a:rPr lang="fr-FR" dirty="0" err="1">
                <a:latin typeface="Courier New" pitchFamily="49" charset="0"/>
                <a:cs typeface="Courier New" pitchFamily="49" charset="0"/>
              </a:rPr>
              <a:t>ridge_regr</a:t>
            </a:r>
            <a:r>
              <a:rPr lang="fr-FR" dirty="0">
                <a:latin typeface="Courier New" pitchFamily="49" charset="0"/>
                <a:cs typeface="Courier New" pitchFamily="49" charset="0"/>
              </a:rPr>
              <a:t> = Ridge(alpha=0.5, </a:t>
            </a:r>
            <a:r>
              <a:rPr lang="fr-FR" dirty="0" err="1">
                <a:latin typeface="Courier New" pitchFamily="49" charset="0"/>
                <a:cs typeface="Courier New" pitchFamily="49" charset="0"/>
              </a:rPr>
              <a:t>fit_intercept</a:t>
            </a:r>
            <a:r>
              <a:rPr lang="fr-FR" dirty="0">
                <a:latin typeface="Courier New" pitchFamily="49" charset="0"/>
                <a:cs typeface="Courier New" pitchFamily="49" charset="0"/>
              </a:rPr>
              <a:t>=False)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81200" y="3918721"/>
            <a:ext cx="7283152" cy="92333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X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train_data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Y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(data_2015['Happiness Score'])</a:t>
            </a:r>
          </a:p>
          <a:p>
            <a:r>
              <a:rPr lang="fr-FR" dirty="0" err="1">
                <a:latin typeface="Courier New" pitchFamily="49" charset="0"/>
                <a:cs typeface="Courier New" pitchFamily="49" charset="0"/>
              </a:rPr>
              <a:t>ridge_regr.</a:t>
            </a:r>
            <a:r>
              <a:rPr lang="fr-FR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fit</a:t>
            </a:r>
            <a:r>
              <a:rPr lang="fr-FR" dirty="0">
                <a:latin typeface="Courier New" pitchFamily="49" charset="0"/>
                <a:cs typeface="Courier New" pitchFamily="49" charset="0"/>
              </a:rPr>
              <a:t>(X, Y);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981200" y="5419614"/>
            <a:ext cx="7283152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Y_ridge_regr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ridge_regr.</a:t>
            </a:r>
            <a:r>
              <a:rPr lang="en-US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predict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(X)</a:t>
            </a:r>
          </a:p>
        </p:txBody>
      </p:sp>
      <p:grpSp>
        <p:nvGrpSpPr>
          <p:cNvPr id="16" name="Group 15"/>
          <p:cNvGrpSpPr/>
          <p:nvPr/>
        </p:nvGrpSpPr>
        <p:grpSpPr>
          <a:xfrm>
            <a:off x="5447928" y="3128194"/>
            <a:ext cx="1840568" cy="716252"/>
            <a:chOff x="3923928" y="3128194"/>
            <a:chExt cx="1840568" cy="716252"/>
          </a:xfrm>
        </p:grpSpPr>
        <p:grpSp>
          <p:nvGrpSpPr>
            <p:cNvPr id="8" name="Group 7"/>
            <p:cNvGrpSpPr/>
            <p:nvPr/>
          </p:nvGrpSpPr>
          <p:grpSpPr>
            <a:xfrm>
              <a:off x="3923928" y="3128194"/>
              <a:ext cx="1840568" cy="716252"/>
              <a:chOff x="6963738" y="3802160"/>
              <a:chExt cx="1840568" cy="716252"/>
            </a:xfrm>
          </p:grpSpPr>
          <p:sp>
            <p:nvSpPr>
              <p:cNvPr id="9" name="TextBox 8"/>
              <p:cNvSpPr txBox="1"/>
              <p:nvPr/>
            </p:nvSpPr>
            <p:spPr>
              <a:xfrm>
                <a:off x="6963738" y="4149080"/>
                <a:ext cx="1840568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 err="1"/>
                  <a:t>hyperparameters</a:t>
                </a:r>
                <a:endParaRPr lang="en-US" dirty="0"/>
              </a:p>
            </p:txBody>
          </p:sp>
          <p:cxnSp>
            <p:nvCxnSpPr>
              <p:cNvPr id="10" name="Straight Arrow Connector 9"/>
              <p:cNvCxnSpPr>
                <a:stCxn id="9" idx="0"/>
              </p:cNvCxnSpPr>
              <p:nvPr/>
            </p:nvCxnSpPr>
            <p:spPr>
              <a:xfrm flipH="1" flipV="1">
                <a:off x="7323779" y="3802160"/>
                <a:ext cx="560243" cy="34692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2" name="Straight Arrow Connector 11"/>
            <p:cNvCxnSpPr>
              <a:stCxn id="9" idx="0"/>
            </p:cNvCxnSpPr>
            <p:nvPr/>
          </p:nvCxnSpPr>
          <p:spPr>
            <a:xfrm flipV="1">
              <a:off x="4844212" y="3128194"/>
              <a:ext cx="520120" cy="346920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/>
          <p:cNvGrpSpPr/>
          <p:nvPr/>
        </p:nvGrpSpPr>
        <p:grpSpPr>
          <a:xfrm>
            <a:off x="7947369" y="4465056"/>
            <a:ext cx="1112688" cy="418680"/>
            <a:chOff x="6367538" y="4099732"/>
            <a:chExt cx="1112688" cy="418680"/>
          </a:xfrm>
        </p:grpSpPr>
        <p:sp>
          <p:nvSpPr>
            <p:cNvPr id="17" name="TextBox 16"/>
            <p:cNvSpPr txBox="1"/>
            <p:nvPr/>
          </p:nvSpPr>
          <p:spPr>
            <a:xfrm>
              <a:off x="6963738" y="4149080"/>
              <a:ext cx="51648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BE" dirty="0"/>
                <a:t>???</a:t>
              </a:r>
              <a:endParaRPr lang="en-US" dirty="0"/>
            </a:p>
          </p:txBody>
        </p:sp>
        <p:cxnSp>
          <p:nvCxnSpPr>
            <p:cNvPr id="18" name="Straight Arrow Connector 17"/>
            <p:cNvCxnSpPr>
              <a:stCxn id="17" idx="1"/>
            </p:cNvCxnSpPr>
            <p:nvPr/>
          </p:nvCxnSpPr>
          <p:spPr>
            <a:xfrm flipH="1" flipV="1">
              <a:off x="6367538" y="4099732"/>
              <a:ext cx="596200" cy="23401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452633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7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Score &amp; errors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Score</a:t>
            </a:r>
          </a:p>
          <a:p>
            <a:r>
              <a:rPr lang="en-US" dirty="0"/>
              <a:t>Better: cross validation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30</a:t>
            </a:fld>
            <a:endParaRPr lang="nl-BE"/>
          </a:p>
        </p:txBody>
      </p:sp>
      <p:sp>
        <p:nvSpPr>
          <p:cNvPr id="6" name="TextBox 5"/>
          <p:cNvSpPr txBox="1"/>
          <p:nvPr/>
        </p:nvSpPr>
        <p:spPr>
          <a:xfrm>
            <a:off x="2421467" y="1849261"/>
            <a:ext cx="3682752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itchFamily="49" charset="0"/>
                <a:cs typeface="Courier New" pitchFamily="49" charset="0"/>
              </a:rPr>
              <a:t>ridge_regr.score</a:t>
            </a:r>
            <a:r>
              <a:rPr lang="fr-FR" dirty="0">
                <a:latin typeface="Courier New" pitchFamily="49" charset="0"/>
                <a:cs typeface="Courier New" pitchFamily="49" charset="0"/>
              </a:rPr>
              <a:t>(X, Y)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6392251" y="1849261"/>
            <a:ext cx="3240360" cy="369332"/>
            <a:chOff x="4427984" y="2204864"/>
            <a:chExt cx="3240360" cy="369332"/>
          </a:xfrm>
        </p:grpSpPr>
        <p:sp>
          <p:nvSpPr>
            <p:cNvPr id="7" name="TextBox 6"/>
            <p:cNvSpPr txBox="1"/>
            <p:nvPr/>
          </p:nvSpPr>
          <p:spPr>
            <a:xfrm>
              <a:off x="5148064" y="2204864"/>
              <a:ext cx="2520280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0.9984</a:t>
              </a:r>
            </a:p>
          </p:txBody>
        </p:sp>
        <p:cxnSp>
          <p:nvCxnSpPr>
            <p:cNvPr id="9" name="Straight Arrow Connector 8"/>
            <p:cNvCxnSpPr/>
            <p:nvPr/>
          </p:nvCxnSpPr>
          <p:spPr>
            <a:xfrm>
              <a:off x="4427984" y="2409040"/>
              <a:ext cx="432048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/>
          <p:cNvSpPr txBox="1"/>
          <p:nvPr/>
        </p:nvSpPr>
        <p:spPr>
          <a:xfrm>
            <a:off x="2362200" y="2857568"/>
            <a:ext cx="7270411" cy="1477328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scores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cross_val_score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	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ridge_regr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X, Y,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scoring='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neg_mean_squared_error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cv=10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62200" y="5178630"/>
            <a:ext cx="3682752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itchFamily="49" charset="0"/>
                <a:cs typeface="Courier New" pitchFamily="49" charset="0"/>
              </a:rPr>
              <a:t>np.sqrt</a:t>
            </a:r>
            <a:r>
              <a:rPr lang="fr-FR" dirty="0">
                <a:latin typeface="Courier New" pitchFamily="49" charset="0"/>
                <a:cs typeface="Courier New" pitchFamily="49" charset="0"/>
              </a:rPr>
              <a:t>(-scores)</a:t>
            </a:r>
          </a:p>
        </p:txBody>
      </p:sp>
      <p:grpSp>
        <p:nvGrpSpPr>
          <p:cNvPr id="13" name="Group 12"/>
          <p:cNvGrpSpPr/>
          <p:nvPr/>
        </p:nvGrpSpPr>
        <p:grpSpPr>
          <a:xfrm>
            <a:off x="6392251" y="4628175"/>
            <a:ext cx="3240360" cy="1477328"/>
            <a:chOff x="4427984" y="1673919"/>
            <a:chExt cx="3240360" cy="1477328"/>
          </a:xfrm>
        </p:grpSpPr>
        <p:sp>
          <p:nvSpPr>
            <p:cNvPr id="14" name="TextBox 13"/>
            <p:cNvSpPr txBox="1"/>
            <p:nvPr/>
          </p:nvSpPr>
          <p:spPr>
            <a:xfrm>
              <a:off x="5148064" y="1673919"/>
              <a:ext cx="2520280" cy="1477328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0.1954,  0.0215,</a:t>
              </a:r>
              <a:br>
                <a:rPr lang="fr-FR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</a:br>
              <a:r>
                <a:rPr lang="fr-FR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0.0579,  0.0478,</a:t>
              </a:r>
              <a:br>
                <a:rPr lang="fr-FR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</a:br>
              <a:r>
                <a:rPr lang="fr-FR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0.0551,  0.0649,</a:t>
              </a:r>
              <a:br>
                <a:rPr lang="fr-FR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</a:br>
              <a:r>
                <a:rPr lang="fr-FR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0.0591,  0.0451,</a:t>
              </a:r>
              <a:br>
                <a:rPr lang="fr-FR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</a:br>
              <a:r>
                <a:rPr lang="fr-FR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0.0729,  0.0803</a:t>
              </a:r>
            </a:p>
          </p:txBody>
        </p:sp>
        <p:cxnSp>
          <p:nvCxnSpPr>
            <p:cNvPr id="15" name="Straight Arrow Connector 14"/>
            <p:cNvCxnSpPr/>
            <p:nvPr/>
          </p:nvCxnSpPr>
          <p:spPr>
            <a:xfrm>
              <a:off x="4427984" y="2409040"/>
              <a:ext cx="432048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/>
          <p:cNvGrpSpPr/>
          <p:nvPr/>
        </p:nvGrpSpPr>
        <p:grpSpPr>
          <a:xfrm>
            <a:off x="3050291" y="4002714"/>
            <a:ext cx="851452" cy="835477"/>
            <a:chOff x="7612053" y="3333026"/>
            <a:chExt cx="851452" cy="835477"/>
          </a:xfrm>
        </p:grpSpPr>
        <p:sp>
          <p:nvSpPr>
            <p:cNvPr id="17" name="TextBox 16"/>
            <p:cNvSpPr txBox="1"/>
            <p:nvPr/>
          </p:nvSpPr>
          <p:spPr>
            <a:xfrm>
              <a:off x="7612053" y="3799171"/>
              <a:ext cx="851452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10-fold</a:t>
              </a:r>
            </a:p>
          </p:txBody>
        </p:sp>
        <p:cxnSp>
          <p:nvCxnSpPr>
            <p:cNvPr id="18" name="Straight Arrow Connector 17"/>
            <p:cNvCxnSpPr>
              <a:stCxn id="17" idx="0"/>
            </p:cNvCxnSpPr>
            <p:nvPr/>
          </p:nvCxnSpPr>
          <p:spPr>
            <a:xfrm flipV="1">
              <a:off x="8037779" y="3333026"/>
              <a:ext cx="425726" cy="46614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402391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11" grpId="0" animBg="1"/>
      <p:bldP spid="12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Fine tuning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715558"/>
            <a:ext cx="10515600" cy="4351338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Define hyper parameter search space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Define grid searcher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Search</a:t>
            </a:r>
          </a:p>
          <a:p>
            <a:endParaRPr lang="en-US" dirty="0"/>
          </a:p>
          <a:p>
            <a:r>
              <a:rPr lang="en-US" dirty="0"/>
              <a:t>Best hyper parameters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31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838200" y="2090173"/>
            <a:ext cx="8435280" cy="1200329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grid_params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[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{'alpha': [0.0005, 0.001, 0.005, 0.01, 0.05, 0.1, 0.5],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fit_intercept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': [True, False]},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2132" y="3716872"/>
            <a:ext cx="8435280" cy="64633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grid_search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GridSearchCV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ridge_regr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grid_params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cv=10,  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scoring='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neg_mean_squared_error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2132" y="4868801"/>
            <a:ext cx="8435280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grid_search.fit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(X, 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2132" y="5706058"/>
            <a:ext cx="3496733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grid_search.best_params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_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4422951" y="5706058"/>
            <a:ext cx="6552728" cy="369332"/>
            <a:chOff x="4427984" y="2204864"/>
            <a:chExt cx="6552728" cy="369332"/>
          </a:xfrm>
        </p:grpSpPr>
        <p:sp>
          <p:nvSpPr>
            <p:cNvPr id="10" name="TextBox 9"/>
            <p:cNvSpPr txBox="1"/>
            <p:nvPr/>
          </p:nvSpPr>
          <p:spPr>
            <a:xfrm>
              <a:off x="5148064" y="2204864"/>
              <a:ext cx="5832648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{'alpha': 0.0005, '</a:t>
              </a:r>
              <a:r>
                <a:rPr lang="fr-FR" b="1" dirty="0" err="1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fit_intercept</a:t>
              </a:r>
              <a:r>
                <a:rPr lang="fr-FR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': </a:t>
              </a:r>
              <a:r>
                <a:rPr lang="fr-FR" b="1" dirty="0" err="1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True</a:t>
              </a:r>
              <a:r>
                <a:rPr lang="fr-FR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}</a:t>
              </a:r>
            </a:p>
          </p:txBody>
        </p:sp>
        <p:cxnSp>
          <p:nvCxnSpPr>
            <p:cNvPr id="11" name="Straight Arrow Connector 10"/>
            <p:cNvCxnSpPr/>
            <p:nvPr/>
          </p:nvCxnSpPr>
          <p:spPr>
            <a:xfrm>
              <a:off x="4427984" y="2409040"/>
              <a:ext cx="432048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896742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7" grpId="0" animBg="1"/>
      <p:bldP spid="8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Training result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32</a:t>
            </a:fld>
            <a:endParaRPr lang="nl-BE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31704" y="1988840"/>
            <a:ext cx="4827100" cy="33789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273328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Testing the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 pipeline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Predict</a:t>
            </a:r>
          </a:p>
          <a:p>
            <a:endParaRPr lang="en-US" dirty="0"/>
          </a:p>
          <a:p>
            <a:r>
              <a:rPr lang="en-US" dirty="0"/>
              <a:t>Score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33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331865"/>
            <a:ext cx="7643192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test_data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preparation_pipeline.transform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(data_2016)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47729" y="2852937"/>
            <a:ext cx="6247095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Note: only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transform</a:t>
            </a:r>
            <a:r>
              <a:rPr lang="en-US" sz="2400" dirty="0"/>
              <a:t>, no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fit_transform</a:t>
            </a:r>
            <a:r>
              <a:rPr lang="en-US" sz="2400" dirty="0"/>
              <a:t>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81200" y="3870780"/>
            <a:ext cx="7643192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Y_test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ridge_regr.predict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X_test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81200" y="4926682"/>
            <a:ext cx="4690864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ridge_regr.score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X_test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Y_test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6878724" y="4926682"/>
            <a:ext cx="2745668" cy="369332"/>
            <a:chOff x="4427984" y="2204864"/>
            <a:chExt cx="2745668" cy="369332"/>
          </a:xfrm>
        </p:grpSpPr>
        <p:sp>
          <p:nvSpPr>
            <p:cNvPr id="10" name="TextBox 9"/>
            <p:cNvSpPr txBox="1"/>
            <p:nvPr/>
          </p:nvSpPr>
          <p:spPr>
            <a:xfrm>
              <a:off x="5148064" y="2204864"/>
              <a:ext cx="2025588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0.9950</a:t>
              </a:r>
            </a:p>
          </p:txBody>
        </p:sp>
        <p:cxnSp>
          <p:nvCxnSpPr>
            <p:cNvPr id="11" name="Straight Arrow Connector 10"/>
            <p:cNvCxnSpPr/>
            <p:nvPr/>
          </p:nvCxnSpPr>
          <p:spPr>
            <a:xfrm>
              <a:off x="4427984" y="2409040"/>
              <a:ext cx="432048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364543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7" grpId="0" animBg="1"/>
      <p:bldP spid="8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 result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34</a:t>
            </a:fld>
            <a:endParaRPr lang="nl-B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39175" y="1772816"/>
            <a:ext cx="4827100" cy="33789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687937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Task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Given</a:t>
            </a:r>
          </a:p>
          <a:p>
            <a:pPr lvl="1"/>
            <a:r>
              <a:rPr lang="en-US" dirty="0"/>
              <a:t>economy</a:t>
            </a:r>
          </a:p>
          <a:p>
            <a:pPr lvl="1"/>
            <a:r>
              <a:rPr lang="en-US" dirty="0"/>
              <a:t>family</a:t>
            </a:r>
          </a:p>
          <a:p>
            <a:pPr lvl="1"/>
            <a:r>
              <a:rPr lang="en-US" dirty="0"/>
              <a:t>health</a:t>
            </a:r>
          </a:p>
          <a:p>
            <a:pPr lvl="1"/>
            <a:r>
              <a:rPr lang="en-US" dirty="0"/>
              <a:t>freedom</a:t>
            </a:r>
          </a:p>
          <a:p>
            <a:pPr lvl="1"/>
            <a:r>
              <a:rPr lang="en-US" dirty="0"/>
              <a:t>trust</a:t>
            </a:r>
          </a:p>
          <a:p>
            <a:pPr lvl="1"/>
            <a:r>
              <a:rPr lang="en-US" dirty="0"/>
              <a:t>generosity</a:t>
            </a:r>
          </a:p>
          <a:p>
            <a:pPr lvl="1"/>
            <a:r>
              <a:rPr lang="en-US" dirty="0"/>
              <a:t>dystopia residual</a:t>
            </a:r>
          </a:p>
          <a:p>
            <a:r>
              <a:rPr lang="en-US" dirty="0"/>
              <a:t>Predict whether country</a:t>
            </a:r>
            <a:br>
              <a:rPr lang="en-US" dirty="0"/>
            </a:br>
            <a:r>
              <a:rPr lang="en-US" dirty="0"/>
              <a:t>in Western Europe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35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6828123" y="3190138"/>
            <a:ext cx="2751074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3600" dirty="0"/>
              <a:t>Classification</a:t>
            </a:r>
          </a:p>
        </p:txBody>
      </p:sp>
    </p:spTree>
    <p:extLst>
      <p:ext uri="{BB962C8B-B14F-4D97-AF65-F5344CB8AC3E}">
        <p14:creationId xmlns:p14="http://schemas.microsoft.com/office/powerpoint/2010/main" val="8704978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Numerical pipeline is same as in task 1</a:t>
            </a:r>
          </a:p>
          <a:p>
            <a:pPr lvl="1"/>
            <a:r>
              <a:rPr lang="en-US" dirty="0"/>
              <a:t>select from pandas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DataFrame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scale</a:t>
            </a:r>
          </a:p>
          <a:p>
            <a:endParaRPr lang="en-US" dirty="0"/>
          </a:p>
          <a:p>
            <a:r>
              <a:rPr lang="en-US" dirty="0"/>
              <a:t>Add column for class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en-US" dirty="0"/>
              <a:t> if in Western Europe,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  <a:r>
              <a:rPr lang="en-US" dirty="0"/>
              <a:t> otherwise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36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003245" y="4608516"/>
            <a:ext cx="8291264" cy="64633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data_2015['Western Europe'] = (data_2015['Region'] ==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'Western Europe')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03245" y="3161432"/>
            <a:ext cx="8291264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prepared_data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num_attrs_pipeline.fit_transform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(data_2015)</a:t>
            </a:r>
          </a:p>
        </p:txBody>
      </p:sp>
    </p:spTree>
    <p:extLst>
      <p:ext uri="{BB962C8B-B14F-4D97-AF65-F5344CB8AC3E}">
        <p14:creationId xmlns:p14="http://schemas.microsoft.com/office/powerpoint/2010/main" val="35050659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Training &amp; scoring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Create learning algorithm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Train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Scoring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37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331864"/>
            <a:ext cx="7283152" cy="92333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itchFamily="49" charset="0"/>
                <a:cs typeface="Courier New" pitchFamily="49" charset="0"/>
              </a:rPr>
              <a:t>from</a:t>
            </a:r>
            <a:r>
              <a:rPr lang="fr-FR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fr-FR" dirty="0" err="1">
                <a:latin typeface="Courier New" pitchFamily="49" charset="0"/>
                <a:cs typeface="Courier New" pitchFamily="49" charset="0"/>
              </a:rPr>
              <a:t>sklearn.naive_bayes</a:t>
            </a:r>
            <a:r>
              <a:rPr lang="fr-FR" dirty="0">
                <a:latin typeface="Courier New" pitchFamily="49" charset="0"/>
                <a:cs typeface="Courier New" pitchFamily="49" charset="0"/>
              </a:rPr>
              <a:t> import </a:t>
            </a:r>
            <a:r>
              <a:rPr lang="fr-FR" dirty="0" err="1">
                <a:latin typeface="Courier New" pitchFamily="49" charset="0"/>
                <a:cs typeface="Courier New" pitchFamily="49" charset="0"/>
              </a:rPr>
              <a:t>GaussianNB</a:t>
            </a:r>
            <a:endParaRPr lang="fr-FR" dirty="0">
              <a:latin typeface="Courier New" pitchFamily="49" charset="0"/>
              <a:cs typeface="Courier New" pitchFamily="49" charset="0"/>
            </a:endParaRPr>
          </a:p>
          <a:p>
            <a:endParaRPr lang="fr-FR" dirty="0">
              <a:latin typeface="Courier New" pitchFamily="49" charset="0"/>
              <a:cs typeface="Courier New" pitchFamily="49" charset="0"/>
            </a:endParaRPr>
          </a:p>
          <a:p>
            <a:r>
              <a:rPr lang="fr-FR" dirty="0">
                <a:latin typeface="Courier New" pitchFamily="49" charset="0"/>
                <a:cs typeface="Courier New" pitchFamily="49" charset="0"/>
              </a:rPr>
              <a:t>nb = </a:t>
            </a:r>
            <a:r>
              <a:rPr lang="fr-FR" dirty="0" err="1">
                <a:latin typeface="Courier New" pitchFamily="49" charset="0"/>
                <a:cs typeface="Courier New" pitchFamily="49" charset="0"/>
              </a:rPr>
              <a:t>GaussianNB</a:t>
            </a:r>
            <a:r>
              <a:rPr lang="fr-FR" dirty="0">
                <a:latin typeface="Courier New" pitchFamily="49" charset="0"/>
                <a:cs typeface="Courier New" pitchFamily="49" charset="0"/>
              </a:rPr>
              <a:t>()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81200" y="4003391"/>
            <a:ext cx="7283152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nb.</a:t>
            </a:r>
            <a:r>
              <a:rPr lang="en-US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fit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prepared_data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data_2015['Western Europe'])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81200" y="4889703"/>
            <a:ext cx="7283152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nb.score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prepared_data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data_2015['Western Europe'])</a:t>
            </a:r>
          </a:p>
        </p:txBody>
      </p:sp>
      <p:grpSp>
        <p:nvGrpSpPr>
          <p:cNvPr id="13" name="Group 12"/>
          <p:cNvGrpSpPr/>
          <p:nvPr/>
        </p:nvGrpSpPr>
        <p:grpSpPr>
          <a:xfrm>
            <a:off x="6256784" y="5437680"/>
            <a:ext cx="3240360" cy="369332"/>
            <a:chOff x="4427984" y="2204864"/>
            <a:chExt cx="3240360" cy="369332"/>
          </a:xfrm>
        </p:grpSpPr>
        <p:sp>
          <p:nvSpPr>
            <p:cNvPr id="14" name="TextBox 13"/>
            <p:cNvSpPr txBox="1"/>
            <p:nvPr/>
          </p:nvSpPr>
          <p:spPr>
            <a:xfrm>
              <a:off x="5148064" y="2204864"/>
              <a:ext cx="2520280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0.9367</a:t>
              </a:r>
            </a:p>
          </p:txBody>
        </p:sp>
        <p:cxnSp>
          <p:nvCxnSpPr>
            <p:cNvPr id="15" name="Straight Arrow Connector 14"/>
            <p:cNvCxnSpPr/>
            <p:nvPr/>
          </p:nvCxnSpPr>
          <p:spPr>
            <a:xfrm>
              <a:off x="4427984" y="2409040"/>
              <a:ext cx="432048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/>
          <p:cNvSpPr txBox="1"/>
          <p:nvPr/>
        </p:nvSpPr>
        <p:spPr>
          <a:xfrm>
            <a:off x="3317005" y="5768209"/>
            <a:ext cx="2100255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Seems reasonable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3791745" y="3255195"/>
            <a:ext cx="5169916" cy="565336"/>
            <a:chOff x="4107987" y="3177998"/>
            <a:chExt cx="5169916" cy="565336"/>
          </a:xfrm>
        </p:grpSpPr>
        <p:sp>
          <p:nvSpPr>
            <p:cNvPr id="16" name="TextBox 15"/>
            <p:cNvSpPr txBox="1"/>
            <p:nvPr/>
          </p:nvSpPr>
          <p:spPr>
            <a:xfrm>
              <a:off x="4683375" y="3281669"/>
              <a:ext cx="4594528" cy="461665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attributes: approx. Gaussian distr.</a:t>
              </a:r>
            </a:p>
          </p:txBody>
        </p:sp>
        <p:cxnSp>
          <p:nvCxnSpPr>
            <p:cNvPr id="17" name="Straight Arrow Connector 16"/>
            <p:cNvCxnSpPr>
              <a:stCxn id="16" idx="1"/>
            </p:cNvCxnSpPr>
            <p:nvPr/>
          </p:nvCxnSpPr>
          <p:spPr>
            <a:xfrm flipH="1" flipV="1">
              <a:off x="4107987" y="3177998"/>
              <a:ext cx="575388" cy="33450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2397213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animBg="1"/>
      <p:bldP spid="6" grpId="0" uiExpand="1" animBg="1"/>
      <p:bldP spid="7" grpId="0" animBg="1"/>
      <p:bldP spid="11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Testing the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 pipeline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Predict</a:t>
            </a:r>
          </a:p>
          <a:p>
            <a:endParaRPr lang="en-US" dirty="0"/>
          </a:p>
          <a:p>
            <a:r>
              <a:rPr lang="en-US" dirty="0"/>
              <a:t>Score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38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357264"/>
            <a:ext cx="7643192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test_data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num_attrs_pipeline.transform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(data_2016)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47729" y="2852937"/>
            <a:ext cx="6247095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Note: only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transform</a:t>
            </a:r>
            <a:r>
              <a:rPr lang="en-US" sz="2400" dirty="0"/>
              <a:t>, no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fit_transform</a:t>
            </a:r>
            <a:r>
              <a:rPr lang="en-US" sz="2400" dirty="0"/>
              <a:t>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81200" y="3887711"/>
            <a:ext cx="7643192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Y_test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nb.predict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test_data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81200" y="4943612"/>
            <a:ext cx="4690864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nb.score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test_data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Y_test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6878724" y="4943612"/>
            <a:ext cx="2745668" cy="369332"/>
            <a:chOff x="4427984" y="2204864"/>
            <a:chExt cx="2745668" cy="369332"/>
          </a:xfrm>
        </p:grpSpPr>
        <p:sp>
          <p:nvSpPr>
            <p:cNvPr id="10" name="TextBox 9"/>
            <p:cNvSpPr txBox="1"/>
            <p:nvPr/>
          </p:nvSpPr>
          <p:spPr>
            <a:xfrm>
              <a:off x="5148064" y="2204864"/>
              <a:ext cx="2025588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0.8662</a:t>
              </a:r>
            </a:p>
          </p:txBody>
        </p:sp>
        <p:cxnSp>
          <p:nvCxnSpPr>
            <p:cNvPr id="11" name="Straight Arrow Connector 10"/>
            <p:cNvCxnSpPr/>
            <p:nvPr/>
          </p:nvCxnSpPr>
          <p:spPr>
            <a:xfrm>
              <a:off x="4427984" y="2409040"/>
              <a:ext cx="432048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/>
          <p:cNvSpPr txBox="1"/>
          <p:nvPr/>
        </p:nvSpPr>
        <p:spPr>
          <a:xfrm>
            <a:off x="3647729" y="5757744"/>
            <a:ext cx="1516762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Not so good</a:t>
            </a:r>
          </a:p>
        </p:txBody>
      </p:sp>
    </p:spTree>
    <p:extLst>
      <p:ext uri="{BB962C8B-B14F-4D97-AF65-F5344CB8AC3E}">
        <p14:creationId xmlns:p14="http://schemas.microsoft.com/office/powerpoint/2010/main" val="35815088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  <p:bldP spid="8" grpId="0" animBg="1"/>
      <p:bldP spid="12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Actually…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Compute confusion matrix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39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306462"/>
            <a:ext cx="7643192" cy="64633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confusion_matrix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(data_2016['Western Europe'],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nb.predict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test_data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999656" y="3864597"/>
            <a:ext cx="3744416" cy="646331"/>
            <a:chOff x="4427984" y="2204864"/>
            <a:chExt cx="3744416" cy="646331"/>
          </a:xfrm>
        </p:grpSpPr>
        <p:sp>
          <p:nvSpPr>
            <p:cNvPr id="7" name="TextBox 6"/>
            <p:cNvSpPr txBox="1"/>
            <p:nvPr/>
          </p:nvSpPr>
          <p:spPr>
            <a:xfrm>
              <a:off x="5148064" y="2204864"/>
              <a:ext cx="3024336" cy="646331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array([[132,   4],</a:t>
              </a:r>
            </a:p>
            <a:p>
              <a:r>
                <a:rPr lang="en-US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       [ 17,   4]])</a:t>
              </a:r>
              <a:endParaRPr lang="fr-FR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8" name="Straight Arrow Connector 7"/>
            <p:cNvCxnSpPr/>
            <p:nvPr/>
          </p:nvCxnSpPr>
          <p:spPr>
            <a:xfrm>
              <a:off x="4427984" y="2409040"/>
              <a:ext cx="432048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" name="Group 8"/>
          <p:cNvGrpSpPr/>
          <p:nvPr/>
        </p:nvGrpSpPr>
        <p:grpSpPr>
          <a:xfrm>
            <a:off x="3647054" y="4437113"/>
            <a:ext cx="2095445" cy="808585"/>
            <a:chOff x="4683375" y="2934749"/>
            <a:chExt cx="2095445" cy="808585"/>
          </a:xfrm>
        </p:grpSpPr>
        <p:sp>
          <p:nvSpPr>
            <p:cNvPr id="12" name="TextBox 11"/>
            <p:cNvSpPr txBox="1"/>
            <p:nvPr/>
          </p:nvSpPr>
          <p:spPr>
            <a:xfrm>
              <a:off x="4683375" y="3281669"/>
              <a:ext cx="2095445" cy="461665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solidFill>
                    <a:srgbClr val="C00000"/>
                  </a:solidFill>
                </a:rPr>
                <a:t>false negatives</a:t>
              </a:r>
            </a:p>
          </p:txBody>
        </p:sp>
        <p:cxnSp>
          <p:nvCxnSpPr>
            <p:cNvPr id="11" name="Straight Arrow Connector 10"/>
            <p:cNvCxnSpPr>
              <a:stCxn id="12" idx="0"/>
            </p:cNvCxnSpPr>
            <p:nvPr/>
          </p:nvCxnSpPr>
          <p:spPr>
            <a:xfrm flipV="1">
              <a:off x="5731098" y="2934749"/>
              <a:ext cx="392681" cy="346920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/>
          <p:cNvGrpSpPr/>
          <p:nvPr/>
        </p:nvGrpSpPr>
        <p:grpSpPr>
          <a:xfrm>
            <a:off x="6168009" y="3111352"/>
            <a:ext cx="2152898" cy="809629"/>
            <a:chOff x="4467352" y="3413609"/>
            <a:chExt cx="2152898" cy="809629"/>
          </a:xfrm>
        </p:grpSpPr>
        <p:sp>
          <p:nvSpPr>
            <p:cNvPr id="15" name="TextBox 14"/>
            <p:cNvSpPr txBox="1"/>
            <p:nvPr/>
          </p:nvSpPr>
          <p:spPr>
            <a:xfrm>
              <a:off x="4611367" y="3413609"/>
              <a:ext cx="2008883" cy="461665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solidFill>
                    <a:srgbClr val="C00000"/>
                  </a:solidFill>
                </a:rPr>
                <a:t>false positives</a:t>
              </a:r>
            </a:p>
          </p:txBody>
        </p:sp>
        <p:cxnSp>
          <p:nvCxnSpPr>
            <p:cNvPr id="16" name="Straight Arrow Connector 15"/>
            <p:cNvCxnSpPr>
              <a:stCxn id="15" idx="2"/>
            </p:cNvCxnSpPr>
            <p:nvPr/>
          </p:nvCxnSpPr>
          <p:spPr>
            <a:xfrm flipH="1">
              <a:off x="4467352" y="3875274"/>
              <a:ext cx="1148457" cy="347964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" name="TextBox 18"/>
          <p:cNvSpPr txBox="1"/>
          <p:nvPr/>
        </p:nvSpPr>
        <p:spPr>
          <a:xfrm>
            <a:off x="2523806" y="5537873"/>
            <a:ext cx="7454285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Massive exit from Western Europe: </a:t>
            </a:r>
            <a:r>
              <a:rPr lang="en-US" sz="2400" i="1" dirty="0"/>
              <a:t>17</a:t>
            </a:r>
            <a:r>
              <a:rPr lang="en-US" sz="2400" dirty="0"/>
              <a:t> countries just left!</a:t>
            </a:r>
          </a:p>
        </p:txBody>
      </p:sp>
    </p:spTree>
    <p:extLst>
      <p:ext uri="{BB962C8B-B14F-4D97-AF65-F5344CB8AC3E}">
        <p14:creationId xmlns:p14="http://schemas.microsoft.com/office/powerpoint/2010/main" val="5116116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19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set properties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40</a:t>
            </a:fld>
            <a:endParaRPr lang="nl-B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7472" y="1829148"/>
            <a:ext cx="8963025" cy="4048125"/>
          </a:xfrm>
          <a:prstGeom prst="rect">
            <a:avLst/>
          </a:prstGeom>
        </p:spPr>
      </p:pic>
      <p:grpSp>
        <p:nvGrpSpPr>
          <p:cNvPr id="10" name="Group 9"/>
          <p:cNvGrpSpPr/>
          <p:nvPr/>
        </p:nvGrpSpPr>
        <p:grpSpPr>
          <a:xfrm>
            <a:off x="9336361" y="491080"/>
            <a:ext cx="2531618" cy="5014798"/>
            <a:chOff x="7740352" y="502434"/>
            <a:chExt cx="2531618" cy="5014798"/>
          </a:xfrm>
        </p:grpSpPr>
        <p:sp>
          <p:nvSpPr>
            <p:cNvPr id="5" name="Oval 4"/>
            <p:cNvSpPr/>
            <p:nvPr/>
          </p:nvSpPr>
          <p:spPr>
            <a:xfrm>
              <a:off x="7740352" y="3068960"/>
              <a:ext cx="1224136" cy="2448272"/>
            </a:xfrm>
            <a:prstGeom prst="ellipse">
              <a:avLst/>
            </a:prstGeom>
            <a:solidFill>
              <a:srgbClr val="C00000">
                <a:alpha val="39000"/>
              </a:srgbClr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7936073" y="502434"/>
              <a:ext cx="2335897" cy="830997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C00000"/>
                  </a:solidFill>
                </a:rPr>
                <a:t>small class,</a:t>
              </a:r>
              <a:br>
                <a:rPr lang="en-US" sz="2400" dirty="0">
                  <a:solidFill>
                    <a:srgbClr val="C00000"/>
                  </a:solidFill>
                </a:rPr>
              </a:br>
              <a:r>
                <a:rPr lang="en-US" sz="2400" dirty="0">
                  <a:solidFill>
                    <a:srgbClr val="C00000"/>
                  </a:solidFill>
                </a:rPr>
                <a:t>many detractors</a:t>
              </a:r>
            </a:p>
          </p:txBody>
        </p:sp>
        <p:cxnSp>
          <p:nvCxnSpPr>
            <p:cNvPr id="8" name="Straight Arrow Connector 7"/>
            <p:cNvCxnSpPr>
              <a:cxnSpLocks/>
              <a:stCxn id="6" idx="2"/>
              <a:endCxn id="5" idx="0"/>
            </p:cNvCxnSpPr>
            <p:nvPr/>
          </p:nvCxnSpPr>
          <p:spPr>
            <a:xfrm flipH="1">
              <a:off x="8352420" y="1333431"/>
              <a:ext cx="751602" cy="1735529"/>
            </a:xfrm>
            <a:prstGeom prst="straightConnector1">
              <a:avLst/>
            </a:prstGeom>
            <a:ln w="2540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769214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Task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Given</a:t>
            </a:r>
          </a:p>
          <a:p>
            <a:pPr lvl="1"/>
            <a:r>
              <a:rPr lang="en-US" dirty="0"/>
              <a:t>economy</a:t>
            </a:r>
          </a:p>
          <a:p>
            <a:pPr lvl="1"/>
            <a:r>
              <a:rPr lang="en-US" dirty="0"/>
              <a:t>family</a:t>
            </a:r>
          </a:p>
          <a:p>
            <a:pPr lvl="1"/>
            <a:r>
              <a:rPr lang="en-US" dirty="0"/>
              <a:t>health</a:t>
            </a:r>
          </a:p>
          <a:p>
            <a:pPr lvl="1"/>
            <a:r>
              <a:rPr lang="en-US" dirty="0"/>
              <a:t>freedom</a:t>
            </a:r>
          </a:p>
          <a:p>
            <a:pPr lvl="1"/>
            <a:r>
              <a:rPr lang="en-US" dirty="0"/>
              <a:t>trust</a:t>
            </a:r>
          </a:p>
          <a:p>
            <a:pPr lvl="1"/>
            <a:r>
              <a:rPr lang="en-US" dirty="0"/>
              <a:t>generosity</a:t>
            </a:r>
          </a:p>
          <a:p>
            <a:pPr lvl="1"/>
            <a:r>
              <a:rPr lang="en-US" dirty="0"/>
              <a:t>dystopia residual</a:t>
            </a:r>
          </a:p>
          <a:p>
            <a:r>
              <a:rPr lang="en-US" dirty="0"/>
              <a:t>Find countries that are</a:t>
            </a:r>
            <a:br>
              <a:rPr lang="en-US" dirty="0"/>
            </a:br>
            <a:r>
              <a:rPr lang="en-US" dirty="0"/>
              <a:t>"close"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41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7090591" y="3105834"/>
            <a:ext cx="2135521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3600" dirty="0"/>
              <a:t>Clustering</a:t>
            </a:r>
          </a:p>
        </p:txBody>
      </p:sp>
    </p:spTree>
    <p:extLst>
      <p:ext uri="{BB962C8B-B14F-4D97-AF65-F5344CB8AC3E}">
        <p14:creationId xmlns:p14="http://schemas.microsoft.com/office/powerpoint/2010/main" val="24241483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DCD5DB-A70A-45CF-ADEB-509F8AC69A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k</a:t>
            </a:r>
            <a:r>
              <a:rPr lang="en-US" dirty="0"/>
              <a:t>-means algorithm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573016-ADF7-4568-BB2D-37877DA8A4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Start with </a:t>
            </a:r>
            <a:r>
              <a:rPr lang="en-US" i="1" dirty="0"/>
              <a:t>k</a:t>
            </a:r>
            <a:r>
              <a:rPr lang="en-US" dirty="0"/>
              <a:t> means, i.e., seed points</a:t>
            </a:r>
          </a:p>
          <a:p>
            <a:r>
              <a:rPr lang="en-US" dirty="0"/>
              <a:t>Repeat</a:t>
            </a:r>
          </a:p>
          <a:p>
            <a:pPr lvl="1"/>
            <a:r>
              <a:rPr lang="en-US" dirty="0"/>
              <a:t>Assign data points to nearest mean value</a:t>
            </a:r>
          </a:p>
          <a:p>
            <a:pPr lvl="1"/>
            <a:r>
              <a:rPr lang="en-US" dirty="0"/>
              <a:t>Update by recomputing mean values</a:t>
            </a:r>
          </a:p>
          <a:p>
            <a:r>
              <a:rPr lang="en-US" dirty="0"/>
              <a:t>Stop when no more change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64ABAB90-0090-40C6-AD91-83FE5B46927D}"/>
              </a:ext>
            </a:extLst>
          </p:cNvPr>
          <p:cNvSpPr/>
          <p:nvPr/>
        </p:nvSpPr>
        <p:spPr>
          <a:xfrm>
            <a:off x="1673524" y="5565039"/>
            <a:ext cx="112144" cy="11214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78807375-78E1-4DE3-802E-9278F86ED5AA}"/>
              </a:ext>
            </a:extLst>
          </p:cNvPr>
          <p:cNvSpPr/>
          <p:nvPr/>
        </p:nvSpPr>
        <p:spPr>
          <a:xfrm>
            <a:off x="2093343" y="5234359"/>
            <a:ext cx="112144" cy="11214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DF0E7D7F-776D-4685-BC2C-6440DFB4BFA9}"/>
              </a:ext>
            </a:extLst>
          </p:cNvPr>
          <p:cNvSpPr/>
          <p:nvPr/>
        </p:nvSpPr>
        <p:spPr>
          <a:xfrm>
            <a:off x="1860429" y="5164015"/>
            <a:ext cx="112144" cy="11214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BF0D5A5A-07B0-432B-B439-A2A9B24C70A9}"/>
              </a:ext>
            </a:extLst>
          </p:cNvPr>
          <p:cNvSpPr/>
          <p:nvPr/>
        </p:nvSpPr>
        <p:spPr>
          <a:xfrm>
            <a:off x="2280248" y="4833335"/>
            <a:ext cx="112144" cy="11214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7DF249FA-77A0-4D67-A495-683C8D5F2B15}"/>
              </a:ext>
            </a:extLst>
          </p:cNvPr>
          <p:cNvSpPr/>
          <p:nvPr/>
        </p:nvSpPr>
        <p:spPr>
          <a:xfrm>
            <a:off x="1440610" y="4838638"/>
            <a:ext cx="112144" cy="11214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C5441D6-14E8-40E5-8CB4-AAFA0FEC3DD9}"/>
              </a:ext>
            </a:extLst>
          </p:cNvPr>
          <p:cNvSpPr/>
          <p:nvPr/>
        </p:nvSpPr>
        <p:spPr>
          <a:xfrm>
            <a:off x="1860429" y="4507958"/>
            <a:ext cx="112144" cy="11214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85A363C4-DBEE-4F9C-93DB-04173865409F}"/>
              </a:ext>
            </a:extLst>
          </p:cNvPr>
          <p:cNvSpPr/>
          <p:nvPr/>
        </p:nvSpPr>
        <p:spPr>
          <a:xfrm>
            <a:off x="1627515" y="4437614"/>
            <a:ext cx="112144" cy="11214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7BD05471-7783-4A9F-A894-8ABAAD8B80CA}"/>
              </a:ext>
            </a:extLst>
          </p:cNvPr>
          <p:cNvSpPr/>
          <p:nvPr/>
        </p:nvSpPr>
        <p:spPr>
          <a:xfrm>
            <a:off x="3199680" y="4965054"/>
            <a:ext cx="112144" cy="11214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98970D66-F137-4C23-BFE6-7082EEFA410A}"/>
              </a:ext>
            </a:extLst>
          </p:cNvPr>
          <p:cNvSpPr/>
          <p:nvPr/>
        </p:nvSpPr>
        <p:spPr>
          <a:xfrm>
            <a:off x="2966766" y="4894710"/>
            <a:ext cx="112144" cy="11214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126386DF-17A5-4512-AAB9-082A3C9C208B}"/>
              </a:ext>
            </a:extLst>
          </p:cNvPr>
          <p:cNvSpPr/>
          <p:nvPr/>
        </p:nvSpPr>
        <p:spPr>
          <a:xfrm>
            <a:off x="3386585" y="4564030"/>
            <a:ext cx="112144" cy="11214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07BD2673-E7FA-4083-9CBA-43C87232E5E0}"/>
              </a:ext>
            </a:extLst>
          </p:cNvPr>
          <p:cNvSpPr/>
          <p:nvPr/>
        </p:nvSpPr>
        <p:spPr>
          <a:xfrm>
            <a:off x="2546947" y="4569333"/>
            <a:ext cx="112144" cy="11214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EDF24314-9BFE-4D45-B814-A79AE7560C55}"/>
              </a:ext>
            </a:extLst>
          </p:cNvPr>
          <p:cNvSpPr/>
          <p:nvPr/>
        </p:nvSpPr>
        <p:spPr>
          <a:xfrm>
            <a:off x="3069205" y="6064819"/>
            <a:ext cx="112144" cy="11214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10146861-D941-4283-9E28-85C7E0A25F60}"/>
              </a:ext>
            </a:extLst>
          </p:cNvPr>
          <p:cNvSpPr/>
          <p:nvPr/>
        </p:nvSpPr>
        <p:spPr>
          <a:xfrm>
            <a:off x="2836291" y="5994475"/>
            <a:ext cx="112144" cy="11214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DDBF9288-3654-4537-A9DE-5974F54DD771}"/>
              </a:ext>
            </a:extLst>
          </p:cNvPr>
          <p:cNvSpPr/>
          <p:nvPr/>
        </p:nvSpPr>
        <p:spPr>
          <a:xfrm>
            <a:off x="3256110" y="5663795"/>
            <a:ext cx="112144" cy="11214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7FBA41F1-B11E-4A0D-BD9B-D6CDAC5BBAF5}"/>
              </a:ext>
            </a:extLst>
          </p:cNvPr>
          <p:cNvSpPr/>
          <p:nvPr/>
        </p:nvSpPr>
        <p:spPr>
          <a:xfrm>
            <a:off x="2416472" y="5669098"/>
            <a:ext cx="112144" cy="11214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86A7E8D1-722A-43A2-B367-586A3343656A}"/>
              </a:ext>
            </a:extLst>
          </p:cNvPr>
          <p:cNvGrpSpPr/>
          <p:nvPr/>
        </p:nvGrpSpPr>
        <p:grpSpPr>
          <a:xfrm>
            <a:off x="2026487" y="4739537"/>
            <a:ext cx="865876" cy="924258"/>
            <a:chOff x="2026487" y="4739537"/>
            <a:chExt cx="865876" cy="924258"/>
          </a:xfrm>
        </p:grpSpPr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2A46C4CD-2F24-4B12-A8B5-E70B057A364F}"/>
                </a:ext>
              </a:extLst>
            </p:cNvPr>
            <p:cNvSpPr/>
            <p:nvPr/>
          </p:nvSpPr>
          <p:spPr>
            <a:xfrm>
              <a:off x="2780219" y="4739537"/>
              <a:ext cx="112144" cy="112144"/>
            </a:xfrm>
            <a:prstGeom prst="ellipse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50EC95E8-A57E-4F60-93BD-E168226B3604}"/>
                </a:ext>
              </a:extLst>
            </p:cNvPr>
            <p:cNvSpPr/>
            <p:nvPr/>
          </p:nvSpPr>
          <p:spPr>
            <a:xfrm>
              <a:off x="2026487" y="5551651"/>
              <a:ext cx="112144" cy="112144"/>
            </a:xfrm>
            <a:prstGeom prst="ellipse">
              <a:avLst/>
            </a:prstGeom>
            <a:solidFill>
              <a:srgbClr val="C0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340C1596-551C-4789-9033-7B7A78773497}"/>
              </a:ext>
            </a:extLst>
          </p:cNvPr>
          <p:cNvCxnSpPr>
            <a:cxnSpLocks/>
          </p:cNvCxnSpPr>
          <p:nvPr/>
        </p:nvCxnSpPr>
        <p:spPr>
          <a:xfrm>
            <a:off x="1420660" y="4373021"/>
            <a:ext cx="2103767" cy="1756391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6" name="Group 45">
            <a:extLst>
              <a:ext uri="{FF2B5EF4-FFF2-40B4-BE49-F238E27FC236}">
                <a16:creationId xmlns:a16="http://schemas.microsoft.com/office/drawing/2014/main" id="{FF88E294-D119-426B-BAC1-2F6D3FDA48D6}"/>
              </a:ext>
            </a:extLst>
          </p:cNvPr>
          <p:cNvGrpSpPr/>
          <p:nvPr/>
        </p:nvGrpSpPr>
        <p:grpSpPr>
          <a:xfrm>
            <a:off x="4537492" y="4446135"/>
            <a:ext cx="2058119" cy="1739349"/>
            <a:chOff x="4537492" y="4446135"/>
            <a:chExt cx="2058119" cy="1739349"/>
          </a:xfrm>
        </p:grpSpPr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A656DCFE-954A-42CD-88B2-160B4B724358}"/>
                </a:ext>
              </a:extLst>
            </p:cNvPr>
            <p:cNvSpPr/>
            <p:nvPr/>
          </p:nvSpPr>
          <p:spPr>
            <a:xfrm>
              <a:off x="4770406" y="5573560"/>
              <a:ext cx="112144" cy="112144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466F170B-C61D-4D83-B357-8EAD4E6C8027}"/>
                </a:ext>
              </a:extLst>
            </p:cNvPr>
            <p:cNvSpPr/>
            <p:nvPr/>
          </p:nvSpPr>
          <p:spPr>
            <a:xfrm>
              <a:off x="5190225" y="5242880"/>
              <a:ext cx="112144" cy="112144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19F9CD2C-5B27-4955-A8D8-62312AB38E69}"/>
                </a:ext>
              </a:extLst>
            </p:cNvPr>
            <p:cNvSpPr/>
            <p:nvPr/>
          </p:nvSpPr>
          <p:spPr>
            <a:xfrm>
              <a:off x="4957311" y="5172536"/>
              <a:ext cx="112144" cy="112144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D8A7439D-DF4C-4658-9F7E-34734BDAF6D1}"/>
                </a:ext>
              </a:extLst>
            </p:cNvPr>
            <p:cNvSpPr/>
            <p:nvPr/>
          </p:nvSpPr>
          <p:spPr>
            <a:xfrm>
              <a:off x="5377130" y="4841856"/>
              <a:ext cx="112144" cy="112144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483381DD-A000-4C81-A7DD-F9D381AE4F27}"/>
                </a:ext>
              </a:extLst>
            </p:cNvPr>
            <p:cNvSpPr/>
            <p:nvPr/>
          </p:nvSpPr>
          <p:spPr>
            <a:xfrm>
              <a:off x="4537492" y="4847159"/>
              <a:ext cx="112144" cy="112144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4549B238-19F8-4660-A4BC-282BE6519848}"/>
                </a:ext>
              </a:extLst>
            </p:cNvPr>
            <p:cNvSpPr/>
            <p:nvPr/>
          </p:nvSpPr>
          <p:spPr>
            <a:xfrm>
              <a:off x="4957311" y="4516479"/>
              <a:ext cx="112144" cy="112144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99482B91-983A-4D21-AAF4-626CBA24A074}"/>
                </a:ext>
              </a:extLst>
            </p:cNvPr>
            <p:cNvSpPr/>
            <p:nvPr/>
          </p:nvSpPr>
          <p:spPr>
            <a:xfrm>
              <a:off x="4724397" y="4446135"/>
              <a:ext cx="112144" cy="112144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6ED5F556-8607-42A5-B693-C78E9A2E61D0}"/>
                </a:ext>
              </a:extLst>
            </p:cNvPr>
            <p:cNvSpPr/>
            <p:nvPr/>
          </p:nvSpPr>
          <p:spPr>
            <a:xfrm>
              <a:off x="6296562" y="4973575"/>
              <a:ext cx="112144" cy="112144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CC56BFF0-992B-476A-84A3-4FF74350DEB1}"/>
                </a:ext>
              </a:extLst>
            </p:cNvPr>
            <p:cNvSpPr/>
            <p:nvPr/>
          </p:nvSpPr>
          <p:spPr>
            <a:xfrm>
              <a:off x="6063648" y="4903231"/>
              <a:ext cx="112144" cy="112144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Oval 32">
              <a:extLst>
                <a:ext uri="{FF2B5EF4-FFF2-40B4-BE49-F238E27FC236}">
                  <a16:creationId xmlns:a16="http://schemas.microsoft.com/office/drawing/2014/main" id="{B988091F-F2BA-4DFB-88AB-B011310DD76F}"/>
                </a:ext>
              </a:extLst>
            </p:cNvPr>
            <p:cNvSpPr/>
            <p:nvPr/>
          </p:nvSpPr>
          <p:spPr>
            <a:xfrm>
              <a:off x="6483467" y="4572551"/>
              <a:ext cx="112144" cy="112144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3B99775D-EAA1-43FB-82D1-A73E576598F2}"/>
                </a:ext>
              </a:extLst>
            </p:cNvPr>
            <p:cNvSpPr/>
            <p:nvPr/>
          </p:nvSpPr>
          <p:spPr>
            <a:xfrm>
              <a:off x="5643829" y="4577854"/>
              <a:ext cx="112144" cy="112144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EDF42238-4A86-47F1-992F-61BBD2AB2822}"/>
                </a:ext>
              </a:extLst>
            </p:cNvPr>
            <p:cNvSpPr/>
            <p:nvPr/>
          </p:nvSpPr>
          <p:spPr>
            <a:xfrm>
              <a:off x="6166087" y="6073340"/>
              <a:ext cx="112144" cy="112144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D9D5AF75-8AF4-40D2-86B4-0364E76885C0}"/>
                </a:ext>
              </a:extLst>
            </p:cNvPr>
            <p:cNvSpPr/>
            <p:nvPr/>
          </p:nvSpPr>
          <p:spPr>
            <a:xfrm>
              <a:off x="5933173" y="6002996"/>
              <a:ext cx="112144" cy="112144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0F89453C-ECA4-4875-AF05-EDBD7C5B2402}"/>
                </a:ext>
              </a:extLst>
            </p:cNvPr>
            <p:cNvSpPr/>
            <p:nvPr/>
          </p:nvSpPr>
          <p:spPr>
            <a:xfrm>
              <a:off x="6352992" y="5672316"/>
              <a:ext cx="112144" cy="112144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216EA3BA-26E8-4045-9285-DF4686185EA8}"/>
                </a:ext>
              </a:extLst>
            </p:cNvPr>
            <p:cNvSpPr/>
            <p:nvPr/>
          </p:nvSpPr>
          <p:spPr>
            <a:xfrm>
              <a:off x="5513354" y="5677619"/>
              <a:ext cx="112144" cy="112144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29A946F3-CF69-4863-A6D7-B3E74743F92A}"/>
              </a:ext>
            </a:extLst>
          </p:cNvPr>
          <p:cNvGrpSpPr/>
          <p:nvPr/>
        </p:nvGrpSpPr>
        <p:grpSpPr>
          <a:xfrm>
            <a:off x="5346213" y="4749613"/>
            <a:ext cx="464031" cy="914182"/>
            <a:chOff x="5346213" y="4749613"/>
            <a:chExt cx="464031" cy="914182"/>
          </a:xfrm>
        </p:grpSpPr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718D3996-359C-4B09-B44C-4F9A6EF0A5A7}"/>
                </a:ext>
              </a:extLst>
            </p:cNvPr>
            <p:cNvSpPr/>
            <p:nvPr/>
          </p:nvSpPr>
          <p:spPr>
            <a:xfrm>
              <a:off x="5698100" y="4749613"/>
              <a:ext cx="112144" cy="112144"/>
            </a:xfrm>
            <a:prstGeom prst="ellipse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68A2B85F-D16B-48C3-BB93-9839919DCC47}"/>
                </a:ext>
              </a:extLst>
            </p:cNvPr>
            <p:cNvSpPr/>
            <p:nvPr/>
          </p:nvSpPr>
          <p:spPr>
            <a:xfrm>
              <a:off x="5346213" y="5551651"/>
              <a:ext cx="112144" cy="112144"/>
            </a:xfrm>
            <a:prstGeom prst="ellipse">
              <a:avLst/>
            </a:prstGeom>
            <a:solidFill>
              <a:srgbClr val="C0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8D99978E-4343-4482-9DDE-843968AEE5F3}"/>
              </a:ext>
            </a:extLst>
          </p:cNvPr>
          <p:cNvCxnSpPr>
            <a:cxnSpLocks/>
          </p:cNvCxnSpPr>
          <p:nvPr/>
        </p:nvCxnSpPr>
        <p:spPr>
          <a:xfrm>
            <a:off x="4362089" y="4620102"/>
            <a:ext cx="2495911" cy="1164358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08095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Data preparation &amp; Training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Data preprocessing same as task 2</a:t>
            </a:r>
          </a:p>
          <a:p>
            <a:r>
              <a:rPr lang="en-US" dirty="0"/>
              <a:t>Create learning algorithm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Train</a:t>
            </a:r>
          </a:p>
          <a:p>
            <a:endParaRPr lang="en-US" dirty="0"/>
          </a:p>
          <a:p>
            <a:r>
              <a:rPr lang="en-US" dirty="0"/>
              <a:t>Add cluster label to data set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43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773310"/>
            <a:ext cx="8075240" cy="64633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sklearn.cluster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KMeans</a:t>
            </a:r>
            <a:endParaRPr lang="fr-FR" dirty="0">
              <a:latin typeface="Courier New" pitchFamily="49" charset="0"/>
              <a:cs typeface="Courier New" pitchFamily="49" charset="0"/>
            </a:endParaRPr>
          </a:p>
          <a:p>
            <a:r>
              <a:rPr lang="fr-FR" dirty="0" err="1">
                <a:latin typeface="Courier New" pitchFamily="49" charset="0"/>
                <a:cs typeface="Courier New" pitchFamily="49" charset="0"/>
              </a:rPr>
              <a:t>k_means</a:t>
            </a:r>
            <a:r>
              <a:rPr lang="fr-FR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fr-FR" dirty="0" err="1">
                <a:latin typeface="Courier New" pitchFamily="49" charset="0"/>
                <a:cs typeface="Courier New" pitchFamily="49" charset="0"/>
              </a:rPr>
              <a:t>KMeans</a:t>
            </a:r>
            <a:r>
              <a:rPr lang="fr-FR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dirty="0" err="1">
                <a:latin typeface="Courier New" pitchFamily="49" charset="0"/>
                <a:cs typeface="Courier New" pitchFamily="49" charset="0"/>
              </a:rPr>
              <a:t>n_clusters</a:t>
            </a:r>
            <a:r>
              <a:rPr lang="fr-FR" dirty="0">
                <a:latin typeface="Courier New" pitchFamily="49" charset="0"/>
                <a:cs typeface="Courier New" pitchFamily="49" charset="0"/>
              </a:rPr>
              <a:t>=3)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81200" y="3863266"/>
            <a:ext cx="8075240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k_means.</a:t>
            </a:r>
            <a:r>
              <a:rPr lang="en-US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fit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prepared_data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6163733" y="3148379"/>
            <a:ext cx="3438459" cy="461665"/>
            <a:chOff x="4058507" y="3281669"/>
            <a:chExt cx="3438459" cy="461665"/>
          </a:xfrm>
        </p:grpSpPr>
        <p:sp>
          <p:nvSpPr>
            <p:cNvPr id="16" name="TextBox 15"/>
            <p:cNvSpPr txBox="1"/>
            <p:nvPr/>
          </p:nvSpPr>
          <p:spPr>
            <a:xfrm>
              <a:off x="4683375" y="3281669"/>
              <a:ext cx="2813591" cy="461665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How many clusters?</a:t>
              </a:r>
            </a:p>
          </p:txBody>
        </p:sp>
        <p:cxnSp>
          <p:nvCxnSpPr>
            <p:cNvPr id="17" name="Straight Arrow Connector 16"/>
            <p:cNvCxnSpPr>
              <a:cxnSpLocks/>
              <a:stCxn id="16" idx="1"/>
            </p:cNvCxnSpPr>
            <p:nvPr/>
          </p:nvCxnSpPr>
          <p:spPr>
            <a:xfrm flipH="1" flipV="1">
              <a:off x="4058507" y="3441618"/>
              <a:ext cx="624868" cy="7088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" name="TextBox 17"/>
          <p:cNvSpPr txBox="1"/>
          <p:nvPr/>
        </p:nvSpPr>
        <p:spPr>
          <a:xfrm>
            <a:off x="1981200" y="4879425"/>
            <a:ext cx="8075240" cy="92333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data_2015['Cluster'] = 0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for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in range(3):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data_2015.loc[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clusterer.labels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_ ==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'Cluster']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45359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animBg="1"/>
      <p:bldP spid="6" grpId="0" animBg="1"/>
      <p:bldP spid="18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Examine clusters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44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1981200" y="1259468"/>
            <a:ext cx="8075240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data_2015.boxplot(by='Cluster', column=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num_attr_names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553"/>
          <a:stretch/>
        </p:blipFill>
        <p:spPr>
          <a:xfrm>
            <a:off x="2166573" y="1700809"/>
            <a:ext cx="6010308" cy="4683536"/>
          </a:xfrm>
          <a:prstGeom prst="rect">
            <a:avLst/>
          </a:prstGeom>
        </p:spPr>
      </p:pic>
      <p:grpSp>
        <p:nvGrpSpPr>
          <p:cNvPr id="9" name="Group 8"/>
          <p:cNvGrpSpPr/>
          <p:nvPr/>
        </p:nvGrpSpPr>
        <p:grpSpPr>
          <a:xfrm>
            <a:off x="4405912" y="4660421"/>
            <a:ext cx="7415602" cy="1199923"/>
            <a:chOff x="1044830" y="5638568"/>
            <a:chExt cx="7415602" cy="1199923"/>
          </a:xfrm>
        </p:grpSpPr>
        <p:sp>
          <p:nvSpPr>
            <p:cNvPr id="7" name="TextBox 6"/>
            <p:cNvSpPr txBox="1"/>
            <p:nvPr/>
          </p:nvSpPr>
          <p:spPr>
            <a:xfrm>
              <a:off x="1044830" y="6238529"/>
              <a:ext cx="6135087" cy="369332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/>
                <a:t>data_2015.loc[:, ('Cluster', 'Country')].</a:t>
              </a:r>
              <a:r>
                <a:rPr lang="en-US" dirty="0" err="1"/>
                <a:t>groupby</a:t>
              </a:r>
              <a:r>
                <a:rPr lang="en-US" dirty="0"/>
                <a:t>('Cluster').count()</a:t>
              </a:r>
            </a:p>
          </p:txBody>
        </p:sp>
        <p:pic>
          <p:nvPicPr>
            <p:cNvPr id="8" name="Picture 7"/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314009" y="5638568"/>
              <a:ext cx="1146423" cy="119992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6915663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And the winners are…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>
            <a:normAutofit fontScale="47500" lnSpcReduction="20000"/>
          </a:bodyPr>
          <a:lstStyle/>
          <a:p>
            <a:r>
              <a:rPr lang="en-US" dirty="0"/>
              <a:t>Switzerland</a:t>
            </a:r>
          </a:p>
          <a:p>
            <a:r>
              <a:rPr lang="en-US" dirty="0"/>
              <a:t>Iceland</a:t>
            </a:r>
          </a:p>
          <a:p>
            <a:r>
              <a:rPr lang="en-US" dirty="0"/>
              <a:t>Denmark</a:t>
            </a:r>
          </a:p>
          <a:p>
            <a:r>
              <a:rPr lang="en-US" dirty="0"/>
              <a:t>Norway</a:t>
            </a:r>
          </a:p>
          <a:p>
            <a:r>
              <a:rPr lang="en-US" dirty="0"/>
              <a:t>Canada</a:t>
            </a:r>
          </a:p>
          <a:p>
            <a:r>
              <a:rPr lang="en-US" dirty="0"/>
              <a:t>Finland</a:t>
            </a:r>
          </a:p>
          <a:p>
            <a:r>
              <a:rPr lang="en-US" dirty="0"/>
              <a:t>Netherlands</a:t>
            </a:r>
          </a:p>
          <a:p>
            <a:r>
              <a:rPr lang="en-US" dirty="0"/>
              <a:t>Sweden</a:t>
            </a:r>
          </a:p>
          <a:p>
            <a:r>
              <a:rPr lang="en-US" dirty="0"/>
              <a:t>New Zealand</a:t>
            </a:r>
          </a:p>
          <a:p>
            <a:r>
              <a:rPr lang="en-US" dirty="0"/>
              <a:t>Australia</a:t>
            </a:r>
          </a:p>
          <a:p>
            <a:r>
              <a:rPr lang="en-US" dirty="0"/>
              <a:t>Austria</a:t>
            </a:r>
          </a:p>
          <a:p>
            <a:r>
              <a:rPr lang="en-US" dirty="0"/>
              <a:t>United States</a:t>
            </a:r>
          </a:p>
          <a:p>
            <a:r>
              <a:rPr lang="en-US" dirty="0"/>
              <a:t>Luxembourg</a:t>
            </a:r>
          </a:p>
          <a:p>
            <a:r>
              <a:rPr lang="en-US" dirty="0"/>
              <a:t>Ireland</a:t>
            </a:r>
          </a:p>
          <a:p>
            <a:r>
              <a:rPr lang="en-US" dirty="0"/>
              <a:t>Belgium</a:t>
            </a:r>
          </a:p>
          <a:p>
            <a:r>
              <a:rPr lang="en-US" dirty="0"/>
              <a:t>United Arab Emirates</a:t>
            </a:r>
          </a:p>
          <a:p>
            <a:endParaRPr lang="en-US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rmAutofit fontScale="47500" lnSpcReduction="20000"/>
          </a:bodyPr>
          <a:lstStyle/>
          <a:p>
            <a:r>
              <a:rPr lang="en-US" dirty="0"/>
              <a:t>United Kingdom</a:t>
            </a:r>
          </a:p>
          <a:p>
            <a:r>
              <a:rPr lang="en-US" dirty="0"/>
              <a:t>Oman</a:t>
            </a:r>
          </a:p>
          <a:p>
            <a:r>
              <a:rPr lang="en-US" dirty="0"/>
              <a:t>Singapore</a:t>
            </a:r>
          </a:p>
          <a:p>
            <a:r>
              <a:rPr lang="en-US" dirty="0"/>
              <a:t>Germany</a:t>
            </a:r>
          </a:p>
          <a:p>
            <a:r>
              <a:rPr lang="en-US" dirty="0"/>
              <a:t>Qatar</a:t>
            </a:r>
          </a:p>
          <a:p>
            <a:r>
              <a:rPr lang="en-US" dirty="0"/>
              <a:t>France</a:t>
            </a:r>
          </a:p>
          <a:p>
            <a:r>
              <a:rPr lang="en-US" dirty="0"/>
              <a:t>Uruguay</a:t>
            </a:r>
          </a:p>
          <a:p>
            <a:r>
              <a:rPr lang="en-US" dirty="0"/>
              <a:t>Saudi Arabia</a:t>
            </a:r>
          </a:p>
          <a:p>
            <a:r>
              <a:rPr lang="en-US" dirty="0"/>
              <a:t>Malta</a:t>
            </a:r>
          </a:p>
          <a:p>
            <a:r>
              <a:rPr lang="en-US" dirty="0"/>
              <a:t>Kuwait</a:t>
            </a:r>
          </a:p>
          <a:p>
            <a:r>
              <a:rPr lang="en-US" dirty="0"/>
              <a:t>Uzbekistan</a:t>
            </a:r>
          </a:p>
          <a:p>
            <a:r>
              <a:rPr lang="en-US" dirty="0"/>
              <a:t>Japan</a:t>
            </a:r>
          </a:p>
          <a:p>
            <a:r>
              <a:rPr lang="en-US" dirty="0"/>
              <a:t>Bahrain</a:t>
            </a:r>
          </a:p>
          <a:p>
            <a:r>
              <a:rPr lang="en-US" dirty="0"/>
              <a:t>Turkmenistan</a:t>
            </a:r>
          </a:p>
          <a:p>
            <a:r>
              <a:rPr lang="en-US" dirty="0"/>
              <a:t>Hong Kong</a:t>
            </a:r>
          </a:p>
          <a:p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27184517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Keras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GB" sz="1800" dirty="0">
                <a:hlinkClick r:id="rId2"/>
              </a:rPr>
              <a:t>https://github.com/gjbex/Python-for-machine-learning/tree/master/source-code/keras</a:t>
            </a:r>
            <a:r>
              <a:rPr lang="en-GB" sz="1800" dirty="0"/>
              <a:t> </a:t>
            </a:r>
            <a:endParaRPr lang="en-US" sz="2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25877937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Keras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High-level framework for deep learning</a:t>
            </a:r>
          </a:p>
          <a:p>
            <a:r>
              <a:rPr lang="en-US" dirty="0"/>
              <a:t>Interface within TensorFlow package</a:t>
            </a:r>
          </a:p>
          <a:p>
            <a:r>
              <a:rPr lang="en-US" dirty="0"/>
              <a:t>Layer types</a:t>
            </a:r>
          </a:p>
          <a:p>
            <a:pPr lvl="1"/>
            <a:r>
              <a:rPr lang="en-US" dirty="0"/>
              <a:t>dense</a:t>
            </a:r>
          </a:p>
          <a:p>
            <a:pPr lvl="1"/>
            <a:r>
              <a:rPr lang="en-US" dirty="0"/>
              <a:t>convolutional</a:t>
            </a:r>
          </a:p>
          <a:p>
            <a:pPr lvl="1"/>
            <a:r>
              <a:rPr lang="en-US" dirty="0"/>
              <a:t>pooling</a:t>
            </a:r>
          </a:p>
          <a:p>
            <a:pPr lvl="1"/>
            <a:r>
              <a:rPr lang="en-US" dirty="0"/>
              <a:t>embedding</a:t>
            </a:r>
          </a:p>
          <a:p>
            <a:pPr lvl="1"/>
            <a:r>
              <a:rPr lang="en-US" dirty="0"/>
              <a:t>recurrent</a:t>
            </a:r>
          </a:p>
          <a:p>
            <a:pPr lvl="1"/>
            <a:r>
              <a:rPr lang="en-US" dirty="0"/>
              <a:t>activation</a:t>
            </a:r>
          </a:p>
          <a:p>
            <a:pPr lvl="1"/>
            <a:r>
              <a:rPr lang="en-US" dirty="0"/>
              <a:t>…</a:t>
            </a:r>
          </a:p>
          <a:p>
            <a:r>
              <a:rPr lang="en-US" dirty="0">
                <a:hlinkClick r:id="rId2"/>
              </a:rPr>
              <a:t>https://keras.io/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47</a:t>
            </a:fld>
            <a:endParaRPr lang="nl-BE"/>
          </a:p>
        </p:txBody>
      </p:sp>
      <p:pic>
        <p:nvPicPr>
          <p:cNvPr id="5122" name="Picture 2" descr="https://s3.amazonaws.com/keras.io/img/keras-logo-2018-large-1200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60351" y="4721289"/>
            <a:ext cx="3037535" cy="8808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AutoShape 4" descr="TensorFlow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5130" name="Picture 10" descr="Image result for tensorflow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51239" y="2617942"/>
            <a:ext cx="2479910" cy="21135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537629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From neurons to ANNs</a:t>
            </a:r>
            <a:endParaRPr lang="en-US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2448-FEEC-49E8-9588-2DF1F90D57C2}" type="slidenum">
              <a:rPr lang="en-US" smtClean="0"/>
              <a:t>48</a:t>
            </a:fld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659" t="19303" b="14515"/>
          <a:stretch/>
        </p:blipFill>
        <p:spPr>
          <a:xfrm>
            <a:off x="1032388" y="1490114"/>
            <a:ext cx="5046196" cy="2123984"/>
          </a:xfrm>
          <a:prstGeom prst="rect">
            <a:avLst/>
          </a:prstGeom>
        </p:spPr>
      </p:pic>
      <p:pic>
        <p:nvPicPr>
          <p:cNvPr id="10244" name="Picture 4" descr="http://www.zerobio.com/central/actionpotential.jp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30611" y="631625"/>
            <a:ext cx="3445504" cy="35386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5" name="Group 4"/>
          <p:cNvGrpSpPr/>
          <p:nvPr/>
        </p:nvGrpSpPr>
        <p:grpSpPr>
          <a:xfrm>
            <a:off x="5289131" y="4559778"/>
            <a:ext cx="6308338" cy="1623882"/>
            <a:chOff x="5289131" y="4559778"/>
            <a:chExt cx="6308338" cy="162388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255" name="TextBox 10254"/>
                <p:cNvSpPr txBox="1"/>
                <p:nvPr/>
              </p:nvSpPr>
              <p:spPr>
                <a:xfrm>
                  <a:off x="5289131" y="4694923"/>
                  <a:ext cx="2375266" cy="62235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BE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BE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B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  <m:d>
                          <m:dPr>
                            <m:ctrlPr>
                              <a:rPr lang="en-B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nary>
                              <m:naryPr>
                                <m:chr m:val="∑"/>
                                <m:limLoc m:val="subSup"/>
                                <m:ctrlPr>
                                  <a:rPr lang="en-BE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m:rPr>
                                    <m:brk m:alnAt="25"/>
                                  </m:rPr>
                                  <a:rPr lang="en-BE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BE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=1</m:t>
                                </m:r>
                              </m:sub>
                              <m:sup>
                                <m:r>
                                  <a:rPr lang="en-BE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𝑁</m:t>
                                </m:r>
                              </m:sup>
                              <m:e>
                                <m:sSub>
                                  <m:sSubPr>
                                    <m:ctrlPr>
                                      <a:rPr lang="en-BE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BE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en-BE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BE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BE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BE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BE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BE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</m:nary>
                          </m:e>
                        </m:d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0255" name="TextBox 1025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89131" y="4694923"/>
                  <a:ext cx="2375266" cy="62235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0263" name="Group 10262"/>
            <p:cNvGrpSpPr/>
            <p:nvPr/>
          </p:nvGrpSpPr>
          <p:grpSpPr>
            <a:xfrm>
              <a:off x="7897567" y="4559778"/>
              <a:ext cx="3699902" cy="1623882"/>
              <a:chOff x="7897567" y="4559778"/>
              <a:chExt cx="3699902" cy="1623882"/>
            </a:xfrm>
          </p:grpSpPr>
          <p:grpSp>
            <p:nvGrpSpPr>
              <p:cNvPr id="10260" name="Group 10259"/>
              <p:cNvGrpSpPr/>
              <p:nvPr/>
            </p:nvGrpSpPr>
            <p:grpSpPr>
              <a:xfrm>
                <a:off x="7897567" y="4559778"/>
                <a:ext cx="2439634" cy="1623882"/>
                <a:chOff x="9663687" y="4449852"/>
                <a:chExt cx="2439634" cy="1623882"/>
              </a:xfrm>
            </p:grpSpPr>
            <p:pic>
              <p:nvPicPr>
                <p:cNvPr id="10257" name="Picture 6" descr="Image result for sigmoid function"/>
                <p:cNvPicPr>
                  <a:picLocks noChangeAspect="1" noChangeArrowheads="1"/>
                </p:cNvPicPr>
                <p:nvPr/>
              </p:nvPicPr>
              <p:blipFill>
                <a:blip r:embed="rId5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9663687" y="4449852"/>
                  <a:ext cx="2439634" cy="1623882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258" name="TextBox 10257"/>
                    <p:cNvSpPr txBox="1"/>
                    <p:nvPr/>
                  </p:nvSpPr>
                  <p:spPr>
                    <a:xfrm>
                      <a:off x="11716106" y="5570997"/>
                      <a:ext cx="197746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BE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10258" name="TextBox 10257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1716106" y="5570997"/>
                      <a:ext cx="197746" cy="276999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 l="-12121" r="-9091" b="-2222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259" name="TextBox 10258"/>
                    <p:cNvSpPr txBox="1"/>
                    <p:nvPr/>
                  </p:nvSpPr>
                  <p:spPr>
                    <a:xfrm>
                      <a:off x="10216977" y="4565104"/>
                      <a:ext cx="529632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𝜎</m:t>
                            </m:r>
                            <m:d>
                              <m:dPr>
                                <m:ctrlPr>
                                  <a:rPr lang="en-US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BE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d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10259" name="TextBox 10258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0216977" y="4565104"/>
                      <a:ext cx="529632" cy="276999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 l="-4598" b="-2222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10262" name="TextBox 10261"/>
              <p:cNvSpPr txBox="1"/>
              <p:nvPr/>
            </p:nvSpPr>
            <p:spPr>
              <a:xfrm>
                <a:off x="9537290" y="5065667"/>
                <a:ext cx="20601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BE" dirty="0"/>
                  <a:t>activation function</a:t>
                </a:r>
                <a:endParaRPr lang="en-US" dirty="0"/>
              </a:p>
            </p:txBody>
          </p:sp>
        </p:grpSp>
      </p:grpSp>
      <p:grpSp>
        <p:nvGrpSpPr>
          <p:cNvPr id="4" name="Group 3"/>
          <p:cNvGrpSpPr/>
          <p:nvPr/>
        </p:nvGrpSpPr>
        <p:grpSpPr>
          <a:xfrm>
            <a:off x="1446566" y="3696117"/>
            <a:ext cx="3453156" cy="2645681"/>
            <a:chOff x="1446566" y="3696117"/>
            <a:chExt cx="3453156" cy="2645681"/>
          </a:xfrm>
        </p:grpSpPr>
        <p:grpSp>
          <p:nvGrpSpPr>
            <p:cNvPr id="10271" name="Group 10270"/>
            <p:cNvGrpSpPr/>
            <p:nvPr/>
          </p:nvGrpSpPr>
          <p:grpSpPr>
            <a:xfrm>
              <a:off x="1446566" y="4026939"/>
              <a:ext cx="2258759" cy="2314859"/>
              <a:chOff x="1446566" y="4026939"/>
              <a:chExt cx="2258759" cy="2314859"/>
            </a:xfrm>
          </p:grpSpPr>
          <p:grpSp>
            <p:nvGrpSpPr>
              <p:cNvPr id="10261" name="Group 10260"/>
              <p:cNvGrpSpPr/>
              <p:nvPr/>
            </p:nvGrpSpPr>
            <p:grpSpPr>
              <a:xfrm>
                <a:off x="1446566" y="4026939"/>
                <a:ext cx="2258759" cy="2314859"/>
                <a:chOff x="1446566" y="4026939"/>
                <a:chExt cx="2258759" cy="2314859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246" name="TextBox 10245"/>
                    <p:cNvSpPr txBox="1"/>
                    <p:nvPr/>
                  </p:nvSpPr>
                  <p:spPr>
                    <a:xfrm>
                      <a:off x="1875231" y="4154424"/>
                      <a:ext cx="331565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BE" b="0" i="1" smtClean="0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BE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10246" name="TextBox 10245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875231" y="4154424"/>
                      <a:ext cx="331565" cy="276999"/>
                    </a:xfrm>
                    <a:prstGeom prst="rect">
                      <a:avLst/>
                    </a:prstGeom>
                    <a:blipFill>
                      <a:blip r:embed="rId8"/>
                      <a:stretch>
                        <a:fillRect l="-7407" r="-5556" b="-17778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9" name="TextBox 38"/>
                    <p:cNvSpPr txBox="1"/>
                    <p:nvPr/>
                  </p:nvSpPr>
                  <p:spPr>
                    <a:xfrm>
                      <a:off x="1876455" y="4559778"/>
                      <a:ext cx="336887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BE" b="0" i="1" smtClean="0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BE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39" name="TextBox 38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876455" y="4559778"/>
                      <a:ext cx="336887" cy="276999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 l="-7273" r="-5455" b="-17778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1" name="TextBox 40"/>
                    <p:cNvSpPr txBox="1"/>
                    <p:nvPr/>
                  </p:nvSpPr>
                  <p:spPr>
                    <a:xfrm>
                      <a:off x="1886287" y="4935354"/>
                      <a:ext cx="336887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BE" b="0" i="1" smtClean="0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BE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41" name="TextBox 40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886287" y="4935354"/>
                      <a:ext cx="336887" cy="276999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 l="-7143" r="-5357" b="-17778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2" name="TextBox 41"/>
                    <p:cNvSpPr txBox="1"/>
                    <p:nvPr/>
                  </p:nvSpPr>
                  <p:spPr>
                    <a:xfrm>
                      <a:off x="1886286" y="5803267"/>
                      <a:ext cx="369652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BE" b="0" i="1" smtClean="0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BE" b="0" i="1" smtClean="0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42" name="TextBox 41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886286" y="5803267"/>
                      <a:ext cx="369652" cy="276999"/>
                    </a:xfrm>
                    <a:prstGeom prst="rect">
                      <a:avLst/>
                    </a:prstGeom>
                    <a:blipFill>
                      <a:blip r:embed="rId11"/>
                      <a:stretch>
                        <a:fillRect l="-6557" r="-4918" b="-17778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7" name="TextBox 46"/>
                    <p:cNvSpPr txBox="1"/>
                    <p:nvPr/>
                  </p:nvSpPr>
                  <p:spPr>
                    <a:xfrm>
                      <a:off x="1488494" y="4026939"/>
                      <a:ext cx="225959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BE" sz="1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BE" sz="1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47" name="TextBox 46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488494" y="4026939"/>
                      <a:ext cx="225959" cy="215444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 l="-8108" b="-17143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8" name="TextBox 47"/>
                    <p:cNvSpPr txBox="1"/>
                    <p:nvPr/>
                  </p:nvSpPr>
                  <p:spPr>
                    <a:xfrm>
                      <a:off x="1480142" y="4617960"/>
                      <a:ext cx="230128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BE" sz="1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BE" sz="1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48" name="TextBox 47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480142" y="4617960"/>
                      <a:ext cx="230128" cy="215444"/>
                    </a:xfrm>
                    <a:prstGeom prst="rect">
                      <a:avLst/>
                    </a:prstGeom>
                    <a:blipFill>
                      <a:blip r:embed="rId13"/>
                      <a:stretch>
                        <a:fillRect l="-10526" b="-17143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9" name="TextBox 48"/>
                    <p:cNvSpPr txBox="1"/>
                    <p:nvPr/>
                  </p:nvSpPr>
                  <p:spPr>
                    <a:xfrm>
                      <a:off x="1480142" y="5208868"/>
                      <a:ext cx="230128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BE" sz="1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BE" sz="14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49" name="TextBox 48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480142" y="5208868"/>
                      <a:ext cx="230128" cy="215444"/>
                    </a:xfrm>
                    <a:prstGeom prst="rect">
                      <a:avLst/>
                    </a:prstGeom>
                    <a:blipFill>
                      <a:blip r:embed="rId14"/>
                      <a:stretch>
                        <a:fillRect l="-10526" b="-13889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50" name="TextBox 49"/>
                    <p:cNvSpPr txBox="1"/>
                    <p:nvPr/>
                  </p:nvSpPr>
                  <p:spPr>
                    <a:xfrm>
                      <a:off x="1462233" y="6063828"/>
                      <a:ext cx="257250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BE" sz="1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BE" sz="1400" b="0" i="1" smtClean="0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50" name="TextBox 49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462233" y="6063828"/>
                      <a:ext cx="257250" cy="215444"/>
                    </a:xfrm>
                    <a:prstGeom prst="rect">
                      <a:avLst/>
                    </a:prstGeom>
                    <a:blipFill>
                      <a:blip r:embed="rId15"/>
                      <a:stretch>
                        <a:fillRect l="-9524" b="-17143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grpSp>
              <p:nvGrpSpPr>
                <p:cNvPr id="10256" name="Group 10255"/>
                <p:cNvGrpSpPr/>
                <p:nvPr/>
              </p:nvGrpSpPr>
              <p:grpSpPr>
                <a:xfrm>
                  <a:off x="1446566" y="4037516"/>
                  <a:ext cx="2258759" cy="2304282"/>
                  <a:chOff x="1446566" y="4037516"/>
                  <a:chExt cx="2258759" cy="2304282"/>
                </a:xfrm>
              </p:grpSpPr>
              <p:grpSp>
                <p:nvGrpSpPr>
                  <p:cNvPr id="10249" name="Group 10248"/>
                  <p:cNvGrpSpPr/>
                  <p:nvPr/>
                </p:nvGrpSpPr>
                <p:grpSpPr>
                  <a:xfrm>
                    <a:off x="1446566" y="4037516"/>
                    <a:ext cx="2258759" cy="2304282"/>
                    <a:chOff x="1446566" y="4037516"/>
                    <a:chExt cx="2258759" cy="2304282"/>
                  </a:xfrm>
                </p:grpSpPr>
                <p:cxnSp>
                  <p:nvCxnSpPr>
                    <p:cNvPr id="11" name="Straight Connector 10"/>
                    <p:cNvCxnSpPr>
                      <a:stCxn id="12" idx="5"/>
                      <a:endCxn id="16" idx="2"/>
                    </p:cNvCxnSpPr>
                    <p:nvPr/>
                  </p:nvCxnSpPr>
                  <p:spPr>
                    <a:xfrm>
                      <a:off x="1673160" y="4264110"/>
                      <a:ext cx="987689" cy="801558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  <a:tailEnd type="stealth" w="lg" len="me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0" name="Straight Connector 19"/>
                    <p:cNvCxnSpPr>
                      <a:stCxn id="13" idx="6"/>
                      <a:endCxn id="16" idx="2"/>
                    </p:cNvCxnSpPr>
                    <p:nvPr/>
                  </p:nvCxnSpPr>
                  <p:spPr>
                    <a:xfrm>
                      <a:off x="1712037" y="4764645"/>
                      <a:ext cx="948812" cy="301023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  <a:tailEnd type="stealth" w="lg" len="me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12" name="Oval 11"/>
                    <p:cNvSpPr/>
                    <p:nvPr/>
                  </p:nvSpPr>
                  <p:spPr>
                    <a:xfrm>
                      <a:off x="1446566" y="4037516"/>
                      <a:ext cx="265471" cy="265471"/>
                    </a:xfrm>
                    <a:prstGeom prst="ellipse">
                      <a:avLst/>
                    </a:prstGeom>
                    <a:noFill/>
                    <a:ln>
                      <a:solidFill>
                        <a:schemeClr val="accent5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3" name="Oval 12"/>
                    <p:cNvSpPr/>
                    <p:nvPr/>
                  </p:nvSpPr>
                  <p:spPr>
                    <a:xfrm>
                      <a:off x="1446566" y="4631909"/>
                      <a:ext cx="265471" cy="265471"/>
                    </a:xfrm>
                    <a:prstGeom prst="ellipse">
                      <a:avLst/>
                    </a:prstGeom>
                    <a:noFill/>
                    <a:ln>
                      <a:solidFill>
                        <a:schemeClr val="accent5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4" name="Oval 13"/>
                    <p:cNvSpPr/>
                    <p:nvPr/>
                  </p:nvSpPr>
                  <p:spPr>
                    <a:xfrm>
                      <a:off x="1446566" y="5226302"/>
                      <a:ext cx="265471" cy="265471"/>
                    </a:xfrm>
                    <a:prstGeom prst="ellipse">
                      <a:avLst/>
                    </a:prstGeom>
                    <a:noFill/>
                    <a:ln>
                      <a:solidFill>
                        <a:schemeClr val="accent5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5" name="Oval 14"/>
                    <p:cNvSpPr/>
                    <p:nvPr/>
                  </p:nvSpPr>
                  <p:spPr>
                    <a:xfrm>
                      <a:off x="1446566" y="6076327"/>
                      <a:ext cx="265471" cy="265471"/>
                    </a:xfrm>
                    <a:prstGeom prst="ellipse">
                      <a:avLst/>
                    </a:prstGeom>
                    <a:noFill/>
                    <a:ln>
                      <a:solidFill>
                        <a:schemeClr val="accent5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6" name="Oval 15"/>
                    <p:cNvSpPr/>
                    <p:nvPr/>
                  </p:nvSpPr>
                  <p:spPr>
                    <a:xfrm>
                      <a:off x="2660849" y="4932932"/>
                      <a:ext cx="265471" cy="265471"/>
                    </a:xfrm>
                    <a:prstGeom prst="ellipse">
                      <a:avLst/>
                    </a:prstGeom>
                    <a:noFill/>
                    <a:ln>
                      <a:solidFill>
                        <a:schemeClr val="accent5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cxnSp>
                  <p:nvCxnSpPr>
                    <p:cNvPr id="22" name="Straight Connector 21"/>
                    <p:cNvCxnSpPr>
                      <a:stCxn id="14" idx="6"/>
                      <a:endCxn id="16" idx="2"/>
                    </p:cNvCxnSpPr>
                    <p:nvPr/>
                  </p:nvCxnSpPr>
                  <p:spPr>
                    <a:xfrm flipV="1">
                      <a:off x="1712037" y="5065668"/>
                      <a:ext cx="948812" cy="29337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  <a:tailEnd type="stealth" w="lg" len="me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4" name="Straight Connector 23"/>
                    <p:cNvCxnSpPr>
                      <a:stCxn id="15" idx="7"/>
                      <a:endCxn id="16" idx="2"/>
                    </p:cNvCxnSpPr>
                    <p:nvPr/>
                  </p:nvCxnSpPr>
                  <p:spPr>
                    <a:xfrm flipV="1">
                      <a:off x="1673160" y="5065668"/>
                      <a:ext cx="987689" cy="1049536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  <a:tailEnd type="stealth" w="lg" len="me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240" name="Straight Connector 10239"/>
                    <p:cNvCxnSpPr>
                      <a:stCxn id="16" idx="6"/>
                    </p:cNvCxnSpPr>
                    <p:nvPr/>
                  </p:nvCxnSpPr>
                  <p:spPr>
                    <a:xfrm>
                      <a:off x="2926320" y="5065668"/>
                      <a:ext cx="779005" cy="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  <a:tailEnd type="stealth" w="lg" len="me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10247" name="TextBox 10246"/>
                    <p:cNvSpPr txBox="1"/>
                    <p:nvPr/>
                  </p:nvSpPr>
                  <p:spPr>
                    <a:xfrm rot="5400000">
                      <a:off x="1515905" y="5599846"/>
                      <a:ext cx="314510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BE" dirty="0"/>
                        <a:t>...</a:t>
                      </a:r>
                      <a:endParaRPr lang="en-US" dirty="0"/>
                    </a:p>
                  </p:txBody>
                </p:sp>
              </p:grpSp>
              <p:sp>
                <p:nvSpPr>
                  <p:cNvPr id="51" name="Oval 50"/>
                  <p:cNvSpPr/>
                  <p:nvPr/>
                </p:nvSpPr>
                <p:spPr>
                  <a:xfrm>
                    <a:off x="2287274" y="5519041"/>
                    <a:ext cx="265471" cy="265471"/>
                  </a:xfrm>
                  <a:prstGeom prst="ellipse">
                    <a:avLst/>
                  </a:prstGeom>
                  <a:noFill/>
                  <a:ln>
                    <a:solidFill>
                      <a:schemeClr val="accent5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cxnSp>
                <p:nvCxnSpPr>
                  <p:cNvPr id="10251" name="Straight Connector 10250"/>
                  <p:cNvCxnSpPr>
                    <a:stCxn id="51" idx="7"/>
                    <a:endCxn id="16" idx="3"/>
                  </p:cNvCxnSpPr>
                  <p:nvPr/>
                </p:nvCxnSpPr>
                <p:spPr>
                  <a:xfrm flipV="1">
                    <a:off x="2513868" y="5159526"/>
                    <a:ext cx="185858" cy="398392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  <a:tailEnd type="stealth" w="lg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56" name="TextBox 55"/>
                    <p:cNvSpPr txBox="1"/>
                    <p:nvPr/>
                  </p:nvSpPr>
                  <p:spPr>
                    <a:xfrm>
                      <a:off x="2644836" y="5282738"/>
                      <a:ext cx="197425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BE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56" name="TextBox 55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644836" y="5282738"/>
                      <a:ext cx="197425" cy="276999"/>
                    </a:xfrm>
                    <a:prstGeom prst="rect">
                      <a:avLst/>
                    </a:prstGeom>
                    <a:blipFill>
                      <a:blip r:embed="rId16"/>
                      <a:stretch>
                        <a:fillRect l="-25000" r="-25000" b="-11111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57" name="TextBox 56"/>
                    <p:cNvSpPr txBox="1"/>
                    <p:nvPr/>
                  </p:nvSpPr>
                  <p:spPr>
                    <a:xfrm>
                      <a:off x="3363995" y="4739087"/>
                      <a:ext cx="201145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BE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57" name="TextBox 56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363995" y="4739087"/>
                      <a:ext cx="201145" cy="276999"/>
                    </a:xfrm>
                    <a:prstGeom prst="rect">
                      <a:avLst/>
                    </a:prstGeom>
                    <a:blipFill>
                      <a:blip r:embed="rId17"/>
                      <a:stretch>
                        <a:fillRect l="-24242" r="-24242" b="-2608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8" name="TextBox 67"/>
                  <p:cNvSpPr txBox="1"/>
                  <p:nvPr/>
                </p:nvSpPr>
                <p:spPr>
                  <a:xfrm>
                    <a:off x="2284398" y="5548052"/>
                    <a:ext cx="286938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BE" sz="140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BE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68" name="TextBox 67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84398" y="5548052"/>
                    <a:ext cx="286938" cy="215444"/>
                  </a:xfrm>
                  <a:prstGeom prst="rect">
                    <a:avLst/>
                  </a:prstGeom>
                  <a:blipFill>
                    <a:blip r:embed="rId18"/>
                    <a:stretch>
                      <a:fillRect l="-12766" r="-10638" b="-1142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34" name="Group 33"/>
            <p:cNvGrpSpPr/>
            <p:nvPr/>
          </p:nvGrpSpPr>
          <p:grpSpPr>
            <a:xfrm>
              <a:off x="3032663" y="3696117"/>
              <a:ext cx="1867059" cy="853772"/>
              <a:chOff x="4911157" y="3696117"/>
              <a:chExt cx="1867059" cy="853772"/>
            </a:xfrm>
          </p:grpSpPr>
          <p:sp>
            <p:nvSpPr>
              <p:cNvPr id="32" name="Down Arrow 31"/>
              <p:cNvSpPr/>
              <p:nvPr/>
            </p:nvSpPr>
            <p:spPr>
              <a:xfrm>
                <a:off x="4911157" y="3696117"/>
                <a:ext cx="567207" cy="853772"/>
              </a:xfrm>
              <a:prstGeom prst="dow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TextBox 32"/>
              <p:cNvSpPr txBox="1"/>
              <p:nvPr/>
            </p:nvSpPr>
            <p:spPr>
              <a:xfrm>
                <a:off x="5530759" y="3820039"/>
                <a:ext cx="1247457" cy="369332"/>
              </a:xfrm>
              <a:prstGeom prst="rect">
                <a:avLst/>
              </a:prstGeom>
            </p:spPr>
            <p:style>
              <a:lnRef idx="1">
                <a:schemeClr val="dk1"/>
              </a:lnRef>
              <a:fillRef idx="3">
                <a:schemeClr val="dk1"/>
              </a:fillRef>
              <a:effectRef idx="2">
                <a:schemeClr val="dk1"/>
              </a:effectRef>
              <a:fontRef idx="minor">
                <a:schemeClr val="lt1"/>
              </a:fontRef>
            </p:style>
            <p:txBody>
              <a:bodyPr wrap="none" rtlCol="0">
                <a:spAutoFit/>
              </a:bodyPr>
              <a:lstStyle/>
              <a:p>
                <a:r>
                  <a:rPr lang="en-BE" dirty="0"/>
                  <a:t>inspiration</a:t>
                </a:r>
                <a:endParaRPr lang="en-US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8325861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Multilayer network</a:t>
            </a:r>
            <a:endParaRPr lang="en-US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2448-FEEC-49E8-9588-2DF1F90D57C2}" type="slidenum">
              <a:rPr lang="en-US" smtClean="0"/>
              <a:t>49</a:t>
            </a:fld>
            <a:endParaRPr lang="en-US"/>
          </a:p>
        </p:txBody>
      </p:sp>
      <p:pic>
        <p:nvPicPr>
          <p:cNvPr id="11266" name="Picture 2" descr="Image result for multilayer neural network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40540" y="1876220"/>
            <a:ext cx="6780059" cy="37216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/>
          <p:cNvSpPr txBox="1"/>
          <p:nvPr/>
        </p:nvSpPr>
        <p:spPr>
          <a:xfrm>
            <a:off x="8579349" y="2723535"/>
            <a:ext cx="3350597" cy="107721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ctr"/>
            <a:r>
              <a:rPr lang="en-BE" sz="3200" dirty="0"/>
              <a:t>How to determine</a:t>
            </a:r>
            <a:br>
              <a:rPr lang="en-BE" sz="3200" dirty="0"/>
            </a:br>
            <a:r>
              <a:rPr lang="en-BE" sz="3200" dirty="0"/>
              <a:t>weights?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20456078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Training: backpropagation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BE" dirty="0"/>
              <a:t>Initialize weights </a:t>
            </a:r>
            <a:r>
              <a:rPr lang="en-US" dirty="0"/>
              <a:t>"</a:t>
            </a:r>
            <a:r>
              <a:rPr lang="en-BE" dirty="0"/>
              <a:t>randomly</a:t>
            </a:r>
            <a:r>
              <a:rPr lang="en-US" dirty="0"/>
              <a:t>"</a:t>
            </a:r>
            <a:endParaRPr lang="en-BE" dirty="0"/>
          </a:p>
          <a:p>
            <a:r>
              <a:rPr lang="en-BE" dirty="0"/>
              <a:t>For all training epochs</a:t>
            </a:r>
          </a:p>
          <a:p>
            <a:pPr lvl="1"/>
            <a:r>
              <a:rPr lang="en-BE" sz="2800" dirty="0"/>
              <a:t>for all input-output in training set</a:t>
            </a:r>
          </a:p>
          <a:p>
            <a:pPr lvl="2"/>
            <a:r>
              <a:rPr lang="en-BE" sz="2800" dirty="0"/>
              <a:t>using input, compute output (forward)</a:t>
            </a:r>
          </a:p>
          <a:p>
            <a:pPr lvl="2"/>
            <a:r>
              <a:rPr lang="en-BE" sz="2800" dirty="0"/>
              <a:t>compare computed output with training output</a:t>
            </a:r>
            <a:r>
              <a:rPr lang="en-US" sz="2800" dirty="0"/>
              <a:t> (loss function)</a:t>
            </a:r>
            <a:endParaRPr lang="en-BE" sz="2800" dirty="0"/>
          </a:p>
          <a:p>
            <a:pPr lvl="2"/>
            <a:r>
              <a:rPr lang="en-BE" sz="2800" dirty="0"/>
              <a:t>adapt weights (backward) to improve output</a:t>
            </a:r>
          </a:p>
          <a:p>
            <a:pPr lvl="1"/>
            <a:r>
              <a:rPr lang="en-BE" sz="3200" dirty="0"/>
              <a:t>if accuracy is good enough, stop</a:t>
            </a:r>
            <a:endParaRPr lang="en-US" sz="3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50</a:t>
            </a:fld>
            <a:endParaRPr lang="nl-BE"/>
          </a:p>
        </p:txBody>
      </p:sp>
      <p:pic>
        <p:nvPicPr>
          <p:cNvPr id="13314" name="Picture 2" descr="Gradient descent stuck at local minima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8238" y="1350713"/>
            <a:ext cx="2467701" cy="18507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757795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Task: handwritten digit recognition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BE" dirty="0"/>
              <a:t>Input data</a:t>
            </a:r>
          </a:p>
          <a:p>
            <a:pPr lvl="1"/>
            <a:r>
              <a:rPr lang="en-BE" dirty="0"/>
              <a:t>grayscale image</a:t>
            </a:r>
          </a:p>
          <a:p>
            <a:r>
              <a:rPr lang="en-BE" dirty="0"/>
              <a:t>Output data</a:t>
            </a:r>
          </a:p>
          <a:p>
            <a:pPr lvl="1"/>
            <a:r>
              <a:rPr lang="en-BE" dirty="0"/>
              <a:t>digit 0, 1, ..., 9</a:t>
            </a:r>
          </a:p>
          <a:p>
            <a:r>
              <a:rPr lang="en-BE" dirty="0"/>
              <a:t>Training examples</a:t>
            </a:r>
          </a:p>
          <a:p>
            <a:r>
              <a:rPr lang="en-BE" dirty="0"/>
              <a:t>Test examples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51</a:t>
            </a:fld>
            <a:endParaRPr lang="nl-BE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5535" y="1972596"/>
            <a:ext cx="4248865" cy="266822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58240" y="5408023"/>
            <a:ext cx="5604419" cy="369332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BE" dirty="0"/>
              <a:t>Explore the data: </a:t>
            </a:r>
            <a:r>
              <a:rPr lang="en-BE" dirty="0">
                <a:latin typeface="Inconsolata" panose="00000509000000000000" pitchFamily="49" charset="0"/>
              </a:rPr>
              <a:t>020_mnist_data_exploration.ipynb</a:t>
            </a:r>
            <a:endParaRPr lang="en-US" dirty="0">
              <a:latin typeface="Inconsolata" panose="00000509000000000000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1653749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First approach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4406915" cy="3811588"/>
          </a:xfrm>
        </p:spPr>
        <p:txBody>
          <a:bodyPr>
            <a:no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BE" sz="2000" dirty="0"/>
              <a:t>Data preprocessing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BE" sz="1800" dirty="0"/>
              <a:t>Input data as 1D array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BE" sz="1800" dirty="0"/>
              <a:t>output data as array with</a:t>
            </a:r>
            <a:br>
              <a:rPr lang="en-BE" sz="1800" dirty="0"/>
            </a:br>
            <a:r>
              <a:rPr lang="en-BE" sz="1800" dirty="0"/>
              <a:t>one-hot encoding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BE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BE" sz="2000" dirty="0"/>
              <a:t>Model: multilayer perceptron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800" dirty="0"/>
              <a:t>784</a:t>
            </a:r>
            <a:r>
              <a:rPr lang="en-BE" sz="1800" dirty="0"/>
              <a:t> inputs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BE" sz="1800" dirty="0"/>
              <a:t>dense hidden layer with 512 units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BE" sz="1800" dirty="0"/>
              <a:t>ReLU activation function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BE" sz="1800" dirty="0"/>
              <a:t>dense layer with 512 units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BE" sz="1800" dirty="0"/>
              <a:t>ReLU activation function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BE" sz="1800" dirty="0"/>
              <a:t>dense layer with 10 units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BE" sz="1800" dirty="0"/>
              <a:t>SoftMax activation function</a:t>
            </a:r>
            <a:endParaRPr lang="en-US" sz="180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5A1C33-475D-474A-A037-DDAF3DC7AF09}" type="slidenum">
              <a:rPr lang="en-US" smtClean="0"/>
              <a:t>52</a:t>
            </a:fld>
            <a:endParaRPr lang="en-US"/>
          </a:p>
        </p:txBody>
      </p:sp>
      <p:pic>
        <p:nvPicPr>
          <p:cNvPr id="6" name="Picture 2" descr="Image result for mnist dataset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75" t="4111" r="3330" b="4774"/>
          <a:stretch/>
        </p:blipFill>
        <p:spPr bwMode="auto">
          <a:xfrm>
            <a:off x="7475958" y="181242"/>
            <a:ext cx="1055788" cy="10433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9" name="Group 8"/>
          <p:cNvGrpSpPr/>
          <p:nvPr/>
        </p:nvGrpSpPr>
        <p:grpSpPr>
          <a:xfrm>
            <a:off x="4275909" y="1341113"/>
            <a:ext cx="7686720" cy="1318567"/>
            <a:chOff x="4275909" y="3762102"/>
            <a:chExt cx="7686720" cy="1318567"/>
          </a:xfrm>
        </p:grpSpPr>
        <p:sp>
          <p:nvSpPr>
            <p:cNvPr id="7" name="TextBox 6"/>
            <p:cNvSpPr txBox="1"/>
            <p:nvPr/>
          </p:nvSpPr>
          <p:spPr>
            <a:xfrm>
              <a:off x="4275909" y="4711337"/>
              <a:ext cx="768672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>
                  <a:latin typeface="Inconsolata" panose="00000509000000000000" pitchFamily="49" charset="0"/>
                </a:rPr>
                <a:t>array([ </a:t>
              </a:r>
              <a:r>
                <a:rPr lang="en-BE" dirty="0">
                  <a:latin typeface="Inconsolata" panose="00000509000000000000" pitchFamily="49" charset="0"/>
                </a:rPr>
                <a:t>0.</a:t>
              </a:r>
              <a:r>
                <a:rPr lang="en-GB" dirty="0">
                  <a:latin typeface="Inconsolata" panose="00000509000000000000" pitchFamily="49" charset="0"/>
                </a:rPr>
                <a:t>0, </a:t>
              </a:r>
              <a:r>
                <a:rPr lang="en-BE" dirty="0">
                  <a:latin typeface="Inconsolata" panose="00000509000000000000" pitchFamily="49" charset="0"/>
                </a:rPr>
                <a:t>0.</a:t>
              </a:r>
              <a:r>
                <a:rPr lang="en-GB" dirty="0">
                  <a:latin typeface="Inconsolata" panose="00000509000000000000" pitchFamily="49" charset="0"/>
                </a:rPr>
                <a:t>0,</a:t>
              </a:r>
              <a:r>
                <a:rPr lang="en-BE" dirty="0">
                  <a:latin typeface="Inconsolata" panose="00000509000000000000" pitchFamily="49" charset="0"/>
                </a:rPr>
                <a:t>...</a:t>
              </a:r>
              <a:r>
                <a:rPr lang="en-GB" dirty="0">
                  <a:latin typeface="Inconsolata" panose="00000509000000000000" pitchFamily="49" charset="0"/>
                </a:rPr>
                <a:t>, </a:t>
              </a:r>
              <a:r>
                <a:rPr lang="en-BE" dirty="0">
                  <a:latin typeface="Inconsolata" panose="00000509000000000000" pitchFamily="49" charset="0"/>
                </a:rPr>
                <a:t>0.951</a:t>
              </a:r>
              <a:r>
                <a:rPr lang="en-GB" dirty="0">
                  <a:latin typeface="Inconsolata" panose="00000509000000000000" pitchFamily="49" charset="0"/>
                </a:rPr>
                <a:t>, </a:t>
              </a:r>
              <a:r>
                <a:rPr lang="en-BE" dirty="0">
                  <a:latin typeface="Inconsolata" panose="00000509000000000000" pitchFamily="49" charset="0"/>
                </a:rPr>
                <a:t>0.533</a:t>
              </a:r>
              <a:r>
                <a:rPr lang="nl-NL" dirty="0">
                  <a:latin typeface="Inconsolata" panose="00000509000000000000" pitchFamily="49" charset="0"/>
                </a:rPr>
                <a:t>,</a:t>
              </a:r>
              <a:r>
                <a:rPr lang="en-BE" dirty="0">
                  <a:latin typeface="Inconsolata" panose="00000509000000000000" pitchFamily="49" charset="0"/>
                </a:rPr>
                <a:t>...,</a:t>
              </a:r>
              <a:r>
                <a:rPr lang="nl-NL" dirty="0">
                  <a:latin typeface="Inconsolata" panose="00000509000000000000" pitchFamily="49" charset="0"/>
                </a:rPr>
                <a:t> </a:t>
              </a:r>
              <a:r>
                <a:rPr lang="en-BE" dirty="0">
                  <a:latin typeface="Inconsolata" panose="00000509000000000000" pitchFamily="49" charset="0"/>
                </a:rPr>
                <a:t>0.</a:t>
              </a:r>
              <a:r>
                <a:rPr lang="nl-NL" dirty="0">
                  <a:latin typeface="Inconsolata" panose="00000509000000000000" pitchFamily="49" charset="0"/>
                </a:rPr>
                <a:t>0, </a:t>
              </a:r>
              <a:r>
                <a:rPr lang="en-BE" dirty="0">
                  <a:latin typeface="Inconsolata" panose="00000509000000000000" pitchFamily="49" charset="0"/>
                </a:rPr>
                <a:t>0.</a:t>
              </a:r>
              <a:r>
                <a:rPr lang="nl-NL" dirty="0">
                  <a:latin typeface="Inconsolata" panose="00000509000000000000" pitchFamily="49" charset="0"/>
                </a:rPr>
                <a:t>0], dtype=</a:t>
              </a:r>
              <a:r>
                <a:rPr lang="en-BE" dirty="0">
                  <a:latin typeface="Inconsolata" panose="00000509000000000000" pitchFamily="49" charset="0"/>
                </a:rPr>
                <a:t>float32</a:t>
              </a:r>
              <a:r>
                <a:rPr lang="nl-NL" dirty="0">
                  <a:latin typeface="Inconsolata" panose="00000509000000000000" pitchFamily="49" charset="0"/>
                </a:rPr>
                <a:t>)</a:t>
              </a:r>
              <a:endParaRPr lang="en-US" dirty="0">
                <a:latin typeface="Inconsolata" panose="00000509000000000000" pitchFamily="49" charset="0"/>
              </a:endParaRPr>
            </a:p>
          </p:txBody>
        </p:sp>
        <p:sp>
          <p:nvSpPr>
            <p:cNvPr id="8" name="Down Arrow 7"/>
            <p:cNvSpPr/>
            <p:nvPr/>
          </p:nvSpPr>
          <p:spPr>
            <a:xfrm>
              <a:off x="7725178" y="3762102"/>
              <a:ext cx="557349" cy="870858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8610940" y="2671377"/>
            <a:ext cx="33054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BE" sz="2400" dirty="0"/>
              <a:t>5</a:t>
            </a:r>
            <a:endParaRPr lang="en-US" sz="2400" dirty="0"/>
          </a:p>
        </p:txBody>
      </p:sp>
      <p:grpSp>
        <p:nvGrpSpPr>
          <p:cNvPr id="13" name="Group 12"/>
          <p:cNvGrpSpPr/>
          <p:nvPr/>
        </p:nvGrpSpPr>
        <p:grpSpPr>
          <a:xfrm>
            <a:off x="5709687" y="3199712"/>
            <a:ext cx="6186309" cy="1295504"/>
            <a:chOff x="4910695" y="3963194"/>
            <a:chExt cx="6186309" cy="1295504"/>
          </a:xfrm>
        </p:grpSpPr>
        <p:sp>
          <p:nvSpPr>
            <p:cNvPr id="11" name="TextBox 10"/>
            <p:cNvSpPr txBox="1"/>
            <p:nvPr/>
          </p:nvSpPr>
          <p:spPr>
            <a:xfrm>
              <a:off x="4910695" y="4889366"/>
              <a:ext cx="618630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>
                  <a:latin typeface="Inconsolata" panose="00000509000000000000" pitchFamily="49" charset="0"/>
                </a:rPr>
                <a:t>array([ 0, 0, </a:t>
              </a:r>
              <a:r>
                <a:rPr lang="en-BE" dirty="0">
                  <a:latin typeface="Inconsolata" panose="00000509000000000000" pitchFamily="49" charset="0"/>
                </a:rPr>
                <a:t>0, 0, 0, 1, 0, 0, 0, 0</a:t>
              </a:r>
              <a:r>
                <a:rPr lang="nl-NL" dirty="0">
                  <a:latin typeface="Inconsolata" panose="00000509000000000000" pitchFamily="49" charset="0"/>
                </a:rPr>
                <a:t>], dtype=uint8)</a:t>
              </a:r>
              <a:endParaRPr lang="en-US" dirty="0">
                <a:latin typeface="Inconsolata" panose="00000509000000000000" pitchFamily="49" charset="0"/>
              </a:endParaRPr>
            </a:p>
          </p:txBody>
        </p:sp>
        <p:sp>
          <p:nvSpPr>
            <p:cNvPr id="12" name="Down Arrow 11"/>
            <p:cNvSpPr/>
            <p:nvPr/>
          </p:nvSpPr>
          <p:spPr>
            <a:xfrm>
              <a:off x="7725176" y="3963194"/>
              <a:ext cx="557349" cy="870858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TextBox 13"/>
          <p:cNvSpPr txBox="1"/>
          <p:nvPr/>
        </p:nvSpPr>
        <p:spPr>
          <a:xfrm>
            <a:off x="5347063" y="4885782"/>
            <a:ext cx="5742278" cy="369332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BE" dirty="0"/>
              <a:t>Activation functions: </a:t>
            </a:r>
            <a:r>
              <a:rPr lang="en-BE" dirty="0">
                <a:latin typeface="Inconsolata" panose="00000509000000000000" pitchFamily="49" charset="0"/>
              </a:rPr>
              <a:t>030_activation_functions.ipynb</a:t>
            </a:r>
            <a:endParaRPr lang="en-US" dirty="0">
              <a:latin typeface="Inconsolata" panose="00000509000000000000" pitchFamily="49" charset="0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347063" y="5480587"/>
            <a:ext cx="4581703" cy="369332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BE" dirty="0"/>
              <a:t>Multilayer perceptron: </a:t>
            </a:r>
            <a:r>
              <a:rPr lang="en-BE" dirty="0">
                <a:latin typeface="Inconsolata" panose="00000509000000000000" pitchFamily="49" charset="0"/>
              </a:rPr>
              <a:t>040_mnist_mlp.ipynb</a:t>
            </a:r>
            <a:endParaRPr lang="en-US" dirty="0">
              <a:latin typeface="Inconsolata" panose="00000509000000000000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031336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4" grpId="0" animBg="1"/>
      <p:bldP spid="15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Deep neural networks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BE" dirty="0"/>
              <a:t>Many layers</a:t>
            </a:r>
          </a:p>
          <a:p>
            <a:r>
              <a:rPr lang="en-BE" dirty="0"/>
              <a:t>Features are </a:t>
            </a:r>
            <a:r>
              <a:rPr lang="en-BE" i="1" dirty="0"/>
              <a:t>learned</a:t>
            </a:r>
            <a:r>
              <a:rPr lang="en-BE" dirty="0"/>
              <a:t>, not given</a:t>
            </a:r>
          </a:p>
          <a:p>
            <a:r>
              <a:rPr lang="en-BE" dirty="0"/>
              <a:t>Low-level features combined into</a:t>
            </a:r>
            <a:br>
              <a:rPr lang="en-BE" dirty="0"/>
            </a:br>
            <a:r>
              <a:rPr lang="en-BE" dirty="0"/>
              <a:t>high-level features</a:t>
            </a:r>
          </a:p>
          <a:p>
            <a:endParaRPr lang="en-BE" dirty="0"/>
          </a:p>
          <a:p>
            <a:r>
              <a:rPr lang="en-BE" dirty="0"/>
              <a:t>Special types of layers</a:t>
            </a:r>
          </a:p>
          <a:p>
            <a:pPr lvl="1"/>
            <a:r>
              <a:rPr lang="en-BE" dirty="0"/>
              <a:t>convolutional</a:t>
            </a:r>
          </a:p>
          <a:p>
            <a:pPr lvl="1"/>
            <a:r>
              <a:rPr lang="en-BE" dirty="0"/>
              <a:t>drop-out</a:t>
            </a:r>
          </a:p>
          <a:p>
            <a:pPr lvl="1"/>
            <a:r>
              <a:rPr lang="en-BE" dirty="0"/>
              <a:t>recurrent</a:t>
            </a:r>
          </a:p>
          <a:p>
            <a:pPr lvl="1"/>
            <a:r>
              <a:rPr lang="en-BE" dirty="0"/>
              <a:t>...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53</a:t>
            </a:fld>
            <a:endParaRPr lang="nl-BE"/>
          </a:p>
        </p:txBody>
      </p:sp>
      <p:pic>
        <p:nvPicPr>
          <p:cNvPr id="14338" name="Picture 2" descr="deep residual networks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79881" y="2480486"/>
            <a:ext cx="5612119" cy="32215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52960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Convolutional neural networks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54</a:t>
            </a:fld>
            <a:endParaRPr lang="nl-BE"/>
          </a:p>
        </p:txBody>
      </p:sp>
      <p:pic>
        <p:nvPicPr>
          <p:cNvPr id="5" name="Picture 2" descr="Image result for mnist dataset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75" t="4111" r="3330" b="4774"/>
          <a:stretch/>
        </p:blipFill>
        <p:spPr bwMode="auto">
          <a:xfrm>
            <a:off x="417127" y="1693435"/>
            <a:ext cx="4493402" cy="44406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5358712" y="2801881"/>
                <a:ext cx="1166794" cy="73257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BE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r>
                                  <a:rPr lang="en-BE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r>
                                  <a:rPr lang="en-BE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r>
                                  <a:rPr lang="en-BE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8712" y="2801881"/>
                <a:ext cx="1166794" cy="73257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73690" y="1693435"/>
            <a:ext cx="4440666" cy="4440666"/>
          </a:xfrm>
          <a:prstGeom prst="rect">
            <a:avLst/>
          </a:prstGeom>
        </p:spPr>
      </p:pic>
      <p:grpSp>
        <p:nvGrpSpPr>
          <p:cNvPr id="11" name="Group 10"/>
          <p:cNvGrpSpPr/>
          <p:nvPr/>
        </p:nvGrpSpPr>
        <p:grpSpPr>
          <a:xfrm>
            <a:off x="417127" y="1735585"/>
            <a:ext cx="6696335" cy="1066296"/>
            <a:chOff x="2497688" y="3924804"/>
            <a:chExt cx="6696335" cy="1066296"/>
          </a:xfrm>
        </p:grpSpPr>
        <p:sp>
          <p:nvSpPr>
            <p:cNvPr id="8" name="Rectangle 7"/>
            <p:cNvSpPr/>
            <p:nvPr/>
          </p:nvSpPr>
          <p:spPr>
            <a:xfrm>
              <a:off x="2497688" y="3924804"/>
              <a:ext cx="1109112" cy="1066296"/>
            </a:xfrm>
            <a:prstGeom prst="rect">
              <a:avLst/>
            </a:prstGeom>
            <a:solidFill>
              <a:schemeClr val="accent1">
                <a:alpha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Curved Down Arrow 8"/>
            <p:cNvSpPr/>
            <p:nvPr/>
          </p:nvSpPr>
          <p:spPr>
            <a:xfrm>
              <a:off x="3052244" y="4051300"/>
              <a:ext cx="6141779" cy="317500"/>
            </a:xfrm>
            <a:prstGeom prst="curvedDownArrow">
              <a:avLst/>
            </a:prstGeom>
            <a:ln w="698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5781218" y="3556000"/>
            <a:ext cx="3626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ym typeface="Symbol" panose="05050102010706020507" pitchFamily="18" charset="2"/>
              </a:rPr>
              <a:t>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75550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26 0.00162 L 0.24597 0.43796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305" y="21806"/>
                                    </p:animMotion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Convolution examples</a:t>
            </a:r>
            <a:endParaRPr lang="en-US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2448-FEEC-49E8-9588-2DF1F90D57C2}" type="slidenum">
              <a:rPr lang="en-US" smtClean="0"/>
              <a:t>55</a:t>
            </a:fld>
            <a:endParaRPr lang="en-US"/>
          </a:p>
        </p:txBody>
      </p:sp>
      <p:grpSp>
        <p:nvGrpSpPr>
          <p:cNvPr id="19" name="Group 18"/>
          <p:cNvGrpSpPr/>
          <p:nvPr/>
        </p:nvGrpSpPr>
        <p:grpSpPr>
          <a:xfrm>
            <a:off x="180800" y="1393991"/>
            <a:ext cx="5422729" cy="1951085"/>
            <a:chOff x="2019996" y="1589307"/>
            <a:chExt cx="5422729" cy="1951085"/>
          </a:xfrm>
        </p:grpSpPr>
        <p:pic>
          <p:nvPicPr>
            <p:cNvPr id="9218" name="Picture 2" descr="Image result for mnist dataset"/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475" t="4111" r="3330" b="4774"/>
            <a:stretch/>
          </p:blipFill>
          <p:spPr bwMode="auto">
            <a:xfrm>
              <a:off x="2019996" y="1706875"/>
              <a:ext cx="1850524" cy="182880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/>
                <p:cNvSpPr txBox="1"/>
                <p:nvPr/>
              </p:nvSpPr>
              <p:spPr>
                <a:xfrm>
                  <a:off x="4149630" y="1589307"/>
                  <a:ext cx="1166794" cy="73257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begChr m:val="["/>
                            <m:endChr m:val="]"/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3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BE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⋯</m:t>
                                  </m:r>
                                </m:e>
                                <m:e>
                                  <m:r>
                                    <a:rPr lang="en-BE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⋮</m:t>
                                  </m:r>
                                </m:e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⋱</m:t>
                                  </m:r>
                                </m:e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⋮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BE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⋯</m:t>
                                  </m:r>
                                </m:e>
                                <m:e>
                                  <m:r>
                                    <a:rPr lang="en-BE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mr>
                            </m:m>
                          </m:e>
                        </m:d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" name="TextBox 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49630" y="1589307"/>
                  <a:ext cx="1166794" cy="732573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7" name="Picture 6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609208" y="1706875"/>
              <a:ext cx="1833517" cy="1833517"/>
            </a:xfrm>
            <a:prstGeom prst="rect">
              <a:avLst/>
            </a:prstGeom>
          </p:spPr>
        </p:pic>
        <p:sp>
          <p:nvSpPr>
            <p:cNvPr id="13" name="Right Arrow 12"/>
            <p:cNvSpPr/>
            <p:nvPr/>
          </p:nvSpPr>
          <p:spPr>
            <a:xfrm>
              <a:off x="4049486" y="2420980"/>
              <a:ext cx="1384663" cy="470263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0" name="Group 19"/>
          <p:cNvGrpSpPr/>
          <p:nvPr/>
        </p:nvGrpSpPr>
        <p:grpSpPr>
          <a:xfrm>
            <a:off x="180800" y="3669229"/>
            <a:ext cx="5416432" cy="1946373"/>
            <a:chOff x="2019996" y="3864545"/>
            <a:chExt cx="5416432" cy="1946373"/>
          </a:xfrm>
        </p:grpSpPr>
        <p:pic>
          <p:nvPicPr>
            <p:cNvPr id="15" name="Picture 2" descr="Image result for mnist dataset"/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475" t="4111" r="3330" b="4774"/>
            <a:stretch/>
          </p:blipFill>
          <p:spPr bwMode="auto">
            <a:xfrm>
              <a:off x="2019996" y="3977401"/>
              <a:ext cx="1850524" cy="182880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/>
                <p:cNvSpPr txBox="1"/>
                <p:nvPr/>
              </p:nvSpPr>
              <p:spPr>
                <a:xfrm>
                  <a:off x="4149630" y="3864545"/>
                  <a:ext cx="1166793" cy="73257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begChr m:val="["/>
                            <m:endChr m:val="]"/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3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BE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⋯</m:t>
                                  </m:r>
                                </m:e>
                                <m:e>
                                  <m:r>
                                    <a:rPr lang="en-BE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⋮</m:t>
                                  </m:r>
                                </m:e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⋱</m:t>
                                  </m:r>
                                </m:e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⋮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BE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⋯</m:t>
                                  </m:r>
                                </m:e>
                                <m:e>
                                  <m:r>
                                    <a:rPr lang="en-BE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mr>
                            </m:m>
                          </m:e>
                        </m:d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6" name="TextBox 1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49630" y="3864545"/>
                  <a:ext cx="1166793" cy="732573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8" name="Right Arrow 17"/>
            <p:cNvSpPr/>
            <p:nvPr/>
          </p:nvSpPr>
          <p:spPr>
            <a:xfrm>
              <a:off x="4049486" y="4696218"/>
              <a:ext cx="1384663" cy="470263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4" name="Picture 13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602911" y="3977401"/>
              <a:ext cx="1833517" cy="1833517"/>
            </a:xfrm>
            <a:prstGeom prst="rect">
              <a:avLst/>
            </a:prstGeom>
          </p:spPr>
        </p:pic>
      </p:grpSp>
      <p:sp>
        <p:nvSpPr>
          <p:cNvPr id="21" name="Oval 20"/>
          <p:cNvSpPr/>
          <p:nvPr/>
        </p:nvSpPr>
        <p:spPr>
          <a:xfrm rot="2696471">
            <a:off x="3919076" y="2109344"/>
            <a:ext cx="1628503" cy="482280"/>
          </a:xfrm>
          <a:prstGeom prst="ellipse">
            <a:avLst/>
          </a:prstGeom>
          <a:solidFill>
            <a:schemeClr val="accent1">
              <a:alpha val="4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221" name="Group 9220"/>
          <p:cNvGrpSpPr/>
          <p:nvPr/>
        </p:nvGrpSpPr>
        <p:grpSpPr>
          <a:xfrm>
            <a:off x="3922039" y="4138829"/>
            <a:ext cx="1656638" cy="1153472"/>
            <a:chOff x="3922039" y="4334145"/>
            <a:chExt cx="1656638" cy="1153472"/>
          </a:xfrm>
        </p:grpSpPr>
        <p:sp>
          <p:nvSpPr>
            <p:cNvPr id="23" name="Oval 22"/>
            <p:cNvSpPr/>
            <p:nvPr/>
          </p:nvSpPr>
          <p:spPr>
            <a:xfrm rot="19547048">
              <a:off x="3922039" y="5005337"/>
              <a:ext cx="1656638" cy="482280"/>
            </a:xfrm>
            <a:prstGeom prst="ellipse">
              <a:avLst/>
            </a:prstGeom>
            <a:solidFill>
              <a:schemeClr val="accent1">
                <a:alpha val="4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Oval 23"/>
            <p:cNvSpPr/>
            <p:nvPr/>
          </p:nvSpPr>
          <p:spPr>
            <a:xfrm rot="19547048">
              <a:off x="4213130" y="4334145"/>
              <a:ext cx="1011307" cy="482280"/>
            </a:xfrm>
            <a:prstGeom prst="ellipse">
              <a:avLst/>
            </a:prstGeom>
            <a:solidFill>
              <a:schemeClr val="accent1">
                <a:alpha val="4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216" name="Group 9215"/>
          <p:cNvGrpSpPr/>
          <p:nvPr/>
        </p:nvGrpSpPr>
        <p:grpSpPr>
          <a:xfrm>
            <a:off x="6460558" y="1389279"/>
            <a:ext cx="5453984" cy="1951085"/>
            <a:chOff x="6512512" y="1570257"/>
            <a:chExt cx="5453984" cy="1951085"/>
          </a:xfrm>
        </p:grpSpPr>
        <p:grpSp>
          <p:nvGrpSpPr>
            <p:cNvPr id="30" name="Group 29"/>
            <p:cNvGrpSpPr/>
            <p:nvPr/>
          </p:nvGrpSpPr>
          <p:grpSpPr>
            <a:xfrm>
              <a:off x="6512512" y="1570257"/>
              <a:ext cx="3427827" cy="1951085"/>
              <a:chOff x="6512512" y="1570257"/>
              <a:chExt cx="3427827" cy="1951085"/>
            </a:xfrm>
          </p:grpSpPr>
          <p:grpSp>
            <p:nvGrpSpPr>
              <p:cNvPr id="25" name="Group 24"/>
              <p:cNvGrpSpPr/>
              <p:nvPr/>
            </p:nvGrpSpPr>
            <p:grpSpPr>
              <a:xfrm>
                <a:off x="8555676" y="1570257"/>
                <a:ext cx="1384663" cy="1301936"/>
                <a:chOff x="4049486" y="1589307"/>
                <a:chExt cx="1384663" cy="1301936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7" name="TextBox 26"/>
                    <p:cNvSpPr txBox="1"/>
                    <p:nvPr/>
                  </p:nvSpPr>
                  <p:spPr>
                    <a:xfrm>
                      <a:off x="4149630" y="1589307"/>
                      <a:ext cx="1166794" cy="732573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d>
                              <m:dPr>
                                <m:begChr m:val="["/>
                                <m:endChr m:val="]"/>
                                <m:ctrlP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3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BE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e>
                                    <m:e>
                                      <m:r>
                                        <a:rPr lang="en-US" i="1" smtClean="0">
                                          <a:latin typeface="Cambria Math" panose="02040503050406030204" pitchFamily="18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r>
                                        <a:rPr lang="en-BE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US" i="1" smtClean="0">
                                          <a:latin typeface="Cambria Math" panose="02040503050406030204" pitchFamily="18" charset="0"/>
                                        </a:rPr>
                                        <m:t>⋮</m:t>
                                      </m:r>
                                    </m:e>
                                    <m:e>
                                      <m:r>
                                        <a:rPr lang="en-US" i="1" smtClean="0">
                                          <a:latin typeface="Cambria Math" panose="02040503050406030204" pitchFamily="18" charset="0"/>
                                        </a:rPr>
                                        <m:t>⋱</m:t>
                                      </m:r>
                                    </m:e>
                                    <m:e>
                                      <m:r>
                                        <a:rPr lang="en-US" i="1" smtClean="0">
                                          <a:latin typeface="Cambria Math" panose="02040503050406030204" pitchFamily="18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BE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a:rPr lang="en-US" i="1" smtClean="0">
                                          <a:latin typeface="Cambria Math" panose="02040503050406030204" pitchFamily="18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r>
                                        <a:rPr lang="en-BE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e>
                                  </m:mr>
                                </m:m>
                              </m:e>
                            </m:d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27" name="TextBox 26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149630" y="1589307"/>
                      <a:ext cx="1166794" cy="732573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29" name="Right Arrow 28"/>
                <p:cNvSpPr/>
                <p:nvPr/>
              </p:nvSpPr>
              <p:spPr>
                <a:xfrm>
                  <a:off x="4049486" y="2420980"/>
                  <a:ext cx="1384663" cy="470263"/>
                </a:xfrm>
                <a:prstGeom prst="rightArrow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pic>
            <p:nvPicPr>
              <p:cNvPr id="22" name="Picture 21"/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6512512" y="1670818"/>
                <a:ext cx="1850524" cy="1850524"/>
              </a:xfrm>
              <a:prstGeom prst="rect">
                <a:avLst/>
              </a:prstGeom>
            </p:spPr>
          </p:pic>
        </p:grpSp>
        <p:pic>
          <p:nvPicPr>
            <p:cNvPr id="31" name="Picture 30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0132979" y="1670818"/>
              <a:ext cx="1833517" cy="1833517"/>
            </a:xfrm>
            <a:prstGeom prst="rect">
              <a:avLst/>
            </a:prstGeom>
          </p:spPr>
        </p:pic>
      </p:grpSp>
      <p:grpSp>
        <p:nvGrpSpPr>
          <p:cNvPr id="9220" name="Group 9219"/>
          <p:cNvGrpSpPr/>
          <p:nvPr/>
        </p:nvGrpSpPr>
        <p:grpSpPr>
          <a:xfrm>
            <a:off x="6460271" y="3647396"/>
            <a:ext cx="5461385" cy="1972918"/>
            <a:chOff x="6460271" y="3842712"/>
            <a:chExt cx="5461385" cy="197291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TextBox 47"/>
                <p:cNvSpPr txBox="1"/>
                <p:nvPr/>
              </p:nvSpPr>
              <p:spPr>
                <a:xfrm>
                  <a:off x="8603867" y="3842712"/>
                  <a:ext cx="1166793" cy="73257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begChr m:val="["/>
                            <m:endChr m:val="]"/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3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BE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⋯</m:t>
                                  </m:r>
                                </m:e>
                                <m:e>
                                  <m:r>
                                    <a:rPr lang="en-BE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⋮</m:t>
                                  </m:r>
                                </m:e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⋱</m:t>
                                  </m:r>
                                </m:e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⋮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BE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⋯</m:t>
                                  </m:r>
                                </m:e>
                                <m:e>
                                  <m:r>
                                    <a:rPr lang="en-BE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mr>
                            </m:m>
                          </m:e>
                        </m:d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8" name="TextBox 4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03867" y="3842712"/>
                  <a:ext cx="1166793" cy="732573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9219" name="Group 9218"/>
            <p:cNvGrpSpPr/>
            <p:nvPr/>
          </p:nvGrpSpPr>
          <p:grpSpPr>
            <a:xfrm>
              <a:off x="6460271" y="3842712"/>
              <a:ext cx="5461385" cy="1972918"/>
              <a:chOff x="6460271" y="3842712"/>
              <a:chExt cx="5461385" cy="1972918"/>
            </a:xfrm>
          </p:grpSpPr>
          <p:grpSp>
            <p:nvGrpSpPr>
              <p:cNvPr id="35" name="Group 34"/>
              <p:cNvGrpSpPr/>
              <p:nvPr/>
            </p:nvGrpSpPr>
            <p:grpSpPr>
              <a:xfrm>
                <a:off x="6460271" y="3965106"/>
                <a:ext cx="3427827" cy="1850524"/>
                <a:chOff x="6512512" y="1670818"/>
                <a:chExt cx="3427827" cy="1850524"/>
              </a:xfrm>
            </p:grpSpPr>
            <p:sp>
              <p:nvSpPr>
                <p:cNvPr id="40" name="Right Arrow 39"/>
                <p:cNvSpPr/>
                <p:nvPr/>
              </p:nvSpPr>
              <p:spPr>
                <a:xfrm>
                  <a:off x="8555676" y="2401930"/>
                  <a:ext cx="1384663" cy="470263"/>
                </a:xfrm>
                <a:prstGeom prst="rightArrow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pic>
              <p:nvPicPr>
                <p:cNvPr id="38" name="Picture 37"/>
                <p:cNvPicPr>
                  <a:picLocks noChangeAspect="1"/>
                </p:cNvPicPr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6512512" y="1670818"/>
                  <a:ext cx="1850524" cy="1850524"/>
                </a:xfrm>
                <a:prstGeom prst="rect">
                  <a:avLst/>
                </a:prstGeom>
              </p:spPr>
            </p:pic>
          </p:grpSp>
          <p:pic>
            <p:nvPicPr>
              <p:cNvPr id="9217" name="Picture 9216"/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10080738" y="3842712"/>
                <a:ext cx="1840918" cy="1840918"/>
              </a:xfrm>
              <a:prstGeom prst="rect">
                <a:avLst/>
              </a:prstGeom>
            </p:spPr>
          </p:pic>
        </p:grpSp>
      </p:grpSp>
      <p:grpSp>
        <p:nvGrpSpPr>
          <p:cNvPr id="9223" name="Group 9222"/>
          <p:cNvGrpSpPr/>
          <p:nvPr/>
        </p:nvGrpSpPr>
        <p:grpSpPr>
          <a:xfrm>
            <a:off x="10454964" y="4209672"/>
            <a:ext cx="1440765" cy="992992"/>
            <a:chOff x="10454964" y="4404988"/>
            <a:chExt cx="1440765" cy="992992"/>
          </a:xfrm>
        </p:grpSpPr>
        <p:sp>
          <p:nvSpPr>
            <p:cNvPr id="52" name="Oval 51"/>
            <p:cNvSpPr/>
            <p:nvPr/>
          </p:nvSpPr>
          <p:spPr>
            <a:xfrm rot="19547048">
              <a:off x="10454964" y="4404988"/>
              <a:ext cx="1440765" cy="482280"/>
            </a:xfrm>
            <a:prstGeom prst="ellipse">
              <a:avLst/>
            </a:prstGeom>
            <a:solidFill>
              <a:schemeClr val="accent1">
                <a:alpha val="4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Oval 52"/>
            <p:cNvSpPr/>
            <p:nvPr/>
          </p:nvSpPr>
          <p:spPr>
            <a:xfrm rot="19547048">
              <a:off x="10493889" y="4915700"/>
              <a:ext cx="1164421" cy="482280"/>
            </a:xfrm>
            <a:prstGeom prst="ellipse">
              <a:avLst/>
            </a:prstGeom>
            <a:solidFill>
              <a:schemeClr val="accent1">
                <a:alpha val="4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222" name="Group 9221"/>
          <p:cNvGrpSpPr/>
          <p:nvPr/>
        </p:nvGrpSpPr>
        <p:grpSpPr>
          <a:xfrm>
            <a:off x="10360303" y="1746168"/>
            <a:ext cx="1363597" cy="1344260"/>
            <a:chOff x="10360303" y="1941484"/>
            <a:chExt cx="1363597" cy="1344260"/>
          </a:xfrm>
        </p:grpSpPr>
        <p:sp>
          <p:nvSpPr>
            <p:cNvPr id="55" name="Oval 54"/>
            <p:cNvSpPr/>
            <p:nvPr/>
          </p:nvSpPr>
          <p:spPr>
            <a:xfrm rot="2696471">
              <a:off x="10906509" y="1941484"/>
              <a:ext cx="817391" cy="482280"/>
            </a:xfrm>
            <a:prstGeom prst="ellipse">
              <a:avLst/>
            </a:prstGeom>
            <a:solidFill>
              <a:schemeClr val="accent1">
                <a:alpha val="4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Oval 55"/>
            <p:cNvSpPr/>
            <p:nvPr/>
          </p:nvSpPr>
          <p:spPr>
            <a:xfrm rot="2696471">
              <a:off x="10794683" y="2495295"/>
              <a:ext cx="576623" cy="482280"/>
            </a:xfrm>
            <a:prstGeom prst="ellipse">
              <a:avLst/>
            </a:prstGeom>
            <a:solidFill>
              <a:schemeClr val="accent1">
                <a:alpha val="4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Oval 56"/>
            <p:cNvSpPr/>
            <p:nvPr/>
          </p:nvSpPr>
          <p:spPr>
            <a:xfrm rot="2696471">
              <a:off x="10360303" y="2874936"/>
              <a:ext cx="576623" cy="410808"/>
            </a:xfrm>
            <a:prstGeom prst="ellipse">
              <a:avLst/>
            </a:prstGeom>
            <a:solidFill>
              <a:schemeClr val="accent1">
                <a:alpha val="4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9" name="TextBox 38"/>
          <p:cNvSpPr txBox="1"/>
          <p:nvPr/>
        </p:nvSpPr>
        <p:spPr>
          <a:xfrm>
            <a:off x="440807" y="5863233"/>
            <a:ext cx="3903633" cy="369332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BE" dirty="0"/>
              <a:t>Convolution: </a:t>
            </a:r>
            <a:r>
              <a:rPr lang="en-BE" dirty="0">
                <a:latin typeface="Inconsolata" panose="00000509000000000000" pitchFamily="49" charset="0"/>
              </a:rPr>
              <a:t>050_convolution.ipynb</a:t>
            </a:r>
            <a:endParaRPr lang="en-US" dirty="0">
              <a:latin typeface="Inconsolata" panose="00000509000000000000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777785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39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Second approach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4406915" cy="3811588"/>
          </a:xfrm>
        </p:spPr>
        <p:txBody>
          <a:bodyPr>
            <a:no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BE" sz="2000" dirty="0"/>
              <a:t>Data preprocessing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BE" sz="1800" dirty="0"/>
              <a:t>Input data as 2D array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BE" sz="1800" dirty="0"/>
              <a:t>output data as array with</a:t>
            </a:r>
            <a:br>
              <a:rPr lang="en-BE" sz="1800" dirty="0"/>
            </a:br>
            <a:r>
              <a:rPr lang="en-BE" sz="1800" dirty="0"/>
              <a:t>one-hot encoding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BE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BE" sz="2000" dirty="0"/>
              <a:t>Model: convolutional neural network (CNN)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BE" sz="1800" dirty="0"/>
              <a:t>28 </a:t>
            </a:r>
            <a:r>
              <a:rPr lang="en-BE" sz="1800" dirty="0">
                <a:sym typeface="Symbol" panose="05050102010706020507" pitchFamily="18" charset="2"/>
              </a:rPr>
              <a:t></a:t>
            </a:r>
            <a:r>
              <a:rPr lang="en-BE" sz="1800" dirty="0"/>
              <a:t> 28 inputs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BE" sz="1800" dirty="0"/>
              <a:t>CNN layer with 32 filters 3 </a:t>
            </a:r>
            <a:r>
              <a:rPr lang="en-BE" sz="1800" dirty="0">
                <a:sym typeface="Symbol" panose="05050102010706020507" pitchFamily="18" charset="2"/>
              </a:rPr>
              <a:t></a:t>
            </a:r>
            <a:r>
              <a:rPr lang="en-BE" sz="1800" dirty="0"/>
              <a:t> 3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BE" sz="1800" dirty="0"/>
              <a:t>ReLU activation function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BE" sz="1800" dirty="0"/>
              <a:t>flatten layer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BE" sz="1800" dirty="0"/>
              <a:t>dense layer with 10 units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BE" sz="1800" dirty="0"/>
              <a:t>SoftMax activation function</a:t>
            </a:r>
            <a:endParaRPr lang="en-US" sz="180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5A1C33-475D-474A-A037-DDAF3DC7AF09}" type="slidenum">
              <a:rPr lang="en-US" smtClean="0"/>
              <a:t>56</a:t>
            </a:fld>
            <a:endParaRPr lang="en-US"/>
          </a:p>
        </p:txBody>
      </p:sp>
      <p:pic>
        <p:nvPicPr>
          <p:cNvPr id="6" name="Picture 2" descr="Image result for mnist dataset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75" t="4111" r="3330" b="4774"/>
          <a:stretch/>
        </p:blipFill>
        <p:spPr bwMode="auto">
          <a:xfrm>
            <a:off x="7475958" y="181242"/>
            <a:ext cx="1055788" cy="10433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9" name="Group 8"/>
          <p:cNvGrpSpPr/>
          <p:nvPr/>
        </p:nvGrpSpPr>
        <p:grpSpPr>
          <a:xfrm>
            <a:off x="4275909" y="1341113"/>
            <a:ext cx="7917552" cy="1318567"/>
            <a:chOff x="4275909" y="3762102"/>
            <a:chExt cx="7917552" cy="1318567"/>
          </a:xfrm>
        </p:grpSpPr>
        <p:sp>
          <p:nvSpPr>
            <p:cNvPr id="7" name="TextBox 6"/>
            <p:cNvSpPr txBox="1"/>
            <p:nvPr/>
          </p:nvSpPr>
          <p:spPr>
            <a:xfrm>
              <a:off x="4275909" y="4711337"/>
              <a:ext cx="791755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>
                  <a:latin typeface="Inconsolata" panose="00000509000000000000" pitchFamily="49" charset="0"/>
                </a:rPr>
                <a:t>array([</a:t>
              </a:r>
              <a:r>
                <a:rPr lang="en-BE" dirty="0">
                  <a:latin typeface="Inconsolata" panose="00000509000000000000" pitchFamily="49" charset="0"/>
                </a:rPr>
                <a:t>[</a:t>
              </a:r>
              <a:r>
                <a:rPr lang="en-GB" dirty="0">
                  <a:latin typeface="Inconsolata" panose="00000509000000000000" pitchFamily="49" charset="0"/>
                </a:rPr>
                <a:t> </a:t>
              </a:r>
              <a:r>
                <a:rPr lang="en-BE" dirty="0">
                  <a:latin typeface="Inconsolata" panose="00000509000000000000" pitchFamily="49" charset="0"/>
                </a:rPr>
                <a:t>0.</a:t>
              </a:r>
              <a:r>
                <a:rPr lang="en-GB" dirty="0">
                  <a:latin typeface="Inconsolata" panose="00000509000000000000" pitchFamily="49" charset="0"/>
                </a:rPr>
                <a:t>0, </a:t>
              </a:r>
              <a:r>
                <a:rPr lang="en-BE" dirty="0">
                  <a:latin typeface="Inconsolata" panose="00000509000000000000" pitchFamily="49" charset="0"/>
                </a:rPr>
                <a:t>0.</a:t>
              </a:r>
              <a:r>
                <a:rPr lang="en-GB" dirty="0">
                  <a:latin typeface="Inconsolata" panose="00000509000000000000" pitchFamily="49" charset="0"/>
                </a:rPr>
                <a:t>0,</a:t>
              </a:r>
              <a:r>
                <a:rPr lang="en-BE" dirty="0">
                  <a:latin typeface="Inconsolata" panose="00000509000000000000" pitchFamily="49" charset="0"/>
                </a:rPr>
                <a:t>...</a:t>
              </a:r>
              <a:r>
                <a:rPr lang="en-GB" dirty="0">
                  <a:latin typeface="Inconsolata" panose="00000509000000000000" pitchFamily="49" charset="0"/>
                </a:rPr>
                <a:t>, </a:t>
              </a:r>
              <a:r>
                <a:rPr lang="en-BE" dirty="0">
                  <a:latin typeface="Inconsolata" panose="00000509000000000000" pitchFamily="49" charset="0"/>
                </a:rPr>
                <a:t>0.951</a:t>
              </a:r>
              <a:r>
                <a:rPr lang="en-GB" dirty="0">
                  <a:latin typeface="Inconsolata" panose="00000509000000000000" pitchFamily="49" charset="0"/>
                </a:rPr>
                <a:t>, </a:t>
              </a:r>
              <a:r>
                <a:rPr lang="en-BE" dirty="0">
                  <a:latin typeface="Inconsolata" panose="00000509000000000000" pitchFamily="49" charset="0"/>
                </a:rPr>
                <a:t>0.533</a:t>
              </a:r>
              <a:r>
                <a:rPr lang="nl-NL" dirty="0">
                  <a:latin typeface="Inconsolata" panose="00000509000000000000" pitchFamily="49" charset="0"/>
                </a:rPr>
                <a:t>,</a:t>
              </a:r>
              <a:r>
                <a:rPr lang="en-BE" dirty="0">
                  <a:latin typeface="Inconsolata" panose="00000509000000000000" pitchFamily="49" charset="0"/>
                </a:rPr>
                <a:t>...,</a:t>
              </a:r>
              <a:r>
                <a:rPr lang="nl-NL" dirty="0">
                  <a:latin typeface="Inconsolata" panose="00000509000000000000" pitchFamily="49" charset="0"/>
                </a:rPr>
                <a:t> </a:t>
              </a:r>
              <a:r>
                <a:rPr lang="en-BE" dirty="0">
                  <a:latin typeface="Inconsolata" panose="00000509000000000000" pitchFamily="49" charset="0"/>
                </a:rPr>
                <a:t>0.</a:t>
              </a:r>
              <a:r>
                <a:rPr lang="nl-NL" dirty="0">
                  <a:latin typeface="Inconsolata" panose="00000509000000000000" pitchFamily="49" charset="0"/>
                </a:rPr>
                <a:t>0, </a:t>
              </a:r>
              <a:r>
                <a:rPr lang="en-BE" dirty="0">
                  <a:latin typeface="Inconsolata" panose="00000509000000000000" pitchFamily="49" charset="0"/>
                </a:rPr>
                <a:t>0.</a:t>
              </a:r>
              <a:r>
                <a:rPr lang="nl-NL" dirty="0">
                  <a:latin typeface="Inconsolata" panose="00000509000000000000" pitchFamily="49" charset="0"/>
                </a:rPr>
                <a:t>0</a:t>
              </a:r>
              <a:r>
                <a:rPr lang="en-BE" dirty="0">
                  <a:latin typeface="Inconsolata" panose="00000509000000000000" pitchFamily="49" charset="0"/>
                </a:rPr>
                <a:t>]</a:t>
              </a:r>
              <a:r>
                <a:rPr lang="nl-NL" dirty="0">
                  <a:latin typeface="Inconsolata" panose="00000509000000000000" pitchFamily="49" charset="0"/>
                </a:rPr>
                <a:t>], dtype=</a:t>
              </a:r>
              <a:r>
                <a:rPr lang="en-BE" dirty="0">
                  <a:latin typeface="Inconsolata" panose="00000509000000000000" pitchFamily="49" charset="0"/>
                </a:rPr>
                <a:t>float32</a:t>
              </a:r>
              <a:r>
                <a:rPr lang="nl-NL" dirty="0">
                  <a:latin typeface="Inconsolata" panose="00000509000000000000" pitchFamily="49" charset="0"/>
                </a:rPr>
                <a:t>)</a:t>
              </a:r>
              <a:endParaRPr lang="en-US" dirty="0">
                <a:latin typeface="Inconsolata" panose="00000509000000000000" pitchFamily="49" charset="0"/>
              </a:endParaRPr>
            </a:p>
          </p:txBody>
        </p:sp>
        <p:sp>
          <p:nvSpPr>
            <p:cNvPr id="8" name="Down Arrow 7"/>
            <p:cNvSpPr/>
            <p:nvPr/>
          </p:nvSpPr>
          <p:spPr>
            <a:xfrm>
              <a:off x="7725178" y="3762102"/>
              <a:ext cx="557349" cy="870858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8610940" y="2671377"/>
            <a:ext cx="33054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BE" sz="2400" dirty="0"/>
              <a:t>5</a:t>
            </a:r>
            <a:endParaRPr lang="en-US" sz="2400" dirty="0"/>
          </a:p>
        </p:txBody>
      </p:sp>
      <p:grpSp>
        <p:nvGrpSpPr>
          <p:cNvPr id="13" name="Group 12"/>
          <p:cNvGrpSpPr/>
          <p:nvPr/>
        </p:nvGrpSpPr>
        <p:grpSpPr>
          <a:xfrm>
            <a:off x="5709687" y="3199712"/>
            <a:ext cx="6186309" cy="1295504"/>
            <a:chOff x="4910695" y="3963194"/>
            <a:chExt cx="6186309" cy="1295504"/>
          </a:xfrm>
        </p:grpSpPr>
        <p:sp>
          <p:nvSpPr>
            <p:cNvPr id="11" name="TextBox 10"/>
            <p:cNvSpPr txBox="1"/>
            <p:nvPr/>
          </p:nvSpPr>
          <p:spPr>
            <a:xfrm>
              <a:off x="4910695" y="4889366"/>
              <a:ext cx="618630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>
                  <a:latin typeface="Inconsolata" panose="00000509000000000000" pitchFamily="49" charset="0"/>
                </a:rPr>
                <a:t>array([ 0, 0, </a:t>
              </a:r>
              <a:r>
                <a:rPr lang="en-BE" dirty="0">
                  <a:latin typeface="Inconsolata" panose="00000509000000000000" pitchFamily="49" charset="0"/>
                </a:rPr>
                <a:t>0, 0, 0, 1, 0, 0, 0, 0</a:t>
              </a:r>
              <a:r>
                <a:rPr lang="nl-NL" dirty="0">
                  <a:latin typeface="Inconsolata" panose="00000509000000000000" pitchFamily="49" charset="0"/>
                </a:rPr>
                <a:t>], dtype=uint8)</a:t>
              </a:r>
              <a:endParaRPr lang="en-US" dirty="0">
                <a:latin typeface="Inconsolata" panose="00000509000000000000" pitchFamily="49" charset="0"/>
              </a:endParaRPr>
            </a:p>
          </p:txBody>
        </p:sp>
        <p:sp>
          <p:nvSpPr>
            <p:cNvPr id="12" name="Down Arrow 11"/>
            <p:cNvSpPr/>
            <p:nvPr/>
          </p:nvSpPr>
          <p:spPr>
            <a:xfrm>
              <a:off x="7725176" y="3963194"/>
              <a:ext cx="557349" cy="870858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TextBox 13"/>
          <p:cNvSpPr txBox="1"/>
          <p:nvPr/>
        </p:nvSpPr>
        <p:spPr>
          <a:xfrm>
            <a:off x="5347063" y="4885782"/>
            <a:ext cx="5404043" cy="369332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BE" dirty="0"/>
              <a:t>Convolutional neural network: </a:t>
            </a:r>
            <a:r>
              <a:rPr lang="en-BE" dirty="0">
                <a:latin typeface="Inconsolata" panose="00000509000000000000" pitchFamily="49" charset="0"/>
              </a:rPr>
              <a:t>060_mnist_cnn.ipynb</a:t>
            </a:r>
            <a:endParaRPr lang="en-US" dirty="0">
              <a:latin typeface="Inconsolata" panose="00000509000000000000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480613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4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Task: sentiment classification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BE" dirty="0"/>
              <a:t>Input data</a:t>
            </a:r>
          </a:p>
          <a:p>
            <a:pPr lvl="1"/>
            <a:r>
              <a:rPr lang="en-BE" dirty="0"/>
              <a:t>movie review (English)</a:t>
            </a:r>
          </a:p>
          <a:p>
            <a:r>
              <a:rPr lang="en-BE" dirty="0"/>
              <a:t>Output data</a:t>
            </a:r>
          </a:p>
          <a:p>
            <a:pPr lvl="1"/>
            <a:endParaRPr lang="en-BE" dirty="0"/>
          </a:p>
          <a:p>
            <a:r>
              <a:rPr lang="en-BE" dirty="0"/>
              <a:t>Training examples</a:t>
            </a:r>
          </a:p>
          <a:p>
            <a:r>
              <a:rPr lang="en-BE" dirty="0"/>
              <a:t>Test examples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57</a:t>
            </a:fld>
            <a:endParaRPr lang="nl-BE"/>
          </a:p>
        </p:txBody>
      </p:sp>
      <p:sp>
        <p:nvSpPr>
          <p:cNvPr id="6" name="TextBox 5"/>
          <p:cNvSpPr txBox="1"/>
          <p:nvPr/>
        </p:nvSpPr>
        <p:spPr>
          <a:xfrm>
            <a:off x="1158240" y="5408023"/>
            <a:ext cx="5489003" cy="369332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BE" dirty="0"/>
              <a:t>Explore the data: </a:t>
            </a:r>
            <a:r>
              <a:rPr lang="en-BE" dirty="0">
                <a:latin typeface="Inconsolata" panose="00000509000000000000" pitchFamily="49" charset="0"/>
              </a:rPr>
              <a:t>070_imdb_data_exploration.ipynb</a:t>
            </a:r>
            <a:endParaRPr lang="en-US" dirty="0">
              <a:latin typeface="Inconsolata" panose="00000509000000000000" pitchFamily="49" charset="0"/>
            </a:endParaRPr>
          </a:p>
        </p:txBody>
      </p:sp>
      <p:grpSp>
        <p:nvGrpSpPr>
          <p:cNvPr id="5" name="Group 4"/>
          <p:cNvGrpSpPr/>
          <p:nvPr/>
        </p:nvGrpSpPr>
        <p:grpSpPr>
          <a:xfrm>
            <a:off x="1854925" y="3047277"/>
            <a:ext cx="1231704" cy="769441"/>
            <a:chOff x="1854925" y="3047277"/>
            <a:chExt cx="1231704" cy="769441"/>
          </a:xfrm>
        </p:grpSpPr>
        <p:pic>
          <p:nvPicPr>
            <p:cNvPr id="2050" name="Picture 2" descr="Image result for happy smiley"/>
            <p:cNvPicPr>
              <a:picLocks noChangeAspect="1" noChangeArrowheads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8906"/>
            <a:stretch/>
          </p:blipFill>
          <p:spPr bwMode="auto">
            <a:xfrm>
              <a:off x="1854925" y="3217158"/>
              <a:ext cx="432344" cy="4491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2" name="Picture 4" descr="Image result for sad smiley"/>
            <p:cNvPicPr>
              <a:picLocks noChangeAspect="1" noChangeArrowheads="1"/>
            </p:cNvPicPr>
            <p:nvPr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063" t="5881" r="7637" b="14709"/>
            <a:stretch/>
          </p:blipFill>
          <p:spPr bwMode="auto">
            <a:xfrm>
              <a:off x="2621280" y="3213464"/>
              <a:ext cx="465349" cy="4532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" name="TextBox 6"/>
            <p:cNvSpPr txBox="1"/>
            <p:nvPr/>
          </p:nvSpPr>
          <p:spPr>
            <a:xfrm>
              <a:off x="2228091" y="3047277"/>
              <a:ext cx="452368" cy="7694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BE" sz="4400" dirty="0"/>
                <a:t>/</a:t>
              </a:r>
              <a:endParaRPr lang="en-US" sz="4400" dirty="0"/>
            </a:p>
          </p:txBody>
        </p:sp>
      </p:grpSp>
      <p:sp>
        <p:nvSpPr>
          <p:cNvPr id="8" name="TextBox 7"/>
          <p:cNvSpPr txBox="1"/>
          <p:nvPr/>
        </p:nvSpPr>
        <p:spPr>
          <a:xfrm>
            <a:off x="4568927" y="1898069"/>
            <a:ext cx="7293336" cy="2616087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GB" dirty="0">
                <a:latin typeface="Inconsolata" panose="00000509000000000000" pitchFamily="49" charset="0"/>
              </a:rPr>
              <a:t>&lt;start&gt; this film was just brilliant casting location</a:t>
            </a:r>
            <a:endParaRPr lang="en-BE" dirty="0">
              <a:latin typeface="Inconsolata" panose="00000509000000000000" pitchFamily="49" charset="0"/>
            </a:endParaRPr>
          </a:p>
          <a:p>
            <a:r>
              <a:rPr lang="en-GB" dirty="0">
                <a:latin typeface="Inconsolata" panose="00000509000000000000" pitchFamily="49" charset="0"/>
              </a:rPr>
              <a:t>scenery story direction everyone's really suited the part</a:t>
            </a:r>
            <a:endParaRPr lang="en-BE" dirty="0">
              <a:latin typeface="Inconsolata" panose="00000509000000000000" pitchFamily="49" charset="0"/>
            </a:endParaRPr>
          </a:p>
          <a:p>
            <a:r>
              <a:rPr lang="en-GB" dirty="0">
                <a:latin typeface="Inconsolata" panose="00000509000000000000" pitchFamily="49" charset="0"/>
              </a:rPr>
              <a:t>they played and you could just imagine being there Robert</a:t>
            </a:r>
            <a:endParaRPr lang="en-BE" dirty="0">
              <a:latin typeface="Inconsolata" panose="00000509000000000000" pitchFamily="49" charset="0"/>
            </a:endParaRPr>
          </a:p>
          <a:p>
            <a:r>
              <a:rPr lang="en-GB" dirty="0" err="1">
                <a:latin typeface="Inconsolata" panose="00000509000000000000" pitchFamily="49" charset="0"/>
              </a:rPr>
              <a:t>redford's</a:t>
            </a:r>
            <a:r>
              <a:rPr lang="en-GB" dirty="0">
                <a:latin typeface="Inconsolata" panose="00000509000000000000" pitchFamily="49" charset="0"/>
              </a:rPr>
              <a:t> is an amazing actor and now the same being director</a:t>
            </a:r>
            <a:endParaRPr lang="en-BE" dirty="0">
              <a:latin typeface="Inconsolata" panose="00000509000000000000" pitchFamily="49" charset="0"/>
            </a:endParaRPr>
          </a:p>
          <a:p>
            <a:r>
              <a:rPr lang="en-GB" dirty="0" err="1">
                <a:latin typeface="Inconsolata" panose="00000509000000000000" pitchFamily="49" charset="0"/>
              </a:rPr>
              <a:t>norman's</a:t>
            </a:r>
            <a:r>
              <a:rPr lang="en-GB" dirty="0">
                <a:latin typeface="Inconsolata" panose="00000509000000000000" pitchFamily="49" charset="0"/>
              </a:rPr>
              <a:t> father came from the same </a:t>
            </a:r>
            <a:r>
              <a:rPr lang="en-GB" dirty="0" err="1">
                <a:latin typeface="Inconsolata" panose="00000509000000000000" pitchFamily="49" charset="0"/>
              </a:rPr>
              <a:t>scottish</a:t>
            </a:r>
            <a:r>
              <a:rPr lang="en-GB" dirty="0">
                <a:latin typeface="Inconsolata" panose="00000509000000000000" pitchFamily="49" charset="0"/>
              </a:rPr>
              <a:t> island as myself</a:t>
            </a:r>
            <a:endParaRPr lang="en-BE" dirty="0">
              <a:latin typeface="Inconsolata" panose="00000509000000000000" pitchFamily="49" charset="0"/>
            </a:endParaRPr>
          </a:p>
          <a:p>
            <a:r>
              <a:rPr lang="en-GB" dirty="0">
                <a:latin typeface="Inconsolata" panose="00000509000000000000" pitchFamily="49" charset="0"/>
              </a:rPr>
              <a:t>so </a:t>
            </a:r>
            <a:r>
              <a:rPr lang="en-GB" dirty="0" err="1">
                <a:latin typeface="Inconsolata" panose="00000509000000000000" pitchFamily="49" charset="0"/>
              </a:rPr>
              <a:t>i</a:t>
            </a:r>
            <a:r>
              <a:rPr lang="en-GB" dirty="0">
                <a:latin typeface="Inconsolata" panose="00000509000000000000" pitchFamily="49" charset="0"/>
              </a:rPr>
              <a:t> loved the fact there was a real connection with this</a:t>
            </a:r>
            <a:endParaRPr lang="en-BE" dirty="0">
              <a:latin typeface="Inconsolata" panose="00000509000000000000" pitchFamily="49" charset="0"/>
            </a:endParaRPr>
          </a:p>
          <a:p>
            <a:r>
              <a:rPr lang="en-GB" dirty="0">
                <a:latin typeface="Inconsolata" panose="00000509000000000000" pitchFamily="49" charset="0"/>
              </a:rPr>
              <a:t>film the witty remarks throughout the film were great it was</a:t>
            </a:r>
            <a:endParaRPr lang="en-BE" dirty="0">
              <a:latin typeface="Inconsolata" panose="00000509000000000000" pitchFamily="49" charset="0"/>
            </a:endParaRPr>
          </a:p>
          <a:p>
            <a:r>
              <a:rPr lang="en-GB" dirty="0">
                <a:latin typeface="Inconsolata" panose="00000509000000000000" pitchFamily="49" charset="0"/>
              </a:rPr>
              <a:t>just brilliant so much that </a:t>
            </a:r>
            <a:r>
              <a:rPr lang="en-GB" dirty="0" err="1">
                <a:latin typeface="Inconsolata" panose="00000509000000000000" pitchFamily="49" charset="0"/>
              </a:rPr>
              <a:t>i</a:t>
            </a:r>
            <a:r>
              <a:rPr lang="en-GB" dirty="0">
                <a:latin typeface="Inconsolata" panose="00000509000000000000" pitchFamily="49" charset="0"/>
              </a:rPr>
              <a:t> bought the film as soon as it</a:t>
            </a:r>
            <a:endParaRPr lang="en-BE" dirty="0">
              <a:latin typeface="Inconsolata" panose="00000509000000000000" pitchFamily="49" charset="0"/>
            </a:endParaRPr>
          </a:p>
          <a:p>
            <a:r>
              <a:rPr lang="en-BE" dirty="0">
                <a:latin typeface="Inconsolata" panose="00000509000000000000" pitchFamily="49" charset="0"/>
                <a:sym typeface="Symbol" panose="05050102010706020507" pitchFamily="18" charset="2"/>
              </a:rPr>
              <a:t></a:t>
            </a:r>
            <a:endParaRPr lang="en-BE" dirty="0">
              <a:latin typeface="Inconsolata" panose="00000509000000000000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269202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Word embedding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Represent words as one-hot vectors</a:t>
            </a:r>
            <a:br>
              <a:rPr lang="en-US" dirty="0"/>
            </a:br>
            <a:r>
              <a:rPr lang="en-US" dirty="0"/>
              <a:t>length = vocabulary size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Word </a:t>
            </a:r>
            <a:r>
              <a:rPr lang="en-US" dirty="0" err="1"/>
              <a:t>embeddings</a:t>
            </a: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dense vector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vector distance </a:t>
            </a:r>
            <a:r>
              <a:rPr lang="en-US" dirty="0">
                <a:sym typeface="Symbol" panose="05050102010706020507" pitchFamily="18" charset="2"/>
              </a:rPr>
              <a:t></a:t>
            </a:r>
            <a:r>
              <a:rPr lang="en-US" dirty="0"/>
              <a:t> semantic distance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Training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use context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discover relations with surrounding words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5A1C33-475D-474A-A037-DDAF3DC7AF09}" type="slidenum">
              <a:rPr lang="en-US" smtClean="0"/>
              <a:t>58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1997030" y="2716698"/>
            <a:ext cx="161775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Issues: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unwieldy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no semantics</a:t>
            </a:r>
          </a:p>
        </p:txBody>
      </p:sp>
      <p:pic>
        <p:nvPicPr>
          <p:cNvPr id="1028" name="Picture 4" descr="wmd - Copy"/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14225" y="1855013"/>
            <a:ext cx="6684134" cy="32105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030396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7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remember?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Manage history, network learns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what to remember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what to forget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r>
              <a:rPr lang="en-US" dirty="0"/>
              <a:t>Long-term correlations!</a:t>
            </a:r>
          </a:p>
          <a:p>
            <a:endParaRPr lang="en-US" dirty="0"/>
          </a:p>
          <a:p>
            <a:r>
              <a:rPr lang="en-US" dirty="0"/>
              <a:t>Use, e.g.,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LSTM (Long Short-Term Memory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GRU (Gated Recurrent Unit)</a:t>
            </a:r>
          </a:p>
          <a:p>
            <a:endParaRPr lang="en-US" dirty="0"/>
          </a:p>
          <a:p>
            <a:r>
              <a:rPr lang="en-US" dirty="0"/>
              <a:t>Deal with variable length input and/or output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5A1C33-475D-474A-A037-DDAF3DC7AF09}" type="slidenum">
              <a:rPr lang="en-US" smtClean="0"/>
              <a:t>59</a:t>
            </a:fld>
            <a:endParaRPr lang="en-US"/>
          </a:p>
        </p:txBody>
      </p:sp>
      <p:pic>
        <p:nvPicPr>
          <p:cNvPr id="4098" name="Picture 2" descr="https://cdn-images-1.medium.com/max/800/1*7oE-4Wg6bZ7u8yDf5cjJPA.png"/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83188" y="2355675"/>
            <a:ext cx="6172200" cy="21371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89496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Gated Recurrent Unit (GRU)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half" idx="2"/>
          </p:nvPr>
        </p:nvSpPr>
        <p:spPr/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Update gate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Reset gate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Current memory content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Final memory/output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60</a:t>
            </a:fld>
            <a:endParaRPr lang="nl-B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1707945" y="2419350"/>
                <a:ext cx="2419317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𝑧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𝑧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7945" y="2419350"/>
                <a:ext cx="2419317" cy="276999"/>
              </a:xfrm>
              <a:prstGeom prst="rect">
                <a:avLst/>
              </a:prstGeom>
              <a:blipFill>
                <a:blip r:embed="rId2"/>
                <a:stretch>
                  <a:fillRect b="-177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1707945" y="3276212"/>
                <a:ext cx="231621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𝑟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𝑟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7945" y="3276212"/>
                <a:ext cx="2316210" cy="276999"/>
              </a:xfrm>
              <a:prstGeom prst="rect">
                <a:avLst/>
              </a:prstGeom>
              <a:blipFill>
                <a:blip r:embed="rId3"/>
                <a:stretch>
                  <a:fillRect l="-789" b="-173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/>
              <p:cNvSpPr txBox="1"/>
              <p:nvPr/>
            </p:nvSpPr>
            <p:spPr>
              <a:xfrm>
                <a:off x="1707944" y="4118399"/>
                <a:ext cx="3096617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tanh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𝑊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⊙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𝑈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7944" y="4118399"/>
                <a:ext cx="3096617" cy="276999"/>
              </a:xfrm>
              <a:prstGeom prst="rect">
                <a:avLst/>
              </a:prstGeom>
              <a:blipFill>
                <a:blip r:embed="rId4"/>
                <a:stretch>
                  <a:fillRect l="-1378" t="-2222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/>
              <p:cNvSpPr txBox="1"/>
              <p:nvPr/>
            </p:nvSpPr>
            <p:spPr>
              <a:xfrm>
                <a:off x="1707943" y="4880011"/>
                <a:ext cx="316798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⊙</m:t>
                    </m:r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1−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⊙</m:t>
                    </m:r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h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′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7943" y="4880011"/>
                <a:ext cx="3167983" cy="276999"/>
              </a:xfrm>
              <a:prstGeom prst="rect">
                <a:avLst/>
              </a:prstGeom>
              <a:blipFill>
                <a:blip r:embed="rId5"/>
                <a:stretch>
                  <a:fillRect l="-2692" t="-2222" r="-385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2" descr="https://cdn-images-1.medium.com/max/800/1*6eNTqLzQ08AABo-STFNiBw.png"/>
          <p:cNvPicPr>
            <a:picLocks noGrp="1" noChangeAspect="1" noChangeArrowheads="1"/>
          </p:cNvPicPr>
          <p:nvPr>
            <p:ph type="pic" idx="1"/>
          </p:nvPr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78" r="5278"/>
          <a:stretch>
            <a:fillRect/>
          </a:stretch>
        </p:blipFill>
        <p:spPr bwMode="auto"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819266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uiExpand="1" build="p"/>
      <p:bldP spid="5" grpId="0"/>
      <p:bldP spid="7" grpId="0"/>
      <p:bldP spid="8" grpId="0"/>
      <p:bldP spid="9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</a:t>
            </a:r>
            <a:r>
              <a:rPr lang="en-BE" dirty="0"/>
              <a:t>pproach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4406915" cy="3811588"/>
          </a:xfrm>
        </p:spPr>
        <p:txBody>
          <a:bodyPr>
            <a:no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BE" sz="2000" dirty="0"/>
              <a:t>Data preprocessing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BE" sz="1800" dirty="0"/>
              <a:t>Input data as </a:t>
            </a:r>
            <a:r>
              <a:rPr lang="en-US" sz="1800" dirty="0"/>
              <a:t> padded </a:t>
            </a:r>
            <a:r>
              <a:rPr lang="en-BE" sz="1800" dirty="0"/>
              <a:t>array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BE" sz="1800" dirty="0"/>
              <a:t>output data as </a:t>
            </a:r>
            <a:r>
              <a:rPr lang="en-US" sz="1800" dirty="0"/>
              <a:t>0 or 1</a:t>
            </a:r>
            <a:endParaRPr lang="en-BE" sz="18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BE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BE" sz="2000" dirty="0"/>
              <a:t>Model: </a:t>
            </a:r>
            <a:r>
              <a:rPr lang="en-US" sz="2000" dirty="0"/>
              <a:t>recurrent</a:t>
            </a:r>
            <a:r>
              <a:rPr lang="en-BE" sz="2000" dirty="0"/>
              <a:t> neural network (</a:t>
            </a:r>
            <a:r>
              <a:rPr lang="en-US" sz="2000" dirty="0"/>
              <a:t>GRU</a:t>
            </a:r>
            <a:r>
              <a:rPr lang="en-BE" sz="2000" dirty="0"/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800" dirty="0"/>
              <a:t>100</a:t>
            </a:r>
            <a:r>
              <a:rPr lang="en-BE" sz="1800" dirty="0"/>
              <a:t> inputs</a:t>
            </a:r>
            <a:endParaRPr lang="en-US" sz="18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800" dirty="0"/>
              <a:t>embedding layer, 5,000 words, 64 element representation length</a:t>
            </a:r>
            <a:endParaRPr lang="en-BE" sz="18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800" dirty="0"/>
              <a:t>GRU</a:t>
            </a:r>
            <a:r>
              <a:rPr lang="en-BE" sz="1800" dirty="0"/>
              <a:t> layer</a:t>
            </a:r>
            <a:r>
              <a:rPr lang="en-US" sz="1800" dirty="0"/>
              <a:t>,</a:t>
            </a:r>
            <a:r>
              <a:rPr lang="en-BE" sz="1800" dirty="0"/>
              <a:t> </a:t>
            </a:r>
            <a:r>
              <a:rPr lang="en-US" sz="1800" dirty="0"/>
              <a:t>64 units</a:t>
            </a:r>
            <a:endParaRPr lang="en-BE" sz="18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800" dirty="0"/>
              <a:t>dropout layer, rate = 0.5</a:t>
            </a:r>
            <a:endParaRPr lang="en-BE" sz="18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800" dirty="0"/>
              <a:t>dense layer, 1 output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800" dirty="0"/>
              <a:t>sigmoid activation function</a:t>
            </a:r>
            <a:endParaRPr lang="en-BE" sz="180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5A1C33-475D-474A-A037-DDAF3DC7AF09}" type="slidenum">
              <a:rPr lang="en-US" smtClean="0"/>
              <a:t>61</a:t>
            </a:fld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5347063" y="4885782"/>
            <a:ext cx="4783682" cy="369332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Recurrent</a:t>
            </a:r>
            <a:r>
              <a:rPr lang="en-BE" dirty="0"/>
              <a:t> neural network: </a:t>
            </a:r>
            <a:r>
              <a:rPr lang="en-BE" dirty="0">
                <a:latin typeface="Inconsolata" panose="00000509000000000000" pitchFamily="49" charset="0"/>
              </a:rPr>
              <a:t>0</a:t>
            </a:r>
            <a:r>
              <a:rPr lang="en-US" dirty="0">
                <a:latin typeface="Inconsolata" panose="00000509000000000000" pitchFamily="49" charset="0"/>
              </a:rPr>
              <a:t>8</a:t>
            </a:r>
            <a:r>
              <a:rPr lang="en-BE" dirty="0">
                <a:latin typeface="Inconsolata" panose="00000509000000000000" pitchFamily="49" charset="0"/>
              </a:rPr>
              <a:t>0_</a:t>
            </a:r>
            <a:r>
              <a:rPr lang="en-US" dirty="0" err="1">
                <a:latin typeface="Inconsolata" panose="00000509000000000000" pitchFamily="49" charset="0"/>
              </a:rPr>
              <a:t>imdb_rnn</a:t>
            </a:r>
            <a:r>
              <a:rPr lang="en-US" dirty="0">
                <a:latin typeface="Inconsolata" panose="00000509000000000000" pitchFamily="49" charset="0"/>
              </a:rPr>
              <a:t>.</a:t>
            </a:r>
            <a:r>
              <a:rPr lang="en-BE" dirty="0">
                <a:latin typeface="Inconsolata" panose="00000509000000000000" pitchFamily="49" charset="0"/>
              </a:rPr>
              <a:t>pynb</a:t>
            </a:r>
            <a:endParaRPr lang="en-US" dirty="0">
              <a:latin typeface="Inconsolata" panose="00000509000000000000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802069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4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Caveat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InspiroBot</a:t>
            </a:r>
            <a:r>
              <a:rPr lang="en-US" dirty="0"/>
              <a:t> </a:t>
            </a:r>
            <a:r>
              <a:rPr lang="en-US" sz="1500" dirty="0"/>
              <a:t>(</a:t>
            </a:r>
            <a:r>
              <a:rPr lang="en-US" sz="1500" dirty="0">
                <a:hlinkClick r:id="rId2"/>
              </a:rPr>
              <a:t>http://inspirobot.me/</a:t>
            </a:r>
            <a:r>
              <a:rPr lang="en-US" sz="1500" dirty="0"/>
              <a:t>)</a:t>
            </a:r>
            <a:endParaRPr lang="en-US" dirty="0"/>
          </a:p>
          <a:p>
            <a:pPr lvl="1"/>
            <a:r>
              <a:rPr lang="en-US" sz="1500" i="1" dirty="0"/>
              <a:t>"I am an artificial intelligence dedicated to generating unlimited amounts of unique inspirational quotes for endless enrichment of pointless human existence".</a:t>
            </a:r>
            <a:endParaRPr lang="en-US" i="1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62</a:t>
            </a:fld>
            <a:endParaRPr lang="nl-BE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84342" y="3266982"/>
            <a:ext cx="2085696" cy="2085696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72143" y="3645024"/>
            <a:ext cx="2247714" cy="2247714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04125" y="2996952"/>
            <a:ext cx="2193708" cy="2193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50476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 err="1"/>
              <a:t>scikit</a:t>
            </a:r>
            <a:r>
              <a:rPr lang="en-US" dirty="0"/>
              <a:t>-learn</a:t>
            </a:r>
          </a:p>
          <a:p>
            <a:pPr lvl="1"/>
            <a:r>
              <a:rPr lang="en-US" dirty="0"/>
              <a:t>easy to use</a:t>
            </a:r>
          </a:p>
          <a:p>
            <a:pPr lvl="1"/>
            <a:r>
              <a:rPr lang="en-US" dirty="0"/>
              <a:t>consistent, elegant API</a:t>
            </a:r>
          </a:p>
          <a:p>
            <a:pPr lvl="1"/>
            <a:r>
              <a:rPr lang="en-US" dirty="0"/>
              <a:t>restricted to classic machine learning</a:t>
            </a:r>
          </a:p>
          <a:p>
            <a:r>
              <a:rPr lang="en-US" dirty="0" err="1"/>
              <a:t>Keras</a:t>
            </a:r>
            <a:endParaRPr lang="en-US" dirty="0"/>
          </a:p>
          <a:p>
            <a:pPr lvl="1"/>
            <a:r>
              <a:rPr lang="en-US" dirty="0"/>
              <a:t>very versatile</a:t>
            </a:r>
          </a:p>
          <a:p>
            <a:pPr lvl="1"/>
            <a:r>
              <a:rPr lang="en-US" dirty="0"/>
              <a:t>offers access to TensorFlow backend for low-level</a:t>
            </a:r>
          </a:p>
          <a:p>
            <a:r>
              <a:rPr lang="en-US" dirty="0"/>
              <a:t>Consider using pre-trained networks</a:t>
            </a:r>
          </a:p>
          <a:p>
            <a:r>
              <a:rPr lang="en-US" dirty="0"/>
              <a:t>Success depends on</a:t>
            </a:r>
            <a:br>
              <a:rPr lang="en-US" dirty="0"/>
            </a:br>
            <a:r>
              <a:rPr lang="en-US" dirty="0"/>
              <a:t>           </a:t>
            </a:r>
            <a:r>
              <a:rPr lang="en-US" i="1" dirty="0">
                <a:solidFill>
                  <a:srgbClr val="C00000"/>
                </a:solidFill>
              </a:rPr>
              <a:t>understanding algorithms!</a:t>
            </a:r>
          </a:p>
          <a:p>
            <a:r>
              <a:rPr lang="en-US" dirty="0"/>
              <a:t>Success also depends on</a:t>
            </a:r>
            <a:br>
              <a:rPr lang="en-US" dirty="0"/>
            </a:br>
            <a:r>
              <a:rPr lang="en-US" dirty="0"/>
              <a:t>       </a:t>
            </a:r>
            <a:r>
              <a:rPr lang="en-US" i="1" dirty="0">
                <a:solidFill>
                  <a:srgbClr val="C00000"/>
                </a:solidFill>
              </a:rPr>
              <a:t>understanding data &amp; domain!</a:t>
            </a:r>
            <a:endParaRPr lang="en-US" dirty="0"/>
          </a:p>
          <a:p>
            <a:r>
              <a:rPr lang="en-US" dirty="0"/>
              <a:t>Many things to explore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7974267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Further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Hands-on machine learning with </a:t>
            </a:r>
            <a:r>
              <a:rPr lang="en-US" i="1" dirty="0" err="1"/>
              <a:t>scikit</a:t>
            </a:r>
            <a:r>
              <a:rPr lang="en-US" i="1" dirty="0"/>
              <a:t>-learn &amp; TensorFlow</a:t>
            </a:r>
            <a:br>
              <a:rPr lang="en-US" dirty="0"/>
            </a:br>
            <a:r>
              <a:rPr lang="en-US" dirty="0" err="1"/>
              <a:t>Aurélien</a:t>
            </a:r>
            <a:r>
              <a:rPr lang="en-US" dirty="0"/>
              <a:t> </a:t>
            </a:r>
            <a:r>
              <a:rPr lang="en-US" dirty="0" err="1"/>
              <a:t>Géron</a:t>
            </a:r>
            <a:br>
              <a:rPr lang="en-US" dirty="0"/>
            </a:br>
            <a:r>
              <a:rPr lang="en-US" dirty="0"/>
              <a:t>O'Reilly, 2017</a:t>
            </a:r>
          </a:p>
          <a:p>
            <a:r>
              <a:rPr lang="en-US" dirty="0"/>
              <a:t>Excellent </a:t>
            </a:r>
            <a:r>
              <a:rPr lang="en-US" dirty="0" err="1"/>
              <a:t>keras</a:t>
            </a:r>
            <a:r>
              <a:rPr lang="en-US" dirty="0"/>
              <a:t> tutorial</a:t>
            </a:r>
            <a:br>
              <a:rPr lang="en-US" dirty="0"/>
            </a:br>
            <a:r>
              <a:rPr lang="en-US" sz="2400" dirty="0">
                <a:hlinkClick r:id="rId2"/>
              </a:rPr>
              <a:t>https://github.com/leriomaggio/deep-learning-keras-tensorflow</a:t>
            </a:r>
            <a:r>
              <a:rPr lang="en-US" sz="24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437879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theme/theme1.xml><?xml version="1.0" encoding="utf-8"?>
<a:theme xmlns:a="http://schemas.openxmlformats.org/drawingml/2006/main" name="1_Office Theme">
  <a:themeElements>
    <a:clrScheme name="Custom 9">
      <a:dk1>
        <a:srgbClr val="333639"/>
      </a:dk1>
      <a:lt1>
        <a:srgbClr val="F4F5FC"/>
      </a:lt1>
      <a:dk2>
        <a:srgbClr val="353A42"/>
      </a:dk2>
      <a:lt2>
        <a:srgbClr val="FFFFFF"/>
      </a:lt2>
      <a:accent1>
        <a:srgbClr val="DB6C30"/>
      </a:accent1>
      <a:accent2>
        <a:srgbClr val="DB6C30"/>
      </a:accent2>
      <a:accent3>
        <a:srgbClr val="DB6C30"/>
      </a:accent3>
      <a:accent4>
        <a:srgbClr val="DB6C30"/>
      </a:accent4>
      <a:accent5>
        <a:srgbClr val="DB6C30"/>
      </a:accent5>
      <a:accent6>
        <a:srgbClr val="AAB2BD"/>
      </a:accent6>
      <a:hlink>
        <a:srgbClr val="F8960D"/>
      </a:hlink>
      <a:folHlink>
        <a:srgbClr val="D70444"/>
      </a:folHlink>
    </a:clrScheme>
    <a:fontScheme name="VSC">
      <a:majorFont>
        <a:latin typeface="FlandersArtSans-Bold"/>
        <a:ea typeface=""/>
        <a:cs typeface=""/>
      </a:majorFont>
      <a:minorFont>
        <a:latin typeface="FlandersArtSans-Regula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355</TotalTime>
  <Words>2708</Words>
  <Application>Microsoft Office PowerPoint</Application>
  <PresentationFormat>Widescreen</PresentationFormat>
  <Paragraphs>665</Paragraphs>
  <Slides>64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64</vt:i4>
      </vt:variant>
    </vt:vector>
  </HeadingPairs>
  <TitlesOfParts>
    <vt:vector size="74" baseType="lpstr">
      <vt:lpstr>Arial</vt:lpstr>
      <vt:lpstr>Calibri</vt:lpstr>
      <vt:lpstr>Cambria Math</vt:lpstr>
      <vt:lpstr>Courier New</vt:lpstr>
      <vt:lpstr>FlandersArtSans-Bold</vt:lpstr>
      <vt:lpstr>FlandersArtSans-Medium</vt:lpstr>
      <vt:lpstr>FlandersArtSans-Regular</vt:lpstr>
      <vt:lpstr>Inconsolata</vt:lpstr>
      <vt:lpstr>Symbol</vt:lpstr>
      <vt:lpstr>1_Office Theme</vt:lpstr>
      <vt:lpstr>Machine learning with Python</vt:lpstr>
      <vt:lpstr>PowerPoint Presentation</vt:lpstr>
      <vt:lpstr>PowerPoint Presentation</vt:lpstr>
      <vt:lpstr>Introduction</vt:lpstr>
      <vt:lpstr>Machine learning tasks</vt:lpstr>
      <vt:lpstr>Regression</vt:lpstr>
      <vt:lpstr>Classification</vt:lpstr>
      <vt:lpstr>Reinforcement learning</vt:lpstr>
      <vt:lpstr>Clustering</vt:lpstr>
      <vt:lpstr>Applications in science</vt:lpstr>
      <vt:lpstr>Machine learning algorithms</vt:lpstr>
      <vt:lpstr>Issues</vt:lpstr>
      <vt:lpstr>Reasons for failure</vt:lpstr>
      <vt:lpstr>Frameworks</vt:lpstr>
      <vt:lpstr>Data pipelines</vt:lpstr>
      <vt:lpstr>Supervised learning: methodology</vt:lpstr>
      <vt:lpstr>scikit-learn</vt:lpstr>
      <vt:lpstr>scikit-learn</vt:lpstr>
      <vt:lpstr>Machine learning tasks</vt:lpstr>
      <vt:lpstr>Data set</vt:lpstr>
      <vt:lpstr>World happiness</vt:lpstr>
      <vt:lpstr>Task 1</vt:lpstr>
      <vt:lpstr>Let's peek…</vt:lpstr>
      <vt:lpstr>Missing values?</vt:lpstr>
      <vt:lpstr>Extracting data</vt:lpstr>
      <vt:lpstr>Numerical attributes pipeline</vt:lpstr>
      <vt:lpstr>Categorical attribute pipeline</vt:lpstr>
      <vt:lpstr>Combining pipelines &amp; execution</vt:lpstr>
      <vt:lpstr>Training &amp; prediction</vt:lpstr>
      <vt:lpstr>Score &amp; errors</vt:lpstr>
      <vt:lpstr>Fine tuning</vt:lpstr>
      <vt:lpstr>Training result</vt:lpstr>
      <vt:lpstr>Testing the model</vt:lpstr>
      <vt:lpstr>Test result</vt:lpstr>
      <vt:lpstr>Task 2</vt:lpstr>
      <vt:lpstr>Data preparation</vt:lpstr>
      <vt:lpstr>Training &amp; scoring</vt:lpstr>
      <vt:lpstr>Testing the model</vt:lpstr>
      <vt:lpstr>Actually…</vt:lpstr>
      <vt:lpstr>Data set properties</vt:lpstr>
      <vt:lpstr>Task 3</vt:lpstr>
      <vt:lpstr>k-means algorithm</vt:lpstr>
      <vt:lpstr>Data preparation &amp; Training</vt:lpstr>
      <vt:lpstr>Examine clusters</vt:lpstr>
      <vt:lpstr>And the winners are…</vt:lpstr>
      <vt:lpstr>Keras</vt:lpstr>
      <vt:lpstr>Keras</vt:lpstr>
      <vt:lpstr>From neurons to ANNs</vt:lpstr>
      <vt:lpstr>Multilayer network</vt:lpstr>
      <vt:lpstr>Training: backpropagation</vt:lpstr>
      <vt:lpstr>Task: handwritten digit recognition</vt:lpstr>
      <vt:lpstr>First approach</vt:lpstr>
      <vt:lpstr>Deep neural networks</vt:lpstr>
      <vt:lpstr>Convolutional neural networks</vt:lpstr>
      <vt:lpstr>Convolution examples</vt:lpstr>
      <vt:lpstr>Second approach</vt:lpstr>
      <vt:lpstr>Task: sentiment classification</vt:lpstr>
      <vt:lpstr>Word embedding</vt:lpstr>
      <vt:lpstr>How to remember?</vt:lpstr>
      <vt:lpstr>Gated Recurrent Unit (GRU)</vt:lpstr>
      <vt:lpstr>Approach</vt:lpstr>
      <vt:lpstr>Caveat</vt:lpstr>
      <vt:lpstr>Conclusions</vt:lpstr>
      <vt:lpstr>Further reading</vt:lpstr>
    </vt:vector>
  </TitlesOfParts>
  <Company>UHasselt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Machine Learning/AI</dc:title>
  <dc:creator>Geert Jan Bex</dc:creator>
  <cp:lastModifiedBy>Geert Jan Bex</cp:lastModifiedBy>
  <cp:revision>118</cp:revision>
  <dcterms:created xsi:type="dcterms:W3CDTF">2019-05-02T08:06:12Z</dcterms:created>
  <dcterms:modified xsi:type="dcterms:W3CDTF">2026-01-12T13:07:07Z</dcterms:modified>
</cp:coreProperties>
</file>