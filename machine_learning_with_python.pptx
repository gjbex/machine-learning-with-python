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257" r:id="rId2"/>
    <p:sldId id="281" r:id="rId3"/>
    <p:sldId id="784" r:id="rId4"/>
    <p:sldId id="258" r:id="rId5"/>
    <p:sldId id="259" r:id="rId6"/>
    <p:sldId id="260" r:id="rId7"/>
    <p:sldId id="261" r:id="rId8"/>
    <p:sldId id="266" r:id="rId9"/>
    <p:sldId id="265" r:id="rId10"/>
    <p:sldId id="274" r:id="rId11"/>
    <p:sldId id="267" r:id="rId12"/>
    <p:sldId id="277" r:id="rId13"/>
    <p:sldId id="268" r:id="rId14"/>
    <p:sldId id="262" r:id="rId15"/>
    <p:sldId id="273" r:id="rId16"/>
    <p:sldId id="276" r:id="rId17"/>
    <p:sldId id="751" r:id="rId18"/>
    <p:sldId id="263" r:id="rId19"/>
    <p:sldId id="761" r:id="rId20"/>
    <p:sldId id="754" r:id="rId21"/>
    <p:sldId id="779" r:id="rId22"/>
    <p:sldId id="762" r:id="rId23"/>
    <p:sldId id="755" r:id="rId24"/>
    <p:sldId id="760" r:id="rId25"/>
    <p:sldId id="756" r:id="rId26"/>
    <p:sldId id="757" r:id="rId27"/>
    <p:sldId id="758" r:id="rId28"/>
    <p:sldId id="759" r:id="rId29"/>
    <p:sldId id="763" r:id="rId30"/>
    <p:sldId id="764" r:id="rId31"/>
    <p:sldId id="765" r:id="rId32"/>
    <p:sldId id="766" r:id="rId33"/>
    <p:sldId id="768" r:id="rId34"/>
    <p:sldId id="767" r:id="rId35"/>
    <p:sldId id="771" r:id="rId36"/>
    <p:sldId id="772" r:id="rId37"/>
    <p:sldId id="773" r:id="rId38"/>
    <p:sldId id="774" r:id="rId39"/>
    <p:sldId id="775" r:id="rId40"/>
    <p:sldId id="776" r:id="rId41"/>
    <p:sldId id="777" r:id="rId42"/>
    <p:sldId id="785" r:id="rId43"/>
    <p:sldId id="778" r:id="rId44"/>
    <p:sldId id="780" r:id="rId45"/>
    <p:sldId id="781" r:id="rId46"/>
    <p:sldId id="783" r:id="rId47"/>
    <p:sldId id="264" r:id="rId48"/>
    <p:sldId id="270" r:id="rId49"/>
    <p:sldId id="271" r:id="rId50"/>
    <p:sldId id="272" r:id="rId51"/>
    <p:sldId id="279" r:id="rId52"/>
    <p:sldId id="280" r:id="rId53"/>
    <p:sldId id="275" r:id="rId54"/>
    <p:sldId id="278" r:id="rId55"/>
    <p:sldId id="269" r:id="rId56"/>
    <p:sldId id="282" r:id="rId57"/>
    <p:sldId id="787" r:id="rId58"/>
    <p:sldId id="284" r:id="rId59"/>
    <p:sldId id="769" r:id="rId60"/>
    <p:sldId id="770" r:id="rId61"/>
    <p:sldId id="786" r:id="rId62"/>
    <p:sldId id="283" r:id="rId63"/>
    <p:sldId id="286" r:id="rId64"/>
    <p:sldId id="287" r:id="rId65"/>
    <p:sldId id="285" r:id="rId66"/>
    <p:sldId id="28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09F8CD-7950-4357-AE6E-4FA8C309AE03}">
          <p14:sldIdLst>
            <p14:sldId id="257"/>
            <p14:sldId id="281"/>
            <p14:sldId id="784"/>
          </p14:sldIdLst>
        </p14:section>
        <p14:section name="Introduction" id="{857C6A2F-A767-4067-AE01-714D1130F04F}">
          <p14:sldIdLst>
            <p14:sldId id="258"/>
            <p14:sldId id="259"/>
            <p14:sldId id="260"/>
            <p14:sldId id="261"/>
            <p14:sldId id="266"/>
            <p14:sldId id="265"/>
            <p14:sldId id="274"/>
            <p14:sldId id="267"/>
            <p14:sldId id="277"/>
            <p14:sldId id="268"/>
            <p14:sldId id="262"/>
            <p14:sldId id="273"/>
            <p14:sldId id="276"/>
          </p14:sldIdLst>
        </p14:section>
        <p14:section name="scikit-learn" id="{82873838-D687-4616-BE1C-69F7C2075341}">
          <p14:sldIdLst>
            <p14:sldId id="751"/>
            <p14:sldId id="263"/>
            <p14:sldId id="761"/>
            <p14:sldId id="754"/>
            <p14:sldId id="779"/>
            <p14:sldId id="762"/>
            <p14:sldId id="755"/>
            <p14:sldId id="760"/>
            <p14:sldId id="756"/>
            <p14:sldId id="757"/>
            <p14:sldId id="758"/>
            <p14:sldId id="759"/>
            <p14:sldId id="763"/>
            <p14:sldId id="764"/>
            <p14:sldId id="765"/>
            <p14:sldId id="766"/>
            <p14:sldId id="768"/>
            <p14:sldId id="767"/>
            <p14:sldId id="771"/>
            <p14:sldId id="772"/>
            <p14:sldId id="773"/>
            <p14:sldId id="774"/>
            <p14:sldId id="775"/>
            <p14:sldId id="776"/>
            <p14:sldId id="777"/>
            <p14:sldId id="785"/>
            <p14:sldId id="778"/>
            <p14:sldId id="780"/>
            <p14:sldId id="781"/>
          </p14:sldIdLst>
        </p14:section>
        <p14:section name="PyTorch" id="{9F3F42B8-B707-44BB-A726-56CA00C9AC2D}">
          <p14:sldIdLst>
            <p14:sldId id="783"/>
            <p14:sldId id="264"/>
            <p14:sldId id="270"/>
            <p14:sldId id="271"/>
            <p14:sldId id="272"/>
            <p14:sldId id="279"/>
            <p14:sldId id="280"/>
            <p14:sldId id="275"/>
            <p14:sldId id="278"/>
            <p14:sldId id="269"/>
            <p14:sldId id="282"/>
            <p14:sldId id="787"/>
          </p14:sldIdLst>
        </p14:section>
        <p14:section name="Conclusions" id="{A9B2E2E8-EE28-4C08-9F33-76B98F6A83CB}">
          <p14:sldIdLst>
            <p14:sldId id="284"/>
            <p14:sldId id="769"/>
            <p14:sldId id="770"/>
          </p14:sldIdLst>
        </p14:section>
        <p14:section name="Optional material" id="{96DC4B35-3357-4134-92E2-29E83CE22F06}">
          <p14:sldIdLst>
            <p14:sldId id="786"/>
            <p14:sldId id="283"/>
            <p14:sldId id="286"/>
            <p14:sldId id="287"/>
            <p14:sldId id="285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2" autoAdjust="0"/>
    <p:restoredTop sz="95597" autoAdjust="0"/>
  </p:normalViewPr>
  <p:slideViewPr>
    <p:cSldViewPr snapToGrid="0">
      <p:cViewPr varScale="1">
        <p:scale>
          <a:sx n="121" d="100"/>
          <a:sy n="121" d="100"/>
        </p:scale>
        <p:origin x="204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9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5F7A3-80FA-4DE8-9E10-D5FD6AAF4E4C}" type="datetimeFigureOut">
              <a:rPr lang="en-US" smtClean="0"/>
              <a:t>2026-09-08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AB5DE-4D54-4E1E-B02D-B50369E9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6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dnuggets.com/2018/07/why-machine-learning-project-fail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https://www.kdnuggets.com/2018/07/why-machine-learning-project-fail.html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AAB5DE-4D54-4E1E-B02D-B50369E95D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participants to apply the decision test before revealing the three choices.</a:t>
            </a:r>
          </a:p>
          <a:p>
            <a:r>
              <a:t>The boundary is whether training machinery is infrastructure or part of the experimental variable—not the researcher’s discipline.</a:t>
            </a:r>
          </a:p>
          <a:p>
            <a:r>
              <a:t>Lightning remains PyTorch: keep models, losses, data and scientific metrics as ordinary PyTorch components.</a:t>
            </a:r>
          </a:p>
          <a:p>
            <a:r>
              <a:t>Fabric is the middle ground when the researcher wants distributed setup but needs the loop to remain explicit.</a:t>
            </a:r>
          </a:p>
          <a:p>
            <a:r>
              <a:t>For experimental distributed APIs such as Lightning ModelParallelStrategy/FSDP2, pin compatible framework versions.</a:t>
            </a:r>
          </a:p>
          <a:p>
            <a:r>
              <a:t>[Sources]</a:t>
            </a:r>
          </a:p>
          <a:p>
            <a:r>
              <a:t>- https://lightning.ai/docs/pytorch/stable/common/lightning_module.html</a:t>
            </a:r>
          </a:p>
          <a:p>
            <a:r>
              <a:t>- https://lightning.ai/docs/fabric/stable/</a:t>
            </a:r>
          </a:p>
          <a:p>
            <a:r>
              <a:t>- https://lightning.ai/docs/pytorch/stable/api/lightning.pytorch.strategies.ModelParallelStrategy.html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12D417FB-DB75-4510-8AD7-5416595AADD8}" type="datetime1">
              <a:rPr lang="en-US" smtClean="0"/>
              <a:t>2026-09-08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8" name="Rectangle 6"/>
          <p:cNvSpPr/>
          <p:nvPr userDrawn="1"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FlandersArtSans-Medium" panose="00000600000000000000" pitchFamily="2" charset="0"/>
              </a:rPr>
              <a:t>vscentrum</a:t>
            </a:r>
            <a:r>
              <a:rPr lang="en-US" dirty="0"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6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7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9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7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8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9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/>
          <p:cNvSpPr/>
          <p:nvPr userDrawn="1"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 userDrawn="1"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5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0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8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91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27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12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84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28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vscentrum.be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42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0059"/>
      </p:ext>
    </p:extLst>
  </p:cSld>
  <p:clrMapOvr>
    <a:masterClrMapping/>
  </p:clrMapOvr>
  <p:transition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8E59-F64F-416B-85C7-F58EA54BAF31}" type="datetime1">
              <a:rPr lang="nl-BE" smtClean="0"/>
              <a:t>8/09/2026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3269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C3B5-60AD-4494-9CFA-8B02B158E887}" type="datetime1">
              <a:rPr lang="nl-BE" smtClean="0"/>
              <a:t>8/09/2026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8662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94A8-27B8-4F4D-B345-90FD4A1447E9}" type="datetime1">
              <a:rPr lang="nl-BE" smtClean="0"/>
              <a:t>8/09/2026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5046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0EF99-E673-4972-A23A-EB3FD1F7D254}" type="datetime1">
              <a:rPr lang="nl-BE" smtClean="0"/>
              <a:t>8/09/2026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899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6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0h3fr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inyclouds.org/colorize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i.googleblog.com/2014/09/building-deeper-understanding-of-images.html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youtube.com/watch?v=V1eYniJ0Rnk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djournals.com/uploads/article/GRDJE/V02/I05/0176/GRDJEV02I050176.pdf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Machine-learning-with-Python/tree/master/source-code/scikit-learn" TargetMode="Externa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orldhappiness.report/" TargetMode="Externa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ld_Happiness_Repor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Machine-learning-with-Python/tree/master/source-code/pytorch" TargetMode="Externa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0.png"/><Relationship Id="rId18" Type="http://schemas.openxmlformats.org/officeDocument/2006/relationships/image" Target="../media/image40.png"/><Relationship Id="rId3" Type="http://schemas.openxmlformats.org/officeDocument/2006/relationships/image" Target="../media/image34.jpeg"/><Relationship Id="rId7" Type="http://schemas.openxmlformats.org/officeDocument/2006/relationships/image" Target="../media/image290.png"/><Relationship Id="rId12" Type="http://schemas.openxmlformats.org/officeDocument/2006/relationships/image" Target="../media/image340.png"/><Relationship Id="rId17" Type="http://schemas.openxmlformats.org/officeDocument/2006/relationships/image" Target="../media/image39.png"/><Relationship Id="rId2" Type="http://schemas.openxmlformats.org/officeDocument/2006/relationships/image" Target="../media/image33.png"/><Relationship Id="rId16" Type="http://schemas.openxmlformats.org/officeDocument/2006/relationships/image" Target="../media/image38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0.png"/><Relationship Id="rId11" Type="http://schemas.openxmlformats.org/officeDocument/2006/relationships/image" Target="../media/image330.png"/><Relationship Id="rId5" Type="http://schemas.openxmlformats.org/officeDocument/2006/relationships/image" Target="../media/image35.png"/><Relationship Id="rId15" Type="http://schemas.openxmlformats.org/officeDocument/2006/relationships/image" Target="../media/image370.png"/><Relationship Id="rId10" Type="http://schemas.openxmlformats.org/officeDocument/2006/relationships/image" Target="../media/image320.png"/><Relationship Id="rId4" Type="http://schemas.openxmlformats.org/officeDocument/2006/relationships/image" Target="../media/image270.png"/><Relationship Id="rId9" Type="http://schemas.openxmlformats.org/officeDocument/2006/relationships/image" Target="../media/image310.png"/><Relationship Id="rId14" Type="http://schemas.openxmlformats.org/officeDocument/2006/relationships/image" Target="../media/image36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4.png"/><Relationship Id="rId11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hyperlink" Target="http://inspirobot.me/" TargetMode="Externa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basics/intro.html" TargetMode="External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Machine learning with Python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Geert Jan Bex (</a:t>
            </a:r>
            <a:r>
              <a:rPr lang="en-US" sz="2800" dirty="0">
                <a:hlinkClick r:id="rId2"/>
              </a:rPr>
              <a:t>geertjan.bex@uhasselt.be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85B8-8E3C-4512-97FD-25CAA594590E}"/>
              </a:ext>
            </a:extLst>
          </p:cNvPr>
          <p:cNvSpPr txBox="1"/>
          <p:nvPr/>
        </p:nvSpPr>
        <p:spPr>
          <a:xfrm>
            <a:off x="467169" y="4502383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96352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CEC010-2C91-4CDD-574B-3CD7EE78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755" y="104192"/>
            <a:ext cx="5326224" cy="53262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1924-8AEA-4C8F-95FA-4768DA10573C}"/>
              </a:ext>
            </a:extLst>
          </p:cNvPr>
          <p:cNvSpPr txBox="1"/>
          <p:nvPr/>
        </p:nvSpPr>
        <p:spPr>
          <a:xfrm>
            <a:off x="3741672" y="5244860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hlinkClick r:id="rId3"/>
              </a:rPr>
              <a:t>https://bit.ly/40h3frb</a:t>
            </a:r>
            <a:r>
              <a:rPr lang="en-GB" sz="3200" dirty="0"/>
              <a:t> 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202872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5F573-6165-481B-AC47-5C89E7A1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78E97EA1-949E-42CD-9ADA-2D8F1E328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is making great strides</a:t>
            </a:r>
          </a:p>
          <a:p>
            <a:pPr lvl="1"/>
            <a:r>
              <a:rPr lang="en-US" dirty="0"/>
              <a:t>Large, good data sets</a:t>
            </a:r>
          </a:p>
          <a:p>
            <a:pPr lvl="1"/>
            <a:r>
              <a:rPr lang="en-US" dirty="0"/>
              <a:t>Compute power</a:t>
            </a:r>
          </a:p>
          <a:p>
            <a:pPr lvl="1"/>
            <a:r>
              <a:rPr lang="en-US" dirty="0"/>
              <a:t>Progress in algorithms</a:t>
            </a:r>
          </a:p>
          <a:p>
            <a:r>
              <a:rPr lang="en-US" dirty="0"/>
              <a:t>Many interesting applications</a:t>
            </a:r>
          </a:p>
          <a:p>
            <a:pPr lvl="1"/>
            <a:r>
              <a:rPr lang="en-US" dirty="0"/>
              <a:t>commercial</a:t>
            </a:r>
          </a:p>
          <a:p>
            <a:pPr lvl="1"/>
            <a:r>
              <a:rPr lang="en-US" dirty="0"/>
              <a:t>scientific</a:t>
            </a:r>
          </a:p>
          <a:p>
            <a:r>
              <a:rPr lang="en-US" dirty="0"/>
              <a:t>Links with artificial intelligence</a:t>
            </a:r>
          </a:p>
          <a:p>
            <a:pPr lvl="1"/>
            <a:r>
              <a:rPr lang="en-US" dirty="0"/>
              <a:t>However, AI </a:t>
            </a:r>
            <a:r>
              <a:rPr lang="en-US" dirty="0">
                <a:sym typeface="Symbol" panose="05050102010706020507" pitchFamily="18" charset="2"/>
              </a:rPr>
              <a:t></a:t>
            </a:r>
            <a:r>
              <a:rPr lang="en-US" dirty="0"/>
              <a:t> 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</a:t>
            </a:fld>
            <a:endParaRPr lang="nl-BE"/>
          </a:p>
        </p:txBody>
      </p:sp>
      <p:pic>
        <p:nvPicPr>
          <p:cNvPr id="3074" name="Picture 2" descr="Image result for artificial intellig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246" y="2597524"/>
            <a:ext cx="4591779" cy="263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94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</a:t>
            </a:r>
          </a:p>
          <a:p>
            <a:pPr lvl="1"/>
            <a:r>
              <a:rPr lang="en-US" dirty="0"/>
              <a:t>regression: predict numerical values</a:t>
            </a:r>
          </a:p>
          <a:p>
            <a:pPr lvl="1"/>
            <a:r>
              <a:rPr lang="en-US" dirty="0"/>
              <a:t>classification: predict categorical values, i.e., labels</a:t>
            </a:r>
          </a:p>
          <a:p>
            <a:r>
              <a:rPr lang="en-US" dirty="0"/>
              <a:t>Unsupervised learning</a:t>
            </a:r>
          </a:p>
          <a:p>
            <a:pPr lvl="1"/>
            <a:r>
              <a:rPr lang="en-US" dirty="0"/>
              <a:t>clustering: group data according to "distance"</a:t>
            </a:r>
          </a:p>
          <a:p>
            <a:pPr lvl="1"/>
            <a:r>
              <a:rPr lang="en-US" dirty="0"/>
              <a:t>association: find frequent co-occurrences</a:t>
            </a:r>
          </a:p>
          <a:p>
            <a:pPr lvl="1"/>
            <a:r>
              <a:rPr lang="en-US" dirty="0"/>
              <a:t>link prediction: discover relationships in data</a:t>
            </a:r>
          </a:p>
          <a:p>
            <a:pPr lvl="1"/>
            <a:r>
              <a:rPr lang="en-US" dirty="0"/>
              <a:t>data reduction: project features to fewer features</a:t>
            </a:r>
          </a:p>
          <a:p>
            <a:r>
              <a:rPr lang="en-US" dirty="0"/>
              <a:t>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73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Colorize B&amp;W images automatically</a:t>
            </a:r>
          </a:p>
          <a:p>
            <a:r>
              <a:rPr lang="en-US" dirty="0">
                <a:hlinkClick r:id="rId2"/>
              </a:rPr>
              <a:t>https://tinyclouds.org/colorize/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6</a:t>
            </a:fld>
            <a:endParaRPr lang="en-US"/>
          </a:p>
        </p:txBody>
      </p:sp>
      <p:pic>
        <p:nvPicPr>
          <p:cNvPr id="1028" name="Picture 4" descr="Colorization of Black and White Photographs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1" r="620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12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Object recognition</a:t>
            </a:r>
          </a:p>
          <a:p>
            <a:r>
              <a:rPr lang="en-US" dirty="0">
                <a:hlinkClick r:id="rId2"/>
              </a:rPr>
              <a:t>https://ai.googleblog.com/2014/09/building-deeper-understanding-of-images.html</a:t>
            </a:r>
            <a:endParaRPr lang="en-US" dirty="0"/>
          </a:p>
        </p:txBody>
      </p:sp>
      <p:pic>
        <p:nvPicPr>
          <p:cNvPr id="2052" name="Picture 4" descr="Automatic Object Detection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8" r="43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51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Reinforcement learning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BE" dirty="0"/>
              <a:t>Learning to play Break Out</a:t>
            </a:r>
          </a:p>
          <a:p>
            <a:r>
              <a:rPr lang="en-US" dirty="0">
                <a:hlinkClick r:id="rId2"/>
              </a:rPr>
              <a:t>https://www.youtube.com/watch?v=V1eYniJ0Rnk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8</a:t>
            </a:fld>
            <a:endParaRPr lang="en-US"/>
          </a:p>
        </p:txBody>
      </p:sp>
      <p:pic>
        <p:nvPicPr>
          <p:cNvPr id="6146" name="Picture 2" descr="https://i.ytimg.com/vi/V1eYniJ0Rnk/maxresdefault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1" r="1438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111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Clustering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4205" b="2420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BE" dirty="0"/>
              <a:t>Crime prediction using k-means clustering</a:t>
            </a:r>
          </a:p>
          <a:p>
            <a:r>
              <a:rPr lang="en-US" dirty="0">
                <a:hlinkClick r:id="rId3"/>
              </a:rPr>
              <a:t>http://www.grdjournals.com/uploads/article/GRDJE/V02/I05/0176/GRDJEV02I050176.pdf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Applications in science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42288">
            <a:off x="5669279" y="2174425"/>
            <a:ext cx="4894761" cy="23328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23078">
            <a:off x="6285548" y="1023394"/>
            <a:ext cx="5131390" cy="15858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75860">
            <a:off x="652476" y="1956171"/>
            <a:ext cx="5390469" cy="20039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98512">
            <a:off x="1387941" y="3627307"/>
            <a:ext cx="3919537" cy="2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8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Machine learning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BE" dirty="0"/>
              <a:t>Regression:</a:t>
            </a:r>
            <a:br>
              <a:rPr lang="en-BE" dirty="0"/>
            </a:br>
            <a:r>
              <a:rPr lang="en-BE" dirty="0"/>
              <a:t>Ridge regression, Support Vector Machines, Random Forest,</a:t>
            </a:r>
            <a:br>
              <a:rPr lang="en-BE" dirty="0"/>
            </a:br>
            <a:r>
              <a:rPr lang="en-BE" dirty="0"/>
              <a:t>Multilayer Neural Networks, Deep Neural Networks, ...</a:t>
            </a:r>
          </a:p>
          <a:p>
            <a:endParaRPr lang="en-BE" dirty="0"/>
          </a:p>
          <a:p>
            <a:r>
              <a:rPr lang="en-BE" dirty="0"/>
              <a:t>Classification:</a:t>
            </a:r>
            <a:br>
              <a:rPr lang="en-BE" dirty="0"/>
            </a:br>
            <a:r>
              <a:rPr lang="en-BE" dirty="0"/>
              <a:t>Naive Base, Support Vector Machines,</a:t>
            </a:r>
            <a:br>
              <a:rPr lang="en-BE" dirty="0"/>
            </a:br>
            <a:r>
              <a:rPr lang="en-BE" dirty="0"/>
              <a:t>Random Forest, Multilayer Neural Networks,</a:t>
            </a:r>
            <a:br>
              <a:rPr lang="en-BE" dirty="0"/>
            </a:br>
            <a:r>
              <a:rPr lang="en-BE" dirty="0"/>
              <a:t>Deep Neural Networks, ...</a:t>
            </a:r>
          </a:p>
          <a:p>
            <a:endParaRPr lang="en-BE" dirty="0"/>
          </a:p>
          <a:p>
            <a:r>
              <a:rPr lang="en-BE" dirty="0"/>
              <a:t>Clustering:</a:t>
            </a:r>
            <a:br>
              <a:rPr lang="en-BE" dirty="0"/>
            </a:br>
            <a:r>
              <a:rPr lang="en-BE" dirty="0"/>
              <a:t>k-Means, Hierarchical Clustering, ...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</a:t>
            </a:fld>
            <a:endParaRPr lang="nl-BE"/>
          </a:p>
        </p:txBody>
      </p:sp>
      <p:sp>
        <p:nvSpPr>
          <p:cNvPr id="5" name="Rectangle 4"/>
          <p:cNvSpPr/>
          <p:nvPr/>
        </p:nvSpPr>
        <p:spPr>
          <a:xfrm>
            <a:off x="1140823" y="4319453"/>
            <a:ext cx="3230880" cy="3831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8" name="Picture 10" descr="Image result for support vector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778" y="3196046"/>
            <a:ext cx="2117199" cy="208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7C55D9-AF40-43E1-95B9-7D63F913EEBC}"/>
              </a:ext>
            </a:extLst>
          </p:cNvPr>
          <p:cNvSpPr/>
          <p:nvPr/>
        </p:nvSpPr>
        <p:spPr>
          <a:xfrm>
            <a:off x="1097279" y="5504786"/>
            <a:ext cx="1247988" cy="3831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83824E-31B2-4CB1-B877-BB0502CF8221}"/>
              </a:ext>
            </a:extLst>
          </p:cNvPr>
          <p:cNvSpPr/>
          <p:nvPr/>
        </p:nvSpPr>
        <p:spPr>
          <a:xfrm>
            <a:off x="1140823" y="3638680"/>
            <a:ext cx="1602377" cy="3831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C827CC-711B-44B2-A36E-5EF35AD20D4D}"/>
              </a:ext>
            </a:extLst>
          </p:cNvPr>
          <p:cNvSpPr/>
          <p:nvPr/>
        </p:nvSpPr>
        <p:spPr>
          <a:xfrm>
            <a:off x="1097279" y="2153385"/>
            <a:ext cx="2433321" cy="38317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Many machine learning/AI projects fail</a:t>
            </a:r>
            <a:br>
              <a:rPr lang="en-BE" dirty="0"/>
            </a:br>
            <a:r>
              <a:rPr lang="en-BE" dirty="0"/>
              <a:t>(Gartner claims 85 %)</a:t>
            </a:r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Ethics, e.g., Amazon has/had</a:t>
            </a:r>
            <a:br>
              <a:rPr lang="en-BE" dirty="0"/>
            </a:br>
            <a:r>
              <a:rPr lang="en-BE" dirty="0"/>
              <a:t>sub-par employees fired by an AI</a:t>
            </a:r>
            <a:br>
              <a:rPr lang="en-BE" dirty="0"/>
            </a:br>
            <a:r>
              <a:rPr lang="en-BE" dirty="0"/>
              <a:t>automatically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12</a:t>
            </a:fld>
            <a:endParaRPr lang="nl-BE"/>
          </a:p>
        </p:txBody>
      </p:sp>
      <p:pic>
        <p:nvPicPr>
          <p:cNvPr id="7170" name="Picture 2" descr="Image result for termin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339" y="3531479"/>
            <a:ext cx="3044940" cy="183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 result for project fail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638" y="1549470"/>
            <a:ext cx="2844698" cy="146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0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Reasons for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BE" dirty="0"/>
              <a:t>Asking the wrong question</a:t>
            </a:r>
          </a:p>
          <a:p>
            <a:r>
              <a:rPr lang="en-BE" dirty="0"/>
              <a:t>Trying to solve the wrong problem</a:t>
            </a:r>
          </a:p>
          <a:p>
            <a:r>
              <a:rPr lang="en-BE" dirty="0"/>
              <a:t>Not having enough data</a:t>
            </a:r>
          </a:p>
          <a:p>
            <a:r>
              <a:rPr lang="en-BE" dirty="0"/>
              <a:t>Not having the right data</a:t>
            </a:r>
          </a:p>
          <a:p>
            <a:r>
              <a:rPr lang="en-BE" dirty="0"/>
              <a:t>Having too much data</a:t>
            </a:r>
          </a:p>
          <a:p>
            <a:r>
              <a:rPr lang="en-BE" dirty="0"/>
              <a:t>Hiring the wrong people</a:t>
            </a:r>
          </a:p>
          <a:p>
            <a:r>
              <a:rPr lang="en-BE" dirty="0"/>
              <a:t>Using the wrong tools</a:t>
            </a:r>
          </a:p>
          <a:p>
            <a:r>
              <a:rPr lang="en-BE" dirty="0"/>
              <a:t>Not having the right model</a:t>
            </a:r>
          </a:p>
          <a:p>
            <a:r>
              <a:rPr lang="en-BE" dirty="0"/>
              <a:t>Not having the right yardstick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13</a:t>
            </a:fld>
            <a:endParaRPr lang="nl-BE"/>
          </a:p>
        </p:txBody>
      </p:sp>
      <p:pic>
        <p:nvPicPr>
          <p:cNvPr id="8196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206" y="2300158"/>
            <a:ext cx="3937307" cy="295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74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Programming languages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R</a:t>
            </a:r>
          </a:p>
          <a:p>
            <a:pPr lvl="1"/>
            <a:r>
              <a:rPr lang="en-US" dirty="0"/>
              <a:t>C++</a:t>
            </a:r>
            <a:endParaRPr lang="en-BE" dirty="0"/>
          </a:p>
          <a:p>
            <a:pPr lvl="1"/>
            <a:r>
              <a:rPr lang="en-BE" dirty="0"/>
              <a:t>...</a:t>
            </a:r>
            <a:endParaRPr lang="en-US" dirty="0"/>
          </a:p>
          <a:p>
            <a:r>
              <a:rPr lang="en-US" dirty="0"/>
              <a:t>Many libraries</a:t>
            </a:r>
          </a:p>
          <a:p>
            <a:pPr lvl="1"/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 lvl="1"/>
            <a:r>
              <a:rPr lang="en-US" dirty="0" err="1"/>
              <a:t>Keras</a:t>
            </a:r>
            <a:endParaRPr lang="en-US" dirty="0"/>
          </a:p>
          <a:p>
            <a:pPr lvl="1"/>
            <a:r>
              <a:rPr lang="en-US" dirty="0" err="1"/>
              <a:t>TensorFlow</a:t>
            </a:r>
            <a:endParaRPr lang="en-US" dirty="0"/>
          </a:p>
          <a:p>
            <a:pPr lvl="1"/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14</a:t>
            </a:fld>
            <a:endParaRPr lang="nl-BE"/>
          </a:p>
        </p:txBody>
      </p:sp>
      <p:grpSp>
        <p:nvGrpSpPr>
          <p:cNvPr id="9" name="Group 8"/>
          <p:cNvGrpSpPr/>
          <p:nvPr/>
        </p:nvGrpSpPr>
        <p:grpSpPr>
          <a:xfrm>
            <a:off x="3976382" y="3680111"/>
            <a:ext cx="6082018" cy="492685"/>
            <a:chOff x="1630431" y="3327488"/>
            <a:chExt cx="6082018" cy="492685"/>
          </a:xfrm>
        </p:grpSpPr>
        <p:sp>
          <p:nvSpPr>
            <p:cNvPr id="5" name="TextBox 4"/>
            <p:cNvSpPr txBox="1"/>
            <p:nvPr/>
          </p:nvSpPr>
          <p:spPr>
            <a:xfrm>
              <a:off x="4542137" y="3327488"/>
              <a:ext cx="3170312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classic machine learning</a:t>
              </a:r>
            </a:p>
          </p:txBody>
        </p:sp>
        <p:cxnSp>
          <p:nvCxnSpPr>
            <p:cNvPr id="7" name="Straight Arrow Connector 6"/>
            <p:cNvCxnSpPr>
              <a:stCxn id="5" idx="1"/>
            </p:cNvCxnSpPr>
            <p:nvPr/>
          </p:nvCxnSpPr>
          <p:spPr>
            <a:xfrm flipH="1">
              <a:off x="1630431" y="3527543"/>
              <a:ext cx="2911706" cy="29263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976382" y="4473640"/>
            <a:ext cx="6082018" cy="1311348"/>
            <a:chOff x="2452382" y="4006506"/>
            <a:chExt cx="6082018" cy="1311348"/>
          </a:xfrm>
        </p:grpSpPr>
        <p:grpSp>
          <p:nvGrpSpPr>
            <p:cNvPr id="10" name="Group 9"/>
            <p:cNvGrpSpPr/>
            <p:nvPr/>
          </p:nvGrpSpPr>
          <p:grpSpPr>
            <a:xfrm>
              <a:off x="2668406" y="4206100"/>
              <a:ext cx="5865994" cy="456080"/>
              <a:chOff x="1846455" y="3399712"/>
              <a:chExt cx="5865994" cy="45608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542137" y="3399712"/>
                <a:ext cx="3170312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deep learning frameworks</a:t>
                </a:r>
              </a:p>
            </p:txBody>
          </p:sp>
          <p:cxnSp>
            <p:nvCxnSpPr>
              <p:cNvPr id="12" name="Straight Arrow Connector 11"/>
              <p:cNvCxnSpPr>
                <a:stCxn id="11" idx="1"/>
                <a:endCxn id="15" idx="1"/>
              </p:cNvCxnSpPr>
              <p:nvPr/>
            </p:nvCxnSpPr>
            <p:spPr>
              <a:xfrm flipH="1">
                <a:off x="1846455" y="3599767"/>
                <a:ext cx="2695682" cy="2560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ight Brace 14"/>
            <p:cNvSpPr/>
            <p:nvPr/>
          </p:nvSpPr>
          <p:spPr>
            <a:xfrm>
              <a:off x="2452382" y="4006506"/>
              <a:ext cx="216024" cy="131134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434132" y="2345659"/>
            <a:ext cx="3406702" cy="461665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Fast-evolving ecosystem!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4318" y="4114482"/>
            <a:ext cx="1656184" cy="39197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534318" y="5152004"/>
            <a:ext cx="1656184" cy="39197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34318" y="2227653"/>
            <a:ext cx="1656184" cy="39197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0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20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Data pipelines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Data ingestion</a:t>
            </a:r>
          </a:p>
          <a:p>
            <a:pPr lvl="1"/>
            <a:r>
              <a:rPr lang="en-BE" dirty="0"/>
              <a:t>CSV/JSON/XML/H5 files, RDBMS, NoSQL, HTTP,...</a:t>
            </a:r>
          </a:p>
          <a:p>
            <a:r>
              <a:rPr lang="en-BE" dirty="0"/>
              <a:t>Data cleaning</a:t>
            </a:r>
          </a:p>
          <a:p>
            <a:pPr lvl="1"/>
            <a:r>
              <a:rPr lang="en-BE" dirty="0"/>
              <a:t>outliers/invalid values?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filter</a:t>
            </a:r>
          </a:p>
          <a:p>
            <a:pPr lvl="1"/>
            <a:r>
              <a:rPr lang="en-BE" dirty="0"/>
              <a:t>missing values?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impute</a:t>
            </a:r>
          </a:p>
          <a:p>
            <a:r>
              <a:rPr lang="en-BE" dirty="0"/>
              <a:t>Data transformation</a:t>
            </a:r>
          </a:p>
          <a:p>
            <a:pPr lvl="1"/>
            <a:r>
              <a:rPr lang="en-BE" dirty="0"/>
              <a:t>scaling/normalization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15</a:t>
            </a:fld>
            <a:endParaRPr lang="nl-BE"/>
          </a:p>
        </p:txBody>
      </p:sp>
      <p:grpSp>
        <p:nvGrpSpPr>
          <p:cNvPr id="5" name="Group 4"/>
          <p:cNvGrpSpPr/>
          <p:nvPr/>
        </p:nvGrpSpPr>
        <p:grpSpPr>
          <a:xfrm>
            <a:off x="5529943" y="2856412"/>
            <a:ext cx="6472554" cy="3151187"/>
            <a:chOff x="5529943" y="2856412"/>
            <a:chExt cx="6472554" cy="3151187"/>
          </a:xfrm>
        </p:grpSpPr>
        <p:pic>
          <p:nvPicPr>
            <p:cNvPr id="12290" name="Picture 2" descr="Data Pipelin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9943" y="3680977"/>
              <a:ext cx="6472554" cy="2326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532915" y="2856412"/>
              <a:ext cx="3084499" cy="46166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BE" sz="2400" i="1" dirty="0"/>
                <a:t>Must</a:t>
              </a:r>
              <a:r>
                <a:rPr lang="en-BE" dirty="0"/>
                <a:t> be done systematically</a:t>
              </a:r>
              <a:endParaRPr lang="en-US" dirty="0"/>
            </a:p>
          </p:txBody>
        </p:sp>
      </p:grpSp>
      <p:pic>
        <p:nvPicPr>
          <p:cNvPr id="8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937" y="5218151"/>
            <a:ext cx="1954023" cy="70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943" y="1596618"/>
            <a:ext cx="3188335" cy="6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9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Supervised learning: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Select model, e.g., random forest, (deep) neural network, ...</a:t>
            </a:r>
          </a:p>
          <a:p>
            <a:r>
              <a:rPr lang="en-BE" dirty="0"/>
              <a:t>Train model, i.e., determine parameters</a:t>
            </a:r>
          </a:p>
          <a:p>
            <a:pPr lvl="1"/>
            <a:r>
              <a:rPr lang="en-BE" dirty="0"/>
              <a:t>Data: input + output</a:t>
            </a:r>
          </a:p>
          <a:p>
            <a:pPr lvl="2"/>
            <a:r>
              <a:rPr lang="en-BE" dirty="0"/>
              <a:t>training data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determine model parameters</a:t>
            </a:r>
          </a:p>
          <a:p>
            <a:pPr lvl="2"/>
            <a:r>
              <a:rPr lang="en-BE" dirty="0"/>
              <a:t>validation data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yardstick to avoid overfitting</a:t>
            </a:r>
          </a:p>
          <a:p>
            <a:r>
              <a:rPr lang="en-BE" dirty="0"/>
              <a:t>Test model</a:t>
            </a:r>
          </a:p>
          <a:p>
            <a:pPr lvl="1"/>
            <a:r>
              <a:rPr lang="en-BE" dirty="0"/>
              <a:t>Data: input + output</a:t>
            </a:r>
          </a:p>
          <a:p>
            <a:pPr lvl="2"/>
            <a:r>
              <a:rPr lang="en-BE" dirty="0"/>
              <a:t>testing data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final scoring of the model</a:t>
            </a:r>
          </a:p>
          <a:p>
            <a:r>
              <a:rPr lang="en-BE" dirty="0"/>
              <a:t>Production</a:t>
            </a:r>
          </a:p>
          <a:p>
            <a:pPr lvl="1"/>
            <a:r>
              <a:rPr lang="en-BE" dirty="0"/>
              <a:t>Data: input </a:t>
            </a:r>
            <a:r>
              <a:rPr lang="en-BE" dirty="0">
                <a:sym typeface="Symbol" panose="05050102010706020507" pitchFamily="18" charset="2"/>
              </a:rPr>
              <a:t></a:t>
            </a:r>
            <a:r>
              <a:rPr lang="en-BE" dirty="0"/>
              <a:t> predict output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16</a:t>
            </a:fld>
            <a:endParaRPr lang="nl-BE"/>
          </a:p>
        </p:txBody>
      </p:sp>
      <p:pic>
        <p:nvPicPr>
          <p:cNvPr id="15362" name="Picture 2" descr="Image result for overfit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58" y="2833152"/>
            <a:ext cx="3876584" cy="144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26038" y="5172892"/>
            <a:ext cx="4629794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Experiment with underfitting and overfitting:</a:t>
            </a:r>
          </a:p>
          <a:p>
            <a:r>
              <a:rPr lang="en-BE" dirty="0">
                <a:latin typeface="Inconsolata" panose="00000509000000000000" pitchFamily="49" charset="0"/>
              </a:rPr>
              <a:t>010_underfitting_overfitting.ipynb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42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800" dirty="0">
                <a:hlinkClick r:id="rId2"/>
              </a:rPr>
              <a:t>https://github.com/gjbex/Machine-learning-with-Python/tree/master/source-code/scikit-learn</a:t>
            </a:r>
            <a:r>
              <a:rPr lang="en-GB" sz="1800" dirty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8022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Nice end-to-end framework</a:t>
            </a:r>
          </a:p>
          <a:p>
            <a:pPr lvl="1"/>
            <a:r>
              <a:rPr lang="en-US" dirty="0"/>
              <a:t>data exploration (+ pandas + </a:t>
            </a:r>
            <a:r>
              <a:rPr lang="en-US" dirty="0" err="1"/>
              <a:t>holoviews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data preprocessing (+ pandas)</a:t>
            </a:r>
          </a:p>
          <a:p>
            <a:pPr lvl="2"/>
            <a:r>
              <a:rPr lang="en-US" dirty="0"/>
              <a:t>cleaning/missing values</a:t>
            </a:r>
          </a:p>
          <a:p>
            <a:pPr lvl="2"/>
            <a:r>
              <a:rPr lang="en-US" dirty="0"/>
              <a:t>normalization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application</a:t>
            </a:r>
          </a:p>
          <a:p>
            <a:r>
              <a:rPr lang="en-US" dirty="0"/>
              <a:t>"Classic" machine learning only</a:t>
            </a:r>
          </a:p>
          <a:p>
            <a:r>
              <a:rPr lang="en-US" dirty="0">
                <a:hlinkClick r:id="rId2"/>
              </a:rPr>
              <a:t>https://scikit-learn.org/stable/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18</a:t>
            </a:fld>
            <a:endParaRPr lang="nl-BE"/>
          </a:p>
        </p:txBody>
      </p:sp>
      <p:pic>
        <p:nvPicPr>
          <p:cNvPr id="4098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880" y="3355989"/>
            <a:ext cx="3560297" cy="129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03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regression</a:t>
            </a:r>
            <a:r>
              <a:rPr lang="en-US" dirty="0"/>
              <a:t>: predict numerical values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classification</a:t>
            </a:r>
            <a:r>
              <a:rPr lang="en-US" dirty="0"/>
              <a:t>: predict categorical values, i.e., labels</a:t>
            </a:r>
          </a:p>
          <a:p>
            <a:r>
              <a:rPr lang="en-US" dirty="0"/>
              <a:t>Unsupervised learning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clustering</a:t>
            </a:r>
            <a:r>
              <a:rPr lang="en-US" dirty="0"/>
              <a:t>: group data according to "distance"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661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World happiness index 2015 &amp; 2016</a:t>
            </a:r>
            <a:br>
              <a:rPr lang="en-US" dirty="0"/>
            </a:br>
            <a:r>
              <a:rPr lang="en-US" sz="2400" dirty="0"/>
              <a:t>(</a:t>
            </a:r>
            <a:r>
              <a:rPr lang="en-US" sz="2400" dirty="0">
                <a:hlinkClick r:id="rId2"/>
              </a:rPr>
              <a:t>http://worldhappiness.report/</a:t>
            </a:r>
            <a:r>
              <a:rPr lang="en-US" sz="2400" dirty="0"/>
              <a:t>)</a:t>
            </a:r>
            <a:endParaRPr lang="en-US" dirty="0"/>
          </a:p>
          <a:p>
            <a:r>
              <a:rPr lang="en-US" dirty="0"/>
              <a:t>Happiness score for country based on</a:t>
            </a:r>
          </a:p>
          <a:p>
            <a:pPr lvl="1"/>
            <a:r>
              <a:rPr lang="en-US" dirty="0"/>
              <a:t>economic factors (GDP)</a:t>
            </a:r>
          </a:p>
          <a:p>
            <a:pPr lvl="1"/>
            <a:r>
              <a:rPr lang="en-US" dirty="0"/>
              <a:t>family situation (social network)</a:t>
            </a:r>
          </a:p>
          <a:p>
            <a:pPr lvl="1"/>
            <a:r>
              <a:rPr lang="en-US" dirty="0"/>
              <a:t>health care (life expectancy)</a:t>
            </a:r>
          </a:p>
          <a:p>
            <a:pPr lvl="1"/>
            <a:r>
              <a:rPr lang="en-US" dirty="0"/>
              <a:t>freedom</a:t>
            </a:r>
          </a:p>
          <a:p>
            <a:pPr lvl="1"/>
            <a:r>
              <a:rPr lang="en-US" dirty="0"/>
              <a:t>trust (government corruption)</a:t>
            </a:r>
          </a:p>
          <a:p>
            <a:pPr lvl="1"/>
            <a:r>
              <a:rPr lang="en-US" dirty="0"/>
              <a:t>generosity</a:t>
            </a:r>
          </a:p>
          <a:p>
            <a:pPr lvl="1"/>
            <a:r>
              <a:rPr lang="en-US" dirty="0"/>
              <a:t>dystopia residual</a:t>
            </a:r>
          </a:p>
          <a:p>
            <a:r>
              <a:rPr lang="en-US" dirty="0"/>
              <a:t>Geographical region, e.g.,</a:t>
            </a:r>
          </a:p>
          <a:p>
            <a:pPr lvl="1"/>
            <a:r>
              <a:rPr lang="en-US" dirty="0"/>
              <a:t>Western Europe, Southern Asia,…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20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539685" y="3671335"/>
            <a:ext cx="283923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quantitative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39685" y="5449055"/>
            <a:ext cx="285457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categorical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6620" y="1324228"/>
            <a:ext cx="19176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training: 2015</a:t>
            </a:r>
            <a:br>
              <a:rPr lang="en-US" sz="2400" dirty="0"/>
            </a:br>
            <a:r>
              <a:rPr lang="en-US" sz="2400" dirty="0"/>
              <a:t>test: 2016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270984" y="1739725"/>
            <a:ext cx="1773242" cy="1465088"/>
            <a:chOff x="6746984" y="1739725"/>
            <a:chExt cx="1773242" cy="1465088"/>
          </a:xfrm>
        </p:grpSpPr>
        <p:sp>
          <p:nvSpPr>
            <p:cNvPr id="8" name="Rounded Rectangle 7"/>
            <p:cNvSpPr/>
            <p:nvPr/>
          </p:nvSpPr>
          <p:spPr>
            <a:xfrm>
              <a:off x="6974904" y="1739725"/>
              <a:ext cx="1341512" cy="415499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46984" y="2743148"/>
              <a:ext cx="1773242" cy="46166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don't touch!</a:t>
              </a:r>
            </a:p>
          </p:txBody>
        </p:sp>
        <p:cxnSp>
          <p:nvCxnSpPr>
            <p:cNvPr id="11" name="Straight Arrow Connector 10"/>
            <p:cNvCxnSpPr>
              <a:stCxn id="9" idx="0"/>
              <a:endCxn id="8" idx="2"/>
            </p:cNvCxnSpPr>
            <p:nvPr/>
          </p:nvCxnSpPr>
          <p:spPr>
            <a:xfrm flipV="1">
              <a:off x="7633605" y="2155224"/>
              <a:ext cx="12055" cy="58792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5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happiness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21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" b="1001"/>
          <a:stretch/>
        </p:blipFill>
        <p:spPr>
          <a:xfrm>
            <a:off x="1800225" y="1844824"/>
            <a:ext cx="8591550" cy="3888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19936" y="6093297"/>
            <a:ext cx="4442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https://en.wikipedia.org/wiki/World_Happiness_Report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473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economy</a:t>
            </a:r>
          </a:p>
          <a:p>
            <a:pPr lvl="1"/>
            <a:r>
              <a:rPr lang="en-US" dirty="0"/>
              <a:t>family</a:t>
            </a:r>
          </a:p>
          <a:p>
            <a:pPr lvl="1"/>
            <a:r>
              <a:rPr lang="en-US" dirty="0"/>
              <a:t>health</a:t>
            </a:r>
          </a:p>
          <a:p>
            <a:pPr lvl="1"/>
            <a:r>
              <a:rPr lang="en-US" dirty="0"/>
              <a:t>freedom</a:t>
            </a:r>
          </a:p>
          <a:p>
            <a:pPr lvl="1"/>
            <a:r>
              <a:rPr lang="en-US" dirty="0"/>
              <a:t>trust</a:t>
            </a:r>
          </a:p>
          <a:p>
            <a:pPr lvl="1"/>
            <a:r>
              <a:rPr lang="en-US" dirty="0"/>
              <a:t>generosity</a:t>
            </a:r>
          </a:p>
          <a:p>
            <a:pPr lvl="1"/>
            <a:r>
              <a:rPr lang="en-US" dirty="0"/>
              <a:t>dystopia residual</a:t>
            </a:r>
          </a:p>
          <a:p>
            <a:pPr lvl="1"/>
            <a:r>
              <a:rPr lang="en-US" dirty="0"/>
              <a:t>region</a:t>
            </a:r>
          </a:p>
          <a:p>
            <a:r>
              <a:rPr lang="en-US" dirty="0"/>
              <a:t>Predict happiness score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459464" y="3105834"/>
            <a:ext cx="229101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92999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peek…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23</a:t>
            </a:fld>
            <a:endParaRPr lang="nl-B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51"/>
          <a:stretch/>
        </p:blipFill>
        <p:spPr>
          <a:xfrm>
            <a:off x="1887247" y="1844824"/>
            <a:ext cx="8316416" cy="3307582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447928" y="4653136"/>
            <a:ext cx="4896544" cy="1465088"/>
            <a:chOff x="6746984" y="1739725"/>
            <a:chExt cx="4896544" cy="1465088"/>
          </a:xfrm>
        </p:grpSpPr>
        <p:sp>
          <p:nvSpPr>
            <p:cNvPr id="8" name="Rounded Rectangle 7"/>
            <p:cNvSpPr/>
            <p:nvPr/>
          </p:nvSpPr>
          <p:spPr>
            <a:xfrm>
              <a:off x="6974904" y="1739725"/>
              <a:ext cx="4668624" cy="415499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46984" y="2743148"/>
              <a:ext cx="1406154" cy="46166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Rescaling</a:t>
              </a:r>
            </a:p>
          </p:txBody>
        </p:sp>
        <p:cxnSp>
          <p:nvCxnSpPr>
            <p:cNvPr id="10" name="Straight Arrow Connector 9"/>
            <p:cNvCxnSpPr>
              <a:stCxn id="9" idx="0"/>
              <a:endCxn id="8" idx="2"/>
            </p:cNvCxnSpPr>
            <p:nvPr/>
          </p:nvCxnSpPr>
          <p:spPr>
            <a:xfrm flipV="1">
              <a:off x="7450061" y="2155224"/>
              <a:ext cx="1859155" cy="58792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999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24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90" y="1484785"/>
            <a:ext cx="5818262" cy="35462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2437296"/>
            <a:ext cx="4616202" cy="2813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207568" y="5668523"/>
            <a:ext cx="544572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 </a:t>
            </a:r>
            <a:r>
              <a:rPr lang="en-US" sz="2800" dirty="0" err="1"/>
              <a:t>NaNs</a:t>
            </a:r>
            <a:r>
              <a:rPr lang="en-US" sz="2800" dirty="0"/>
              <a:t>, otherwise, use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Imputer</a:t>
            </a:r>
          </a:p>
        </p:txBody>
      </p:sp>
    </p:spTree>
    <p:extLst>
      <p:ext uri="{BB962C8B-B14F-4D97-AF65-F5344CB8AC3E}">
        <p14:creationId xmlns:p14="http://schemas.microsoft.com/office/powerpoint/2010/main" val="130115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 of machine learning pipeline</a:t>
            </a:r>
          </a:p>
          <a:p>
            <a:pPr lvl="1"/>
            <a:r>
              <a:rPr lang="en-US" dirty="0"/>
              <a:t>fit + transform</a:t>
            </a:r>
          </a:p>
          <a:p>
            <a:r>
              <a:rPr lang="en-US" dirty="0"/>
              <a:t>Extracting columns from pandas data frame</a:t>
            </a:r>
            <a:endParaRPr lang="en-BE" dirty="0"/>
          </a:p>
          <a:p>
            <a:r>
              <a:rPr lang="en-BE" dirty="0"/>
              <a:t>Transform data</a:t>
            </a:r>
          </a:p>
          <a:p>
            <a:pPr lvl="1"/>
            <a:r>
              <a:rPr lang="en-BE" dirty="0"/>
              <a:t>scale numerical features to [0, 1]</a:t>
            </a:r>
          </a:p>
          <a:p>
            <a:pPr lvl="1"/>
            <a:r>
              <a:rPr lang="en-BE" dirty="0"/>
              <a:t>one-hot encoding for regions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321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attributes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Extract, then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12477" y="2294870"/>
            <a:ext cx="8363272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sklearn.compose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ColumnTransformer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endParaRPr lang="en-BE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sklearn.preprocessing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MinMaxScaler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num_attr_names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data_2015.columns[5:13]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pt-BR" dirty="0">
                <a:latin typeface="Courier New" pitchFamily="49" charset="0"/>
                <a:cs typeface="Courier New" pitchFamily="49" charset="0"/>
              </a:rPr>
              <a:t>num_attrs_transformer = ColumnTransformer(</a:t>
            </a:r>
            <a:r>
              <a:rPr lang="en-BE" dirty="0">
                <a:latin typeface="Courier New" pitchFamily="49" charset="0"/>
                <a:cs typeface="Courier New" pitchFamily="49" charset="0"/>
              </a:rPr>
              <a:t>[</a:t>
            </a:r>
          </a:p>
          <a:p>
            <a:r>
              <a:rPr lang="en-B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('minimax', MinMaxScaler(), num_attr_names)</a:t>
            </a:r>
            <a:endParaRPr lang="en-BE" dirty="0">
              <a:latin typeface="Courier New" pitchFamily="49" charset="0"/>
              <a:cs typeface="Courier New" pitchFamily="49" charset="0"/>
            </a:endParaRPr>
          </a:p>
          <a:p>
            <a:r>
              <a:rPr lang="pt-BR" dirty="0">
                <a:latin typeface="Courier New" pitchFamily="49" charset="0"/>
                <a:cs typeface="Courier New" pitchFamily="49" charset="0"/>
              </a:rPr>
              <a:t>])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063310" y="4365105"/>
            <a:ext cx="2005677" cy="1266295"/>
            <a:chOff x="6963738" y="3252117"/>
            <a:chExt cx="2005677" cy="1266295"/>
          </a:xfrm>
        </p:grpSpPr>
        <p:sp>
          <p:nvSpPr>
            <p:cNvPr id="7" name="TextBox 6"/>
            <p:cNvSpPr txBox="1"/>
            <p:nvPr/>
          </p:nvSpPr>
          <p:spPr>
            <a:xfrm>
              <a:off x="6963738" y="4149080"/>
              <a:ext cx="200567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name of operation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8044102" y="3252117"/>
              <a:ext cx="216023" cy="89696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269122" y="4412654"/>
            <a:ext cx="2343911" cy="1220289"/>
            <a:chOff x="6963738" y="3298123"/>
            <a:chExt cx="2343911" cy="1220289"/>
          </a:xfrm>
        </p:grpSpPr>
        <p:sp>
          <p:nvSpPr>
            <p:cNvPr id="12" name="TextBox 11"/>
            <p:cNvSpPr txBox="1"/>
            <p:nvPr/>
          </p:nvSpPr>
          <p:spPr>
            <a:xfrm>
              <a:off x="6963738" y="4149080"/>
              <a:ext cx="234391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operation constructor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7998529" y="3298123"/>
              <a:ext cx="45573" cy="85095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6779382" y="4509121"/>
            <a:ext cx="1600118" cy="1122278"/>
            <a:chOff x="6963738" y="3396134"/>
            <a:chExt cx="1600118" cy="1122278"/>
          </a:xfrm>
        </p:grpSpPr>
        <p:sp>
          <p:nvSpPr>
            <p:cNvPr id="20" name="TextBox 19"/>
            <p:cNvSpPr txBox="1"/>
            <p:nvPr/>
          </p:nvSpPr>
          <p:spPr>
            <a:xfrm>
              <a:off x="6963738" y="4149080"/>
              <a:ext cx="160011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BE" dirty="0"/>
                <a:t>column names</a:t>
              </a:r>
              <a:endParaRPr lang="en-US" dirty="0"/>
            </a:p>
          </p:txBody>
        </p:sp>
        <p:cxnSp>
          <p:nvCxnSpPr>
            <p:cNvPr id="21" name="Straight Arrow Connector 20"/>
            <p:cNvCxnSpPr>
              <a:stCxn id="20" idx="0"/>
            </p:cNvCxnSpPr>
            <p:nvPr/>
          </p:nvCxnSpPr>
          <p:spPr>
            <a:xfrm flipH="1" flipV="1">
              <a:off x="7742798" y="3396134"/>
              <a:ext cx="20999" cy="75294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794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attribute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Extract, then create one-hot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4381483"/>
            <a:ext cx="8363272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sklearn.preprocessing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OneHotEncoder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BE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region_transformer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ColumnTransformer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</a:t>
            </a:r>
            <a:endParaRPr lang="en-BE" dirty="0">
              <a:latin typeface="Courier New" pitchFamily="49" charset="0"/>
              <a:cs typeface="Courier New" pitchFamily="49" charset="0"/>
            </a:endParaRPr>
          </a:p>
          <a:p>
            <a:r>
              <a:rPr lang="en-B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one_hot_encoder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OneHotEncoder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(categories='auto'),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['Region'])</a:t>
            </a:r>
            <a:endParaRPr lang="en-BE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])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31505" y="2204864"/>
          <a:ext cx="31034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Belgium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Western 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North 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Western Europe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43872" y="2204864"/>
          <a:ext cx="56166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Western</a:t>
                      </a:r>
                      <a:r>
                        <a:rPr lang="en-US" baseline="0" dirty="0"/>
                        <a:t> Europe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Northren</a:t>
                      </a:r>
                      <a:r>
                        <a:rPr lang="en-US" dirty="0"/>
                        <a:t>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Belgium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urved Up Arrow 8"/>
          <p:cNvSpPr/>
          <p:nvPr/>
        </p:nvSpPr>
        <p:spPr>
          <a:xfrm>
            <a:off x="4223792" y="3861048"/>
            <a:ext cx="3168352" cy="432048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68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pipelines &amp;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pipelines must be executed, results combined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data through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23642"/>
            <a:ext cx="8363272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sklearn.pipeline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FeatureUnion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preparation_pipeline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FeatureUnion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transformer_list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=[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('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region_attr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region_attr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BE" dirty="0">
                <a:latin typeface="Courier New" pitchFamily="49" charset="0"/>
                <a:cs typeface="Courier New" pitchFamily="49" charset="0"/>
              </a:rPr>
              <a:t>transformer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('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num_attrs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num_attrs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BE" dirty="0">
                <a:latin typeface="Courier New" pitchFamily="49" charset="0"/>
                <a:cs typeface="Courier New" pitchFamily="49" charset="0"/>
              </a:rPr>
              <a:t>transformer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4901581"/>
            <a:ext cx="836327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train_data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preparation_pipeline.fit_transform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(data_2015)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063552" y="5358502"/>
            <a:ext cx="1435008" cy="698212"/>
            <a:chOff x="6963738" y="3820200"/>
            <a:chExt cx="1435008" cy="698212"/>
          </a:xfrm>
        </p:grpSpPr>
        <p:sp>
          <p:nvSpPr>
            <p:cNvPr id="8" name="TextBox 7"/>
            <p:cNvSpPr txBox="1"/>
            <p:nvPr/>
          </p:nvSpPr>
          <p:spPr>
            <a:xfrm>
              <a:off x="6963738" y="4149080"/>
              <a:ext cx="143500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numpy</a:t>
              </a:r>
              <a:r>
                <a:rPr lang="en-US" dirty="0"/>
                <a:t> array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7681242" y="3820200"/>
              <a:ext cx="146592" cy="32888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4870504" y="5513660"/>
            <a:ext cx="426911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Ready to start training!</a:t>
            </a:r>
          </a:p>
        </p:txBody>
      </p:sp>
    </p:spTree>
    <p:extLst>
      <p:ext uri="{BB962C8B-B14F-4D97-AF65-F5344CB8AC3E}">
        <p14:creationId xmlns:p14="http://schemas.microsoft.com/office/powerpoint/2010/main" val="367410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learning algorithm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Train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Predict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298000"/>
            <a:ext cx="7283152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sklearn.linear_model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import Ridge</a:t>
            </a: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ridge_regr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= Ridge(alpha=0.5,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fit_intercept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=False)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918721"/>
            <a:ext cx="7283152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train_data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Y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(data_2015['Happiness Score'])</a:t>
            </a:r>
          </a:p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ridge_regr.</a:t>
            </a:r>
            <a:r>
              <a:rPr lang="fr-FR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fit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(X, Y);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5419614"/>
            <a:ext cx="7283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Y_ridge_regr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ridge_regr.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47928" y="3128194"/>
            <a:ext cx="1840568" cy="716252"/>
            <a:chOff x="3923928" y="3128194"/>
            <a:chExt cx="1840568" cy="716252"/>
          </a:xfrm>
        </p:grpSpPr>
        <p:grpSp>
          <p:nvGrpSpPr>
            <p:cNvPr id="8" name="Group 7"/>
            <p:cNvGrpSpPr/>
            <p:nvPr/>
          </p:nvGrpSpPr>
          <p:grpSpPr>
            <a:xfrm>
              <a:off x="3923928" y="3128194"/>
              <a:ext cx="1840568" cy="716252"/>
              <a:chOff x="6963738" y="3802160"/>
              <a:chExt cx="1840568" cy="716252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963738" y="4149080"/>
                <a:ext cx="184056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hyperparameters</a:t>
                </a:r>
                <a:endParaRPr lang="en-US" dirty="0"/>
              </a:p>
            </p:txBody>
          </p:sp>
          <p:cxnSp>
            <p:nvCxnSpPr>
              <p:cNvPr id="10" name="Straight Arrow Connector 9"/>
              <p:cNvCxnSpPr>
                <a:stCxn id="9" idx="0"/>
              </p:cNvCxnSpPr>
              <p:nvPr/>
            </p:nvCxnSpPr>
            <p:spPr>
              <a:xfrm flipH="1" flipV="1">
                <a:off x="7323779" y="3802160"/>
                <a:ext cx="560243" cy="3469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>
              <a:stCxn id="9" idx="0"/>
            </p:cNvCxnSpPr>
            <p:nvPr/>
          </p:nvCxnSpPr>
          <p:spPr>
            <a:xfrm flipV="1">
              <a:off x="4844212" y="3128194"/>
              <a:ext cx="520120" cy="34692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7947369" y="4465056"/>
            <a:ext cx="1112688" cy="418680"/>
            <a:chOff x="6367538" y="4099732"/>
            <a:chExt cx="1112688" cy="418680"/>
          </a:xfrm>
        </p:grpSpPr>
        <p:sp>
          <p:nvSpPr>
            <p:cNvPr id="17" name="TextBox 16"/>
            <p:cNvSpPr txBox="1"/>
            <p:nvPr/>
          </p:nvSpPr>
          <p:spPr>
            <a:xfrm>
              <a:off x="6963738" y="4149080"/>
              <a:ext cx="51648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BE" dirty="0"/>
                <a:t>???</a:t>
              </a:r>
              <a:endParaRPr lang="en-US" dirty="0"/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6367538" y="4099732"/>
              <a:ext cx="596200" cy="23401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526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 &amp;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Score</a:t>
            </a:r>
          </a:p>
          <a:p>
            <a:r>
              <a:rPr lang="en-US" dirty="0"/>
              <a:t>Better: cross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30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2421467" y="1849261"/>
            <a:ext cx="36827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ridge_regr.score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(X, Y)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392251" y="1849261"/>
            <a:ext cx="3240360" cy="369332"/>
            <a:chOff x="4427984" y="2204864"/>
            <a:chExt cx="3240360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5148064" y="2204864"/>
              <a:ext cx="252028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0.9984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362200" y="2857568"/>
            <a:ext cx="7270411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scores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cross_val_score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ridge_regr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X, Y,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scoring='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neg_mean_squared_error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cv=10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5178630"/>
            <a:ext cx="36827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np.sqrt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(-scores)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392251" y="4628175"/>
            <a:ext cx="3240360" cy="1477328"/>
            <a:chOff x="4427984" y="1673919"/>
            <a:chExt cx="3240360" cy="1477328"/>
          </a:xfrm>
        </p:grpSpPr>
        <p:sp>
          <p:nvSpPr>
            <p:cNvPr id="14" name="TextBox 13"/>
            <p:cNvSpPr txBox="1"/>
            <p:nvPr/>
          </p:nvSpPr>
          <p:spPr>
            <a:xfrm>
              <a:off x="5148064" y="1673919"/>
              <a:ext cx="2520280" cy="147732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0.1954,  0.0215,</a:t>
              </a:r>
              <a:b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0.0579,  0.0478,</a:t>
              </a:r>
              <a:b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0.0551,  0.0649,</a:t>
              </a:r>
              <a:b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0.0591,  0.0451,</a:t>
              </a:r>
              <a:b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0.0729,  0.0803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3050291" y="4002714"/>
            <a:ext cx="851452" cy="835477"/>
            <a:chOff x="7612053" y="3333026"/>
            <a:chExt cx="851452" cy="835477"/>
          </a:xfrm>
        </p:grpSpPr>
        <p:sp>
          <p:nvSpPr>
            <p:cNvPr id="17" name="TextBox 16"/>
            <p:cNvSpPr txBox="1"/>
            <p:nvPr/>
          </p:nvSpPr>
          <p:spPr>
            <a:xfrm>
              <a:off x="7612053" y="3799171"/>
              <a:ext cx="85145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10-fold</a:t>
              </a:r>
            </a:p>
          </p:txBody>
        </p:sp>
        <p:cxnSp>
          <p:nvCxnSpPr>
            <p:cNvPr id="18" name="Straight Arrow Connector 17"/>
            <p:cNvCxnSpPr>
              <a:stCxn id="17" idx="0"/>
            </p:cNvCxnSpPr>
            <p:nvPr/>
          </p:nvCxnSpPr>
          <p:spPr>
            <a:xfrm flipV="1">
              <a:off x="8037779" y="3333026"/>
              <a:ext cx="425726" cy="46614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023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555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Define hyper parameter search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grid searcher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Search</a:t>
            </a:r>
          </a:p>
          <a:p>
            <a:endParaRPr lang="en-US" dirty="0"/>
          </a:p>
          <a:p>
            <a:r>
              <a:rPr lang="en-US" dirty="0"/>
              <a:t>Best hyper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838200" y="2090173"/>
            <a:ext cx="843528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grid_params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[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{'alpha': [0.0005, 0.001, 0.005, 0.01, 0.05, 0.1, 0.5],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fit_intercept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': [True, False]},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132" y="3716872"/>
            <a:ext cx="843528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grid_search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GridSearchCV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ridge_regr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grid_params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cv=10, 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scoring='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neg_mean_squared_error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132" y="4868801"/>
            <a:ext cx="843528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grid_search.fit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(X, 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132" y="5706058"/>
            <a:ext cx="349673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grid_search.best_params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422951" y="5706058"/>
            <a:ext cx="6552728" cy="369332"/>
            <a:chOff x="4427984" y="2204864"/>
            <a:chExt cx="6552728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5148064" y="2204864"/>
              <a:ext cx="5832648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{'alpha': 0.0005, '</a:t>
              </a:r>
              <a:r>
                <a:rPr lang="fr-FR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fit_intercept</a:t>
              </a: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': </a:t>
              </a:r>
              <a:r>
                <a:rPr lang="fr-FR" b="1" dirty="0" err="1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True</a:t>
              </a:r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967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32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988840"/>
            <a:ext cx="4827100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33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pipeline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Predict</a:t>
            </a:r>
          </a:p>
          <a:p>
            <a:endParaRPr lang="en-US" dirty="0"/>
          </a:p>
          <a:p>
            <a:r>
              <a:rPr lang="en-US" dirty="0"/>
              <a:t>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31865"/>
            <a:ext cx="76431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test_data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preparation_pipeline.transform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7729" y="2852937"/>
            <a:ext cx="62470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only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sz="2400" dirty="0"/>
              <a:t>, no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fit_transform</a:t>
            </a:r>
            <a:r>
              <a:rPr lang="en-US" sz="2400" dirty="0"/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3870780"/>
            <a:ext cx="76431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Y_test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ridge_regr.predict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4926682"/>
            <a:ext cx="46908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ridge_regr.score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78724" y="4926682"/>
            <a:ext cx="2745668" cy="369332"/>
            <a:chOff x="4427984" y="2204864"/>
            <a:chExt cx="2745668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5148064" y="2204864"/>
              <a:ext cx="2025588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0.9950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645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34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75" y="1772816"/>
            <a:ext cx="4827100" cy="33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79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economy</a:t>
            </a:r>
          </a:p>
          <a:p>
            <a:pPr lvl="1"/>
            <a:r>
              <a:rPr lang="en-US" dirty="0"/>
              <a:t>family</a:t>
            </a:r>
          </a:p>
          <a:p>
            <a:pPr lvl="1"/>
            <a:r>
              <a:rPr lang="en-US" dirty="0"/>
              <a:t>health</a:t>
            </a:r>
          </a:p>
          <a:p>
            <a:pPr lvl="1"/>
            <a:r>
              <a:rPr lang="en-US" dirty="0"/>
              <a:t>freedom</a:t>
            </a:r>
          </a:p>
          <a:p>
            <a:pPr lvl="1"/>
            <a:r>
              <a:rPr lang="en-US" dirty="0"/>
              <a:t>trust</a:t>
            </a:r>
          </a:p>
          <a:p>
            <a:pPr lvl="1"/>
            <a:r>
              <a:rPr lang="en-US" dirty="0"/>
              <a:t>generosity</a:t>
            </a:r>
          </a:p>
          <a:p>
            <a:pPr lvl="1"/>
            <a:r>
              <a:rPr lang="en-US" dirty="0"/>
              <a:t>dystopia residual</a:t>
            </a:r>
          </a:p>
          <a:p>
            <a:r>
              <a:rPr lang="en-US" dirty="0"/>
              <a:t>Predict whether country</a:t>
            </a:r>
            <a:br>
              <a:rPr lang="en-US" dirty="0"/>
            </a:br>
            <a:r>
              <a:rPr lang="en-US" dirty="0"/>
              <a:t>in Western Europe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828123" y="3190138"/>
            <a:ext cx="275107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7049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pipeline is same as in task 1</a:t>
            </a:r>
          </a:p>
          <a:p>
            <a:pPr lvl="1"/>
            <a:r>
              <a:rPr lang="en-US" dirty="0"/>
              <a:t>select from pandas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scale</a:t>
            </a:r>
          </a:p>
          <a:p>
            <a:endParaRPr lang="en-US" dirty="0"/>
          </a:p>
          <a:p>
            <a:r>
              <a:rPr lang="en-US" dirty="0"/>
              <a:t>Add column for class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in Western Europe,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otherwise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003245" y="4608516"/>
            <a:ext cx="829126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data_2015['Western Europe'] = (data_2015['Region'] ==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'Western Europe')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3245" y="3161432"/>
            <a:ext cx="82912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prepared_data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num_attrs_pipeline.fit_transform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(data_2015)</a:t>
            </a:r>
          </a:p>
        </p:txBody>
      </p:sp>
    </p:spTree>
    <p:extLst>
      <p:ext uri="{BB962C8B-B14F-4D97-AF65-F5344CB8AC3E}">
        <p14:creationId xmlns:p14="http://schemas.microsoft.com/office/powerpoint/2010/main" val="350506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learning algorithm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Train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Scoring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31864"/>
            <a:ext cx="7283152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sklearn.naive_bayes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GaussianNB</a:t>
            </a:r>
            <a:endParaRPr lang="fr-FR" dirty="0">
              <a:latin typeface="Courier New" pitchFamily="49" charset="0"/>
              <a:cs typeface="Courier New" pitchFamily="49" charset="0"/>
            </a:endParaRPr>
          </a:p>
          <a:p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dirty="0">
                <a:latin typeface="Courier New" pitchFamily="49" charset="0"/>
                <a:cs typeface="Courier New" pitchFamily="49" charset="0"/>
              </a:rPr>
              <a:t>nb =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GaussianNB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4003391"/>
            <a:ext cx="7283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nb.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prepared_data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data_2015['Western Europe'])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4889703"/>
            <a:ext cx="7283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nb.score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prepared_data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data_2015['Western Europe'])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256784" y="5437680"/>
            <a:ext cx="3240360" cy="369332"/>
            <a:chOff x="4427984" y="2204864"/>
            <a:chExt cx="3240360" cy="369332"/>
          </a:xfrm>
        </p:grpSpPr>
        <p:sp>
          <p:nvSpPr>
            <p:cNvPr id="14" name="TextBox 13"/>
            <p:cNvSpPr txBox="1"/>
            <p:nvPr/>
          </p:nvSpPr>
          <p:spPr>
            <a:xfrm>
              <a:off x="5148064" y="2204864"/>
              <a:ext cx="252028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0.9367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317005" y="5768209"/>
            <a:ext cx="210025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Seems reasonable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791745" y="3255195"/>
            <a:ext cx="5169916" cy="565336"/>
            <a:chOff x="4107987" y="3177998"/>
            <a:chExt cx="5169916" cy="565336"/>
          </a:xfrm>
        </p:grpSpPr>
        <p:sp>
          <p:nvSpPr>
            <p:cNvPr id="16" name="TextBox 15"/>
            <p:cNvSpPr txBox="1"/>
            <p:nvPr/>
          </p:nvSpPr>
          <p:spPr>
            <a:xfrm>
              <a:off x="4683375" y="3281669"/>
              <a:ext cx="4594528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attributes: approx. Gaussian distr.</a:t>
              </a:r>
            </a:p>
          </p:txBody>
        </p:sp>
        <p:cxnSp>
          <p:nvCxnSpPr>
            <p:cNvPr id="17" name="Straight Arrow Connector 16"/>
            <p:cNvCxnSpPr>
              <a:stCxn id="16" idx="1"/>
            </p:cNvCxnSpPr>
            <p:nvPr/>
          </p:nvCxnSpPr>
          <p:spPr>
            <a:xfrm flipH="1" flipV="1">
              <a:off x="4107987" y="3177998"/>
              <a:ext cx="575388" cy="334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972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uiExpand="1" animBg="1"/>
      <p:bldP spid="7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pipeline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Predict</a:t>
            </a:r>
          </a:p>
          <a:p>
            <a:endParaRPr lang="en-US" dirty="0"/>
          </a:p>
          <a:p>
            <a:r>
              <a:rPr lang="en-US" dirty="0"/>
              <a:t>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57264"/>
            <a:ext cx="76431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test_data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num_attrs_pipeline.transform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7729" y="2852937"/>
            <a:ext cx="62470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only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sz="2400" dirty="0"/>
              <a:t>, no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fit_transform</a:t>
            </a:r>
            <a:r>
              <a:rPr lang="en-US" sz="2400" dirty="0"/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3887711"/>
            <a:ext cx="76431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Y_test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nb.predict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test_data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4943612"/>
            <a:ext cx="46908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nb.score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test_data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Y_test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78724" y="4943612"/>
            <a:ext cx="2745668" cy="369332"/>
            <a:chOff x="4427984" y="2204864"/>
            <a:chExt cx="2745668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5148064" y="2204864"/>
              <a:ext cx="2025588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0.8662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647729" y="5757744"/>
            <a:ext cx="151676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Not so good</a:t>
            </a:r>
          </a:p>
        </p:txBody>
      </p:sp>
    </p:spTree>
    <p:extLst>
      <p:ext uri="{BB962C8B-B14F-4D97-AF65-F5344CB8AC3E}">
        <p14:creationId xmlns:p14="http://schemas.microsoft.com/office/powerpoint/2010/main" val="358150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confusion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06462"/>
            <a:ext cx="764319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confusion_matrix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(data_2016['Western Europe'],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nb.predict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test_data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999656" y="3864597"/>
            <a:ext cx="3744416" cy="646331"/>
            <a:chOff x="4427984" y="2204864"/>
            <a:chExt cx="3744416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5148064" y="2204864"/>
              <a:ext cx="3024336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array([[132,   4],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       [ 17,   4]])</a:t>
              </a:r>
              <a:endParaRPr lang="fr-FR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427984" y="2409040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647054" y="4437113"/>
            <a:ext cx="2095445" cy="808585"/>
            <a:chOff x="4683375" y="2934749"/>
            <a:chExt cx="2095445" cy="808585"/>
          </a:xfrm>
        </p:grpSpPr>
        <p:sp>
          <p:nvSpPr>
            <p:cNvPr id="12" name="TextBox 11"/>
            <p:cNvSpPr txBox="1"/>
            <p:nvPr/>
          </p:nvSpPr>
          <p:spPr>
            <a:xfrm>
              <a:off x="4683375" y="3281669"/>
              <a:ext cx="2095445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false negatives</a:t>
              </a:r>
            </a:p>
          </p:txBody>
        </p:sp>
        <p:cxnSp>
          <p:nvCxnSpPr>
            <p:cNvPr id="11" name="Straight Arrow Connector 10"/>
            <p:cNvCxnSpPr>
              <a:stCxn id="12" idx="0"/>
            </p:cNvCxnSpPr>
            <p:nvPr/>
          </p:nvCxnSpPr>
          <p:spPr>
            <a:xfrm flipV="1">
              <a:off x="5731098" y="2934749"/>
              <a:ext cx="392681" cy="34692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6168009" y="3111352"/>
            <a:ext cx="2152898" cy="809629"/>
            <a:chOff x="4467352" y="3413609"/>
            <a:chExt cx="2152898" cy="809629"/>
          </a:xfrm>
        </p:grpSpPr>
        <p:sp>
          <p:nvSpPr>
            <p:cNvPr id="15" name="TextBox 14"/>
            <p:cNvSpPr txBox="1"/>
            <p:nvPr/>
          </p:nvSpPr>
          <p:spPr>
            <a:xfrm>
              <a:off x="4611367" y="3413609"/>
              <a:ext cx="2008883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false positives</a:t>
              </a:r>
            </a:p>
          </p:txBody>
        </p:sp>
        <p:cxnSp>
          <p:nvCxnSpPr>
            <p:cNvPr id="16" name="Straight Arrow Connector 15"/>
            <p:cNvCxnSpPr>
              <a:stCxn id="15" idx="2"/>
            </p:cNvCxnSpPr>
            <p:nvPr/>
          </p:nvCxnSpPr>
          <p:spPr>
            <a:xfrm flipH="1">
              <a:off x="4467352" y="3875274"/>
              <a:ext cx="1148457" cy="34796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2523806" y="5537873"/>
            <a:ext cx="7454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Massive exit from Western Europe: </a:t>
            </a:r>
            <a:r>
              <a:rPr lang="en-US" sz="2400" i="1" dirty="0"/>
              <a:t>17</a:t>
            </a:r>
            <a:r>
              <a:rPr lang="en-US" sz="2400" dirty="0"/>
              <a:t> countries just left!</a:t>
            </a:r>
          </a:p>
        </p:txBody>
      </p:sp>
    </p:spTree>
    <p:extLst>
      <p:ext uri="{BB962C8B-B14F-4D97-AF65-F5344CB8AC3E}">
        <p14:creationId xmlns:p14="http://schemas.microsoft.com/office/powerpoint/2010/main" val="51161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properties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40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472" y="1829148"/>
            <a:ext cx="8963025" cy="404812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9336361" y="491080"/>
            <a:ext cx="2531618" cy="5014798"/>
            <a:chOff x="7740352" y="502434"/>
            <a:chExt cx="2531618" cy="5014798"/>
          </a:xfrm>
        </p:grpSpPr>
        <p:sp>
          <p:nvSpPr>
            <p:cNvPr id="5" name="Oval 4"/>
            <p:cNvSpPr/>
            <p:nvPr/>
          </p:nvSpPr>
          <p:spPr>
            <a:xfrm>
              <a:off x="7740352" y="3068960"/>
              <a:ext cx="1224136" cy="2448272"/>
            </a:xfrm>
            <a:prstGeom prst="ellipse">
              <a:avLst/>
            </a:prstGeom>
            <a:solidFill>
              <a:srgbClr val="C00000">
                <a:alpha val="39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36073" y="502434"/>
              <a:ext cx="2335897" cy="83099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small class,</a:t>
              </a:r>
              <a:br>
                <a:rPr lang="en-US" sz="2400" dirty="0">
                  <a:solidFill>
                    <a:srgbClr val="C00000"/>
                  </a:solidFill>
                </a:rPr>
              </a:br>
              <a:r>
                <a:rPr lang="en-US" sz="2400" dirty="0">
                  <a:solidFill>
                    <a:srgbClr val="C00000"/>
                  </a:solidFill>
                </a:rPr>
                <a:t>many detractors</a:t>
              </a:r>
            </a:p>
          </p:txBody>
        </p:sp>
        <p:cxnSp>
          <p:nvCxnSpPr>
            <p:cNvPr id="8" name="Straight Arrow Connector 7"/>
            <p:cNvCxnSpPr>
              <a:cxnSpLocks/>
              <a:stCxn id="6" idx="2"/>
              <a:endCxn id="5" idx="0"/>
            </p:cNvCxnSpPr>
            <p:nvPr/>
          </p:nvCxnSpPr>
          <p:spPr>
            <a:xfrm flipH="1">
              <a:off x="8352420" y="1333431"/>
              <a:ext cx="751602" cy="1735529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692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economy</a:t>
            </a:r>
          </a:p>
          <a:p>
            <a:pPr lvl="1"/>
            <a:r>
              <a:rPr lang="en-US" dirty="0"/>
              <a:t>family</a:t>
            </a:r>
          </a:p>
          <a:p>
            <a:pPr lvl="1"/>
            <a:r>
              <a:rPr lang="en-US" dirty="0"/>
              <a:t>health</a:t>
            </a:r>
          </a:p>
          <a:p>
            <a:pPr lvl="1"/>
            <a:r>
              <a:rPr lang="en-US" dirty="0"/>
              <a:t>freedom</a:t>
            </a:r>
          </a:p>
          <a:p>
            <a:pPr lvl="1"/>
            <a:r>
              <a:rPr lang="en-US" dirty="0"/>
              <a:t>trust</a:t>
            </a:r>
          </a:p>
          <a:p>
            <a:pPr lvl="1"/>
            <a:r>
              <a:rPr lang="en-US" dirty="0"/>
              <a:t>generosity</a:t>
            </a:r>
          </a:p>
          <a:p>
            <a:pPr lvl="1"/>
            <a:r>
              <a:rPr lang="en-US" dirty="0"/>
              <a:t>dystopia residual</a:t>
            </a:r>
          </a:p>
          <a:p>
            <a:r>
              <a:rPr lang="en-US" dirty="0"/>
              <a:t>Find countries that are</a:t>
            </a:r>
            <a:br>
              <a:rPr lang="en-US" dirty="0"/>
            </a:br>
            <a:r>
              <a:rPr lang="en-US" dirty="0"/>
              <a:t>"close"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090591" y="3105834"/>
            <a:ext cx="21355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42414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D5DB-A70A-45CF-ADEB-509F8AC6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3016-ADF7-4568-BB2D-37877DA8A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</a:t>
            </a:r>
            <a:r>
              <a:rPr lang="en-US" i="1" dirty="0"/>
              <a:t>k</a:t>
            </a:r>
            <a:r>
              <a:rPr lang="en-US" dirty="0"/>
              <a:t> means, i.e., seed points</a:t>
            </a:r>
          </a:p>
          <a:p>
            <a:r>
              <a:rPr lang="en-US" dirty="0"/>
              <a:t>Repeat</a:t>
            </a:r>
          </a:p>
          <a:p>
            <a:pPr lvl="1"/>
            <a:r>
              <a:rPr lang="en-US" dirty="0"/>
              <a:t>Assign data points to nearest mean value</a:t>
            </a:r>
          </a:p>
          <a:p>
            <a:pPr lvl="1"/>
            <a:r>
              <a:rPr lang="en-US" dirty="0"/>
              <a:t>Update by recomputing mean values</a:t>
            </a:r>
          </a:p>
          <a:p>
            <a:r>
              <a:rPr lang="en-US" dirty="0"/>
              <a:t>Stop when no more change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ABAB90-0090-40C6-AD91-83FE5B46927D}"/>
              </a:ext>
            </a:extLst>
          </p:cNvPr>
          <p:cNvSpPr/>
          <p:nvPr/>
        </p:nvSpPr>
        <p:spPr>
          <a:xfrm>
            <a:off x="1673524" y="5565039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807375-78E1-4DE3-802E-9278F86ED5AA}"/>
              </a:ext>
            </a:extLst>
          </p:cNvPr>
          <p:cNvSpPr/>
          <p:nvPr/>
        </p:nvSpPr>
        <p:spPr>
          <a:xfrm>
            <a:off x="2093343" y="5234359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0E7D7F-776D-4685-BC2C-6440DFB4BFA9}"/>
              </a:ext>
            </a:extLst>
          </p:cNvPr>
          <p:cNvSpPr/>
          <p:nvPr/>
        </p:nvSpPr>
        <p:spPr>
          <a:xfrm>
            <a:off x="1860429" y="5164015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0D5A5A-07B0-432B-B439-A2A9B24C70A9}"/>
              </a:ext>
            </a:extLst>
          </p:cNvPr>
          <p:cNvSpPr/>
          <p:nvPr/>
        </p:nvSpPr>
        <p:spPr>
          <a:xfrm>
            <a:off x="2280248" y="4833335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F249FA-77A0-4D67-A495-683C8D5F2B15}"/>
              </a:ext>
            </a:extLst>
          </p:cNvPr>
          <p:cNvSpPr/>
          <p:nvPr/>
        </p:nvSpPr>
        <p:spPr>
          <a:xfrm>
            <a:off x="1440610" y="4838638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5441D6-14E8-40E5-8CB4-AAFA0FEC3DD9}"/>
              </a:ext>
            </a:extLst>
          </p:cNvPr>
          <p:cNvSpPr/>
          <p:nvPr/>
        </p:nvSpPr>
        <p:spPr>
          <a:xfrm>
            <a:off x="1860429" y="4507958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A363C4-DBEE-4F9C-93DB-04173865409F}"/>
              </a:ext>
            </a:extLst>
          </p:cNvPr>
          <p:cNvSpPr/>
          <p:nvPr/>
        </p:nvSpPr>
        <p:spPr>
          <a:xfrm>
            <a:off x="1627515" y="4437614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D05471-7783-4A9F-A894-8ABAAD8B80CA}"/>
              </a:ext>
            </a:extLst>
          </p:cNvPr>
          <p:cNvSpPr/>
          <p:nvPr/>
        </p:nvSpPr>
        <p:spPr>
          <a:xfrm>
            <a:off x="3199680" y="4965054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970D66-F137-4C23-BFE6-7082EEFA410A}"/>
              </a:ext>
            </a:extLst>
          </p:cNvPr>
          <p:cNvSpPr/>
          <p:nvPr/>
        </p:nvSpPr>
        <p:spPr>
          <a:xfrm>
            <a:off x="2966766" y="4894710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6386DF-17A5-4512-AAB9-082A3C9C208B}"/>
              </a:ext>
            </a:extLst>
          </p:cNvPr>
          <p:cNvSpPr/>
          <p:nvPr/>
        </p:nvSpPr>
        <p:spPr>
          <a:xfrm>
            <a:off x="3386585" y="4564030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7BD2673-E7FA-4083-9CBA-43C87232E5E0}"/>
              </a:ext>
            </a:extLst>
          </p:cNvPr>
          <p:cNvSpPr/>
          <p:nvPr/>
        </p:nvSpPr>
        <p:spPr>
          <a:xfrm>
            <a:off x="2546947" y="4569333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F24314-9BFE-4D45-B814-A79AE7560C55}"/>
              </a:ext>
            </a:extLst>
          </p:cNvPr>
          <p:cNvSpPr/>
          <p:nvPr/>
        </p:nvSpPr>
        <p:spPr>
          <a:xfrm>
            <a:off x="3069205" y="6064819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146861-D941-4283-9E28-85C7E0A25F60}"/>
              </a:ext>
            </a:extLst>
          </p:cNvPr>
          <p:cNvSpPr/>
          <p:nvPr/>
        </p:nvSpPr>
        <p:spPr>
          <a:xfrm>
            <a:off x="2836291" y="5994475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BF9288-3654-4537-A9DE-5974F54DD771}"/>
              </a:ext>
            </a:extLst>
          </p:cNvPr>
          <p:cNvSpPr/>
          <p:nvPr/>
        </p:nvSpPr>
        <p:spPr>
          <a:xfrm>
            <a:off x="3256110" y="5663795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BA41F1-B11E-4A0D-BD9B-D6CDAC5BBAF5}"/>
              </a:ext>
            </a:extLst>
          </p:cNvPr>
          <p:cNvSpPr/>
          <p:nvPr/>
        </p:nvSpPr>
        <p:spPr>
          <a:xfrm>
            <a:off x="2416472" y="5669098"/>
            <a:ext cx="112144" cy="112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6A7E8D1-722A-43A2-B367-586A3343656A}"/>
              </a:ext>
            </a:extLst>
          </p:cNvPr>
          <p:cNvGrpSpPr/>
          <p:nvPr/>
        </p:nvGrpSpPr>
        <p:grpSpPr>
          <a:xfrm>
            <a:off x="2026487" y="4739537"/>
            <a:ext cx="865876" cy="924258"/>
            <a:chOff x="2026487" y="4739537"/>
            <a:chExt cx="865876" cy="92425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A46C4CD-2F24-4B12-A8B5-E70B057A364F}"/>
                </a:ext>
              </a:extLst>
            </p:cNvPr>
            <p:cNvSpPr/>
            <p:nvPr/>
          </p:nvSpPr>
          <p:spPr>
            <a:xfrm>
              <a:off x="2780219" y="4739537"/>
              <a:ext cx="112144" cy="1121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EC95E8-A57E-4F60-93BD-E168226B3604}"/>
                </a:ext>
              </a:extLst>
            </p:cNvPr>
            <p:cNvSpPr/>
            <p:nvPr/>
          </p:nvSpPr>
          <p:spPr>
            <a:xfrm>
              <a:off x="2026487" y="5551651"/>
              <a:ext cx="112144" cy="112144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0C1596-551C-4789-9033-7B7A78773497}"/>
              </a:ext>
            </a:extLst>
          </p:cNvPr>
          <p:cNvCxnSpPr>
            <a:cxnSpLocks/>
          </p:cNvCxnSpPr>
          <p:nvPr/>
        </p:nvCxnSpPr>
        <p:spPr>
          <a:xfrm>
            <a:off x="1420660" y="4373021"/>
            <a:ext cx="2103767" cy="175639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F88E294-D119-426B-BAC1-2F6D3FDA48D6}"/>
              </a:ext>
            </a:extLst>
          </p:cNvPr>
          <p:cNvGrpSpPr/>
          <p:nvPr/>
        </p:nvGrpSpPr>
        <p:grpSpPr>
          <a:xfrm>
            <a:off x="4537492" y="4446135"/>
            <a:ext cx="2058119" cy="1739349"/>
            <a:chOff x="4537492" y="4446135"/>
            <a:chExt cx="2058119" cy="173934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656DCFE-954A-42CD-88B2-160B4B724358}"/>
                </a:ext>
              </a:extLst>
            </p:cNvPr>
            <p:cNvSpPr/>
            <p:nvPr/>
          </p:nvSpPr>
          <p:spPr>
            <a:xfrm>
              <a:off x="4770406" y="5573560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66F170B-C61D-4D83-B357-8EAD4E6C8027}"/>
                </a:ext>
              </a:extLst>
            </p:cNvPr>
            <p:cNvSpPr/>
            <p:nvPr/>
          </p:nvSpPr>
          <p:spPr>
            <a:xfrm>
              <a:off x="5190225" y="5242880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9F9CD2C-5B27-4955-A8D8-62312AB38E69}"/>
                </a:ext>
              </a:extLst>
            </p:cNvPr>
            <p:cNvSpPr/>
            <p:nvPr/>
          </p:nvSpPr>
          <p:spPr>
            <a:xfrm>
              <a:off x="4957311" y="5172536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8A7439D-DF4C-4658-9F7E-34734BDAF6D1}"/>
                </a:ext>
              </a:extLst>
            </p:cNvPr>
            <p:cNvSpPr/>
            <p:nvPr/>
          </p:nvSpPr>
          <p:spPr>
            <a:xfrm>
              <a:off x="5377130" y="4841856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83381DD-A000-4C81-A7DD-F9D381AE4F27}"/>
                </a:ext>
              </a:extLst>
            </p:cNvPr>
            <p:cNvSpPr/>
            <p:nvPr/>
          </p:nvSpPr>
          <p:spPr>
            <a:xfrm>
              <a:off x="4537492" y="4847159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549B238-19F8-4660-A4BC-282BE6519848}"/>
                </a:ext>
              </a:extLst>
            </p:cNvPr>
            <p:cNvSpPr/>
            <p:nvPr/>
          </p:nvSpPr>
          <p:spPr>
            <a:xfrm>
              <a:off x="4957311" y="4516479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9482B91-983A-4D21-AAF4-626CBA24A074}"/>
                </a:ext>
              </a:extLst>
            </p:cNvPr>
            <p:cNvSpPr/>
            <p:nvPr/>
          </p:nvSpPr>
          <p:spPr>
            <a:xfrm>
              <a:off x="4724397" y="4446135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D5F556-8607-42A5-B693-C78E9A2E61D0}"/>
                </a:ext>
              </a:extLst>
            </p:cNvPr>
            <p:cNvSpPr/>
            <p:nvPr/>
          </p:nvSpPr>
          <p:spPr>
            <a:xfrm>
              <a:off x="6296562" y="4973575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C56BFF0-992B-476A-84A3-4FF74350DEB1}"/>
                </a:ext>
              </a:extLst>
            </p:cNvPr>
            <p:cNvSpPr/>
            <p:nvPr/>
          </p:nvSpPr>
          <p:spPr>
            <a:xfrm>
              <a:off x="6063648" y="4903231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988091F-F2BA-4DFB-88AB-B011310DD76F}"/>
                </a:ext>
              </a:extLst>
            </p:cNvPr>
            <p:cNvSpPr/>
            <p:nvPr/>
          </p:nvSpPr>
          <p:spPr>
            <a:xfrm>
              <a:off x="6483467" y="4572551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B99775D-EAA1-43FB-82D1-A73E576598F2}"/>
                </a:ext>
              </a:extLst>
            </p:cNvPr>
            <p:cNvSpPr/>
            <p:nvPr/>
          </p:nvSpPr>
          <p:spPr>
            <a:xfrm>
              <a:off x="5643829" y="4577854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DF42238-4A86-47F1-992F-61BBD2AB2822}"/>
                </a:ext>
              </a:extLst>
            </p:cNvPr>
            <p:cNvSpPr/>
            <p:nvPr/>
          </p:nvSpPr>
          <p:spPr>
            <a:xfrm>
              <a:off x="6166087" y="6073340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9D5AF75-8AF4-40D2-86B4-0364E76885C0}"/>
                </a:ext>
              </a:extLst>
            </p:cNvPr>
            <p:cNvSpPr/>
            <p:nvPr/>
          </p:nvSpPr>
          <p:spPr>
            <a:xfrm>
              <a:off x="5933173" y="6002996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F89453C-ECA4-4875-AF05-EDBD7C5B2402}"/>
                </a:ext>
              </a:extLst>
            </p:cNvPr>
            <p:cNvSpPr/>
            <p:nvPr/>
          </p:nvSpPr>
          <p:spPr>
            <a:xfrm>
              <a:off x="6352992" y="5672316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16EA3BA-26E8-4045-9285-DF4686185EA8}"/>
                </a:ext>
              </a:extLst>
            </p:cNvPr>
            <p:cNvSpPr/>
            <p:nvPr/>
          </p:nvSpPr>
          <p:spPr>
            <a:xfrm>
              <a:off x="5513354" y="5677619"/>
              <a:ext cx="112144" cy="112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9A946F3-CF69-4863-A6D7-B3E74743F92A}"/>
              </a:ext>
            </a:extLst>
          </p:cNvPr>
          <p:cNvGrpSpPr/>
          <p:nvPr/>
        </p:nvGrpSpPr>
        <p:grpSpPr>
          <a:xfrm>
            <a:off x="5346213" y="4749613"/>
            <a:ext cx="464031" cy="914182"/>
            <a:chOff x="5346213" y="4749613"/>
            <a:chExt cx="464031" cy="91418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18D3996-359C-4B09-B44C-4F9A6EF0A5A7}"/>
                </a:ext>
              </a:extLst>
            </p:cNvPr>
            <p:cNvSpPr/>
            <p:nvPr/>
          </p:nvSpPr>
          <p:spPr>
            <a:xfrm>
              <a:off x="5698100" y="4749613"/>
              <a:ext cx="112144" cy="1121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8A2B85F-D16B-48C3-BB93-9839919DCC47}"/>
                </a:ext>
              </a:extLst>
            </p:cNvPr>
            <p:cNvSpPr/>
            <p:nvPr/>
          </p:nvSpPr>
          <p:spPr>
            <a:xfrm>
              <a:off x="5346213" y="5551651"/>
              <a:ext cx="112144" cy="112144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99978E-4343-4482-9DDE-843968AEE5F3}"/>
              </a:ext>
            </a:extLst>
          </p:cNvPr>
          <p:cNvCxnSpPr>
            <a:cxnSpLocks/>
          </p:cNvCxnSpPr>
          <p:nvPr/>
        </p:nvCxnSpPr>
        <p:spPr>
          <a:xfrm>
            <a:off x="4362089" y="4620102"/>
            <a:ext cx="2495911" cy="116435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80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preparation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same as task 2</a:t>
            </a:r>
          </a:p>
          <a:p>
            <a:r>
              <a:rPr lang="en-US" dirty="0"/>
              <a:t>Create learning algorithm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Train</a:t>
            </a:r>
          </a:p>
          <a:p>
            <a:endParaRPr lang="en-US" dirty="0"/>
          </a:p>
          <a:p>
            <a:r>
              <a:rPr lang="en-US" dirty="0"/>
              <a:t>Add cluster label to data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773310"/>
            <a:ext cx="807524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sklearn.cluster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KMeans</a:t>
            </a:r>
            <a:endParaRPr lang="fr-FR" dirty="0">
              <a:latin typeface="Courier New" pitchFamily="49" charset="0"/>
              <a:cs typeface="Courier New" pitchFamily="49" charset="0"/>
            </a:endParaRPr>
          </a:p>
          <a:p>
            <a:r>
              <a:rPr lang="fr-FR" dirty="0" err="1">
                <a:latin typeface="Courier New" pitchFamily="49" charset="0"/>
                <a:cs typeface="Courier New" pitchFamily="49" charset="0"/>
              </a:rPr>
              <a:t>k_means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KMeans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dirty="0" err="1">
                <a:latin typeface="Courier New" pitchFamily="49" charset="0"/>
                <a:cs typeface="Courier New" pitchFamily="49" charset="0"/>
              </a:rPr>
              <a:t>n_clusters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=3)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863266"/>
            <a:ext cx="807524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k_means.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prepared_data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163733" y="3148379"/>
            <a:ext cx="3438459" cy="461665"/>
            <a:chOff x="4058507" y="3281669"/>
            <a:chExt cx="3438459" cy="461665"/>
          </a:xfrm>
        </p:grpSpPr>
        <p:sp>
          <p:nvSpPr>
            <p:cNvPr id="16" name="TextBox 15"/>
            <p:cNvSpPr txBox="1"/>
            <p:nvPr/>
          </p:nvSpPr>
          <p:spPr>
            <a:xfrm>
              <a:off x="4683375" y="3281669"/>
              <a:ext cx="2813591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How many clusters?</a:t>
              </a:r>
            </a:p>
          </p:txBody>
        </p:sp>
        <p:cxnSp>
          <p:nvCxnSpPr>
            <p:cNvPr id="17" name="Straight Arrow Connector 16"/>
            <p:cNvCxnSpPr>
              <a:cxnSpLocks/>
              <a:stCxn id="16" idx="1"/>
            </p:cNvCxnSpPr>
            <p:nvPr/>
          </p:nvCxnSpPr>
          <p:spPr>
            <a:xfrm flipH="1" flipV="1">
              <a:off x="4058507" y="3441618"/>
              <a:ext cx="624868" cy="708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1981200" y="4879425"/>
            <a:ext cx="807524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data_2015['Cluster'] = 0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range(3):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data_2015.loc[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clusterer.labels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 ==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'Cluster']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3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animBg="1"/>
      <p:bldP spid="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Examine clusters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44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1981200" y="1259468"/>
            <a:ext cx="807524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data_2015.boxplot(by='Cluster', column=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num_attr_names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3"/>
          <a:stretch/>
        </p:blipFill>
        <p:spPr>
          <a:xfrm>
            <a:off x="2166573" y="1700809"/>
            <a:ext cx="6010308" cy="4683536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405912" y="4660421"/>
            <a:ext cx="7415602" cy="1199923"/>
            <a:chOff x="1044830" y="5638568"/>
            <a:chExt cx="7415602" cy="1199923"/>
          </a:xfrm>
        </p:grpSpPr>
        <p:sp>
          <p:nvSpPr>
            <p:cNvPr id="7" name="TextBox 6"/>
            <p:cNvSpPr txBox="1"/>
            <p:nvPr/>
          </p:nvSpPr>
          <p:spPr>
            <a:xfrm>
              <a:off x="1044830" y="6238529"/>
              <a:ext cx="6135087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data_2015.loc[:, ('Cluster', 'Country')].</a:t>
              </a:r>
              <a:r>
                <a:rPr lang="en-US" dirty="0" err="1"/>
                <a:t>groupby</a:t>
              </a:r>
              <a:r>
                <a:rPr lang="en-US" dirty="0"/>
                <a:t>('Cluster').count()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14009" y="5638568"/>
              <a:ext cx="1146423" cy="1199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156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 winners are…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Switzerland</a:t>
            </a:r>
          </a:p>
          <a:p>
            <a:r>
              <a:rPr lang="en-US" dirty="0"/>
              <a:t>Iceland</a:t>
            </a:r>
          </a:p>
          <a:p>
            <a:r>
              <a:rPr lang="en-US" dirty="0"/>
              <a:t>Denmark</a:t>
            </a:r>
          </a:p>
          <a:p>
            <a:r>
              <a:rPr lang="en-US" dirty="0"/>
              <a:t>Norway</a:t>
            </a:r>
          </a:p>
          <a:p>
            <a:r>
              <a:rPr lang="en-US" dirty="0"/>
              <a:t>Canada</a:t>
            </a:r>
          </a:p>
          <a:p>
            <a:r>
              <a:rPr lang="en-US" dirty="0"/>
              <a:t>Finland</a:t>
            </a:r>
          </a:p>
          <a:p>
            <a:r>
              <a:rPr lang="en-US" dirty="0"/>
              <a:t>Netherlands</a:t>
            </a:r>
          </a:p>
          <a:p>
            <a:r>
              <a:rPr lang="en-US" dirty="0"/>
              <a:t>Sweden</a:t>
            </a:r>
          </a:p>
          <a:p>
            <a:r>
              <a:rPr lang="en-US" dirty="0"/>
              <a:t>New Zealand</a:t>
            </a:r>
          </a:p>
          <a:p>
            <a:r>
              <a:rPr lang="en-US" dirty="0"/>
              <a:t>Australia</a:t>
            </a:r>
          </a:p>
          <a:p>
            <a:r>
              <a:rPr lang="en-US" dirty="0"/>
              <a:t>Austria</a:t>
            </a:r>
          </a:p>
          <a:p>
            <a:r>
              <a:rPr lang="en-US" dirty="0"/>
              <a:t>United States</a:t>
            </a:r>
          </a:p>
          <a:p>
            <a:r>
              <a:rPr lang="en-US" dirty="0"/>
              <a:t>Luxembourg</a:t>
            </a:r>
          </a:p>
          <a:p>
            <a:r>
              <a:rPr lang="en-US" dirty="0"/>
              <a:t>Ireland</a:t>
            </a:r>
          </a:p>
          <a:p>
            <a:r>
              <a:rPr lang="en-US" dirty="0"/>
              <a:t>Belgium</a:t>
            </a:r>
          </a:p>
          <a:p>
            <a:r>
              <a:rPr lang="en-US" dirty="0"/>
              <a:t>United Arab Emirates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United Kingdom</a:t>
            </a:r>
          </a:p>
          <a:p>
            <a:r>
              <a:rPr lang="en-US" dirty="0"/>
              <a:t>Oman</a:t>
            </a:r>
          </a:p>
          <a:p>
            <a:r>
              <a:rPr lang="en-US" dirty="0"/>
              <a:t>Singapore</a:t>
            </a:r>
          </a:p>
          <a:p>
            <a:r>
              <a:rPr lang="en-US" dirty="0"/>
              <a:t>Germany</a:t>
            </a:r>
          </a:p>
          <a:p>
            <a:r>
              <a:rPr lang="en-US" dirty="0"/>
              <a:t>Qatar</a:t>
            </a:r>
          </a:p>
          <a:p>
            <a:r>
              <a:rPr lang="en-US" dirty="0"/>
              <a:t>France</a:t>
            </a:r>
          </a:p>
          <a:p>
            <a:r>
              <a:rPr lang="en-US" dirty="0"/>
              <a:t>Uruguay</a:t>
            </a:r>
          </a:p>
          <a:p>
            <a:r>
              <a:rPr lang="en-US" dirty="0"/>
              <a:t>Saudi Arabia</a:t>
            </a:r>
          </a:p>
          <a:p>
            <a:r>
              <a:rPr lang="en-US" dirty="0"/>
              <a:t>Malta</a:t>
            </a:r>
          </a:p>
          <a:p>
            <a:r>
              <a:rPr lang="en-US" dirty="0"/>
              <a:t>Kuwait</a:t>
            </a:r>
          </a:p>
          <a:p>
            <a:r>
              <a:rPr lang="en-US" dirty="0"/>
              <a:t>Uzbekistan</a:t>
            </a:r>
          </a:p>
          <a:p>
            <a:r>
              <a:rPr lang="en-US" dirty="0"/>
              <a:t>Japan</a:t>
            </a:r>
          </a:p>
          <a:p>
            <a:r>
              <a:rPr lang="en-US" dirty="0"/>
              <a:t>Bahrain</a:t>
            </a:r>
          </a:p>
          <a:p>
            <a:r>
              <a:rPr lang="en-US" dirty="0"/>
              <a:t>Turkmenistan</a:t>
            </a:r>
          </a:p>
          <a:p>
            <a:r>
              <a:rPr lang="en-US" dirty="0"/>
              <a:t>Hong Kong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1845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800" dirty="0">
                <a:hlinkClick r:id="rId2"/>
              </a:rPr>
              <a:t>https://github.com/gjbex/Machine-learning-with-Python/tree/master/source-code/pytorch</a:t>
            </a:r>
            <a:r>
              <a:rPr lang="en-GB" sz="1800" dirty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8779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High-level framework for deep learning</a:t>
            </a:r>
          </a:p>
          <a:p>
            <a:r>
              <a:rPr lang="en-US" dirty="0"/>
              <a:t>Very flexible, high performance</a:t>
            </a:r>
          </a:p>
          <a:p>
            <a:r>
              <a:rPr lang="en-US" dirty="0"/>
              <a:t>Layer types</a:t>
            </a:r>
          </a:p>
          <a:p>
            <a:pPr lvl="1"/>
            <a:r>
              <a:rPr lang="en-US" dirty="0"/>
              <a:t>dense</a:t>
            </a:r>
          </a:p>
          <a:p>
            <a:pPr lvl="1"/>
            <a:r>
              <a:rPr lang="en-US" dirty="0"/>
              <a:t>convolutional</a:t>
            </a:r>
          </a:p>
          <a:p>
            <a:pPr lvl="1"/>
            <a:r>
              <a:rPr lang="en-US" dirty="0"/>
              <a:t>pooling</a:t>
            </a:r>
          </a:p>
          <a:p>
            <a:pPr lvl="1"/>
            <a:r>
              <a:rPr lang="en-US" dirty="0"/>
              <a:t>embedding</a:t>
            </a:r>
          </a:p>
          <a:p>
            <a:pPr lvl="1"/>
            <a:r>
              <a:rPr lang="en-US" dirty="0"/>
              <a:t>recurrent</a:t>
            </a:r>
          </a:p>
          <a:p>
            <a:pPr lvl="1"/>
            <a:r>
              <a:rPr lang="en-US" dirty="0"/>
              <a:t>activation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linkClick r:id="rId2"/>
              </a:rPr>
              <a:t>https://pytorch.org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47</a:t>
            </a:fld>
            <a:endParaRPr lang="nl-BE"/>
          </a:p>
        </p:txBody>
      </p:sp>
      <p:sp>
        <p:nvSpPr>
          <p:cNvPr id="5" name="AutoShape 4" descr="TensorFl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From neurons to ANNs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" t="19303" b="14515"/>
          <a:stretch/>
        </p:blipFill>
        <p:spPr>
          <a:xfrm>
            <a:off x="1032388" y="1490114"/>
            <a:ext cx="5046196" cy="2123984"/>
          </a:xfrm>
          <a:prstGeom prst="rect">
            <a:avLst/>
          </a:prstGeom>
        </p:spPr>
      </p:pic>
      <p:pic>
        <p:nvPicPr>
          <p:cNvPr id="10244" name="Picture 4" descr="http://www.zerobio.com/central/actionpotenti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611" y="631625"/>
            <a:ext cx="3445504" cy="35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5289131" y="4559778"/>
            <a:ext cx="6308338" cy="1623882"/>
            <a:chOff x="5289131" y="4559778"/>
            <a:chExt cx="6308338" cy="16238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5" name="TextBox 10254"/>
                <p:cNvSpPr txBox="1"/>
                <p:nvPr/>
              </p:nvSpPr>
              <p:spPr>
                <a:xfrm>
                  <a:off x="5289131" y="4694923"/>
                  <a:ext cx="2375266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B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B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55" name="TextBox 102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131" y="4694923"/>
                  <a:ext cx="2375266" cy="6223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263" name="Group 10262"/>
            <p:cNvGrpSpPr/>
            <p:nvPr/>
          </p:nvGrpSpPr>
          <p:grpSpPr>
            <a:xfrm>
              <a:off x="7897567" y="4559778"/>
              <a:ext cx="3699902" cy="1623882"/>
              <a:chOff x="7897567" y="4559778"/>
              <a:chExt cx="3699902" cy="1623882"/>
            </a:xfrm>
          </p:grpSpPr>
          <p:grpSp>
            <p:nvGrpSpPr>
              <p:cNvPr id="10260" name="Group 10259"/>
              <p:cNvGrpSpPr/>
              <p:nvPr/>
            </p:nvGrpSpPr>
            <p:grpSpPr>
              <a:xfrm>
                <a:off x="7897567" y="4559778"/>
                <a:ext cx="2439634" cy="1623882"/>
                <a:chOff x="9663687" y="4449852"/>
                <a:chExt cx="2439634" cy="1623882"/>
              </a:xfrm>
            </p:grpSpPr>
            <p:pic>
              <p:nvPicPr>
                <p:cNvPr id="10257" name="Picture 6" descr="Image result for sigmoid function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63687" y="4449852"/>
                  <a:ext cx="2439634" cy="16238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58" name="TextBox 10257"/>
                    <p:cNvSpPr txBox="1"/>
                    <p:nvPr/>
                  </p:nvSpPr>
                  <p:spPr>
                    <a:xfrm>
                      <a:off x="11716106" y="5570997"/>
                      <a:ext cx="19774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258" name="TextBox 102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716106" y="5570997"/>
                      <a:ext cx="197746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2121" r="-9091" b="-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59" name="TextBox 10258"/>
                    <p:cNvSpPr txBox="1"/>
                    <p:nvPr/>
                  </p:nvSpPr>
                  <p:spPr>
                    <a:xfrm>
                      <a:off x="10216977" y="4565104"/>
                      <a:ext cx="5296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259" name="TextBox 102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16977" y="4565104"/>
                      <a:ext cx="529632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598" b="-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262" name="TextBox 10261"/>
              <p:cNvSpPr txBox="1"/>
              <p:nvPr/>
            </p:nvSpPr>
            <p:spPr>
              <a:xfrm>
                <a:off x="9537290" y="5065667"/>
                <a:ext cx="2060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dirty="0"/>
                  <a:t>activation function</a:t>
                </a:r>
                <a:endParaRPr lang="en-US" dirty="0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1446566" y="3696117"/>
            <a:ext cx="3453156" cy="2645681"/>
            <a:chOff x="1446566" y="3696117"/>
            <a:chExt cx="3453156" cy="2645681"/>
          </a:xfrm>
        </p:grpSpPr>
        <p:grpSp>
          <p:nvGrpSpPr>
            <p:cNvPr id="10271" name="Group 10270"/>
            <p:cNvGrpSpPr/>
            <p:nvPr/>
          </p:nvGrpSpPr>
          <p:grpSpPr>
            <a:xfrm>
              <a:off x="1446566" y="4026939"/>
              <a:ext cx="2258759" cy="2314859"/>
              <a:chOff x="1446566" y="4026939"/>
              <a:chExt cx="2258759" cy="2314859"/>
            </a:xfrm>
          </p:grpSpPr>
          <p:grpSp>
            <p:nvGrpSpPr>
              <p:cNvPr id="10261" name="Group 10260"/>
              <p:cNvGrpSpPr/>
              <p:nvPr/>
            </p:nvGrpSpPr>
            <p:grpSpPr>
              <a:xfrm>
                <a:off x="1446566" y="4026939"/>
                <a:ext cx="2258759" cy="2314859"/>
                <a:chOff x="1446566" y="4026939"/>
                <a:chExt cx="2258759" cy="231485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46" name="TextBox 10245"/>
                    <p:cNvSpPr txBox="1"/>
                    <p:nvPr/>
                  </p:nvSpPr>
                  <p:spPr>
                    <a:xfrm>
                      <a:off x="1875231" y="4154424"/>
                      <a:ext cx="33156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246" name="TextBox 1024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5231" y="4154424"/>
                      <a:ext cx="331565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7407" r="-5556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/>
                    <p:cNvSpPr txBox="1"/>
                    <p:nvPr/>
                  </p:nvSpPr>
                  <p:spPr>
                    <a:xfrm>
                      <a:off x="1876455" y="4559778"/>
                      <a:ext cx="33688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6455" y="4559778"/>
                      <a:ext cx="336887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7273" r="-5455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/>
                    <p:cNvSpPr txBox="1"/>
                    <p:nvPr/>
                  </p:nvSpPr>
                  <p:spPr>
                    <a:xfrm>
                      <a:off x="1886287" y="4935354"/>
                      <a:ext cx="33688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1" name="TextBox 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6287" y="4935354"/>
                      <a:ext cx="336887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7143" r="-5357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/>
                    <p:cNvSpPr txBox="1"/>
                    <p:nvPr/>
                  </p:nvSpPr>
                  <p:spPr>
                    <a:xfrm>
                      <a:off x="1886286" y="5803267"/>
                      <a:ext cx="369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2" name="TextBox 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6286" y="5803267"/>
                      <a:ext cx="369652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6557" r="-4918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/>
                    <p:cNvSpPr txBox="1"/>
                    <p:nvPr/>
                  </p:nvSpPr>
                  <p:spPr>
                    <a:xfrm>
                      <a:off x="1488494" y="4026939"/>
                      <a:ext cx="22595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7" name="TextBox 4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8494" y="4026939"/>
                      <a:ext cx="225959" cy="21544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8108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/>
                    <p:cNvSpPr txBox="1"/>
                    <p:nvPr/>
                  </p:nvSpPr>
                  <p:spPr>
                    <a:xfrm>
                      <a:off x="1480142" y="4617960"/>
                      <a:ext cx="23012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8" name="TextBox 4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0142" y="4617960"/>
                      <a:ext cx="230128" cy="21544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0526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/>
                    <p:cNvSpPr txBox="1"/>
                    <p:nvPr/>
                  </p:nvSpPr>
                  <p:spPr>
                    <a:xfrm>
                      <a:off x="1480142" y="5208868"/>
                      <a:ext cx="23012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9" name="TextBox 4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0142" y="5208868"/>
                      <a:ext cx="230128" cy="21544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0526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/>
                    <p:cNvSpPr txBox="1"/>
                    <p:nvPr/>
                  </p:nvSpPr>
                  <p:spPr>
                    <a:xfrm>
                      <a:off x="1462233" y="6063828"/>
                      <a:ext cx="25725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BE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0" name="TextBox 4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62233" y="6063828"/>
                      <a:ext cx="257250" cy="21544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9524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0256" name="Group 10255"/>
                <p:cNvGrpSpPr/>
                <p:nvPr/>
              </p:nvGrpSpPr>
              <p:grpSpPr>
                <a:xfrm>
                  <a:off x="1446566" y="4037516"/>
                  <a:ext cx="2258759" cy="2304282"/>
                  <a:chOff x="1446566" y="4037516"/>
                  <a:chExt cx="2258759" cy="2304282"/>
                </a:xfrm>
              </p:grpSpPr>
              <p:grpSp>
                <p:nvGrpSpPr>
                  <p:cNvPr id="10249" name="Group 10248"/>
                  <p:cNvGrpSpPr/>
                  <p:nvPr/>
                </p:nvGrpSpPr>
                <p:grpSpPr>
                  <a:xfrm>
                    <a:off x="1446566" y="4037516"/>
                    <a:ext cx="2258759" cy="2304282"/>
                    <a:chOff x="1446566" y="4037516"/>
                    <a:chExt cx="2258759" cy="2304282"/>
                  </a:xfrm>
                </p:grpSpPr>
                <p:cxnSp>
                  <p:nvCxnSpPr>
                    <p:cNvPr id="11" name="Straight Connector 10"/>
                    <p:cNvCxnSpPr>
                      <a:stCxn id="12" idx="5"/>
                      <a:endCxn id="16" idx="2"/>
                    </p:cNvCxnSpPr>
                    <p:nvPr/>
                  </p:nvCxnSpPr>
                  <p:spPr>
                    <a:xfrm>
                      <a:off x="1673160" y="4264110"/>
                      <a:ext cx="987689" cy="80155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stealth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/>
                    <p:cNvCxnSpPr>
                      <a:stCxn id="13" idx="6"/>
                      <a:endCxn id="16" idx="2"/>
                    </p:cNvCxnSpPr>
                    <p:nvPr/>
                  </p:nvCxnSpPr>
                  <p:spPr>
                    <a:xfrm>
                      <a:off x="1712037" y="4764645"/>
                      <a:ext cx="948812" cy="30102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stealth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" name="Oval 11"/>
                    <p:cNvSpPr/>
                    <p:nvPr/>
                  </p:nvSpPr>
                  <p:spPr>
                    <a:xfrm>
                      <a:off x="1446566" y="4037516"/>
                      <a:ext cx="265471" cy="26547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" name="Oval 12"/>
                    <p:cNvSpPr/>
                    <p:nvPr/>
                  </p:nvSpPr>
                  <p:spPr>
                    <a:xfrm>
                      <a:off x="1446566" y="4631909"/>
                      <a:ext cx="265471" cy="26547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" name="Oval 13"/>
                    <p:cNvSpPr/>
                    <p:nvPr/>
                  </p:nvSpPr>
                  <p:spPr>
                    <a:xfrm>
                      <a:off x="1446566" y="5226302"/>
                      <a:ext cx="265471" cy="26547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" name="Oval 14"/>
                    <p:cNvSpPr/>
                    <p:nvPr/>
                  </p:nvSpPr>
                  <p:spPr>
                    <a:xfrm>
                      <a:off x="1446566" y="6076327"/>
                      <a:ext cx="265471" cy="26547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" name="Oval 15"/>
                    <p:cNvSpPr/>
                    <p:nvPr/>
                  </p:nvSpPr>
                  <p:spPr>
                    <a:xfrm>
                      <a:off x="2660849" y="4932932"/>
                      <a:ext cx="265471" cy="26547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2" name="Straight Connector 21"/>
                    <p:cNvCxnSpPr>
                      <a:stCxn id="14" idx="6"/>
                      <a:endCxn id="16" idx="2"/>
                    </p:cNvCxnSpPr>
                    <p:nvPr/>
                  </p:nvCxnSpPr>
                  <p:spPr>
                    <a:xfrm flipV="1">
                      <a:off x="1712037" y="5065668"/>
                      <a:ext cx="948812" cy="29337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stealth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/>
                    <p:cNvCxnSpPr>
                      <a:stCxn id="15" idx="7"/>
                      <a:endCxn id="16" idx="2"/>
                    </p:cNvCxnSpPr>
                    <p:nvPr/>
                  </p:nvCxnSpPr>
                  <p:spPr>
                    <a:xfrm flipV="1">
                      <a:off x="1673160" y="5065668"/>
                      <a:ext cx="987689" cy="104953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stealth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40" name="Straight Connector 10239"/>
                    <p:cNvCxnSpPr>
                      <a:stCxn id="16" idx="6"/>
                    </p:cNvCxnSpPr>
                    <p:nvPr/>
                  </p:nvCxnSpPr>
                  <p:spPr>
                    <a:xfrm>
                      <a:off x="2926320" y="5065668"/>
                      <a:ext cx="77900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stealth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247" name="TextBox 10246"/>
                    <p:cNvSpPr txBox="1"/>
                    <p:nvPr/>
                  </p:nvSpPr>
                  <p:spPr>
                    <a:xfrm rot="5400000">
                      <a:off x="1515905" y="5599846"/>
                      <a:ext cx="31451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BE" dirty="0"/>
                        <a:t>...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51" name="Oval 50"/>
                  <p:cNvSpPr/>
                  <p:nvPr/>
                </p:nvSpPr>
                <p:spPr>
                  <a:xfrm>
                    <a:off x="2287274" y="5519041"/>
                    <a:ext cx="265471" cy="265471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251" name="Straight Connector 10250"/>
                  <p:cNvCxnSpPr>
                    <a:stCxn id="51" idx="7"/>
                    <a:endCxn id="16" idx="3"/>
                  </p:cNvCxnSpPr>
                  <p:nvPr/>
                </p:nvCxnSpPr>
                <p:spPr>
                  <a:xfrm flipV="1">
                    <a:off x="2513868" y="5159526"/>
                    <a:ext cx="185858" cy="39839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tailEnd type="stealth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/>
                    <p:cNvSpPr txBox="1"/>
                    <p:nvPr/>
                  </p:nvSpPr>
                  <p:spPr>
                    <a:xfrm>
                      <a:off x="2644836" y="5282738"/>
                      <a:ext cx="1974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BE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44836" y="5282738"/>
                      <a:ext cx="197425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25000" r="-25000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/>
                    <p:cNvSpPr txBox="1"/>
                    <p:nvPr/>
                  </p:nvSpPr>
                  <p:spPr>
                    <a:xfrm>
                      <a:off x="3363995" y="4739087"/>
                      <a:ext cx="2011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7" name="TextBox 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63995" y="4739087"/>
                      <a:ext cx="201145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4242" r="-24242" b="-26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2284398" y="5548052"/>
                    <a:ext cx="28693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BE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B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4398" y="5548052"/>
                    <a:ext cx="286938" cy="2154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2766" r="-10638" b="-1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3032663" y="3696117"/>
              <a:ext cx="1867059" cy="853772"/>
              <a:chOff x="4911157" y="3696117"/>
              <a:chExt cx="1867059" cy="853772"/>
            </a:xfrm>
          </p:grpSpPr>
          <p:sp>
            <p:nvSpPr>
              <p:cNvPr id="32" name="Down Arrow 31"/>
              <p:cNvSpPr/>
              <p:nvPr/>
            </p:nvSpPr>
            <p:spPr>
              <a:xfrm>
                <a:off x="4911157" y="3696117"/>
                <a:ext cx="567207" cy="853772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530759" y="3820039"/>
                <a:ext cx="1247457" cy="36933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BE" dirty="0"/>
                  <a:t>inspiration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258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Multilayer network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49</a:t>
            </a:fld>
            <a:endParaRPr lang="en-US"/>
          </a:p>
        </p:txBody>
      </p:sp>
      <p:pic>
        <p:nvPicPr>
          <p:cNvPr id="11266" name="Picture 2" descr="Image result for multilayer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540" y="1876220"/>
            <a:ext cx="6780059" cy="372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579349" y="2723535"/>
            <a:ext cx="3350597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BE" sz="3200" dirty="0"/>
              <a:t>How to determine</a:t>
            </a:r>
            <a:br>
              <a:rPr lang="en-BE" sz="3200" dirty="0"/>
            </a:br>
            <a:r>
              <a:rPr lang="en-BE" sz="3200" dirty="0"/>
              <a:t>weights?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4560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Training: 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Initialize weights </a:t>
            </a:r>
            <a:r>
              <a:rPr lang="en-US" dirty="0"/>
              <a:t>"</a:t>
            </a:r>
            <a:r>
              <a:rPr lang="en-BE" dirty="0"/>
              <a:t>randomly</a:t>
            </a:r>
            <a:r>
              <a:rPr lang="en-US" dirty="0"/>
              <a:t>"</a:t>
            </a:r>
            <a:endParaRPr lang="en-BE" dirty="0"/>
          </a:p>
          <a:p>
            <a:r>
              <a:rPr lang="en-BE" dirty="0"/>
              <a:t>For all training epochs</a:t>
            </a:r>
          </a:p>
          <a:p>
            <a:pPr lvl="1"/>
            <a:r>
              <a:rPr lang="en-BE" sz="2800" dirty="0"/>
              <a:t>for all input-output in training set</a:t>
            </a:r>
          </a:p>
          <a:p>
            <a:pPr lvl="2"/>
            <a:r>
              <a:rPr lang="en-BE" sz="2800" dirty="0"/>
              <a:t>using input, compute output (forward)</a:t>
            </a:r>
          </a:p>
          <a:p>
            <a:pPr lvl="2"/>
            <a:r>
              <a:rPr lang="en-BE" sz="2800" dirty="0"/>
              <a:t>compare computed output with training output</a:t>
            </a:r>
            <a:r>
              <a:rPr lang="en-US" sz="2800" dirty="0"/>
              <a:t> (loss function)</a:t>
            </a:r>
            <a:endParaRPr lang="en-BE" sz="2800" dirty="0"/>
          </a:p>
          <a:p>
            <a:pPr lvl="2"/>
            <a:r>
              <a:rPr lang="en-BE" sz="2800" dirty="0"/>
              <a:t>adapt weights (backward) to improve output</a:t>
            </a:r>
          </a:p>
          <a:p>
            <a:pPr lvl="1"/>
            <a:r>
              <a:rPr lang="en-BE" sz="3200" dirty="0"/>
              <a:t>if accuracy is good enough, stop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50</a:t>
            </a:fld>
            <a:endParaRPr lang="nl-BE"/>
          </a:p>
        </p:txBody>
      </p:sp>
      <p:pic>
        <p:nvPicPr>
          <p:cNvPr id="13314" name="Picture 2" descr="Gradient descent stuck at local mini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38" y="1350713"/>
            <a:ext cx="2467701" cy="185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77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Task: handwritten digit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Input data</a:t>
            </a:r>
          </a:p>
          <a:p>
            <a:pPr lvl="1"/>
            <a:r>
              <a:rPr lang="en-BE" dirty="0"/>
              <a:t>grayscale image</a:t>
            </a:r>
          </a:p>
          <a:p>
            <a:r>
              <a:rPr lang="en-BE" dirty="0"/>
              <a:t>Output data</a:t>
            </a:r>
          </a:p>
          <a:p>
            <a:pPr lvl="1"/>
            <a:r>
              <a:rPr lang="en-BE" dirty="0"/>
              <a:t>digit 0, 1, ..., 9</a:t>
            </a:r>
          </a:p>
          <a:p>
            <a:r>
              <a:rPr lang="en-BE" dirty="0"/>
              <a:t>Training examples</a:t>
            </a:r>
          </a:p>
          <a:p>
            <a:r>
              <a:rPr lang="en-BE" dirty="0"/>
              <a:t>Test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51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35" y="1972596"/>
            <a:ext cx="4248865" cy="2668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8240" y="5408023"/>
            <a:ext cx="560441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Explore the data: </a:t>
            </a:r>
            <a:r>
              <a:rPr lang="en-BE" dirty="0">
                <a:latin typeface="Inconsolata" panose="00000509000000000000" pitchFamily="49" charset="0"/>
              </a:rPr>
              <a:t>020_mnist_data_exploration.ipynb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53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First approach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406915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Data 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Input data as 1D</a:t>
            </a:r>
            <a:r>
              <a:rPr lang="en-US" sz="1800" dirty="0"/>
              <a:t> float32 array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output data </a:t>
            </a:r>
            <a:r>
              <a:rPr lang="en-US" sz="1800" dirty="0"/>
              <a:t>as integer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B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Model: multilayer perceptron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784</a:t>
            </a:r>
            <a:r>
              <a:rPr lang="en-BE" sz="1800" dirty="0"/>
              <a:t> inputs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dense hidden layer with 512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ReLU activation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dense layer with 512 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ReLU activation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dense layer with 10 units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2" descr="Image result for mnist datas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5" t="4111" r="3330" b="4774"/>
          <a:stretch/>
        </p:blipFill>
        <p:spPr bwMode="auto">
          <a:xfrm>
            <a:off x="7475958" y="1272927"/>
            <a:ext cx="1055788" cy="10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3AB8110-256A-1172-6DC5-C595A0F96BE7}"/>
              </a:ext>
            </a:extLst>
          </p:cNvPr>
          <p:cNvGrpSpPr/>
          <p:nvPr/>
        </p:nvGrpSpPr>
        <p:grpSpPr>
          <a:xfrm>
            <a:off x="5638181" y="2432798"/>
            <a:ext cx="5147563" cy="1673277"/>
            <a:chOff x="5638181" y="1593045"/>
            <a:chExt cx="5147563" cy="1673277"/>
          </a:xfrm>
        </p:grpSpPr>
        <p:grpSp>
          <p:nvGrpSpPr>
            <p:cNvPr id="9" name="Group 8"/>
            <p:cNvGrpSpPr/>
            <p:nvPr/>
          </p:nvGrpSpPr>
          <p:grpSpPr>
            <a:xfrm>
              <a:off x="5638181" y="1593045"/>
              <a:ext cx="5147563" cy="1318567"/>
              <a:chOff x="5638181" y="3762102"/>
              <a:chExt cx="5147563" cy="1318567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5638181" y="4711337"/>
                <a:ext cx="5147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Inconsolata" panose="00000509000000000000" pitchFamily="49" charset="0"/>
                  </a:rPr>
                  <a:t>[ </a:t>
                </a:r>
                <a:r>
                  <a:rPr lang="en-BE" dirty="0">
                    <a:latin typeface="Inconsolata" panose="00000509000000000000" pitchFamily="49" charset="0"/>
                  </a:rPr>
                  <a:t>0.</a:t>
                </a:r>
                <a:r>
                  <a:rPr lang="en-GB" dirty="0">
                    <a:latin typeface="Inconsolata" panose="00000509000000000000" pitchFamily="49" charset="0"/>
                  </a:rPr>
                  <a:t>0, </a:t>
                </a:r>
                <a:r>
                  <a:rPr lang="en-BE" dirty="0">
                    <a:latin typeface="Inconsolata" panose="00000509000000000000" pitchFamily="49" charset="0"/>
                  </a:rPr>
                  <a:t>0.</a:t>
                </a:r>
                <a:r>
                  <a:rPr lang="en-GB" dirty="0">
                    <a:latin typeface="Inconsolata" panose="00000509000000000000" pitchFamily="49" charset="0"/>
                  </a:rPr>
                  <a:t>0,</a:t>
                </a:r>
                <a:r>
                  <a:rPr lang="en-BE" dirty="0">
                    <a:latin typeface="Inconsolata" panose="00000509000000000000" pitchFamily="49" charset="0"/>
                  </a:rPr>
                  <a:t>...</a:t>
                </a:r>
                <a:r>
                  <a:rPr lang="en-GB" dirty="0">
                    <a:latin typeface="Inconsolata" panose="00000509000000000000" pitchFamily="49" charset="0"/>
                  </a:rPr>
                  <a:t>, </a:t>
                </a:r>
                <a:r>
                  <a:rPr lang="en-BE" dirty="0">
                    <a:latin typeface="Inconsolata" panose="00000509000000000000" pitchFamily="49" charset="0"/>
                  </a:rPr>
                  <a:t>0.951</a:t>
                </a:r>
                <a:r>
                  <a:rPr lang="en-GB" dirty="0">
                    <a:latin typeface="Inconsolata" panose="00000509000000000000" pitchFamily="49" charset="0"/>
                  </a:rPr>
                  <a:t>, </a:t>
                </a:r>
                <a:r>
                  <a:rPr lang="en-BE" dirty="0">
                    <a:latin typeface="Inconsolata" panose="00000509000000000000" pitchFamily="49" charset="0"/>
                  </a:rPr>
                  <a:t>0.533</a:t>
                </a:r>
                <a:r>
                  <a:rPr lang="nl-NL" dirty="0">
                    <a:latin typeface="Inconsolata" panose="00000509000000000000" pitchFamily="49" charset="0"/>
                  </a:rPr>
                  <a:t>,</a:t>
                </a:r>
                <a:r>
                  <a:rPr lang="en-BE" dirty="0">
                    <a:latin typeface="Inconsolata" panose="00000509000000000000" pitchFamily="49" charset="0"/>
                  </a:rPr>
                  <a:t>...,</a:t>
                </a:r>
                <a:r>
                  <a:rPr lang="nl-NL" dirty="0">
                    <a:latin typeface="Inconsolata" panose="00000509000000000000" pitchFamily="49" charset="0"/>
                  </a:rPr>
                  <a:t> </a:t>
                </a:r>
                <a:r>
                  <a:rPr lang="en-BE" dirty="0">
                    <a:latin typeface="Inconsolata" panose="00000509000000000000" pitchFamily="49" charset="0"/>
                  </a:rPr>
                  <a:t>0.</a:t>
                </a:r>
                <a:r>
                  <a:rPr lang="nl-NL" dirty="0">
                    <a:latin typeface="Inconsolata" panose="00000509000000000000" pitchFamily="49" charset="0"/>
                  </a:rPr>
                  <a:t>0, </a:t>
                </a:r>
                <a:r>
                  <a:rPr lang="en-BE" dirty="0">
                    <a:latin typeface="Inconsolata" panose="00000509000000000000" pitchFamily="49" charset="0"/>
                  </a:rPr>
                  <a:t>0.</a:t>
                </a:r>
                <a:r>
                  <a:rPr lang="nl-NL" dirty="0">
                    <a:latin typeface="Inconsolata" panose="00000509000000000000" pitchFamily="49" charset="0"/>
                  </a:rPr>
                  <a:t>0]</a:t>
                </a:r>
                <a:endParaRPr lang="en-US" dirty="0">
                  <a:latin typeface="Inconsolata" panose="00000509000000000000" pitchFamily="49" charset="0"/>
                </a:endParaRPr>
              </a:p>
            </p:txBody>
          </p:sp>
          <p:sp>
            <p:nvSpPr>
              <p:cNvPr id="8" name="Down Arrow 7"/>
              <p:cNvSpPr/>
              <p:nvPr/>
            </p:nvSpPr>
            <p:spPr>
              <a:xfrm>
                <a:off x="7725178" y="3762102"/>
                <a:ext cx="557349" cy="87085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7853811" y="28969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consolata" panose="00000509000000000000" pitchFamily="49" charset="0"/>
                </a:rPr>
                <a:t>5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347063" y="4885782"/>
            <a:ext cx="574227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Activation functions: </a:t>
            </a:r>
            <a:r>
              <a:rPr lang="en-BE" dirty="0">
                <a:latin typeface="Inconsolata" panose="00000509000000000000" pitchFamily="49" charset="0"/>
              </a:rPr>
              <a:t>030_activation_functions.ipynb</a:t>
            </a:r>
            <a:endParaRPr lang="en-US" dirty="0">
              <a:latin typeface="Inconsolata" panose="00000509000000000000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47063" y="5480587"/>
            <a:ext cx="458170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Multilayer perceptron: </a:t>
            </a:r>
            <a:r>
              <a:rPr lang="en-BE" dirty="0">
                <a:latin typeface="Inconsolata" panose="00000509000000000000" pitchFamily="49" charset="0"/>
              </a:rPr>
              <a:t>040_mnist_mlp.ipynb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13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Deep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BE" dirty="0"/>
              <a:t>Many layers</a:t>
            </a:r>
          </a:p>
          <a:p>
            <a:r>
              <a:rPr lang="en-BE" dirty="0"/>
              <a:t>Features are </a:t>
            </a:r>
            <a:r>
              <a:rPr lang="en-BE" i="1" dirty="0"/>
              <a:t>learned</a:t>
            </a:r>
            <a:r>
              <a:rPr lang="en-BE" dirty="0"/>
              <a:t>, not given</a:t>
            </a:r>
          </a:p>
          <a:p>
            <a:r>
              <a:rPr lang="en-BE" dirty="0"/>
              <a:t>Low-level features combined into</a:t>
            </a:r>
            <a:br>
              <a:rPr lang="en-BE" dirty="0"/>
            </a:br>
            <a:r>
              <a:rPr lang="en-BE" dirty="0"/>
              <a:t>high-level features</a:t>
            </a:r>
          </a:p>
          <a:p>
            <a:endParaRPr lang="en-BE" dirty="0"/>
          </a:p>
          <a:p>
            <a:r>
              <a:rPr lang="en-BE" dirty="0"/>
              <a:t>Special types of layers</a:t>
            </a:r>
          </a:p>
          <a:p>
            <a:pPr lvl="1"/>
            <a:r>
              <a:rPr lang="en-BE" dirty="0"/>
              <a:t>convolutional</a:t>
            </a:r>
          </a:p>
          <a:p>
            <a:pPr lvl="1"/>
            <a:r>
              <a:rPr lang="en-BE" dirty="0"/>
              <a:t>drop-out</a:t>
            </a:r>
          </a:p>
          <a:p>
            <a:pPr lvl="1"/>
            <a:r>
              <a:rPr lang="en-BE" dirty="0"/>
              <a:t>recurrent</a:t>
            </a:r>
          </a:p>
          <a:p>
            <a:pPr lvl="1"/>
            <a:r>
              <a:rPr lang="en-BE" dirty="0"/>
              <a:t>...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53</a:t>
            </a:fld>
            <a:endParaRPr lang="nl-BE"/>
          </a:p>
        </p:txBody>
      </p:sp>
      <p:pic>
        <p:nvPicPr>
          <p:cNvPr id="14338" name="Picture 2" descr="deep residual networ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881" y="2480486"/>
            <a:ext cx="5612119" cy="322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9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Convolutional neural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54</a:t>
            </a:fld>
            <a:endParaRPr lang="nl-BE"/>
          </a:p>
        </p:txBody>
      </p:sp>
      <p:pic>
        <p:nvPicPr>
          <p:cNvPr id="5" name="Picture 2" descr="Image result for mnist datas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5" t="4111" r="3330" b="4774"/>
          <a:stretch/>
        </p:blipFill>
        <p:spPr bwMode="auto">
          <a:xfrm>
            <a:off x="417127" y="1693435"/>
            <a:ext cx="4493402" cy="444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58712" y="2801881"/>
                <a:ext cx="116679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12" y="2801881"/>
                <a:ext cx="1166794" cy="7325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690" y="1693435"/>
            <a:ext cx="4440666" cy="4440666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417127" y="1735585"/>
            <a:ext cx="6696335" cy="1066296"/>
            <a:chOff x="2497688" y="3924804"/>
            <a:chExt cx="6696335" cy="1066296"/>
          </a:xfrm>
        </p:grpSpPr>
        <p:sp>
          <p:nvSpPr>
            <p:cNvPr id="8" name="Rectangle 7"/>
            <p:cNvSpPr/>
            <p:nvPr/>
          </p:nvSpPr>
          <p:spPr>
            <a:xfrm>
              <a:off x="2497688" y="3924804"/>
              <a:ext cx="1109112" cy="106629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rved Down Arrow 8"/>
            <p:cNvSpPr/>
            <p:nvPr/>
          </p:nvSpPr>
          <p:spPr>
            <a:xfrm>
              <a:off x="3052244" y="4051300"/>
              <a:ext cx="6141779" cy="317500"/>
            </a:xfrm>
            <a:prstGeom prst="curvedDownArrow">
              <a:avLst/>
            </a:prstGeom>
            <a:ln w="69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781218" y="35560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5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00162 L 0.24597 0.437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2180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Convolution examples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55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80800" y="1393991"/>
            <a:ext cx="5422729" cy="1951085"/>
            <a:chOff x="2019996" y="1589307"/>
            <a:chExt cx="5422729" cy="1951085"/>
          </a:xfrm>
        </p:grpSpPr>
        <p:pic>
          <p:nvPicPr>
            <p:cNvPr id="9218" name="Picture 2" descr="Image result for mnist datas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5" t="4111" r="3330" b="4774"/>
            <a:stretch/>
          </p:blipFill>
          <p:spPr bwMode="auto">
            <a:xfrm>
              <a:off x="2019996" y="1706875"/>
              <a:ext cx="1850524" cy="1828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149630" y="1589307"/>
                  <a:ext cx="1166794" cy="7325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630" y="1589307"/>
                  <a:ext cx="1166794" cy="7325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9208" y="1706875"/>
              <a:ext cx="1833517" cy="1833517"/>
            </a:xfrm>
            <a:prstGeom prst="rect">
              <a:avLst/>
            </a:prstGeom>
          </p:spPr>
        </p:pic>
        <p:sp>
          <p:nvSpPr>
            <p:cNvPr id="13" name="Right Arrow 12"/>
            <p:cNvSpPr/>
            <p:nvPr/>
          </p:nvSpPr>
          <p:spPr>
            <a:xfrm>
              <a:off x="4049486" y="2420980"/>
              <a:ext cx="1384663" cy="4702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80800" y="3669229"/>
            <a:ext cx="5416432" cy="1946373"/>
            <a:chOff x="2019996" y="3864545"/>
            <a:chExt cx="5416432" cy="1946373"/>
          </a:xfrm>
        </p:grpSpPr>
        <p:pic>
          <p:nvPicPr>
            <p:cNvPr id="15" name="Picture 2" descr="Image result for mnist datas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5" t="4111" r="3330" b="4774"/>
            <a:stretch/>
          </p:blipFill>
          <p:spPr bwMode="auto">
            <a:xfrm>
              <a:off x="2019996" y="3977401"/>
              <a:ext cx="1850524" cy="1828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4149630" y="3864545"/>
                  <a:ext cx="1166793" cy="7325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630" y="3864545"/>
                  <a:ext cx="1166793" cy="73257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ight Arrow 17"/>
            <p:cNvSpPr/>
            <p:nvPr/>
          </p:nvSpPr>
          <p:spPr>
            <a:xfrm>
              <a:off x="4049486" y="4696218"/>
              <a:ext cx="1384663" cy="4702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02911" y="3977401"/>
              <a:ext cx="1833517" cy="1833517"/>
            </a:xfrm>
            <a:prstGeom prst="rect">
              <a:avLst/>
            </a:prstGeom>
          </p:spPr>
        </p:pic>
      </p:grpSp>
      <p:sp>
        <p:nvSpPr>
          <p:cNvPr id="21" name="Oval 20"/>
          <p:cNvSpPr/>
          <p:nvPr/>
        </p:nvSpPr>
        <p:spPr>
          <a:xfrm rot="2696471">
            <a:off x="3919076" y="2109344"/>
            <a:ext cx="1628503" cy="482280"/>
          </a:xfrm>
          <a:prstGeom prst="ellips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21" name="Group 9220"/>
          <p:cNvGrpSpPr/>
          <p:nvPr/>
        </p:nvGrpSpPr>
        <p:grpSpPr>
          <a:xfrm>
            <a:off x="3922039" y="4138829"/>
            <a:ext cx="1656638" cy="1153472"/>
            <a:chOff x="3922039" y="4334145"/>
            <a:chExt cx="1656638" cy="1153472"/>
          </a:xfrm>
        </p:grpSpPr>
        <p:sp>
          <p:nvSpPr>
            <p:cNvPr id="23" name="Oval 22"/>
            <p:cNvSpPr/>
            <p:nvPr/>
          </p:nvSpPr>
          <p:spPr>
            <a:xfrm rot="19547048">
              <a:off x="3922039" y="5005337"/>
              <a:ext cx="1656638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 rot="19547048">
              <a:off x="4213130" y="4334145"/>
              <a:ext cx="1011307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16" name="Group 9215"/>
          <p:cNvGrpSpPr/>
          <p:nvPr/>
        </p:nvGrpSpPr>
        <p:grpSpPr>
          <a:xfrm>
            <a:off x="6460558" y="1389279"/>
            <a:ext cx="5453984" cy="1951085"/>
            <a:chOff x="6512512" y="1570257"/>
            <a:chExt cx="5453984" cy="1951085"/>
          </a:xfrm>
        </p:grpSpPr>
        <p:grpSp>
          <p:nvGrpSpPr>
            <p:cNvPr id="30" name="Group 29"/>
            <p:cNvGrpSpPr/>
            <p:nvPr/>
          </p:nvGrpSpPr>
          <p:grpSpPr>
            <a:xfrm>
              <a:off x="6512512" y="1570257"/>
              <a:ext cx="3427827" cy="1951085"/>
              <a:chOff x="6512512" y="1570257"/>
              <a:chExt cx="3427827" cy="1951085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8555676" y="1570257"/>
                <a:ext cx="1384663" cy="1301936"/>
                <a:chOff x="4049486" y="1589307"/>
                <a:chExt cx="1384663" cy="130193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/>
                    <p:cNvSpPr txBox="1"/>
                    <p:nvPr/>
                  </p:nvSpPr>
                  <p:spPr>
                    <a:xfrm>
                      <a:off x="4149630" y="1589307"/>
                      <a:ext cx="1166794" cy="73257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BE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BE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BE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BE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49630" y="1589307"/>
                      <a:ext cx="1166794" cy="73257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9" name="Right Arrow 28"/>
                <p:cNvSpPr/>
                <p:nvPr/>
              </p:nvSpPr>
              <p:spPr>
                <a:xfrm>
                  <a:off x="4049486" y="2420980"/>
                  <a:ext cx="1384663" cy="47026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12512" y="1670818"/>
                <a:ext cx="1850524" cy="1850524"/>
              </a:xfrm>
              <a:prstGeom prst="rect">
                <a:avLst/>
              </a:prstGeom>
            </p:spPr>
          </p:pic>
        </p:grp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32979" y="1670818"/>
              <a:ext cx="1833517" cy="1833517"/>
            </a:xfrm>
            <a:prstGeom prst="rect">
              <a:avLst/>
            </a:prstGeom>
          </p:spPr>
        </p:pic>
      </p:grpSp>
      <p:grpSp>
        <p:nvGrpSpPr>
          <p:cNvPr id="9220" name="Group 9219"/>
          <p:cNvGrpSpPr/>
          <p:nvPr/>
        </p:nvGrpSpPr>
        <p:grpSpPr>
          <a:xfrm>
            <a:off x="6460271" y="3647396"/>
            <a:ext cx="5461385" cy="1972918"/>
            <a:chOff x="6460271" y="3842712"/>
            <a:chExt cx="5461385" cy="19729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603867" y="3842712"/>
                  <a:ext cx="1166793" cy="7325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B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867" y="3842712"/>
                  <a:ext cx="1166793" cy="73257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219" name="Group 9218"/>
            <p:cNvGrpSpPr/>
            <p:nvPr/>
          </p:nvGrpSpPr>
          <p:grpSpPr>
            <a:xfrm>
              <a:off x="6460271" y="3842712"/>
              <a:ext cx="5461385" cy="1972918"/>
              <a:chOff x="6460271" y="3842712"/>
              <a:chExt cx="5461385" cy="1972918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6460271" y="3965106"/>
                <a:ext cx="3427827" cy="1850524"/>
                <a:chOff x="6512512" y="1670818"/>
                <a:chExt cx="3427827" cy="1850524"/>
              </a:xfrm>
            </p:grpSpPr>
            <p:sp>
              <p:nvSpPr>
                <p:cNvPr id="40" name="Right Arrow 39"/>
                <p:cNvSpPr/>
                <p:nvPr/>
              </p:nvSpPr>
              <p:spPr>
                <a:xfrm>
                  <a:off x="8555676" y="2401930"/>
                  <a:ext cx="1384663" cy="47026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8" name="Picture 37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12512" y="1670818"/>
                  <a:ext cx="1850524" cy="1850524"/>
                </a:xfrm>
                <a:prstGeom prst="rect">
                  <a:avLst/>
                </a:prstGeom>
              </p:spPr>
            </p:pic>
          </p:grpSp>
          <p:pic>
            <p:nvPicPr>
              <p:cNvPr id="9217" name="Picture 921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80738" y="3842712"/>
                <a:ext cx="1840918" cy="1840918"/>
              </a:xfrm>
              <a:prstGeom prst="rect">
                <a:avLst/>
              </a:prstGeom>
            </p:spPr>
          </p:pic>
        </p:grpSp>
      </p:grpSp>
      <p:grpSp>
        <p:nvGrpSpPr>
          <p:cNvPr id="9223" name="Group 9222"/>
          <p:cNvGrpSpPr/>
          <p:nvPr/>
        </p:nvGrpSpPr>
        <p:grpSpPr>
          <a:xfrm>
            <a:off x="10454964" y="4209672"/>
            <a:ext cx="1440765" cy="992992"/>
            <a:chOff x="10454964" y="4404988"/>
            <a:chExt cx="1440765" cy="992992"/>
          </a:xfrm>
        </p:grpSpPr>
        <p:sp>
          <p:nvSpPr>
            <p:cNvPr id="52" name="Oval 51"/>
            <p:cNvSpPr/>
            <p:nvPr/>
          </p:nvSpPr>
          <p:spPr>
            <a:xfrm rot="19547048">
              <a:off x="10454964" y="4404988"/>
              <a:ext cx="1440765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 rot="19547048">
              <a:off x="10493889" y="4915700"/>
              <a:ext cx="1164421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22" name="Group 9221"/>
          <p:cNvGrpSpPr/>
          <p:nvPr/>
        </p:nvGrpSpPr>
        <p:grpSpPr>
          <a:xfrm>
            <a:off x="10360303" y="1746168"/>
            <a:ext cx="1363597" cy="1344260"/>
            <a:chOff x="10360303" y="1941484"/>
            <a:chExt cx="1363597" cy="1344260"/>
          </a:xfrm>
        </p:grpSpPr>
        <p:sp>
          <p:nvSpPr>
            <p:cNvPr id="55" name="Oval 54"/>
            <p:cNvSpPr/>
            <p:nvPr/>
          </p:nvSpPr>
          <p:spPr>
            <a:xfrm rot="2696471">
              <a:off x="10906509" y="1941484"/>
              <a:ext cx="817391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 rot="2696471">
              <a:off x="10794683" y="2495295"/>
              <a:ext cx="576623" cy="482280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 rot="2696471">
              <a:off x="10360303" y="2874936"/>
              <a:ext cx="576623" cy="410808"/>
            </a:xfrm>
            <a:prstGeom prst="ellipse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40807" y="5863233"/>
            <a:ext cx="390363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Convolution: </a:t>
            </a:r>
            <a:r>
              <a:rPr lang="en-BE" dirty="0">
                <a:latin typeface="Inconsolata" panose="00000509000000000000" pitchFamily="49" charset="0"/>
              </a:rPr>
              <a:t>050_convolution.ipynb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Second approach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406915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Data 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Input data as 2D </a:t>
            </a:r>
            <a:r>
              <a:rPr lang="en-US" sz="1800" dirty="0"/>
              <a:t>float 32 </a:t>
            </a:r>
            <a:r>
              <a:rPr lang="en-BE" sz="1800" dirty="0"/>
              <a:t>array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output data as </a:t>
            </a:r>
            <a:r>
              <a:rPr lang="en-US" sz="1800" dirty="0"/>
              <a:t>integer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B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Model: convolutional neural network (CNN)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28 </a:t>
            </a:r>
            <a:r>
              <a:rPr lang="en-BE" sz="1800" dirty="0">
                <a:sym typeface="Symbol" panose="05050102010706020507" pitchFamily="18" charset="2"/>
              </a:rPr>
              <a:t></a:t>
            </a:r>
            <a:r>
              <a:rPr lang="en-BE" sz="1800" dirty="0"/>
              <a:t> 28 inputs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CNN layer with 32 filters 3 </a:t>
            </a:r>
            <a:r>
              <a:rPr lang="en-BE" sz="1800" dirty="0">
                <a:sym typeface="Symbol" panose="05050102010706020507" pitchFamily="18" charset="2"/>
              </a:rPr>
              <a:t></a:t>
            </a:r>
            <a:r>
              <a:rPr lang="en-BE" sz="1800" dirty="0"/>
              <a:t>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ReLU activation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flatten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dense layer with 10 units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2" descr="Image result for mnist datas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5" t="4111" r="3330" b="4774"/>
          <a:stretch/>
        </p:blipFill>
        <p:spPr bwMode="auto">
          <a:xfrm>
            <a:off x="7475958" y="843716"/>
            <a:ext cx="1055788" cy="104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709687" y="2003587"/>
            <a:ext cx="5378395" cy="1334148"/>
            <a:chOff x="5709687" y="3762102"/>
            <a:chExt cx="5378395" cy="1334148"/>
          </a:xfrm>
        </p:grpSpPr>
        <p:sp>
          <p:nvSpPr>
            <p:cNvPr id="7" name="TextBox 6"/>
            <p:cNvSpPr txBox="1"/>
            <p:nvPr/>
          </p:nvSpPr>
          <p:spPr>
            <a:xfrm>
              <a:off x="5709687" y="4726918"/>
              <a:ext cx="5378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Inconsolata" panose="00000509000000000000" pitchFamily="49" charset="0"/>
                </a:rPr>
                <a:t>[</a:t>
              </a:r>
              <a:r>
                <a:rPr lang="en-BE" dirty="0">
                  <a:latin typeface="Inconsolata" panose="00000509000000000000" pitchFamily="49" charset="0"/>
                </a:rPr>
                <a:t>[</a:t>
              </a:r>
              <a:r>
                <a:rPr lang="en-GB" dirty="0">
                  <a:latin typeface="Inconsolata" panose="00000509000000000000" pitchFamily="49" charset="0"/>
                </a:rPr>
                <a:t> </a:t>
              </a:r>
              <a:r>
                <a:rPr lang="en-BE" dirty="0">
                  <a:latin typeface="Inconsolata" panose="00000509000000000000" pitchFamily="49" charset="0"/>
                </a:rPr>
                <a:t>0.</a:t>
              </a:r>
              <a:r>
                <a:rPr lang="en-GB" dirty="0">
                  <a:latin typeface="Inconsolata" panose="00000509000000000000" pitchFamily="49" charset="0"/>
                </a:rPr>
                <a:t>0, </a:t>
              </a:r>
              <a:r>
                <a:rPr lang="en-BE" dirty="0">
                  <a:latin typeface="Inconsolata" panose="00000509000000000000" pitchFamily="49" charset="0"/>
                </a:rPr>
                <a:t>0.</a:t>
              </a:r>
              <a:r>
                <a:rPr lang="en-GB" dirty="0">
                  <a:latin typeface="Inconsolata" panose="00000509000000000000" pitchFamily="49" charset="0"/>
                </a:rPr>
                <a:t>0,</a:t>
              </a:r>
              <a:r>
                <a:rPr lang="en-BE" dirty="0">
                  <a:latin typeface="Inconsolata" panose="00000509000000000000" pitchFamily="49" charset="0"/>
                </a:rPr>
                <a:t>...</a:t>
              </a:r>
              <a:r>
                <a:rPr lang="en-GB" dirty="0">
                  <a:latin typeface="Inconsolata" panose="00000509000000000000" pitchFamily="49" charset="0"/>
                </a:rPr>
                <a:t>, </a:t>
              </a:r>
              <a:r>
                <a:rPr lang="en-BE" dirty="0">
                  <a:latin typeface="Inconsolata" panose="00000509000000000000" pitchFamily="49" charset="0"/>
                </a:rPr>
                <a:t>0.951</a:t>
              </a:r>
              <a:r>
                <a:rPr lang="en-GB" dirty="0">
                  <a:latin typeface="Inconsolata" panose="00000509000000000000" pitchFamily="49" charset="0"/>
                </a:rPr>
                <a:t>, </a:t>
              </a:r>
              <a:r>
                <a:rPr lang="en-BE" dirty="0">
                  <a:latin typeface="Inconsolata" panose="00000509000000000000" pitchFamily="49" charset="0"/>
                </a:rPr>
                <a:t>0.533</a:t>
              </a:r>
              <a:r>
                <a:rPr lang="nl-NL" dirty="0">
                  <a:latin typeface="Inconsolata" panose="00000509000000000000" pitchFamily="49" charset="0"/>
                </a:rPr>
                <a:t>,</a:t>
              </a:r>
              <a:r>
                <a:rPr lang="en-BE" dirty="0">
                  <a:latin typeface="Inconsolata" panose="00000509000000000000" pitchFamily="49" charset="0"/>
                </a:rPr>
                <a:t>...,</a:t>
              </a:r>
              <a:r>
                <a:rPr lang="nl-NL" dirty="0">
                  <a:latin typeface="Inconsolata" panose="00000509000000000000" pitchFamily="49" charset="0"/>
                </a:rPr>
                <a:t> </a:t>
              </a:r>
              <a:r>
                <a:rPr lang="en-BE" dirty="0">
                  <a:latin typeface="Inconsolata" panose="00000509000000000000" pitchFamily="49" charset="0"/>
                </a:rPr>
                <a:t>0.</a:t>
              </a:r>
              <a:r>
                <a:rPr lang="nl-NL" dirty="0">
                  <a:latin typeface="Inconsolata" panose="00000509000000000000" pitchFamily="49" charset="0"/>
                </a:rPr>
                <a:t>0, </a:t>
              </a:r>
              <a:r>
                <a:rPr lang="en-BE" dirty="0">
                  <a:latin typeface="Inconsolata" panose="00000509000000000000" pitchFamily="49" charset="0"/>
                </a:rPr>
                <a:t>0.</a:t>
              </a:r>
              <a:r>
                <a:rPr lang="nl-NL" dirty="0">
                  <a:latin typeface="Inconsolata" panose="00000509000000000000" pitchFamily="49" charset="0"/>
                </a:rPr>
                <a:t>0</a:t>
              </a:r>
              <a:r>
                <a:rPr lang="en-BE" dirty="0">
                  <a:latin typeface="Inconsolata" panose="00000509000000000000" pitchFamily="49" charset="0"/>
                </a:rPr>
                <a:t>]</a:t>
              </a:r>
              <a:r>
                <a:rPr lang="nl-NL" dirty="0">
                  <a:latin typeface="Inconsolata" panose="00000509000000000000" pitchFamily="49" charset="0"/>
                </a:rPr>
                <a:t>]</a:t>
              </a:r>
              <a:endParaRPr lang="en-US" dirty="0">
                <a:latin typeface="Inconsolata" panose="00000509000000000000" pitchFamily="49" charset="0"/>
              </a:endParaRPr>
            </a:p>
          </p:txBody>
        </p:sp>
        <p:sp>
          <p:nvSpPr>
            <p:cNvPr id="8" name="Down Arrow 7"/>
            <p:cNvSpPr/>
            <p:nvPr/>
          </p:nvSpPr>
          <p:spPr>
            <a:xfrm>
              <a:off x="7725178" y="3762102"/>
              <a:ext cx="557349" cy="87085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920473" y="3333851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400" dirty="0"/>
              <a:t>5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47063" y="4885782"/>
            <a:ext cx="54040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Convolutional neural network: </a:t>
            </a:r>
            <a:r>
              <a:rPr lang="en-BE" dirty="0">
                <a:latin typeface="Inconsolata" panose="00000509000000000000" pitchFamily="49" charset="0"/>
              </a:rPr>
              <a:t>060_mnist_cnn.ipynb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6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226757-A157-4520-840A-53DD3580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 the research question choose the abstraction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67ADA-E149-4C7D-B537-856914DE6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1765E2-0FAE-40A2-8328-EFA0E6A1A332}" type="slidenum">
              <a:rPr/>
              <a:t>57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32596-37BB-4BCA-AA7A-15C4FA048D0B}"/>
              </a:ext>
            </a:extLst>
          </p:cNvPr>
          <p:cNvSpPr>
            <a:spLocks noGrp="1"/>
          </p:cNvSpPr>
          <p:nvPr/>
        </p:nvSpPr>
        <p:spPr>
          <a:xfrm>
            <a:off x="685800" y="1871201"/>
            <a:ext cx="2857500" cy="3020961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067C6-1EE0-4DCB-A950-9D6F6F8568E1}"/>
              </a:ext>
            </a:extLst>
          </p:cNvPr>
          <p:cNvSpPr>
            <a:spLocks noGrp="1"/>
          </p:cNvSpPr>
          <p:nvPr/>
        </p:nvSpPr>
        <p:spPr>
          <a:xfrm>
            <a:off x="914400" y="2061702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DECISION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5EA5E8-64C6-4F60-9104-C991D0976623}"/>
              </a:ext>
            </a:extLst>
          </p:cNvPr>
          <p:cNvSpPr>
            <a:spLocks noGrp="1"/>
          </p:cNvSpPr>
          <p:nvPr/>
        </p:nvSpPr>
        <p:spPr>
          <a:xfrm>
            <a:off x="914400" y="2395076"/>
            <a:ext cx="2381250" cy="1505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dirty="0">
                <a:solidFill>
                  <a:srgbClr val="333639"/>
                </a:solidFill>
                <a:latin typeface="+mj-lt"/>
                <a:ea typeface="FlandersArtSans-Bold"/>
                <a:cs typeface="FlandersArtSans-Bold"/>
              </a:rPr>
              <a:t>Could another correct Trainer</a:t>
            </a:r>
            <a:r>
              <a:rPr lang="en-US" sz="2000" dirty="0">
                <a:solidFill>
                  <a:srgbClr val="333639"/>
                </a:solidFill>
                <a:latin typeface="+mj-lt"/>
                <a:ea typeface="FlandersArtSans-Bold"/>
                <a:cs typeface="FlandersArtSans-Bold"/>
              </a:rPr>
              <a:t> </a:t>
            </a:r>
            <a:r>
              <a:rPr lang="en-US" sz="2000" dirty="0">
                <a:solidFill>
                  <a:srgbClr val="333639"/>
                </a:solidFill>
                <a:latin typeface="+mj-lt"/>
                <a:ea typeface="FlandersArtSans-Regular"/>
                <a:cs typeface="FlandersArtSans-Regular"/>
              </a:rPr>
              <a:t>replace it without changing the scientific question?</a:t>
            </a:r>
            <a:endParaRPr sz="2000" dirty="0">
              <a:solidFill>
                <a:srgbClr val="333639"/>
              </a:solidFill>
              <a:latin typeface="+mj-lt"/>
              <a:ea typeface="FlandersArtSans-Bold"/>
              <a:cs typeface="FlandersArtSans-Bold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23EE9-F105-4FBD-A3E6-D347E4476835}"/>
              </a:ext>
            </a:extLst>
          </p:cNvPr>
          <p:cNvSpPr>
            <a:spLocks noGrp="1"/>
          </p:cNvSpPr>
          <p:nvPr/>
        </p:nvSpPr>
        <p:spPr>
          <a:xfrm>
            <a:off x="914400" y="4030411"/>
            <a:ext cx="2381250" cy="9161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 dirty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YES  →  Lightning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 dirty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PARTLY  →  Fabric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 dirty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NO  →  native </a:t>
            </a:r>
            <a:r>
              <a:rPr sz="1600" b="0" dirty="0" err="1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PyTorch</a:t>
            </a:r>
            <a:endParaRPr sz="1600" b="0" dirty="0">
              <a:solidFill>
                <a:srgbClr val="333639"/>
              </a:solidFill>
              <a:latin typeface="FlandersArtSans-Regular"/>
              <a:ea typeface="FlandersArtSans-Regular"/>
              <a:cs typeface="FlandersArtSans-Regul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6CF2D-AB07-47DA-8570-3077CD50E820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CHOICE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C8AE6B-CC04-477D-BAAD-6CDF5C53B122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C678B8-8A8A-4DE3-B596-96C97B6F289F}"/>
              </a:ext>
            </a:extLst>
          </p:cNvPr>
          <p:cNvSpPr>
            <a:spLocks noGrp="1"/>
          </p:cNvSpPr>
          <p:nvPr/>
        </p:nvSpPr>
        <p:spPr>
          <a:xfrm>
            <a:off x="4781550" y="17907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Training loop is infrastructure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84D7C4-A9BC-462E-92E4-3095B0CE6513}"/>
              </a:ext>
            </a:extLst>
          </p:cNvPr>
          <p:cNvSpPr>
            <a:spLocks noGrp="1"/>
          </p:cNvSpPr>
          <p:nvPr/>
        </p:nvSpPr>
        <p:spPr>
          <a:xfrm>
            <a:off x="4781550" y="20669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PyTorch Lightning: standard loop, DDP, logging and checkpoints.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00923C-2290-4115-AD8B-1DA1942EF370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652C2B-C1C6-464E-8706-E695E33E22A4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FE799-703A-4C3E-9D06-072886EE2EB4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Need explicit loop control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1C3664-A851-4899-B0B8-DA445B2A4197}"/>
              </a:ext>
            </a:extLst>
          </p:cNvPr>
          <p:cNvSpPr>
            <a:spLocks noGrp="1"/>
          </p:cNvSpPr>
          <p:nvPr/>
        </p:nvSpPr>
        <p:spPr>
          <a:xfrm>
            <a:off x="4781550" y="30575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Lightning Fabric: keep iteration, backward and optimizer logic visible.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D507F6-38CA-49F5-AB85-76146F3B9019}"/>
              </a:ext>
            </a:extLst>
          </p:cNvPr>
          <p:cNvSpPr>
            <a:spLocks noGrp="1"/>
          </p:cNvSpPr>
          <p:nvPr/>
        </p:nvSpPr>
        <p:spPr>
          <a:xfrm>
            <a:off x="4781550" y="36576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D192CD-95C5-4EF5-B6BA-B6FFCDEB22DC}"/>
              </a:ext>
            </a:extLst>
          </p:cNvPr>
          <p:cNvSpPr>
            <a:spLocks noGrp="1"/>
          </p:cNvSpPr>
          <p:nvPr/>
        </p:nvSpPr>
        <p:spPr>
          <a:xfrm>
            <a:off x="41910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EF116E-DA17-4619-915C-19C8160FA838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Learning mechanics are the variable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229582-E9C5-424A-BE63-28FAE134F3CF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native PyTorch: custom optimization, collectives or parallelism.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027F81-7512-4DD6-B897-47CE3ABD5FE1}"/>
              </a:ext>
            </a:extLst>
          </p:cNvPr>
          <p:cNvSpPr>
            <a:spLocks noGrp="1"/>
          </p:cNvSpPr>
          <p:nvPr/>
        </p:nvSpPr>
        <p:spPr>
          <a:xfrm>
            <a:off x="4191000" y="47053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BAD PROXY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87CC4C-B627-4276-877B-4F919C69AA4E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Discipline is a poor proxy: either field may need either path.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D2FF72-7688-491C-A2C1-73D14790F3D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44200" cy="28575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06E059-4F60-4E77-8D64-96A399D0E359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Rule of thumb: established ML workflow → Lightning; learning or distributed mechanics → native PyTorch.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InspiroBot</a:t>
            </a:r>
            <a:r>
              <a:rPr lang="en-US" dirty="0"/>
              <a:t> </a:t>
            </a:r>
            <a:r>
              <a:rPr lang="en-US" sz="1500" dirty="0"/>
              <a:t>(</a:t>
            </a:r>
            <a:r>
              <a:rPr lang="en-US" sz="1500" dirty="0">
                <a:hlinkClick r:id="rId2"/>
              </a:rPr>
              <a:t>http://inspirobot.me/</a:t>
            </a:r>
            <a:r>
              <a:rPr lang="en-US" sz="1500" dirty="0"/>
              <a:t>)</a:t>
            </a:r>
            <a:endParaRPr lang="en-US" dirty="0"/>
          </a:p>
          <a:p>
            <a:pPr lvl="1"/>
            <a:r>
              <a:rPr lang="en-US" sz="1500" i="1" dirty="0"/>
              <a:t>"I am an artificial intelligence dedicated to generating unlimited amounts of unique inspirational quotes for endless enrichment of pointless human existence".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58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342" y="3266982"/>
            <a:ext cx="2085696" cy="20856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143" y="3645024"/>
            <a:ext cx="2247714" cy="2247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125" y="2996952"/>
            <a:ext cx="2193708" cy="2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4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consistent, elegant API</a:t>
            </a:r>
          </a:p>
          <a:p>
            <a:pPr lvl="1"/>
            <a:r>
              <a:rPr lang="en-US" dirty="0"/>
              <a:t>restricted to classic machine learning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very versatile</a:t>
            </a:r>
          </a:p>
          <a:p>
            <a:r>
              <a:rPr lang="en-US" dirty="0"/>
              <a:t>Consider using pre-trained networks</a:t>
            </a:r>
          </a:p>
          <a:p>
            <a:r>
              <a:rPr lang="en-US" dirty="0"/>
              <a:t>Success depends on</a:t>
            </a:r>
            <a:br>
              <a:rPr lang="en-US" dirty="0"/>
            </a:br>
            <a:r>
              <a:rPr lang="en-US" dirty="0"/>
              <a:t>           </a:t>
            </a:r>
            <a:r>
              <a:rPr lang="en-US" i="1" dirty="0">
                <a:solidFill>
                  <a:srgbClr val="C00000"/>
                </a:solidFill>
              </a:rPr>
              <a:t>understanding algorithms!</a:t>
            </a:r>
          </a:p>
          <a:p>
            <a:r>
              <a:rPr lang="en-US" dirty="0"/>
              <a:t>Success also depends on</a:t>
            </a:r>
            <a:br>
              <a:rPr lang="en-US" dirty="0"/>
            </a:br>
            <a:r>
              <a:rPr lang="en-US" dirty="0"/>
              <a:t>       </a:t>
            </a:r>
            <a:r>
              <a:rPr lang="en-US" i="1" dirty="0">
                <a:solidFill>
                  <a:srgbClr val="C00000"/>
                </a:solidFill>
              </a:rPr>
              <a:t>understanding data &amp; domain!</a:t>
            </a:r>
            <a:endParaRPr lang="en-US" dirty="0"/>
          </a:p>
          <a:p>
            <a:r>
              <a:rPr lang="en-US" dirty="0"/>
              <a:t>Many things to explore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742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" i="1" dirty="0"/>
              <a:t>Hands-On Machine Learning with Scikit-Learn and PyTorch</a:t>
            </a:r>
            <a:br>
              <a:rPr lang="" dirty="0"/>
            </a:br>
            <a:r>
              <a:rPr lang="" dirty="0"/>
              <a:t>Aurélien Géron</a:t>
            </a:r>
            <a:br>
              <a:rPr lang="" dirty="0"/>
            </a:br>
            <a:r>
              <a:rPr lang="" dirty="0"/>
              <a:t>O’Reilly Media, 2025</a:t>
            </a:r>
          </a:p>
          <a:p>
            <a:r>
              <a:rPr lang="" i="1" dirty="0"/>
              <a:t>Deep Learning with PyTorch, Second Edition</a:t>
            </a:r>
            <a:br>
              <a:rPr lang="" dirty="0"/>
            </a:br>
            <a:r>
              <a:rPr lang="" dirty="0"/>
              <a:t>Howard Huang, Eli Stevens, Luca Antiga and Thomas Viehmann</a:t>
            </a:r>
            <a:br>
              <a:rPr lang="" dirty="0"/>
            </a:br>
            <a:r>
              <a:rPr lang="" dirty="0"/>
              <a:t>Manning, 2026</a:t>
            </a:r>
          </a:p>
          <a:p>
            <a:endParaRPr lang="en-US" dirty="0"/>
          </a:p>
          <a:p>
            <a:r>
              <a:rPr lang="en-US" dirty="0"/>
              <a:t>Excellent </a:t>
            </a:r>
            <a:r>
              <a:rPr lang="en-US" dirty="0" err="1"/>
              <a:t>PyTorch</a:t>
            </a:r>
            <a:r>
              <a:rPr lang="en-US" dirty="0"/>
              <a:t> tutorial</a:t>
            </a:r>
            <a:br>
              <a:rPr lang="en-US" dirty="0"/>
            </a:br>
            <a:r>
              <a:rPr lang="en-US" sz="2400" dirty="0">
                <a:hlinkClick r:id="rId2"/>
              </a:rPr>
              <a:t>https://pytorch.org/tutorials/beginner/basics/intro.html</a:t>
            </a:r>
            <a:r>
              <a:rPr lang="en-US" sz="24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378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A30A-95E5-E9D5-C4D9-256D9CC4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material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11CBB-A6D9-1CBD-30E8-448FA4A35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7F96C-F8CC-12FF-A12F-283876F2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27205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Task: sentiment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Input data</a:t>
            </a:r>
          </a:p>
          <a:p>
            <a:pPr lvl="1"/>
            <a:r>
              <a:rPr lang="en-BE" dirty="0"/>
              <a:t>movie review (English)</a:t>
            </a:r>
          </a:p>
          <a:p>
            <a:r>
              <a:rPr lang="en-BE" dirty="0"/>
              <a:t>Output data</a:t>
            </a:r>
          </a:p>
          <a:p>
            <a:pPr lvl="1"/>
            <a:endParaRPr lang="en-BE" dirty="0"/>
          </a:p>
          <a:p>
            <a:r>
              <a:rPr lang="en-BE" dirty="0"/>
              <a:t>Training examples</a:t>
            </a:r>
          </a:p>
          <a:p>
            <a:r>
              <a:rPr lang="en-BE" dirty="0"/>
              <a:t>Test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62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1158240" y="5408023"/>
            <a:ext cx="548900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BE" dirty="0"/>
              <a:t>Explore the data: </a:t>
            </a:r>
            <a:r>
              <a:rPr lang="en-BE" dirty="0">
                <a:latin typeface="Inconsolata" panose="00000509000000000000" pitchFamily="49" charset="0"/>
              </a:rPr>
              <a:t>070_imdb_data_exploration.ipynb</a:t>
            </a:r>
            <a:endParaRPr lang="en-US" dirty="0">
              <a:latin typeface="Inconsolata" panose="00000509000000000000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854925" y="3047277"/>
            <a:ext cx="1231704" cy="769441"/>
            <a:chOff x="1854925" y="3047277"/>
            <a:chExt cx="1231704" cy="769441"/>
          </a:xfrm>
        </p:grpSpPr>
        <p:pic>
          <p:nvPicPr>
            <p:cNvPr id="2050" name="Picture 2" descr="Image result for happy smiley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06"/>
            <a:stretch/>
          </p:blipFill>
          <p:spPr bwMode="auto">
            <a:xfrm>
              <a:off x="1854925" y="3217158"/>
              <a:ext cx="432344" cy="449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Image result for sad smiley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3" t="5881" r="7637" b="14709"/>
            <a:stretch/>
          </p:blipFill>
          <p:spPr bwMode="auto">
            <a:xfrm>
              <a:off x="2621280" y="3213464"/>
              <a:ext cx="465349" cy="453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228091" y="3047277"/>
              <a:ext cx="45236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4400" dirty="0"/>
                <a:t>/</a:t>
              </a:r>
              <a:endParaRPr lang="en-US" sz="44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68927" y="1898069"/>
            <a:ext cx="7293336" cy="26160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Inconsolata" panose="00000509000000000000" pitchFamily="49" charset="0"/>
              </a:rPr>
              <a:t>&lt;start&gt; this film was just brilliant casting location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>
                <a:latin typeface="Inconsolata" panose="00000509000000000000" pitchFamily="49" charset="0"/>
              </a:rPr>
              <a:t>scenery story direction everyone's really suited the part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>
                <a:latin typeface="Inconsolata" panose="00000509000000000000" pitchFamily="49" charset="0"/>
              </a:rPr>
              <a:t>they played and you could just imagine being there Robert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 err="1">
                <a:latin typeface="Inconsolata" panose="00000509000000000000" pitchFamily="49" charset="0"/>
              </a:rPr>
              <a:t>redford's</a:t>
            </a:r>
            <a:r>
              <a:rPr lang="en-GB" dirty="0">
                <a:latin typeface="Inconsolata" panose="00000509000000000000" pitchFamily="49" charset="0"/>
              </a:rPr>
              <a:t> is an amazing actor and now the same being director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 err="1">
                <a:latin typeface="Inconsolata" panose="00000509000000000000" pitchFamily="49" charset="0"/>
              </a:rPr>
              <a:t>norman's</a:t>
            </a:r>
            <a:r>
              <a:rPr lang="en-GB" dirty="0">
                <a:latin typeface="Inconsolata" panose="00000509000000000000" pitchFamily="49" charset="0"/>
              </a:rPr>
              <a:t> father came from the same </a:t>
            </a:r>
            <a:r>
              <a:rPr lang="en-GB" dirty="0" err="1">
                <a:latin typeface="Inconsolata" panose="00000509000000000000" pitchFamily="49" charset="0"/>
              </a:rPr>
              <a:t>scottish</a:t>
            </a:r>
            <a:r>
              <a:rPr lang="en-GB" dirty="0">
                <a:latin typeface="Inconsolata" panose="00000509000000000000" pitchFamily="49" charset="0"/>
              </a:rPr>
              <a:t> island as myself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>
                <a:latin typeface="Inconsolata" panose="00000509000000000000" pitchFamily="49" charset="0"/>
              </a:rPr>
              <a:t>so </a:t>
            </a:r>
            <a:r>
              <a:rPr lang="en-GB" dirty="0" err="1">
                <a:latin typeface="Inconsolata" panose="00000509000000000000" pitchFamily="49" charset="0"/>
              </a:rPr>
              <a:t>i</a:t>
            </a:r>
            <a:r>
              <a:rPr lang="en-GB" dirty="0">
                <a:latin typeface="Inconsolata" panose="00000509000000000000" pitchFamily="49" charset="0"/>
              </a:rPr>
              <a:t> loved the fact there was a real connection with this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>
                <a:latin typeface="Inconsolata" panose="00000509000000000000" pitchFamily="49" charset="0"/>
              </a:rPr>
              <a:t>film the witty remarks throughout the film were great it was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GB" dirty="0">
                <a:latin typeface="Inconsolata" panose="00000509000000000000" pitchFamily="49" charset="0"/>
              </a:rPr>
              <a:t>just brilliant so much that </a:t>
            </a:r>
            <a:r>
              <a:rPr lang="en-GB" dirty="0" err="1">
                <a:latin typeface="Inconsolata" panose="00000509000000000000" pitchFamily="49" charset="0"/>
              </a:rPr>
              <a:t>i</a:t>
            </a:r>
            <a:r>
              <a:rPr lang="en-GB" dirty="0">
                <a:latin typeface="Inconsolata" panose="00000509000000000000" pitchFamily="49" charset="0"/>
              </a:rPr>
              <a:t> bought the film as soon as it</a:t>
            </a:r>
            <a:endParaRPr lang="en-BE" dirty="0">
              <a:latin typeface="Inconsolata" panose="00000509000000000000" pitchFamily="49" charset="0"/>
            </a:endParaRPr>
          </a:p>
          <a:p>
            <a:r>
              <a:rPr lang="en-BE" dirty="0">
                <a:latin typeface="Inconsolata" panose="00000509000000000000" pitchFamily="49" charset="0"/>
                <a:sym typeface="Symbol" panose="05050102010706020507" pitchFamily="18" charset="2"/>
              </a:rPr>
              <a:t></a:t>
            </a:r>
            <a:endParaRPr lang="en-BE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 words as one-hot vectors</a:t>
            </a:r>
            <a:br>
              <a:rPr lang="en-US" dirty="0"/>
            </a:br>
            <a:r>
              <a:rPr lang="en-US" dirty="0"/>
              <a:t>length = vocabulary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 </a:t>
            </a:r>
            <a:r>
              <a:rPr lang="en-US" dirty="0" err="1"/>
              <a:t>embeddings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dense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vector distance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semantic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discover relations with surrounding words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63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97030" y="2716698"/>
            <a:ext cx="1617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unwieldy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semantics</a:t>
            </a:r>
          </a:p>
        </p:txBody>
      </p:sp>
      <p:pic>
        <p:nvPicPr>
          <p:cNvPr id="1028" name="Picture 4" descr="wmd - Cop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25" y="1855013"/>
            <a:ext cx="6684134" cy="321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03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remember?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Manage history, network learns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to remember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to forget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Long-term correlations!</a:t>
            </a:r>
          </a:p>
          <a:p>
            <a:endParaRPr lang="en-US" dirty="0"/>
          </a:p>
          <a:p>
            <a:r>
              <a:rPr lang="en-US" dirty="0"/>
              <a:t>Use, e.g.,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LSTM (Long Short-Term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GRU (Gated Recurrent Unit)</a:t>
            </a:r>
          </a:p>
          <a:p>
            <a:endParaRPr lang="en-US" dirty="0"/>
          </a:p>
          <a:p>
            <a:r>
              <a:rPr lang="en-US" dirty="0"/>
              <a:t>Deal with variable length input and/or output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64</a:t>
            </a:fld>
            <a:endParaRPr lang="en-US"/>
          </a:p>
        </p:txBody>
      </p:sp>
      <p:pic>
        <p:nvPicPr>
          <p:cNvPr id="4098" name="Picture 2" descr="https://cdn-images-1.medium.com/max/800/1*7oE-4Wg6bZ7u8yDf5cjJPA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2355675"/>
            <a:ext cx="6172200" cy="213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2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Gated Recurrent Unit (GRU)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Update 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Reset 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Current memory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Final memory/output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65</a:t>
            </a:fld>
            <a:endParaRPr lang="nl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07945" y="2419350"/>
                <a:ext cx="24193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45" y="2419350"/>
                <a:ext cx="2419317" cy="276999"/>
              </a:xfrm>
              <a:prstGeom prst="rect">
                <a:avLst/>
              </a:prstGeom>
              <a:blipFill>
                <a:blip r:embed="rId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07945" y="3276212"/>
                <a:ext cx="23162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45" y="3276212"/>
                <a:ext cx="2316210" cy="276999"/>
              </a:xfrm>
              <a:prstGeom prst="rect">
                <a:avLst/>
              </a:prstGeom>
              <a:blipFill>
                <a:blip r:embed="rId3"/>
                <a:stretch>
                  <a:fillRect l="-789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07944" y="4118399"/>
                <a:ext cx="3096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44" y="4118399"/>
                <a:ext cx="3096617" cy="276999"/>
              </a:xfrm>
              <a:prstGeom prst="rect">
                <a:avLst/>
              </a:prstGeom>
              <a:blipFill>
                <a:blip r:embed="rId4"/>
                <a:stretch>
                  <a:fillRect l="-1378" t="-22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07943" y="4880011"/>
                <a:ext cx="31679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43" y="4880011"/>
                <a:ext cx="3167983" cy="276999"/>
              </a:xfrm>
              <a:prstGeom prst="rect">
                <a:avLst/>
              </a:prstGeom>
              <a:blipFill>
                <a:blip r:embed="rId5"/>
                <a:stretch>
                  <a:fillRect l="-2692" t="-2222" r="-38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https://cdn-images-1.medium.com/max/800/1*6eNTqLzQ08AABo-STFNiBw.pn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" r="527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79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5" grpId="0"/>
      <p:bldP spid="7" grpId="0"/>
      <p:bldP spid="8" grpId="0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BE" dirty="0"/>
              <a:t>pproach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406915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Data 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Input data as </a:t>
            </a:r>
            <a:r>
              <a:rPr lang="en-US" sz="1800" dirty="0"/>
              <a:t> padded </a:t>
            </a:r>
            <a:r>
              <a:rPr lang="en-BE" sz="1800" dirty="0"/>
              <a:t>array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800" dirty="0"/>
              <a:t>output data as </a:t>
            </a:r>
            <a:r>
              <a:rPr lang="en-US" sz="1800" dirty="0"/>
              <a:t>0 or 1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B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000" dirty="0"/>
              <a:t>Model: </a:t>
            </a:r>
            <a:r>
              <a:rPr lang="en-US" sz="2000" dirty="0"/>
              <a:t>recurrent</a:t>
            </a:r>
            <a:r>
              <a:rPr lang="en-BE" sz="2000" dirty="0"/>
              <a:t> neural network (</a:t>
            </a:r>
            <a:r>
              <a:rPr lang="en-US" sz="2000" dirty="0"/>
              <a:t>GRU</a:t>
            </a:r>
            <a:r>
              <a:rPr lang="en-BE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100</a:t>
            </a:r>
            <a:r>
              <a:rPr lang="en-BE" sz="1800" dirty="0"/>
              <a:t> inputs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embedding layer, 5,000 words, 64 element representation length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GRU</a:t>
            </a:r>
            <a:r>
              <a:rPr lang="en-BE" sz="1800" dirty="0"/>
              <a:t> layer</a:t>
            </a:r>
            <a:r>
              <a:rPr lang="en-US" sz="1800" dirty="0"/>
              <a:t>,</a:t>
            </a:r>
            <a:r>
              <a:rPr lang="en-BE" sz="1800" dirty="0"/>
              <a:t> </a:t>
            </a:r>
            <a:r>
              <a:rPr lang="en-US" sz="1800" dirty="0"/>
              <a:t>64 units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dropout layer, rate = 0.5</a:t>
            </a:r>
            <a:endParaRPr lang="en-BE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dense layer, 1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sigmoid activation function</a:t>
            </a:r>
            <a:endParaRPr lang="en-BE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66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47063" y="4885782"/>
            <a:ext cx="478368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Recurrent</a:t>
            </a:r>
            <a:r>
              <a:rPr lang="en-BE" dirty="0"/>
              <a:t> neural network: </a:t>
            </a:r>
            <a:r>
              <a:rPr lang="en-BE" dirty="0">
                <a:latin typeface="Inconsolata" panose="00000509000000000000" pitchFamily="49" charset="0"/>
              </a:rPr>
              <a:t>0</a:t>
            </a:r>
            <a:r>
              <a:rPr lang="en-US" dirty="0">
                <a:latin typeface="Inconsolata" panose="00000509000000000000" pitchFamily="49" charset="0"/>
              </a:rPr>
              <a:t>8</a:t>
            </a:r>
            <a:r>
              <a:rPr lang="en-BE" dirty="0">
                <a:latin typeface="Inconsolata" panose="00000509000000000000" pitchFamily="49" charset="0"/>
              </a:rPr>
              <a:t>0_</a:t>
            </a:r>
            <a:r>
              <a:rPr lang="en-US" dirty="0" err="1">
                <a:latin typeface="Inconsolata" panose="00000509000000000000" pitchFamily="49" charset="0"/>
              </a:rPr>
              <a:t>imdb_rnn</a:t>
            </a:r>
            <a:r>
              <a:rPr lang="en-US" dirty="0">
                <a:latin typeface="Inconsolata" panose="00000509000000000000" pitchFamily="49" charset="0"/>
              </a:rPr>
              <a:t>.</a:t>
            </a:r>
            <a:r>
              <a:rPr lang="en-BE" dirty="0">
                <a:latin typeface="Inconsolata" panose="00000509000000000000" pitchFamily="49" charset="0"/>
              </a:rPr>
              <a:t>pynb</a:t>
            </a:r>
            <a:endParaRPr lang="en-US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9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2929</Words>
  <Application>Microsoft Office PowerPoint</Application>
  <PresentationFormat>Widescreen</PresentationFormat>
  <Paragraphs>694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Calibri</vt:lpstr>
      <vt:lpstr>Cambria Math</vt:lpstr>
      <vt:lpstr>Courier New</vt:lpstr>
      <vt:lpstr>FlandersArtSans-Bold</vt:lpstr>
      <vt:lpstr>FlandersArtSans-Medium</vt:lpstr>
      <vt:lpstr>FlandersArtSans-Regular</vt:lpstr>
      <vt:lpstr>Inconsolata</vt:lpstr>
      <vt:lpstr>Symbol</vt:lpstr>
      <vt:lpstr>1_Office Theme</vt:lpstr>
      <vt:lpstr>Machine learning with Python</vt:lpstr>
      <vt:lpstr>PowerPoint Presentation</vt:lpstr>
      <vt:lpstr>PowerPoint Presentation</vt:lpstr>
      <vt:lpstr>Introduction</vt:lpstr>
      <vt:lpstr>Machine learning tasks</vt:lpstr>
      <vt:lpstr>Regression</vt:lpstr>
      <vt:lpstr>Classification</vt:lpstr>
      <vt:lpstr>Reinforcement learning</vt:lpstr>
      <vt:lpstr>Clustering</vt:lpstr>
      <vt:lpstr>Applications in science</vt:lpstr>
      <vt:lpstr>Machine learning algorithms</vt:lpstr>
      <vt:lpstr>Issues</vt:lpstr>
      <vt:lpstr>Reasons for failure</vt:lpstr>
      <vt:lpstr>Frameworks</vt:lpstr>
      <vt:lpstr>Data pipelines</vt:lpstr>
      <vt:lpstr>Supervised learning: methodology</vt:lpstr>
      <vt:lpstr>scikit-learn</vt:lpstr>
      <vt:lpstr>scikit-learn</vt:lpstr>
      <vt:lpstr>Machine learning tasks</vt:lpstr>
      <vt:lpstr>Data set</vt:lpstr>
      <vt:lpstr>World happiness</vt:lpstr>
      <vt:lpstr>Task 1</vt:lpstr>
      <vt:lpstr>Let's peek…</vt:lpstr>
      <vt:lpstr>Missing values?</vt:lpstr>
      <vt:lpstr>Extracting data</vt:lpstr>
      <vt:lpstr>Numerical attributes pipeline</vt:lpstr>
      <vt:lpstr>Categorical attribute pipeline</vt:lpstr>
      <vt:lpstr>Combining pipelines &amp; execution</vt:lpstr>
      <vt:lpstr>Training &amp; prediction</vt:lpstr>
      <vt:lpstr>Score &amp; errors</vt:lpstr>
      <vt:lpstr>Fine tuning</vt:lpstr>
      <vt:lpstr>Training result</vt:lpstr>
      <vt:lpstr>Testing the model</vt:lpstr>
      <vt:lpstr>Test result</vt:lpstr>
      <vt:lpstr>Task 2</vt:lpstr>
      <vt:lpstr>Data preparation</vt:lpstr>
      <vt:lpstr>Training &amp; scoring</vt:lpstr>
      <vt:lpstr>Testing the model</vt:lpstr>
      <vt:lpstr>Actually…</vt:lpstr>
      <vt:lpstr>Data set properties</vt:lpstr>
      <vt:lpstr>Task 3</vt:lpstr>
      <vt:lpstr>k-means algorithm</vt:lpstr>
      <vt:lpstr>Data preparation &amp; Training</vt:lpstr>
      <vt:lpstr>Examine clusters</vt:lpstr>
      <vt:lpstr>And the winners are…</vt:lpstr>
      <vt:lpstr>PyTorch</vt:lpstr>
      <vt:lpstr>PyTorch</vt:lpstr>
      <vt:lpstr>From neurons to ANNs</vt:lpstr>
      <vt:lpstr>Multilayer network</vt:lpstr>
      <vt:lpstr>Training: backpropagation</vt:lpstr>
      <vt:lpstr>Task: handwritten digit recognition</vt:lpstr>
      <vt:lpstr>First approach</vt:lpstr>
      <vt:lpstr>Deep neural networks</vt:lpstr>
      <vt:lpstr>Convolutional neural networks</vt:lpstr>
      <vt:lpstr>Convolution examples</vt:lpstr>
      <vt:lpstr>Second approach</vt:lpstr>
      <vt:lpstr>Let the research question choose the abstraction</vt:lpstr>
      <vt:lpstr>Caveat</vt:lpstr>
      <vt:lpstr>Conclusions</vt:lpstr>
      <vt:lpstr>Further reading</vt:lpstr>
      <vt:lpstr>Optional material</vt:lpstr>
      <vt:lpstr>Task: sentiment classification</vt:lpstr>
      <vt:lpstr>Word embedding</vt:lpstr>
      <vt:lpstr>How to remember?</vt:lpstr>
      <vt:lpstr>Gated Recurrent Unit (GRU)</vt:lpstr>
      <vt:lpstr>Approach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Learning/AI</dc:title>
  <dc:creator>Geert Jan Bex</dc:creator>
  <cp:lastModifiedBy>Geert Jan Bex</cp:lastModifiedBy>
  <cp:revision>126</cp:revision>
  <dcterms:created xsi:type="dcterms:W3CDTF">2019-05-02T08:06:12Z</dcterms:created>
  <dcterms:modified xsi:type="dcterms:W3CDTF">2026-09-08T06:43:46Z</dcterms:modified>
</cp:coreProperties>
</file>