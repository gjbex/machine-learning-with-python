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81" r:id="rId3"/>
    <p:sldId id="784" r:id="rId4"/>
    <p:sldId id="258" r:id="rId5"/>
    <p:sldId id="259" r:id="rId6"/>
    <p:sldId id="787" r:id="rId7"/>
    <p:sldId id="788" r:id="rId8"/>
    <p:sldId id="769" r:id="rId9"/>
    <p:sldId id="7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09F8CD-7950-4357-AE6E-4FA8C309AE03}">
          <p14:sldIdLst>
            <p14:sldId id="257"/>
            <p14:sldId id="281"/>
            <p14:sldId id="784"/>
          </p14:sldIdLst>
        </p14:section>
        <p14:section name="Introduction" id="{857C6A2F-A767-4067-AE01-714D1130F04F}">
          <p14:sldIdLst>
            <p14:sldId id="258"/>
            <p14:sldId id="259"/>
            <p14:sldId id="787"/>
            <p14:sldId id="788"/>
          </p14:sldIdLst>
        </p14:section>
        <p14:section name="Conclusions" id="{A9B2E2E8-EE28-4C08-9F33-76B98F6A83CB}">
          <p14:sldIdLst>
            <p14:sldId id="769"/>
            <p14:sldId id="7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92" autoAdjust="0"/>
    <p:restoredTop sz="95597" autoAdjust="0"/>
  </p:normalViewPr>
  <p:slideViewPr>
    <p:cSldViewPr snapToGrid="0">
      <p:cViewPr varScale="1">
        <p:scale>
          <a:sx n="70" d="100"/>
          <a:sy n="70" d="100"/>
        </p:scale>
        <p:origin x="67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9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5F7A3-80FA-4DE8-9E10-D5FD6AAF4E4C}" type="datetimeFigureOut">
              <a:rPr lang="en-US" smtClean="0"/>
              <a:t>2026-08-18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AB5DE-4D54-4E1E-B02D-B50369E9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6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648" y="392643"/>
            <a:ext cx="1844351" cy="7186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75985" y="-3456972"/>
            <a:ext cx="3833929" cy="121981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52396" y="6352792"/>
            <a:ext cx="2743200" cy="365125"/>
          </a:xfrm>
          <a:prstGeom prst="rect">
            <a:avLst/>
          </a:prstGeom>
        </p:spPr>
        <p:txBody>
          <a:bodyPr/>
          <a:lstStyle/>
          <a:p>
            <a:fld id="{12D417FB-DB75-4510-8AD7-5416595AADD8}" type="datetime1">
              <a:rPr lang="en-US" smtClean="0"/>
              <a:t>2026-08-18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>
          <a:xfrm>
            <a:off x="8610599" y="6356350"/>
            <a:ext cx="212124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8" name="Rectangle 6"/>
          <p:cNvSpPr/>
          <p:nvPr userDrawn="1"/>
        </p:nvSpPr>
        <p:spPr>
          <a:xfrm flipH="1">
            <a:off x="0" y="4725859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695568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rgbClr val="DB6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44" y="5970673"/>
            <a:ext cx="3997596" cy="710771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10347648" y="6245614"/>
            <a:ext cx="179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FlandersArtSans-Medium" panose="00000600000000000000" pitchFamily="2" charset="0"/>
              </a:rPr>
              <a:t>vscentrum</a:t>
            </a:r>
            <a:r>
              <a:rPr lang="en-US" dirty="0">
                <a:solidFill>
                  <a:schemeClr val="bg2"/>
                </a:solidFill>
              </a:rPr>
              <a:t>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66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5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7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9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7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8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9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1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/>
          <p:cNvSpPr/>
          <p:nvPr userDrawn="1"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 userDrawn="1"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 userDrawn="1"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 userDrawn="1"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5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0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83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91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27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12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84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28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42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0059"/>
      </p:ext>
    </p:extLst>
  </p:cSld>
  <p:clrMapOvr>
    <a:masterClrMapping/>
  </p:clrMapOvr>
  <p:transition advClick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48E59-F64F-416B-85C7-F58EA54BAF31}" type="datetime1">
              <a:rPr lang="nl-BE" smtClean="0"/>
              <a:t>18/08/2026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3269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0EF99-E673-4972-A23A-EB3FD1F7D254}" type="datetime1">
              <a:rPr lang="nl-BE" smtClean="0"/>
              <a:t>18/08/2026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4899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720" y="6130213"/>
            <a:ext cx="12188280" cy="727788"/>
          </a:xfrm>
          <a:custGeom>
            <a:avLst/>
            <a:gdLst>
              <a:gd name="connsiteX0" fmla="*/ 0 w 12192000"/>
              <a:gd name="connsiteY0" fmla="*/ 0 h 1268963"/>
              <a:gd name="connsiteX1" fmla="*/ 12192000 w 12192000"/>
              <a:gd name="connsiteY1" fmla="*/ 0 h 1268963"/>
              <a:gd name="connsiteX2" fmla="*/ 12192000 w 12192000"/>
              <a:gd name="connsiteY2" fmla="*/ 1268963 h 1268963"/>
              <a:gd name="connsiteX3" fmla="*/ 0 w 12192000"/>
              <a:gd name="connsiteY3" fmla="*/ 1268963 h 1268963"/>
              <a:gd name="connsiteX4" fmla="*/ 0 w 12192000"/>
              <a:gd name="connsiteY4" fmla="*/ 0 h 1268963"/>
              <a:gd name="connsiteX0" fmla="*/ 0 w 12210662"/>
              <a:gd name="connsiteY0" fmla="*/ 877077 h 1268963"/>
              <a:gd name="connsiteX1" fmla="*/ 12210662 w 12210662"/>
              <a:gd name="connsiteY1" fmla="*/ 0 h 1268963"/>
              <a:gd name="connsiteX2" fmla="*/ 12210662 w 12210662"/>
              <a:gd name="connsiteY2" fmla="*/ 1268963 h 1268963"/>
              <a:gd name="connsiteX3" fmla="*/ 18662 w 12210662"/>
              <a:gd name="connsiteY3" fmla="*/ 1268963 h 1268963"/>
              <a:gd name="connsiteX4" fmla="*/ 0 w 12210662"/>
              <a:gd name="connsiteY4" fmla="*/ 877077 h 1268963"/>
              <a:gd name="connsiteX0" fmla="*/ 0 w 12210662"/>
              <a:gd name="connsiteY0" fmla="*/ 335902 h 727788"/>
              <a:gd name="connsiteX1" fmla="*/ 12210662 w 12210662"/>
              <a:gd name="connsiteY1" fmla="*/ 0 h 727788"/>
              <a:gd name="connsiteX2" fmla="*/ 12210662 w 12210662"/>
              <a:gd name="connsiteY2" fmla="*/ 727788 h 727788"/>
              <a:gd name="connsiteX3" fmla="*/ 18662 w 12210662"/>
              <a:gd name="connsiteY3" fmla="*/ 727788 h 727788"/>
              <a:gd name="connsiteX4" fmla="*/ 0 w 12210662"/>
              <a:gd name="connsiteY4" fmla="*/ 335902 h 727788"/>
              <a:gd name="connsiteX0" fmla="*/ 933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9330 w 12192000"/>
              <a:gd name="connsiteY4" fmla="*/ 335902 h 727788"/>
              <a:gd name="connsiteX0" fmla="*/ 372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3720 w 12192000"/>
              <a:gd name="connsiteY4" fmla="*/ 335902 h 727788"/>
              <a:gd name="connsiteX0" fmla="*/ 0 w 12188280"/>
              <a:gd name="connsiteY0" fmla="*/ 335902 h 727788"/>
              <a:gd name="connsiteX1" fmla="*/ 12188280 w 12188280"/>
              <a:gd name="connsiteY1" fmla="*/ 0 h 727788"/>
              <a:gd name="connsiteX2" fmla="*/ 12188280 w 12188280"/>
              <a:gd name="connsiteY2" fmla="*/ 727788 h 727788"/>
              <a:gd name="connsiteX3" fmla="*/ 1890 w 12188280"/>
              <a:gd name="connsiteY3" fmla="*/ 727788 h 727788"/>
              <a:gd name="connsiteX4" fmla="*/ 0 w 12188280"/>
              <a:gd name="connsiteY4" fmla="*/ 335902 h 727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8280" h="727788">
                <a:moveTo>
                  <a:pt x="0" y="335902"/>
                </a:moveTo>
                <a:lnTo>
                  <a:pt x="12188280" y="0"/>
                </a:lnTo>
                <a:lnTo>
                  <a:pt x="12188280" y="727788"/>
                </a:lnTo>
                <a:lnTo>
                  <a:pt x="1890" y="727788"/>
                </a:lnTo>
                <a:lnTo>
                  <a:pt x="0" y="33590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4850" y="6384344"/>
            <a:ext cx="502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F5A1C33-475D-474A-A037-DDAF3DC7AF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239" y="6229445"/>
            <a:ext cx="1426467" cy="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6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3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40h3frb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Multi-GPU 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Geert Jan Bex (</a:t>
            </a:r>
            <a:r>
              <a:rPr lang="en-US" sz="2800" dirty="0">
                <a:hlinkClick r:id="rId2"/>
              </a:rPr>
              <a:t>geertjan.bex@uhasselt.be</a:t>
            </a:r>
            <a:r>
              <a:rPr lang="en-US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785B8-8E3C-4512-97FD-25CAA594590E}"/>
              </a:ext>
            </a:extLst>
          </p:cNvPr>
          <p:cNvSpPr txBox="1"/>
          <p:nvPr/>
        </p:nvSpPr>
        <p:spPr>
          <a:xfrm>
            <a:off x="467169" y="4502383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96352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CEC010-2C91-4CDD-574B-3CD7EE785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755" y="104192"/>
            <a:ext cx="5326224" cy="532622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1924-8AEA-4C8F-95FA-4768DA10573C}"/>
              </a:ext>
            </a:extLst>
          </p:cNvPr>
          <p:cNvSpPr txBox="1"/>
          <p:nvPr/>
        </p:nvSpPr>
        <p:spPr>
          <a:xfrm>
            <a:off x="3741672" y="5244860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hlinkClick r:id="rId3"/>
              </a:rPr>
              <a:t>https://bit.ly/40h3frb</a:t>
            </a:r>
            <a:r>
              <a:rPr lang="en-GB" sz="3200" dirty="0"/>
              <a:t> </a:t>
            </a: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202872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E5F573-6165-481B-AC47-5C89E7A1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78E97EA1-949E-42CD-9ADA-2D8F1E328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1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Evolution</a:t>
            </a:r>
          </a:p>
          <a:p>
            <a:pPr lvl="1"/>
            <a:r>
              <a:rPr lang="en-US" dirty="0"/>
              <a:t>Models grow</a:t>
            </a:r>
          </a:p>
          <a:p>
            <a:pPr lvl="1"/>
            <a:r>
              <a:rPr lang="en-US" dirty="0"/>
              <a:t>Datasets grow</a:t>
            </a:r>
          </a:p>
          <a:p>
            <a:pPr lvl="1"/>
            <a:r>
              <a:rPr lang="en-US" dirty="0"/>
              <a:t>Accuracy increases</a:t>
            </a:r>
          </a:p>
          <a:p>
            <a:r>
              <a:rPr lang="en-US" dirty="0"/>
              <a:t>More computational power</a:t>
            </a:r>
          </a:p>
          <a:p>
            <a:pPr lvl="1"/>
            <a:r>
              <a:rPr lang="en-US" dirty="0"/>
              <a:t>Use multiple GPUs</a:t>
            </a:r>
          </a:p>
          <a:p>
            <a:pPr lvl="1"/>
            <a:r>
              <a:rPr lang="en-US" dirty="0"/>
              <a:t>Use multiple compute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9B935-1DC2-B9FA-59F8-1F62B320F940}"/>
              </a:ext>
            </a:extLst>
          </p:cNvPr>
          <p:cNvSpPr txBox="1"/>
          <p:nvPr/>
        </p:nvSpPr>
        <p:spPr>
          <a:xfrm>
            <a:off x="3788229" y="5150498"/>
            <a:ext cx="538480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Distributed training and inference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81994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datasets: data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examples</a:t>
            </a:r>
          </a:p>
          <a:p>
            <a:r>
              <a:rPr lang="en-US" dirty="0"/>
              <a:t>Large examples</a:t>
            </a:r>
          </a:p>
        </p:txBody>
      </p:sp>
      <p:sp>
        <p:nvSpPr>
          <p:cNvPr id="103" name="Content Placeholder 102">
            <a:extLst>
              <a:ext uri="{FF2B5EF4-FFF2-40B4-BE49-F238E27FC236}">
                <a16:creationId xmlns:a16="http://schemas.microsoft.com/office/drawing/2014/main" id="{599A5BBE-074A-4EDC-AB88-858B920AF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2162" y="1600201"/>
            <a:ext cx="4070238" cy="4525963"/>
          </a:xfrm>
        </p:spPr>
        <p:txBody>
          <a:bodyPr/>
          <a:lstStyle/>
          <a:p>
            <a:r>
              <a:rPr lang="en-US" dirty="0"/>
              <a:t>Each epoch, each model</a:t>
            </a:r>
          </a:p>
          <a:p>
            <a:pPr lvl="1"/>
            <a:r>
              <a:rPr lang="en-US" dirty="0"/>
              <a:t>Forward pass</a:t>
            </a:r>
          </a:p>
          <a:p>
            <a:pPr lvl="1"/>
            <a:r>
              <a:rPr lang="en-US" dirty="0"/>
              <a:t>Compute loss</a:t>
            </a:r>
          </a:p>
          <a:p>
            <a:pPr lvl="1"/>
            <a:r>
              <a:rPr lang="en-US" dirty="0"/>
              <a:t>Backward pass</a:t>
            </a:r>
          </a:p>
          <a:p>
            <a:pPr lvl="1"/>
            <a:r>
              <a:rPr lang="en-US" dirty="0"/>
              <a:t>Accumulate gradients from all GPUs</a:t>
            </a:r>
          </a:p>
          <a:p>
            <a:pPr lvl="1"/>
            <a:r>
              <a:rPr lang="en-US" dirty="0"/>
              <a:t>Optimize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</a:t>
            </a:fld>
            <a:endParaRPr lang="nl-BE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8C4428C-A05A-54A9-C6BA-D5EC2E754E84}"/>
              </a:ext>
            </a:extLst>
          </p:cNvPr>
          <p:cNvGrpSpPr/>
          <p:nvPr/>
        </p:nvGrpSpPr>
        <p:grpSpPr>
          <a:xfrm>
            <a:off x="645622" y="3412923"/>
            <a:ext cx="1175674" cy="1188745"/>
            <a:chOff x="1380914" y="3412923"/>
            <a:chExt cx="1175674" cy="118874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06D57F-91FB-F2EF-0C07-3D63AD6F570B}"/>
                </a:ext>
              </a:extLst>
            </p:cNvPr>
            <p:cNvGrpSpPr/>
            <p:nvPr/>
          </p:nvGrpSpPr>
          <p:grpSpPr>
            <a:xfrm>
              <a:off x="1380914" y="3429000"/>
              <a:ext cx="572294" cy="572294"/>
              <a:chOff x="1380914" y="3429000"/>
              <a:chExt cx="572294" cy="572294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72C615-E382-4B94-42CE-F90F18A60759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8" name="Graphic 7" descr="Image with solid fill">
                <a:extLst>
                  <a:ext uri="{FF2B5EF4-FFF2-40B4-BE49-F238E27FC236}">
                    <a16:creationId xmlns:a16="http://schemas.microsoft.com/office/drawing/2014/main" id="{415014B4-4084-0E8B-48B7-06C9C5E501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DB3AADB-22AB-5FFB-A487-5E6D42E9D2CF}"/>
                </a:ext>
              </a:extLst>
            </p:cNvPr>
            <p:cNvGrpSpPr/>
            <p:nvPr/>
          </p:nvGrpSpPr>
          <p:grpSpPr>
            <a:xfrm>
              <a:off x="1533314" y="3581400"/>
              <a:ext cx="572294" cy="572294"/>
              <a:chOff x="1380914" y="3429000"/>
              <a:chExt cx="572294" cy="57229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C048B34-C122-3632-713E-3F539B2B5B12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27" name="Graphic 26" descr="Image with solid fill">
                <a:extLst>
                  <a:ext uri="{FF2B5EF4-FFF2-40B4-BE49-F238E27FC236}">
                    <a16:creationId xmlns:a16="http://schemas.microsoft.com/office/drawing/2014/main" id="{52471586-4816-F08F-0E12-2D401F7514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C30DE5D-E659-539D-D318-01FF33F44AC6}"/>
                </a:ext>
              </a:extLst>
            </p:cNvPr>
            <p:cNvGrpSpPr/>
            <p:nvPr/>
          </p:nvGrpSpPr>
          <p:grpSpPr>
            <a:xfrm>
              <a:off x="1685714" y="3733800"/>
              <a:ext cx="572294" cy="572294"/>
              <a:chOff x="1380914" y="3429000"/>
              <a:chExt cx="572294" cy="57229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9296E9E-F50F-3166-EC4F-8E6D47366AF9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30" name="Graphic 29" descr="Image with solid fill">
                <a:extLst>
                  <a:ext uri="{FF2B5EF4-FFF2-40B4-BE49-F238E27FC236}">
                    <a16:creationId xmlns:a16="http://schemas.microsoft.com/office/drawing/2014/main" id="{B71546B3-027B-0CAB-A693-0C588FF017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FEF799D-A405-6A0A-F6AD-C40EC83DA094}"/>
                </a:ext>
              </a:extLst>
            </p:cNvPr>
            <p:cNvGrpSpPr/>
            <p:nvPr/>
          </p:nvGrpSpPr>
          <p:grpSpPr>
            <a:xfrm>
              <a:off x="1819453" y="3412923"/>
              <a:ext cx="572294" cy="572294"/>
              <a:chOff x="1380914" y="3429000"/>
              <a:chExt cx="572294" cy="572294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A306297-4CDC-8E3B-645D-CA08363914E6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33" name="Graphic 32" descr="Image with solid fill">
                <a:extLst>
                  <a:ext uri="{FF2B5EF4-FFF2-40B4-BE49-F238E27FC236}">
                    <a16:creationId xmlns:a16="http://schemas.microsoft.com/office/drawing/2014/main" id="{EE44301C-A735-BEBC-12D2-A17333D17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4F0029B-A687-1509-1872-A58347D08EF1}"/>
                </a:ext>
              </a:extLst>
            </p:cNvPr>
            <p:cNvGrpSpPr/>
            <p:nvPr/>
          </p:nvGrpSpPr>
          <p:grpSpPr>
            <a:xfrm>
              <a:off x="1449374" y="4029374"/>
              <a:ext cx="572294" cy="572294"/>
              <a:chOff x="1380914" y="3429000"/>
              <a:chExt cx="572294" cy="572294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9C89D49-5DEC-258B-05E2-1C0D0AFB7F6D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36" name="Graphic 35" descr="Image with solid fill">
                <a:extLst>
                  <a:ext uri="{FF2B5EF4-FFF2-40B4-BE49-F238E27FC236}">
                    <a16:creationId xmlns:a16="http://schemas.microsoft.com/office/drawing/2014/main" id="{A4BC09A5-4A5C-CF2F-7F95-BEA6EF175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9040BB5-ECD7-8DC5-C33E-93521999875A}"/>
                </a:ext>
              </a:extLst>
            </p:cNvPr>
            <p:cNvGrpSpPr/>
            <p:nvPr/>
          </p:nvGrpSpPr>
          <p:grpSpPr>
            <a:xfrm>
              <a:off x="1984294" y="3604727"/>
              <a:ext cx="572294" cy="572294"/>
              <a:chOff x="1380914" y="3429000"/>
              <a:chExt cx="572294" cy="57229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9FCCD1-80D4-78B4-F884-675E16FEC7DA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39" name="Graphic 38" descr="Image with solid fill">
                <a:extLst>
                  <a:ext uri="{FF2B5EF4-FFF2-40B4-BE49-F238E27FC236}">
                    <a16:creationId xmlns:a16="http://schemas.microsoft.com/office/drawing/2014/main" id="{C0D4E522-54AB-4D95-CA74-88171DBA1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AF1AE89-2497-993E-4A0D-C198B0B1B040}"/>
                </a:ext>
              </a:extLst>
            </p:cNvPr>
            <p:cNvGrpSpPr/>
            <p:nvPr/>
          </p:nvGrpSpPr>
          <p:grpSpPr>
            <a:xfrm>
              <a:off x="1726164" y="3865215"/>
              <a:ext cx="572294" cy="572294"/>
              <a:chOff x="1380914" y="3429000"/>
              <a:chExt cx="572294" cy="572294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7E1EB28-C7DB-F4E9-6EF9-D0236DE6FA4B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42" name="Graphic 41" descr="Image with solid fill">
                <a:extLst>
                  <a:ext uri="{FF2B5EF4-FFF2-40B4-BE49-F238E27FC236}">
                    <a16:creationId xmlns:a16="http://schemas.microsoft.com/office/drawing/2014/main" id="{6BD63389-6433-F7C7-91E4-BF1E4EB210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D5F3083-8045-827D-A545-4CE59B6F3550}"/>
              </a:ext>
            </a:extLst>
          </p:cNvPr>
          <p:cNvGrpSpPr/>
          <p:nvPr/>
        </p:nvGrpSpPr>
        <p:grpSpPr>
          <a:xfrm>
            <a:off x="640966" y="4739661"/>
            <a:ext cx="1227000" cy="1181894"/>
            <a:chOff x="1376258" y="4739661"/>
            <a:chExt cx="1227000" cy="118189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A100705-1B30-B465-F651-635C84554BB4}"/>
                </a:ext>
              </a:extLst>
            </p:cNvPr>
            <p:cNvGrpSpPr/>
            <p:nvPr/>
          </p:nvGrpSpPr>
          <p:grpSpPr>
            <a:xfrm>
              <a:off x="1421364" y="4739661"/>
              <a:ext cx="572294" cy="572294"/>
              <a:chOff x="1380914" y="3429000"/>
              <a:chExt cx="572294" cy="572294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9FECA42-F809-8BF5-995B-B9415E702B82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45" name="Graphic 44" descr="Image with solid fill">
                <a:extLst>
                  <a:ext uri="{FF2B5EF4-FFF2-40B4-BE49-F238E27FC236}">
                    <a16:creationId xmlns:a16="http://schemas.microsoft.com/office/drawing/2014/main" id="{37FD92BF-2AAC-D6E3-4A80-2F80046BC8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0211555-A796-2948-FBE2-BA1C7BE01071}"/>
                </a:ext>
              </a:extLst>
            </p:cNvPr>
            <p:cNvGrpSpPr/>
            <p:nvPr/>
          </p:nvGrpSpPr>
          <p:grpSpPr>
            <a:xfrm>
              <a:off x="1573764" y="4892061"/>
              <a:ext cx="572294" cy="572294"/>
              <a:chOff x="1380914" y="3429000"/>
              <a:chExt cx="572294" cy="572294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E9604F0-7BD1-97C9-04BD-0E5FEE2D0FA2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48" name="Graphic 47" descr="Image with solid fill">
                <a:extLst>
                  <a:ext uri="{FF2B5EF4-FFF2-40B4-BE49-F238E27FC236}">
                    <a16:creationId xmlns:a16="http://schemas.microsoft.com/office/drawing/2014/main" id="{B013CBB1-1F13-BB82-6CF8-42DE96C082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D2872F4-291F-5D33-C2C5-E5C48DF6E703}"/>
                </a:ext>
              </a:extLst>
            </p:cNvPr>
            <p:cNvGrpSpPr/>
            <p:nvPr/>
          </p:nvGrpSpPr>
          <p:grpSpPr>
            <a:xfrm>
              <a:off x="1726164" y="5044461"/>
              <a:ext cx="572294" cy="572294"/>
              <a:chOff x="1380914" y="3429000"/>
              <a:chExt cx="572294" cy="572294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04F7735-E17C-CCE1-7755-D99A3F47F180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51" name="Graphic 50" descr="Image with solid fill">
                <a:extLst>
                  <a:ext uri="{FF2B5EF4-FFF2-40B4-BE49-F238E27FC236}">
                    <a16:creationId xmlns:a16="http://schemas.microsoft.com/office/drawing/2014/main" id="{43EAD228-7E52-486A-2EE5-8B9F4E1FCC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C725938-74BC-9BA2-D1D8-38226A5C67E0}"/>
                </a:ext>
              </a:extLst>
            </p:cNvPr>
            <p:cNvGrpSpPr/>
            <p:nvPr/>
          </p:nvGrpSpPr>
          <p:grpSpPr>
            <a:xfrm>
              <a:off x="1376258" y="5004823"/>
              <a:ext cx="572294" cy="572294"/>
              <a:chOff x="1380914" y="3429000"/>
              <a:chExt cx="572294" cy="572294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01D0B6D-13A9-D9D5-8987-DFA163FEEA70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54" name="Graphic 53" descr="Image with solid fill">
                <a:extLst>
                  <a:ext uri="{FF2B5EF4-FFF2-40B4-BE49-F238E27FC236}">
                    <a16:creationId xmlns:a16="http://schemas.microsoft.com/office/drawing/2014/main" id="{B68F90F2-52F3-E06C-C113-7D1C0DDBA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90C51C3-1A58-B23E-456C-16ADEB74DC44}"/>
                </a:ext>
              </a:extLst>
            </p:cNvPr>
            <p:cNvGrpSpPr/>
            <p:nvPr/>
          </p:nvGrpSpPr>
          <p:grpSpPr>
            <a:xfrm>
              <a:off x="2030964" y="5349261"/>
              <a:ext cx="572294" cy="572294"/>
              <a:chOff x="1380914" y="3429000"/>
              <a:chExt cx="572294" cy="572294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BB7053A-77FD-90CE-EBE9-717817B86ED9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57" name="Graphic 56" descr="Image with solid fill">
                <a:extLst>
                  <a:ext uri="{FF2B5EF4-FFF2-40B4-BE49-F238E27FC236}">
                    <a16:creationId xmlns:a16="http://schemas.microsoft.com/office/drawing/2014/main" id="{2B9828BB-0DA7-4502-0BA7-AB05786692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8529AEA-01FD-8328-9F51-1B6AEAD93BC9}"/>
                </a:ext>
              </a:extLst>
            </p:cNvPr>
            <p:cNvGrpSpPr/>
            <p:nvPr/>
          </p:nvGrpSpPr>
          <p:grpSpPr>
            <a:xfrm>
              <a:off x="2024744" y="4915388"/>
              <a:ext cx="572294" cy="572294"/>
              <a:chOff x="1380914" y="3429000"/>
              <a:chExt cx="572294" cy="57229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DEFE078-78E7-B2D2-01F4-46EA19D6163F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60" name="Graphic 59" descr="Image with solid fill">
                <a:extLst>
                  <a:ext uri="{FF2B5EF4-FFF2-40B4-BE49-F238E27FC236}">
                    <a16:creationId xmlns:a16="http://schemas.microsoft.com/office/drawing/2014/main" id="{3EA447AA-BC91-8D7B-4567-049DE8D7F1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43F2DFF-9DFA-1667-DF1F-4A880EA6AB57}"/>
                </a:ext>
              </a:extLst>
            </p:cNvPr>
            <p:cNvGrpSpPr/>
            <p:nvPr/>
          </p:nvGrpSpPr>
          <p:grpSpPr>
            <a:xfrm>
              <a:off x="1766614" y="5175876"/>
              <a:ext cx="572294" cy="572294"/>
              <a:chOff x="1380914" y="3429000"/>
              <a:chExt cx="572294" cy="572294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0BA7D6B0-B073-FA2A-58B7-C502E52B3E52}"/>
                  </a:ext>
                </a:extLst>
              </p:cNvPr>
              <p:cNvSpPr/>
              <p:nvPr/>
            </p:nvSpPr>
            <p:spPr>
              <a:xfrm>
                <a:off x="1427584" y="3564294"/>
                <a:ext cx="429208" cy="29857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63" name="Graphic 62" descr="Image with solid fill">
                <a:extLst>
                  <a:ext uri="{FF2B5EF4-FFF2-40B4-BE49-F238E27FC236}">
                    <a16:creationId xmlns:a16="http://schemas.microsoft.com/office/drawing/2014/main" id="{E54C7A63-9077-42A5-90C9-F2F8477D61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380914" y="3429000"/>
                <a:ext cx="572294" cy="572294"/>
              </a:xfrm>
              <a:prstGeom prst="rect">
                <a:avLst/>
              </a:prstGeom>
            </p:spPr>
          </p:pic>
        </p:grp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30A236A-4C25-B8CF-27B8-19BB7A119FC0}"/>
              </a:ext>
            </a:extLst>
          </p:cNvPr>
          <p:cNvGrpSpPr/>
          <p:nvPr/>
        </p:nvGrpSpPr>
        <p:grpSpPr>
          <a:xfrm>
            <a:off x="2309615" y="3846796"/>
            <a:ext cx="454056" cy="1487440"/>
            <a:chOff x="3044907" y="3846796"/>
            <a:chExt cx="454056" cy="1487440"/>
          </a:xfrm>
        </p:grpSpPr>
        <p:sp>
          <p:nvSpPr>
            <p:cNvPr id="70" name="Arrow: Right 69">
              <a:extLst>
                <a:ext uri="{FF2B5EF4-FFF2-40B4-BE49-F238E27FC236}">
                  <a16:creationId xmlns:a16="http://schemas.microsoft.com/office/drawing/2014/main" id="{38B3EF3D-4702-66A1-CD7C-FC769DC2DD9C}"/>
                </a:ext>
              </a:extLst>
            </p:cNvPr>
            <p:cNvSpPr/>
            <p:nvPr/>
          </p:nvSpPr>
          <p:spPr>
            <a:xfrm>
              <a:off x="3051110" y="3846796"/>
              <a:ext cx="447853" cy="1918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18AEBB23-BB47-D12B-5EFC-344AA4EBCD77}"/>
                </a:ext>
              </a:extLst>
            </p:cNvPr>
            <p:cNvSpPr/>
            <p:nvPr/>
          </p:nvSpPr>
          <p:spPr>
            <a:xfrm>
              <a:off x="3044907" y="5142432"/>
              <a:ext cx="447853" cy="1918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50BC72B-0A38-6C90-E2CB-6B6A77B9523B}"/>
              </a:ext>
            </a:extLst>
          </p:cNvPr>
          <p:cNvGrpSpPr/>
          <p:nvPr/>
        </p:nvGrpSpPr>
        <p:grpSpPr>
          <a:xfrm>
            <a:off x="3080928" y="3429000"/>
            <a:ext cx="1894115" cy="877094"/>
            <a:chOff x="3816220" y="3429000"/>
            <a:chExt cx="1894115" cy="877094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59A3C833-7E3C-5E96-7FB3-BFE136AB8EBA}"/>
                </a:ext>
              </a:extLst>
            </p:cNvPr>
            <p:cNvSpPr/>
            <p:nvPr/>
          </p:nvSpPr>
          <p:spPr>
            <a:xfrm>
              <a:off x="3816220" y="3429000"/>
              <a:ext cx="1894115" cy="87709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FB6A2DA-D7B8-95B5-8C26-B18F854666FB}"/>
                </a:ext>
              </a:extLst>
            </p:cNvPr>
            <p:cNvSpPr txBox="1"/>
            <p:nvPr/>
          </p:nvSpPr>
          <p:spPr>
            <a:xfrm>
              <a:off x="4933892" y="3429000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GPU</a:t>
              </a:r>
              <a:r>
                <a:rPr lang="en-US" baseline="-25000" dirty="0"/>
                <a:t>0</a:t>
              </a:r>
              <a:endParaRPr lang="LID4096" baseline="-25000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29AFA19-0B7C-3B3A-98BC-2E25649A05DF}"/>
              </a:ext>
            </a:extLst>
          </p:cNvPr>
          <p:cNvGrpSpPr/>
          <p:nvPr/>
        </p:nvGrpSpPr>
        <p:grpSpPr>
          <a:xfrm>
            <a:off x="3080928" y="4887883"/>
            <a:ext cx="1894115" cy="877094"/>
            <a:chOff x="3816220" y="4887883"/>
            <a:chExt cx="1894115" cy="877094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E612847B-8E59-CDF3-5043-BD770032EAB7}"/>
                </a:ext>
              </a:extLst>
            </p:cNvPr>
            <p:cNvSpPr/>
            <p:nvPr/>
          </p:nvSpPr>
          <p:spPr>
            <a:xfrm>
              <a:off x="3816220" y="4887883"/>
              <a:ext cx="1894115" cy="87709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BAB0C30-B700-55FB-FADA-9FBC6833FC28}"/>
                </a:ext>
              </a:extLst>
            </p:cNvPr>
            <p:cNvSpPr txBox="1"/>
            <p:nvPr/>
          </p:nvSpPr>
          <p:spPr>
            <a:xfrm>
              <a:off x="4933892" y="4887883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GPU</a:t>
              </a:r>
              <a:r>
                <a:rPr lang="en-US" baseline="-25000" dirty="0"/>
                <a:t>1</a:t>
              </a:r>
              <a:endParaRPr lang="LID4096" baseline="-25000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4D209B7-4E0B-199F-E3AB-2DF7F274D4D8}"/>
              </a:ext>
            </a:extLst>
          </p:cNvPr>
          <p:cNvGrpSpPr/>
          <p:nvPr/>
        </p:nvGrpSpPr>
        <p:grpSpPr>
          <a:xfrm>
            <a:off x="3205337" y="3457393"/>
            <a:ext cx="4004669" cy="2290777"/>
            <a:chOff x="3940629" y="3457393"/>
            <a:chExt cx="4004669" cy="2290777"/>
          </a:xfrm>
        </p:grpSpPr>
        <p:pic>
          <p:nvPicPr>
            <p:cNvPr id="67" name="Graphic 66" descr="Network diagram with solid fill">
              <a:extLst>
                <a:ext uri="{FF2B5EF4-FFF2-40B4-BE49-F238E27FC236}">
                  <a16:creationId xmlns:a16="http://schemas.microsoft.com/office/drawing/2014/main" id="{5ABE2423-1565-711B-9360-5D96C607D4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40629" y="3457393"/>
              <a:ext cx="914400" cy="914400"/>
            </a:xfrm>
            <a:prstGeom prst="rect">
              <a:avLst/>
            </a:prstGeom>
          </p:spPr>
        </p:pic>
        <p:pic>
          <p:nvPicPr>
            <p:cNvPr id="69" name="Graphic 68" descr="Network diagram with solid fill">
              <a:extLst>
                <a:ext uri="{FF2B5EF4-FFF2-40B4-BE49-F238E27FC236}">
                  <a16:creationId xmlns:a16="http://schemas.microsoft.com/office/drawing/2014/main" id="{5FAE6C55-9D57-F253-3E9D-7B0B3E0CD9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40629" y="4833770"/>
              <a:ext cx="914400" cy="914400"/>
            </a:xfrm>
            <a:prstGeom prst="rect">
              <a:avLst/>
            </a:prstGeom>
          </p:spPr>
        </p:pic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C77EB864-0F2F-AD4C-1C69-7B6817C63800}"/>
                </a:ext>
              </a:extLst>
            </p:cNvPr>
            <p:cNvGrpSpPr/>
            <p:nvPr/>
          </p:nvGrpSpPr>
          <p:grpSpPr>
            <a:xfrm>
              <a:off x="4746095" y="3733800"/>
              <a:ext cx="3199203" cy="1406317"/>
              <a:chOff x="4746095" y="3733800"/>
              <a:chExt cx="3199203" cy="1406317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A22E3D5-CD19-50BC-029D-CC908C6F5C68}"/>
                  </a:ext>
                </a:extLst>
              </p:cNvPr>
              <p:cNvSpPr txBox="1"/>
              <p:nvPr/>
            </p:nvSpPr>
            <p:spPr>
              <a:xfrm>
                <a:off x="6176865" y="3733800"/>
                <a:ext cx="176843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Identical models</a:t>
                </a:r>
                <a:endParaRPr lang="LID4096" dirty="0"/>
              </a:p>
            </p:txBody>
          </p: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29EC221D-0BEE-D3CA-742A-CBFBF95834DF}"/>
                  </a:ext>
                </a:extLst>
              </p:cNvPr>
              <p:cNvCxnSpPr>
                <a:cxnSpLocks/>
                <a:stCxn id="85" idx="1"/>
              </p:cNvCxnSpPr>
              <p:nvPr/>
            </p:nvCxnSpPr>
            <p:spPr>
              <a:xfrm flipH="1">
                <a:off x="4933892" y="3918466"/>
                <a:ext cx="1242973" cy="2423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BD43F039-3DE6-D0E5-7AD9-C4EDE7F75E05}"/>
                  </a:ext>
                </a:extLst>
              </p:cNvPr>
              <p:cNvCxnSpPr>
                <a:cxnSpLocks/>
                <a:stCxn id="85" idx="1"/>
              </p:cNvCxnSpPr>
              <p:nvPr/>
            </p:nvCxnSpPr>
            <p:spPr>
              <a:xfrm flipH="1">
                <a:off x="4746095" y="3918466"/>
                <a:ext cx="1430770" cy="122165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053E223-D787-D323-E5FE-F5B58D637899}"/>
              </a:ext>
            </a:extLst>
          </p:cNvPr>
          <p:cNvGrpSpPr/>
          <p:nvPr/>
        </p:nvGrpSpPr>
        <p:grpSpPr>
          <a:xfrm>
            <a:off x="3519467" y="4353131"/>
            <a:ext cx="2525472" cy="503162"/>
            <a:chOff x="4254759" y="4353131"/>
            <a:chExt cx="2525472" cy="503162"/>
          </a:xfrm>
        </p:grpSpPr>
        <p:sp>
          <p:nvSpPr>
            <p:cNvPr id="73" name="Arrow: Up-Down 72">
              <a:extLst>
                <a:ext uri="{FF2B5EF4-FFF2-40B4-BE49-F238E27FC236}">
                  <a16:creationId xmlns:a16="http://schemas.microsoft.com/office/drawing/2014/main" id="{3F9A155C-251A-FC1B-193A-1365D32D2D65}"/>
                </a:ext>
              </a:extLst>
            </p:cNvPr>
            <p:cNvSpPr/>
            <p:nvPr/>
          </p:nvSpPr>
          <p:spPr>
            <a:xfrm>
              <a:off x="4254759" y="4353131"/>
              <a:ext cx="186612" cy="503162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843B1B1-09CF-DF7D-7FB2-B9542CC41086}"/>
                </a:ext>
              </a:extLst>
            </p:cNvPr>
            <p:cNvSpPr txBox="1"/>
            <p:nvPr/>
          </p:nvSpPr>
          <p:spPr>
            <a:xfrm>
              <a:off x="4479601" y="4404371"/>
              <a:ext cx="2300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Accumulate gradients</a:t>
              </a:r>
              <a:endParaRPr lang="LID4096"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6505308-E5EE-C1A0-9CA4-22B420A7DC6E}"/>
              </a:ext>
            </a:extLst>
          </p:cNvPr>
          <p:cNvGrpSpPr/>
          <p:nvPr/>
        </p:nvGrpSpPr>
        <p:grpSpPr>
          <a:xfrm>
            <a:off x="3502377" y="3117058"/>
            <a:ext cx="578490" cy="2942313"/>
            <a:chOff x="4237669" y="3117058"/>
            <a:chExt cx="578490" cy="2942313"/>
          </a:xfrm>
        </p:grpSpPr>
        <p:pic>
          <p:nvPicPr>
            <p:cNvPr id="97" name="Graphic 96" descr="Gears with solid fill">
              <a:extLst>
                <a:ext uri="{FF2B5EF4-FFF2-40B4-BE49-F238E27FC236}">
                  <a16:creationId xmlns:a16="http://schemas.microsoft.com/office/drawing/2014/main" id="{565FC4FD-5BF8-4E9A-3BBC-286DB9EB83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90551" y="3117058"/>
              <a:ext cx="525608" cy="525608"/>
            </a:xfrm>
            <a:prstGeom prst="rect">
              <a:avLst/>
            </a:prstGeom>
          </p:spPr>
        </p:pic>
        <p:pic>
          <p:nvPicPr>
            <p:cNvPr id="99" name="Graphic 98" descr="Gears with solid fill">
              <a:extLst>
                <a:ext uri="{FF2B5EF4-FFF2-40B4-BE49-F238E27FC236}">
                  <a16:creationId xmlns:a16="http://schemas.microsoft.com/office/drawing/2014/main" id="{56D4E375-BC4F-3AC1-BD85-8945DA12CE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37669" y="5533763"/>
              <a:ext cx="525608" cy="525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739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parallelism: communication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C03962-2D1B-9093-BD64-E4971B31C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AllReduce</a:t>
            </a:r>
            <a:endParaRPr lang="en-US" dirty="0"/>
          </a:p>
          <a:p>
            <a:r>
              <a:rPr lang="en-US" dirty="0"/>
              <a:t>Conceptually</a:t>
            </a:r>
          </a:p>
          <a:p>
            <a:pPr lvl="1"/>
            <a:r>
              <a:rPr lang="en-US" dirty="0"/>
              <a:t>Collect all gradients from all models</a:t>
            </a:r>
          </a:p>
          <a:p>
            <a:pPr lvl="1"/>
            <a:r>
              <a:rPr lang="en-US" dirty="0"/>
              <a:t>Compute sum</a:t>
            </a:r>
          </a:p>
          <a:p>
            <a:pPr lvl="1"/>
            <a:r>
              <a:rPr lang="en-US" dirty="0"/>
              <a:t>Distribute sum to all models</a:t>
            </a:r>
          </a:p>
          <a:p>
            <a:pPr lvl="1"/>
            <a:endParaRPr lang="en-US" dirty="0"/>
          </a:p>
          <a:p>
            <a:r>
              <a:rPr lang="en-US" dirty="0"/>
              <a:t>Under the hood: communication library</a:t>
            </a:r>
          </a:p>
          <a:p>
            <a:pPr lvl="1"/>
            <a:r>
              <a:rPr lang="en-US" dirty="0"/>
              <a:t>NCCL</a:t>
            </a:r>
          </a:p>
          <a:p>
            <a:pPr lvl="1"/>
            <a:r>
              <a:rPr lang="en-US" dirty="0" err="1"/>
              <a:t>Gloo</a:t>
            </a:r>
            <a:endParaRPr lang="en-US" dirty="0"/>
          </a:p>
          <a:p>
            <a:pPr lvl="1"/>
            <a:r>
              <a:rPr lang="en-US" dirty="0"/>
              <a:t>MPI</a:t>
            </a:r>
          </a:p>
          <a:p>
            <a:pPr lvl="1"/>
            <a:r>
              <a:rPr lang="en-US" dirty="0"/>
              <a:t>...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B5D4-457F-52A3-F828-55411C72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models: model parallelism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B437-25FB-2F9C-F658-7B745AA4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offload</a:t>
            </a:r>
          </a:p>
          <a:p>
            <a:r>
              <a:rPr lang="en-US" dirty="0"/>
              <a:t>Layer-wise model parallelism</a:t>
            </a:r>
          </a:p>
          <a:p>
            <a:r>
              <a:rPr lang="en-US" dirty="0"/>
              <a:t>Pipeline parallelism</a:t>
            </a:r>
          </a:p>
          <a:p>
            <a:r>
              <a:rPr lang="en-US" dirty="0"/>
              <a:t>Tensor parallelism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C62ED-013E-9E6C-73B7-CE3F822D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73655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things to explore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742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437879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9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DB6C30"/>
      </a:accent1>
      <a:accent2>
        <a:srgbClr val="DB6C30"/>
      </a:accent2>
      <a:accent3>
        <a:srgbClr val="DB6C30"/>
      </a:accent3>
      <a:accent4>
        <a:srgbClr val="DB6C30"/>
      </a:accent4>
      <a:accent5>
        <a:srgbClr val="DB6C30"/>
      </a:accent5>
      <a:accent6>
        <a:srgbClr val="AAB2BD"/>
      </a:accent6>
      <a:hlink>
        <a:srgbClr val="F8960D"/>
      </a:hlink>
      <a:folHlink>
        <a:srgbClr val="D70444"/>
      </a:folHlink>
    </a:clrScheme>
    <a:fontScheme name="VSC">
      <a:majorFont>
        <a:latin typeface="FlandersArtSans-Bold"/>
        <a:ea typeface=""/>
        <a:cs typeface=""/>
      </a:majorFont>
      <a:minorFont>
        <a:latin typeface="FlandersArtSans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166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FlandersArtSans-Bold</vt:lpstr>
      <vt:lpstr>FlandersArtSans-Medium</vt:lpstr>
      <vt:lpstr>FlandersArtSans-Regular</vt:lpstr>
      <vt:lpstr>1_Office Theme</vt:lpstr>
      <vt:lpstr>Multi-GPU machine learning</vt:lpstr>
      <vt:lpstr>PowerPoint Presentation</vt:lpstr>
      <vt:lpstr>PowerPoint Presentation</vt:lpstr>
      <vt:lpstr>Introduction</vt:lpstr>
      <vt:lpstr>Large datasets: data parallelism</vt:lpstr>
      <vt:lpstr>Data parallelism: communication</vt:lpstr>
      <vt:lpstr>Large models: model parallelism</vt:lpstr>
      <vt:lpstr>Conclusions</vt:lpstr>
      <vt:lpstr>Further reading</vt:lpstr>
    </vt:vector>
  </TitlesOfParts>
  <Company>UHasselt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Learning/AI</dc:title>
  <dc:creator>Geert Jan Bex</dc:creator>
  <cp:lastModifiedBy>Geert Jan Bex</cp:lastModifiedBy>
  <cp:revision>123</cp:revision>
  <dcterms:created xsi:type="dcterms:W3CDTF">2019-05-02T08:06:12Z</dcterms:created>
  <dcterms:modified xsi:type="dcterms:W3CDTF">2026-08-18T12:59:22Z</dcterms:modified>
</cp:coreProperties>
</file>